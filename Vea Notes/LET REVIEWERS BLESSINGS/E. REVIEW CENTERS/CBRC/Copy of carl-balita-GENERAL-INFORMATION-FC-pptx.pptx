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4"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3" r:id="rId38"/>
    <p:sldId id="292"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3" r:id="rId58"/>
    <p:sldId id="312" r:id="rId59"/>
    <p:sldId id="315" r:id="rId60"/>
    <p:sldId id="316" r:id="rId61"/>
    <p:sldId id="317" r:id="rId62"/>
    <p:sldId id="314"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8" r:id="rId83"/>
    <p:sldId id="337"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1506" y="-14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997521AF-9AC7-447C-95BD-8121FADDCA43}" type="datetimeFigureOut">
              <a:rPr lang="en-US" smtClean="0"/>
              <a:pPr/>
              <a:t>4/23/2015</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FB16F5FB-A2D0-40E3-B8BC-14516CF1296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997521AF-9AC7-447C-95BD-8121FADDCA43}" type="datetimeFigureOut">
              <a:rPr lang="en-US" smtClean="0"/>
              <a:pPr/>
              <a:t>4/23/2015</a:t>
            </a:fld>
            <a:endParaRPr lang="en-US"/>
          </a:p>
        </p:txBody>
      </p:sp>
      <p:sp>
        <p:nvSpPr>
          <p:cNvPr id="9" name="Slide Number Placeholder 8"/>
          <p:cNvSpPr>
            <a:spLocks noGrp="1"/>
          </p:cNvSpPr>
          <p:nvPr>
            <p:ph type="sldNum" sz="quarter" idx="15"/>
          </p:nvPr>
        </p:nvSpPr>
        <p:spPr/>
        <p:txBody>
          <a:bodyPr rtlCol="0"/>
          <a:lstStyle/>
          <a:p>
            <a:fld id="{FB16F5FB-A2D0-40E3-B8BC-14516CF1296A}"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997521AF-9AC7-447C-95BD-8121FADDCA43}" type="datetimeFigureOut">
              <a:rPr lang="en-US" smtClean="0"/>
              <a:pPr/>
              <a:t>4/23/2015</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FB16F5FB-A2D0-40E3-B8BC-14516CF1296A}"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997521AF-9AC7-447C-95BD-8121FADDCA43}" type="datetimeFigureOut">
              <a:rPr lang="en-US" smtClean="0"/>
              <a:pPr/>
              <a:t>4/23/2015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16F5FB-A2D0-40E3-B8BC-14516CF1296A}"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997521AF-9AC7-447C-95BD-8121FADDCA43}" type="datetimeFigureOut">
              <a:rPr lang="en-US" smtClean="0"/>
              <a:pPr/>
              <a:t>4/23/2015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16F5FB-A2D0-40E3-B8BC-14516CF1296A}"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997521AF-9AC7-447C-95BD-8121FADDCA43}" type="datetimeFigureOut">
              <a:rPr lang="en-US" smtClean="0"/>
              <a:pPr/>
              <a:t>4/23/2015</a:t>
            </a:fld>
            <a:endParaRPr lang="en-US"/>
          </a:p>
        </p:txBody>
      </p:sp>
      <p:sp>
        <p:nvSpPr>
          <p:cNvPr id="7" name="Slide Number Placeholder 6"/>
          <p:cNvSpPr>
            <a:spLocks noGrp="1"/>
          </p:cNvSpPr>
          <p:nvPr>
            <p:ph type="sldNum" sz="quarter" idx="11"/>
          </p:nvPr>
        </p:nvSpPr>
        <p:spPr/>
        <p:txBody>
          <a:bodyPr rtlCol="0"/>
          <a:lstStyle/>
          <a:p>
            <a:fld id="{FB16F5FB-A2D0-40E3-B8BC-14516CF1296A}"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7521AF-9AC7-447C-95BD-8121FADDCA43}" type="datetimeFigureOut">
              <a:rPr lang="en-US" smtClean="0"/>
              <a:pPr/>
              <a:t>4/23/2015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16F5FB-A2D0-40E3-B8BC-14516CF1296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997521AF-9AC7-447C-95BD-8121FADDCA43}" type="datetimeFigureOut">
              <a:rPr lang="en-US" smtClean="0"/>
              <a:pPr/>
              <a:t>4/23/2015</a:t>
            </a:fld>
            <a:endParaRPr lang="en-US"/>
          </a:p>
        </p:txBody>
      </p:sp>
      <p:sp>
        <p:nvSpPr>
          <p:cNvPr id="22" name="Slide Number Placeholder 21"/>
          <p:cNvSpPr>
            <a:spLocks noGrp="1"/>
          </p:cNvSpPr>
          <p:nvPr>
            <p:ph type="sldNum" sz="quarter" idx="15"/>
          </p:nvPr>
        </p:nvSpPr>
        <p:spPr/>
        <p:txBody>
          <a:bodyPr rtlCol="0"/>
          <a:lstStyle/>
          <a:p>
            <a:fld id="{FB16F5FB-A2D0-40E3-B8BC-14516CF1296A}"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997521AF-9AC7-447C-95BD-8121FADDCA43}" type="datetimeFigureOut">
              <a:rPr lang="en-US" smtClean="0"/>
              <a:pPr/>
              <a:t>4/23/2015</a:t>
            </a:fld>
            <a:endParaRPr lang="en-US"/>
          </a:p>
        </p:txBody>
      </p:sp>
      <p:sp>
        <p:nvSpPr>
          <p:cNvPr id="18" name="Slide Number Placeholder 17"/>
          <p:cNvSpPr>
            <a:spLocks noGrp="1"/>
          </p:cNvSpPr>
          <p:nvPr>
            <p:ph type="sldNum" sz="quarter" idx="11"/>
          </p:nvPr>
        </p:nvSpPr>
        <p:spPr/>
        <p:txBody>
          <a:bodyPr rtlCol="0"/>
          <a:lstStyle/>
          <a:p>
            <a:fld id="{FB16F5FB-A2D0-40E3-B8BC-14516CF1296A}"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97521AF-9AC7-447C-95BD-8121FADDCA43}" type="datetimeFigureOut">
              <a:rPr lang="en-US" smtClean="0"/>
              <a:pPr/>
              <a:t>4/23/2015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16F5FB-A2D0-40E3-B8BC-14516CF1296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97521AF-9AC7-447C-95BD-8121FADDCA43}" type="datetimeFigureOut">
              <a:rPr lang="en-US" smtClean="0"/>
              <a:pPr/>
              <a:t>4/23/2015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16F5FB-A2D0-40E3-B8BC-14516CF1296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997521AF-9AC7-447C-95BD-8121FADDCA43}" type="datetimeFigureOut">
              <a:rPr lang="en-US" smtClean="0"/>
              <a:pPr/>
              <a:t>4/23/2015</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FB16F5FB-A2D0-40E3-B8BC-14516CF1296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2590800"/>
            <a:ext cx="6629400" cy="2427762"/>
          </a:xfrm>
        </p:spPr>
        <p:txBody>
          <a:bodyPr>
            <a:noAutofit/>
          </a:bodyPr>
          <a:lstStyle/>
          <a:p>
            <a:r>
              <a:rPr lang="en-US" sz="4400" dirty="0" smtClean="0"/>
              <a:t>FINAL COACHING </a:t>
            </a:r>
            <a:br>
              <a:rPr lang="en-US" sz="4400" dirty="0" smtClean="0"/>
            </a:br>
            <a:r>
              <a:rPr lang="en-US" sz="4400" dirty="0" smtClean="0"/>
              <a:t>GENERAL INFORMATION</a:t>
            </a:r>
            <a:endParaRPr lang="en-US" sz="4400" dirty="0"/>
          </a:p>
        </p:txBody>
      </p:sp>
      <p:sp>
        <p:nvSpPr>
          <p:cNvPr id="3" name="Subtitle 2"/>
          <p:cNvSpPr>
            <a:spLocks noGrp="1"/>
          </p:cNvSpPr>
          <p:nvPr>
            <p:ph type="subTitle" idx="1"/>
          </p:nvPr>
        </p:nvSpPr>
        <p:spPr/>
        <p:txBody>
          <a:bodyPr/>
          <a:lstStyle/>
          <a:p>
            <a:r>
              <a:rPr lang="en-US" dirty="0" smtClean="0"/>
              <a:t>Presented by: </a:t>
            </a:r>
          </a:p>
          <a:p>
            <a:r>
              <a:rPr lang="en-US" dirty="0" smtClean="0"/>
              <a:t>Mr. VIRGO CLEMENTE LOPEZ, </a:t>
            </a:r>
            <a:r>
              <a:rPr lang="en-US" sz="1200" i="1" dirty="0" smtClean="0"/>
              <a:t>BSN, RN, RPT, </a:t>
            </a:r>
            <a:r>
              <a:rPr lang="en-US" sz="1200" i="1" dirty="0" err="1" smtClean="0"/>
              <a:t>MAEd</a:t>
            </a:r>
            <a:r>
              <a:rPr lang="en-US" sz="1200" i="1" dirty="0" smtClean="0"/>
              <a:t> ©</a:t>
            </a:r>
            <a:endParaRPr lang="en-US" sz="1200" i="1" dirty="0"/>
          </a:p>
        </p:txBody>
      </p:sp>
      <p:pic>
        <p:nvPicPr>
          <p:cNvPr id="4" name="Content Placeholder 3" descr="10988760_10152824404469818_2117784839_o.jpg"/>
          <p:cNvPicPr>
            <a:picLocks noChangeAspect="1"/>
          </p:cNvPicPr>
          <p:nvPr/>
        </p:nvPicPr>
        <p:blipFill>
          <a:blip r:embed="rId2" cstate="print"/>
          <a:stretch>
            <a:fillRect/>
          </a:stretch>
        </p:blipFill>
        <p:spPr>
          <a:xfrm>
            <a:off x="960438" y="0"/>
            <a:ext cx="8183562" cy="1219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85800"/>
            <a:ext cx="8839200" cy="1143000"/>
          </a:xfrm>
        </p:spPr>
        <p:txBody>
          <a:bodyPr>
            <a:normAutofit fontScale="90000"/>
          </a:bodyPr>
          <a:lstStyle/>
          <a:p>
            <a:pPr lvl="0"/>
            <a:r>
              <a:rPr lang="en-US" dirty="0" smtClean="0"/>
              <a:t>1. What </a:t>
            </a:r>
            <a:r>
              <a:rPr lang="en-US" b="1" dirty="0" smtClean="0">
                <a:solidFill>
                  <a:srgbClr val="FF0000"/>
                </a:solidFill>
              </a:rPr>
              <a:t>human right </a:t>
            </a:r>
            <a:r>
              <a:rPr lang="en-US" dirty="0" smtClean="0"/>
              <a:t>is </a:t>
            </a:r>
            <a:r>
              <a:rPr lang="en-US" b="1" dirty="0" smtClean="0">
                <a:solidFill>
                  <a:srgbClr val="FF0000"/>
                </a:solidFill>
              </a:rPr>
              <a:t>violated</a:t>
            </a:r>
            <a:r>
              <a:rPr lang="en-US" dirty="0" smtClean="0"/>
              <a:t> when one </a:t>
            </a:r>
            <a:r>
              <a:rPr lang="en-US" b="1" dirty="0" smtClean="0">
                <a:solidFill>
                  <a:srgbClr val="FF0000"/>
                </a:solidFill>
              </a:rPr>
              <a:t>opens a letter without </a:t>
            </a:r>
            <a:r>
              <a:rPr lang="en-US" dirty="0" smtClean="0">
                <a:solidFill>
                  <a:srgbClr val="FF0000"/>
                </a:solidFill>
              </a:rPr>
              <a:t>permission</a:t>
            </a:r>
            <a:r>
              <a:rPr lang="en-US" dirty="0" smtClean="0"/>
              <a:t> from the addressee?</a:t>
            </a:r>
            <a:br>
              <a:rPr lang="en-US" dirty="0" smtClean="0"/>
            </a:br>
            <a:endParaRPr lang="en-US" dirty="0"/>
          </a:p>
        </p:txBody>
      </p:sp>
      <p:sp>
        <p:nvSpPr>
          <p:cNvPr id="3" name="Content Placeholder 2"/>
          <p:cNvSpPr>
            <a:spLocks noGrp="1"/>
          </p:cNvSpPr>
          <p:nvPr>
            <p:ph sz="quarter" idx="1"/>
          </p:nvPr>
        </p:nvSpPr>
        <p:spPr>
          <a:xfrm>
            <a:off x="152400" y="1600200"/>
            <a:ext cx="8534400" cy="4873752"/>
          </a:xfrm>
        </p:spPr>
        <p:txBody>
          <a:bodyPr/>
          <a:lstStyle/>
          <a:p>
            <a:pPr lvl="0" latinLnBrk="1"/>
            <a:r>
              <a:rPr lang="en-US" sz="4000" b="1" dirty="0" smtClean="0"/>
              <a:t>A. Right to privacy of </a:t>
            </a:r>
          </a:p>
          <a:p>
            <a:pPr lvl="0" latinLnBrk="1">
              <a:buNone/>
            </a:pPr>
            <a:r>
              <a:rPr lang="en-US" sz="4000" b="1" dirty="0" smtClean="0"/>
              <a:t>   communication and </a:t>
            </a:r>
          </a:p>
          <a:p>
            <a:pPr lvl="0" latinLnBrk="1">
              <a:buNone/>
            </a:pPr>
            <a:r>
              <a:rPr lang="en-US" sz="4000" b="1" dirty="0" smtClean="0"/>
              <a:t>      correspondence</a:t>
            </a:r>
            <a:endParaRPr lang="en-US" sz="4000" dirty="0" smtClean="0"/>
          </a:p>
          <a:p>
            <a:pPr lvl="0" latinLnBrk="1"/>
            <a:r>
              <a:rPr lang="en-US" sz="4000" dirty="0" smtClean="0"/>
              <a:t>B. Right to read the letter</a:t>
            </a:r>
          </a:p>
          <a:p>
            <a:pPr lvl="0" latinLnBrk="1"/>
            <a:r>
              <a:rPr lang="en-US" sz="4000" dirty="0" smtClean="0"/>
              <a:t>C. Right to open the envelope </a:t>
            </a:r>
          </a:p>
          <a:p>
            <a:pPr lvl="0" latinLnBrk="1">
              <a:buNone/>
            </a:pPr>
            <a:r>
              <a:rPr lang="en-US" sz="4000" dirty="0" smtClean="0"/>
              <a:t>     without permission</a:t>
            </a:r>
          </a:p>
          <a:p>
            <a:pPr lvl="0" latinLnBrk="1"/>
            <a:r>
              <a:rPr lang="en-US" sz="4000" dirty="0" smtClean="0"/>
              <a:t>D. Right to private affairs</a:t>
            </a:r>
          </a:p>
          <a:p>
            <a:pP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467600" cy="1143000"/>
          </a:xfrm>
        </p:spPr>
        <p:txBody>
          <a:bodyPr>
            <a:normAutofit fontScale="90000"/>
          </a:bodyPr>
          <a:lstStyle/>
          <a:p>
            <a:pPr lvl="0"/>
            <a:r>
              <a:rPr lang="en-US" dirty="0" smtClean="0"/>
              <a:t>2. When an individual is </a:t>
            </a:r>
            <a:r>
              <a:rPr lang="en-US" b="1" dirty="0" smtClean="0">
                <a:solidFill>
                  <a:srgbClr val="FF0000"/>
                </a:solidFill>
              </a:rPr>
              <a:t>imprisoned without proper investigation </a:t>
            </a:r>
            <a:r>
              <a:rPr lang="en-US" dirty="0" smtClean="0"/>
              <a:t>what </a:t>
            </a:r>
            <a:r>
              <a:rPr lang="en-US" dirty="0" smtClean="0">
                <a:solidFill>
                  <a:srgbClr val="FF0000"/>
                </a:solidFill>
              </a:rPr>
              <a:t>right is violated</a:t>
            </a:r>
            <a:r>
              <a:rPr lang="en-US" dirty="0" smtClean="0"/>
              <a:t>?</a:t>
            </a:r>
            <a:br>
              <a:rPr lang="en-US" dirty="0" smtClean="0"/>
            </a:br>
            <a:endParaRPr lang="en-US" dirty="0"/>
          </a:p>
        </p:txBody>
      </p:sp>
      <p:sp>
        <p:nvSpPr>
          <p:cNvPr id="3" name="Content Placeholder 2"/>
          <p:cNvSpPr>
            <a:spLocks noGrp="1"/>
          </p:cNvSpPr>
          <p:nvPr>
            <p:ph sz="quarter" idx="1"/>
          </p:nvPr>
        </p:nvSpPr>
        <p:spPr>
          <a:xfrm>
            <a:off x="304800" y="1295400"/>
            <a:ext cx="8305800" cy="5178552"/>
          </a:xfrm>
        </p:spPr>
        <p:txBody>
          <a:bodyPr>
            <a:normAutofit/>
          </a:bodyPr>
          <a:lstStyle/>
          <a:p>
            <a:pPr lvl="0" latinLnBrk="1"/>
            <a:r>
              <a:rPr lang="en-US" sz="4800" b="1" dirty="0" smtClean="0"/>
              <a:t>A. Right to due process of law</a:t>
            </a:r>
            <a:endParaRPr lang="en-US" sz="4800" dirty="0" smtClean="0"/>
          </a:p>
          <a:p>
            <a:pPr lvl="0" latinLnBrk="1"/>
            <a:r>
              <a:rPr lang="en-US" sz="4800" dirty="0" smtClean="0"/>
              <a:t>B. Right to secure persons</a:t>
            </a:r>
          </a:p>
          <a:p>
            <a:pPr lvl="0" latinLnBrk="1"/>
            <a:r>
              <a:rPr lang="en-US" sz="4800" dirty="0" smtClean="0"/>
              <a:t>C. Right to process paper</a:t>
            </a:r>
          </a:p>
          <a:p>
            <a:pPr lvl="0" latinLnBrk="1"/>
            <a:r>
              <a:rPr lang="en-US" sz="4800" dirty="0" smtClean="0"/>
              <a:t>D. Right to protection</a:t>
            </a:r>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219200"/>
            <a:ext cx="8610600" cy="1143000"/>
          </a:xfrm>
        </p:spPr>
        <p:txBody>
          <a:bodyPr>
            <a:normAutofit fontScale="90000"/>
          </a:bodyPr>
          <a:lstStyle/>
          <a:p>
            <a:pPr lvl="0"/>
            <a:r>
              <a:rPr lang="en-US" dirty="0" smtClean="0"/>
              <a:t>3. What </a:t>
            </a:r>
            <a:r>
              <a:rPr lang="en-US" b="1" dirty="0" smtClean="0">
                <a:solidFill>
                  <a:srgbClr val="FF0000"/>
                </a:solidFill>
              </a:rPr>
              <a:t>law</a:t>
            </a:r>
            <a:r>
              <a:rPr lang="en-US" dirty="0" smtClean="0"/>
              <a:t> was </a:t>
            </a:r>
            <a:r>
              <a:rPr lang="en-US" b="1" dirty="0" smtClean="0">
                <a:solidFill>
                  <a:srgbClr val="FF0000"/>
                </a:solidFill>
              </a:rPr>
              <a:t>passed by Philippine Congress in 1995 </a:t>
            </a:r>
            <a:r>
              <a:rPr lang="en-US" dirty="0" smtClean="0"/>
              <a:t>which </a:t>
            </a:r>
            <a:r>
              <a:rPr lang="en-US" b="1" dirty="0" smtClean="0">
                <a:solidFill>
                  <a:srgbClr val="FF0000"/>
                </a:solidFill>
              </a:rPr>
              <a:t>affirms the total integration of persons with disabilities </a:t>
            </a:r>
            <a:r>
              <a:rPr lang="en-US" dirty="0" smtClean="0"/>
              <a:t>into the mainstream of society?</a:t>
            </a:r>
            <a:br>
              <a:rPr lang="en-US" dirty="0" smtClean="0"/>
            </a:br>
            <a:endParaRPr lang="en-US" dirty="0"/>
          </a:p>
        </p:txBody>
      </p:sp>
      <p:sp>
        <p:nvSpPr>
          <p:cNvPr id="3" name="Content Placeholder 2"/>
          <p:cNvSpPr>
            <a:spLocks noGrp="1"/>
          </p:cNvSpPr>
          <p:nvPr>
            <p:ph sz="quarter" idx="1"/>
          </p:nvPr>
        </p:nvSpPr>
        <p:spPr>
          <a:xfrm>
            <a:off x="304800" y="2286000"/>
            <a:ext cx="8229600" cy="4873752"/>
          </a:xfrm>
        </p:spPr>
        <p:txBody>
          <a:bodyPr/>
          <a:lstStyle/>
          <a:p>
            <a:pPr lvl="0" latinLnBrk="1"/>
            <a:r>
              <a:rPr lang="en-US" sz="4400" b="1" dirty="0" smtClean="0"/>
              <a:t>A. Republic Act No. 7277</a:t>
            </a:r>
            <a:endParaRPr lang="en-US" sz="4400" dirty="0" smtClean="0"/>
          </a:p>
          <a:p>
            <a:pPr lvl="0" latinLnBrk="1"/>
            <a:r>
              <a:rPr lang="en-US" sz="4400" dirty="0" smtClean="0"/>
              <a:t>B. Republic Act No. 7784</a:t>
            </a:r>
          </a:p>
          <a:p>
            <a:pPr lvl="0" latinLnBrk="1"/>
            <a:r>
              <a:rPr lang="en-US" sz="4400" dirty="0" smtClean="0"/>
              <a:t>C. Republic Act No. 7722</a:t>
            </a:r>
          </a:p>
          <a:p>
            <a:pPr lvl="0" latinLnBrk="1"/>
            <a:r>
              <a:rPr lang="en-US" sz="4400" dirty="0" smtClean="0"/>
              <a:t>D. Republic Act No. 7776</a:t>
            </a:r>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4. Which of the </a:t>
            </a:r>
            <a:r>
              <a:rPr lang="en-US" b="1" dirty="0" smtClean="0">
                <a:solidFill>
                  <a:srgbClr val="FF0000"/>
                </a:solidFill>
              </a:rPr>
              <a:t>goals of EFA 2015 </a:t>
            </a:r>
            <a:r>
              <a:rPr lang="en-US" dirty="0" smtClean="0"/>
              <a:t>aims to </a:t>
            </a:r>
            <a:r>
              <a:rPr lang="en-US" b="1" dirty="0" smtClean="0">
                <a:solidFill>
                  <a:srgbClr val="FF0000"/>
                </a:solidFill>
              </a:rPr>
              <a:t>achieve</a:t>
            </a:r>
            <a:r>
              <a:rPr lang="en-US" dirty="0" smtClean="0"/>
              <a:t> the above mentioned </a:t>
            </a:r>
            <a:r>
              <a:rPr lang="en-US" b="1" dirty="0" smtClean="0">
                <a:solidFill>
                  <a:srgbClr val="FF0000"/>
                </a:solidFill>
              </a:rPr>
              <a:t>constitutional mandate</a:t>
            </a:r>
            <a:r>
              <a:rPr lang="en-US" dirty="0" smtClean="0"/>
              <a:t>?</a:t>
            </a:r>
            <a:endParaRPr lang="en-US" dirty="0"/>
          </a:p>
        </p:txBody>
      </p:sp>
      <p:sp>
        <p:nvSpPr>
          <p:cNvPr id="3" name="Content Placeholder 2"/>
          <p:cNvSpPr>
            <a:spLocks noGrp="1"/>
          </p:cNvSpPr>
          <p:nvPr>
            <p:ph sz="quarter" idx="1"/>
          </p:nvPr>
        </p:nvSpPr>
        <p:spPr>
          <a:xfrm>
            <a:off x="228600" y="1600200"/>
            <a:ext cx="8458200" cy="4873752"/>
          </a:xfrm>
        </p:spPr>
        <p:txBody>
          <a:bodyPr/>
          <a:lstStyle/>
          <a:p>
            <a:pPr lvl="0" latinLnBrk="1"/>
            <a:r>
              <a:rPr lang="en-US" b="1" dirty="0" smtClean="0"/>
              <a:t>A. Universal completion of full cycle of basic </a:t>
            </a:r>
          </a:p>
          <a:p>
            <a:pPr lvl="0" latinLnBrk="1">
              <a:buNone/>
            </a:pPr>
            <a:r>
              <a:rPr lang="en-US" b="1" dirty="0" smtClean="0"/>
              <a:t>    education schooling with satisfactory </a:t>
            </a:r>
          </a:p>
          <a:p>
            <a:pPr lvl="0" latinLnBrk="1">
              <a:buNone/>
            </a:pPr>
            <a:r>
              <a:rPr lang="en-US" b="1" dirty="0" smtClean="0"/>
              <a:t>    achievement levels by all at every grade or year.</a:t>
            </a:r>
            <a:endParaRPr lang="en-US" dirty="0" smtClean="0"/>
          </a:p>
          <a:p>
            <a:pPr lvl="0" latinLnBrk="1"/>
            <a:r>
              <a:rPr lang="en-US" dirty="0" smtClean="0"/>
              <a:t>B. Universal completion of primary education with </a:t>
            </a:r>
          </a:p>
          <a:p>
            <a:pPr lvl="0" latinLnBrk="1">
              <a:buNone/>
            </a:pPr>
            <a:r>
              <a:rPr lang="en-US" dirty="0" smtClean="0"/>
              <a:t>     satisfactory achievement levels at every grade level.</a:t>
            </a:r>
          </a:p>
          <a:p>
            <a:pPr lvl="0" latinLnBrk="1"/>
            <a:r>
              <a:rPr lang="en-US" dirty="0" smtClean="0"/>
              <a:t>C. Universal completion of secondary education with </a:t>
            </a:r>
          </a:p>
          <a:p>
            <a:pPr lvl="0" latinLnBrk="1">
              <a:buNone/>
            </a:pPr>
            <a:r>
              <a:rPr lang="en-US" dirty="0" smtClean="0"/>
              <a:t>    satisfactory achievement levels at every year level.</a:t>
            </a:r>
          </a:p>
          <a:p>
            <a:pPr lvl="0" latinLnBrk="1"/>
            <a:r>
              <a:rPr lang="en-US" dirty="0" smtClean="0"/>
              <a:t>D. Universal elimination of drop outs and repetition by </a:t>
            </a:r>
          </a:p>
          <a:p>
            <a:pPr lvl="0" latinLnBrk="1">
              <a:buNone/>
            </a:pPr>
            <a:r>
              <a:rPr lang="en-US" dirty="0" smtClean="0"/>
              <a:t>    all at every grade or year including satisfactory </a:t>
            </a:r>
          </a:p>
          <a:p>
            <a:pPr lvl="0" latinLnBrk="1">
              <a:buNone/>
            </a:pPr>
            <a:r>
              <a:rPr lang="en-US" dirty="0" smtClean="0"/>
              <a:t>    achievement levels.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305800" cy="1143000"/>
          </a:xfrm>
        </p:spPr>
        <p:txBody>
          <a:bodyPr>
            <a:normAutofit fontScale="90000"/>
          </a:bodyPr>
          <a:lstStyle/>
          <a:p>
            <a:pPr lvl="0"/>
            <a:r>
              <a:rPr lang="en-US" dirty="0" smtClean="0"/>
              <a:t>5. What the </a:t>
            </a:r>
            <a:r>
              <a:rPr lang="en-US" b="1" dirty="0" smtClean="0">
                <a:solidFill>
                  <a:srgbClr val="FF0000"/>
                </a:solidFill>
              </a:rPr>
              <a:t>best indicator of “quality education” </a:t>
            </a:r>
            <a:r>
              <a:rPr lang="en-US" dirty="0" smtClean="0"/>
              <a:t>as </a:t>
            </a:r>
            <a:r>
              <a:rPr lang="en-US" dirty="0" smtClean="0">
                <a:solidFill>
                  <a:srgbClr val="FF0000"/>
                </a:solidFill>
              </a:rPr>
              <a:t>invoked in the Constitution</a:t>
            </a:r>
            <a:r>
              <a:rPr lang="en-US" dirty="0" smtClean="0"/>
              <a:t>?</a:t>
            </a:r>
            <a:br>
              <a:rPr lang="en-US" dirty="0" smtClean="0"/>
            </a:br>
            <a:endParaRPr lang="en-US" dirty="0"/>
          </a:p>
        </p:txBody>
      </p:sp>
      <p:sp>
        <p:nvSpPr>
          <p:cNvPr id="3" name="Content Placeholder 2"/>
          <p:cNvSpPr>
            <a:spLocks noGrp="1"/>
          </p:cNvSpPr>
          <p:nvPr>
            <p:ph sz="quarter" idx="1"/>
          </p:nvPr>
        </p:nvSpPr>
        <p:spPr>
          <a:xfrm>
            <a:off x="228600" y="1371600"/>
            <a:ext cx="8458200" cy="5334000"/>
          </a:xfrm>
        </p:spPr>
        <p:txBody>
          <a:bodyPr>
            <a:normAutofit fontScale="92500"/>
          </a:bodyPr>
          <a:lstStyle/>
          <a:p>
            <a:pPr lvl="0" latinLnBrk="1"/>
            <a:r>
              <a:rPr lang="en-US" sz="3600" dirty="0" smtClean="0"/>
              <a:t>A. Generation of reliable </a:t>
            </a:r>
          </a:p>
          <a:p>
            <a:pPr lvl="0" latinLnBrk="1">
              <a:buNone/>
            </a:pPr>
            <a:r>
              <a:rPr lang="en-US" sz="3600" dirty="0" smtClean="0"/>
              <a:t>     measurements on dropout rate.</a:t>
            </a:r>
          </a:p>
          <a:p>
            <a:pPr lvl="0" latinLnBrk="1"/>
            <a:r>
              <a:rPr lang="en-US" sz="3600" dirty="0" smtClean="0"/>
              <a:t>B. Generation of reliable </a:t>
            </a:r>
          </a:p>
          <a:p>
            <a:pPr lvl="0" latinLnBrk="1">
              <a:buNone/>
            </a:pPr>
            <a:r>
              <a:rPr lang="en-US" sz="3600" dirty="0" smtClean="0"/>
              <a:t>   measurements on cohort survival rate.</a:t>
            </a:r>
          </a:p>
          <a:p>
            <a:pPr lvl="0" latinLnBrk="1"/>
            <a:r>
              <a:rPr lang="en-US" sz="3600" b="1" dirty="0" smtClean="0"/>
              <a:t>C. Generation of reliable</a:t>
            </a:r>
          </a:p>
          <a:p>
            <a:pPr lvl="0" latinLnBrk="1">
              <a:buNone/>
            </a:pPr>
            <a:r>
              <a:rPr lang="en-US" sz="3600" b="1" dirty="0" smtClean="0"/>
              <a:t>      measurements of </a:t>
            </a:r>
          </a:p>
          <a:p>
            <a:pPr lvl="0" latinLnBrk="1">
              <a:buNone/>
            </a:pPr>
            <a:r>
              <a:rPr lang="en-US" sz="3600" b="1" dirty="0" smtClean="0"/>
              <a:t>     educational outcomes.</a:t>
            </a:r>
            <a:endParaRPr lang="en-US" sz="3600" dirty="0" smtClean="0"/>
          </a:p>
          <a:p>
            <a:pPr lvl="0" latinLnBrk="1"/>
            <a:r>
              <a:rPr lang="en-US" sz="3600" dirty="0" smtClean="0"/>
              <a:t>D. Generation of reliable measurements on  participation rate.</a:t>
            </a:r>
          </a:p>
          <a:p>
            <a:pPr latinLnBrk="1">
              <a:buNone/>
            </a:pPr>
            <a:endParaRPr lang="en-US"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143000"/>
            <a:ext cx="8915400" cy="1143000"/>
          </a:xfrm>
        </p:spPr>
        <p:txBody>
          <a:bodyPr>
            <a:normAutofit fontScale="90000"/>
          </a:bodyPr>
          <a:lstStyle/>
          <a:p>
            <a:pPr lvl="0"/>
            <a:r>
              <a:rPr lang="en-US" dirty="0" smtClean="0"/>
              <a:t>6. An individual has the </a:t>
            </a:r>
            <a:r>
              <a:rPr lang="en-US" b="1" dirty="0" smtClean="0">
                <a:solidFill>
                  <a:srgbClr val="FF0000"/>
                </a:solidFill>
              </a:rPr>
              <a:t>right to file writ of </a:t>
            </a:r>
            <a:r>
              <a:rPr lang="en-US" b="1" dirty="0" err="1" smtClean="0">
                <a:solidFill>
                  <a:srgbClr val="FF0000"/>
                </a:solidFill>
              </a:rPr>
              <a:t>amparo</a:t>
            </a:r>
            <a:r>
              <a:rPr lang="en-US" dirty="0" smtClean="0"/>
              <a:t> before the investigation of an administrative case field against him/her. What </a:t>
            </a:r>
            <a:r>
              <a:rPr lang="en-US" b="1" dirty="0" smtClean="0">
                <a:solidFill>
                  <a:srgbClr val="FF0000"/>
                </a:solidFill>
              </a:rPr>
              <a:t>fundamental right is invoked </a:t>
            </a:r>
            <a:r>
              <a:rPr lang="en-US" dirty="0" smtClean="0"/>
              <a:t>by the individual?</a:t>
            </a:r>
            <a:br>
              <a:rPr lang="en-US" dirty="0" smtClean="0"/>
            </a:br>
            <a:endParaRPr lang="en-US" dirty="0"/>
          </a:p>
        </p:txBody>
      </p:sp>
      <p:sp>
        <p:nvSpPr>
          <p:cNvPr id="3" name="Content Placeholder 2"/>
          <p:cNvSpPr>
            <a:spLocks noGrp="1"/>
          </p:cNvSpPr>
          <p:nvPr>
            <p:ph sz="quarter" idx="1"/>
          </p:nvPr>
        </p:nvSpPr>
        <p:spPr>
          <a:xfrm>
            <a:off x="0" y="1984248"/>
            <a:ext cx="8839200" cy="4873752"/>
          </a:xfrm>
        </p:spPr>
        <p:txBody>
          <a:bodyPr/>
          <a:lstStyle/>
          <a:p>
            <a:pPr lvl="0" latinLnBrk="1"/>
            <a:r>
              <a:rPr lang="en-US" sz="4800" b="1" dirty="0" smtClean="0"/>
              <a:t>A. Right to life, liberty </a:t>
            </a:r>
          </a:p>
          <a:p>
            <a:pPr lvl="0" latinLnBrk="1">
              <a:buNone/>
            </a:pPr>
            <a:r>
              <a:rPr lang="en-US" sz="4800" b="1" dirty="0" smtClean="0"/>
              <a:t>      and security</a:t>
            </a:r>
            <a:endParaRPr lang="en-US" sz="4800" dirty="0" smtClean="0"/>
          </a:p>
          <a:p>
            <a:pPr lvl="0" latinLnBrk="1"/>
            <a:r>
              <a:rPr lang="en-US" sz="4800" dirty="0" smtClean="0"/>
              <a:t>B. Right to due process</a:t>
            </a:r>
          </a:p>
          <a:p>
            <a:pPr lvl="0" latinLnBrk="1"/>
            <a:r>
              <a:rPr lang="en-US" sz="4800" dirty="0" smtClean="0"/>
              <a:t>C. Right to be defended by a public attorney.</a:t>
            </a:r>
          </a:p>
          <a:p>
            <a:pPr lvl="0" latinLnBrk="1"/>
            <a:r>
              <a:rPr lang="en-US" sz="4800" dirty="0" smtClean="0"/>
              <a:t>D. Right to self-defense</a:t>
            </a:r>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smtClean="0"/>
              <a:t>7. What is the writ of habeas data?</a:t>
            </a:r>
            <a:br>
              <a:rPr lang="en-US" dirty="0" smtClean="0"/>
            </a:br>
            <a:endParaRPr lang="en-US" dirty="0"/>
          </a:p>
        </p:txBody>
      </p:sp>
      <p:sp>
        <p:nvSpPr>
          <p:cNvPr id="3" name="Content Placeholder 2"/>
          <p:cNvSpPr>
            <a:spLocks noGrp="1"/>
          </p:cNvSpPr>
          <p:nvPr>
            <p:ph sz="quarter" idx="1"/>
          </p:nvPr>
        </p:nvSpPr>
        <p:spPr>
          <a:xfrm>
            <a:off x="152400" y="1143000"/>
            <a:ext cx="8610600" cy="5330952"/>
          </a:xfrm>
        </p:spPr>
        <p:txBody>
          <a:bodyPr/>
          <a:lstStyle/>
          <a:p>
            <a:pPr lvl="0" latinLnBrk="1"/>
            <a:r>
              <a:rPr lang="en-US" sz="4400" b="1" dirty="0" smtClean="0"/>
              <a:t>A. Right to information </a:t>
            </a:r>
          </a:p>
          <a:p>
            <a:pPr lvl="0" latinLnBrk="1">
              <a:buNone/>
            </a:pPr>
            <a:r>
              <a:rPr lang="en-US" sz="4400" b="1" dirty="0" smtClean="0"/>
              <a:t>      privacy</a:t>
            </a:r>
            <a:endParaRPr lang="en-US" sz="4400" dirty="0" smtClean="0"/>
          </a:p>
          <a:p>
            <a:pPr lvl="0" latinLnBrk="1"/>
            <a:r>
              <a:rPr lang="en-US" sz="4400" dirty="0" smtClean="0"/>
              <a:t>B. Right to accumulate data</a:t>
            </a:r>
          </a:p>
          <a:p>
            <a:pPr lvl="0" latinLnBrk="1"/>
            <a:r>
              <a:rPr lang="en-US" sz="4400" dirty="0" smtClean="0"/>
              <a:t>C. Right to transmit data</a:t>
            </a:r>
          </a:p>
          <a:p>
            <a:pPr lvl="0" latinLnBrk="1"/>
            <a:r>
              <a:rPr lang="en-US" sz="4400" dirty="0" smtClean="0"/>
              <a:t>D. Right to search for private </a:t>
            </a:r>
          </a:p>
          <a:p>
            <a:pPr lvl="0" latinLnBrk="1">
              <a:buNone/>
            </a:pPr>
            <a:r>
              <a:rPr lang="en-US" sz="4400" dirty="0" smtClean="0"/>
              <a:t>       information</a:t>
            </a:r>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1143000"/>
          </a:xfrm>
        </p:spPr>
        <p:txBody>
          <a:bodyPr>
            <a:normAutofit fontScale="90000"/>
          </a:bodyPr>
          <a:lstStyle/>
          <a:p>
            <a:pPr lvl="0"/>
            <a:r>
              <a:rPr lang="en-US" dirty="0" smtClean="0"/>
              <a:t>8. Which is the </a:t>
            </a:r>
            <a:r>
              <a:rPr lang="en-US" dirty="0" smtClean="0">
                <a:solidFill>
                  <a:srgbClr val="FF0000"/>
                </a:solidFill>
              </a:rPr>
              <a:t>overriding aim </a:t>
            </a:r>
            <a:r>
              <a:rPr lang="en-US" dirty="0" smtClean="0"/>
              <a:t>of the constitutional </a:t>
            </a:r>
            <a:r>
              <a:rPr lang="en-US" b="1" dirty="0" smtClean="0">
                <a:solidFill>
                  <a:srgbClr val="FF0000"/>
                </a:solidFill>
              </a:rPr>
              <a:t>mandate on social justice</a:t>
            </a:r>
            <a:r>
              <a:rPr lang="en-US" dirty="0" smtClean="0"/>
              <a:t>?</a:t>
            </a:r>
            <a:br>
              <a:rPr lang="en-US" dirty="0" smtClean="0"/>
            </a:br>
            <a:endParaRPr lang="en-US" dirty="0"/>
          </a:p>
        </p:txBody>
      </p:sp>
      <p:sp>
        <p:nvSpPr>
          <p:cNvPr id="3" name="Content Placeholder 2"/>
          <p:cNvSpPr>
            <a:spLocks noGrp="1"/>
          </p:cNvSpPr>
          <p:nvPr>
            <p:ph sz="quarter" idx="1"/>
          </p:nvPr>
        </p:nvSpPr>
        <p:spPr>
          <a:xfrm>
            <a:off x="228600" y="1143000"/>
            <a:ext cx="8763000" cy="5715000"/>
          </a:xfrm>
        </p:spPr>
        <p:txBody>
          <a:bodyPr>
            <a:normAutofit/>
          </a:bodyPr>
          <a:lstStyle/>
          <a:p>
            <a:pPr lvl="0" latinLnBrk="1"/>
            <a:r>
              <a:rPr lang="en-US" sz="3600" b="1" dirty="0" smtClean="0"/>
              <a:t>A. To bridge the gap between the </a:t>
            </a:r>
          </a:p>
          <a:p>
            <a:pPr lvl="0" latinLnBrk="1">
              <a:buNone/>
            </a:pPr>
            <a:r>
              <a:rPr lang="en-US" sz="3600" b="1" dirty="0" smtClean="0"/>
              <a:t>     rich and the poor.</a:t>
            </a:r>
            <a:endParaRPr lang="en-US" sz="3600" dirty="0" smtClean="0"/>
          </a:p>
          <a:p>
            <a:pPr lvl="0" latinLnBrk="1"/>
            <a:r>
              <a:rPr lang="en-US" sz="3600" dirty="0" smtClean="0"/>
              <a:t>B. To protect the squatter in the </a:t>
            </a:r>
          </a:p>
          <a:p>
            <a:pPr lvl="0" latinLnBrk="1">
              <a:buNone/>
            </a:pPr>
            <a:r>
              <a:rPr lang="en-US" sz="3600" dirty="0" smtClean="0"/>
              <a:t>  possession of the premises occupied by him because he is poor.</a:t>
            </a:r>
          </a:p>
          <a:p>
            <a:pPr lvl="0" latinLnBrk="1"/>
            <a:r>
              <a:rPr lang="en-US" sz="3600" dirty="0" smtClean="0"/>
              <a:t>C. To authorize the taking of what is </a:t>
            </a:r>
          </a:p>
          <a:p>
            <a:pPr lvl="0" latinLnBrk="1">
              <a:buNone/>
            </a:pPr>
            <a:r>
              <a:rPr lang="en-US" sz="3600" dirty="0" smtClean="0"/>
              <a:t>     in excess of one’s personal needs and the giving it to another.</a:t>
            </a:r>
          </a:p>
          <a:p>
            <a:pPr lvl="0" latinLnBrk="1"/>
            <a:r>
              <a:rPr lang="en-US" sz="3600" dirty="0" smtClean="0"/>
              <a:t>D. To work for social equality.</a:t>
            </a:r>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14400"/>
            <a:ext cx="8763000" cy="1143000"/>
          </a:xfrm>
        </p:spPr>
        <p:txBody>
          <a:bodyPr>
            <a:normAutofit fontScale="90000"/>
          </a:bodyPr>
          <a:lstStyle/>
          <a:p>
            <a:pPr lvl="0"/>
            <a:r>
              <a:rPr lang="en-US" dirty="0" smtClean="0"/>
              <a:t>9. Which </a:t>
            </a:r>
            <a:r>
              <a:rPr lang="en-US" b="1" dirty="0" smtClean="0">
                <a:solidFill>
                  <a:srgbClr val="FF0000"/>
                </a:solidFill>
              </a:rPr>
              <a:t>principle </a:t>
            </a:r>
            <a:r>
              <a:rPr lang="en-US" dirty="0" smtClean="0"/>
              <a:t>states that </a:t>
            </a:r>
            <a:r>
              <a:rPr lang="en-US" b="1" dirty="0" smtClean="0">
                <a:solidFill>
                  <a:srgbClr val="FF0000"/>
                </a:solidFill>
              </a:rPr>
              <a:t>no man in this country is above the law </a:t>
            </a:r>
            <a:r>
              <a:rPr lang="en-US" dirty="0" smtClean="0"/>
              <a:t>and </a:t>
            </a:r>
            <a:r>
              <a:rPr lang="en-US" dirty="0" smtClean="0">
                <a:solidFill>
                  <a:srgbClr val="FF0000"/>
                </a:solidFill>
              </a:rPr>
              <a:t>that law must be obeyed by all and applied to everyone </a:t>
            </a:r>
            <a:r>
              <a:rPr lang="en-US" dirty="0" smtClean="0"/>
              <a:t>– rich or poor, lowly or powerful- without fear or favor?</a:t>
            </a:r>
            <a:br>
              <a:rPr lang="en-US" dirty="0" smtClean="0"/>
            </a:br>
            <a:endParaRPr lang="en-US" dirty="0"/>
          </a:p>
        </p:txBody>
      </p:sp>
      <p:sp>
        <p:nvSpPr>
          <p:cNvPr id="3" name="Content Placeholder 2"/>
          <p:cNvSpPr>
            <a:spLocks noGrp="1"/>
          </p:cNvSpPr>
          <p:nvPr>
            <p:ph sz="quarter" idx="1"/>
          </p:nvPr>
        </p:nvSpPr>
        <p:spPr>
          <a:xfrm>
            <a:off x="228600" y="1600200"/>
            <a:ext cx="8915400" cy="4873752"/>
          </a:xfrm>
        </p:spPr>
        <p:txBody>
          <a:bodyPr>
            <a:normAutofit/>
          </a:bodyPr>
          <a:lstStyle/>
          <a:p>
            <a:pPr lvl="0" latinLnBrk="1"/>
            <a:r>
              <a:rPr lang="en-US" sz="5400" b="1" dirty="0" smtClean="0"/>
              <a:t>A. Rule of law</a:t>
            </a:r>
            <a:endParaRPr lang="en-US" sz="5400" dirty="0" smtClean="0"/>
          </a:p>
          <a:p>
            <a:pPr lvl="0" latinLnBrk="1"/>
            <a:r>
              <a:rPr lang="en-US" sz="5400" dirty="0" smtClean="0"/>
              <a:t>B. Rule of the majority’</a:t>
            </a:r>
          </a:p>
          <a:p>
            <a:pPr lvl="0" latinLnBrk="1"/>
            <a:r>
              <a:rPr lang="en-US" sz="5400" dirty="0" smtClean="0"/>
              <a:t>C. Separation of church </a:t>
            </a:r>
          </a:p>
          <a:p>
            <a:pPr lvl="0" latinLnBrk="1">
              <a:buNone/>
            </a:pPr>
            <a:r>
              <a:rPr lang="en-US" sz="5400" dirty="0" smtClean="0"/>
              <a:t>    and state</a:t>
            </a:r>
          </a:p>
          <a:p>
            <a:pPr lvl="0" latinLnBrk="1"/>
            <a:r>
              <a:rPr lang="en-US" sz="5400" dirty="0" smtClean="0"/>
              <a:t>D. Social justice</a:t>
            </a:r>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143000"/>
            <a:ext cx="8686800" cy="1143000"/>
          </a:xfrm>
        </p:spPr>
        <p:txBody>
          <a:bodyPr>
            <a:normAutofit fontScale="90000"/>
          </a:bodyPr>
          <a:lstStyle/>
          <a:p>
            <a:pPr lvl="0"/>
            <a:r>
              <a:rPr lang="en-US" dirty="0" smtClean="0"/>
              <a:t>10. In connection with government transactions involving public interest, which </a:t>
            </a:r>
            <a:r>
              <a:rPr lang="en-US" b="1" dirty="0" smtClean="0">
                <a:solidFill>
                  <a:srgbClr val="FF0000"/>
                </a:solidFill>
              </a:rPr>
              <a:t>policy is adopted </a:t>
            </a:r>
            <a:r>
              <a:rPr lang="en-US" dirty="0" smtClean="0"/>
              <a:t>in the Constitution </a:t>
            </a:r>
            <a:r>
              <a:rPr lang="en-US" dirty="0" smtClean="0">
                <a:solidFill>
                  <a:srgbClr val="FF0000"/>
                </a:solidFill>
              </a:rPr>
              <a:t>to assure the public of accountability and transparency</a:t>
            </a:r>
            <a:r>
              <a:rPr lang="en-US" dirty="0" smtClean="0"/>
              <a:t>?</a:t>
            </a:r>
            <a:br>
              <a:rPr lang="en-US" dirty="0" smtClean="0"/>
            </a:br>
            <a:endParaRPr lang="en-US" dirty="0"/>
          </a:p>
        </p:txBody>
      </p:sp>
      <p:sp>
        <p:nvSpPr>
          <p:cNvPr id="3" name="Content Placeholder 2"/>
          <p:cNvSpPr>
            <a:spLocks noGrp="1"/>
          </p:cNvSpPr>
          <p:nvPr>
            <p:ph sz="quarter" idx="1"/>
          </p:nvPr>
        </p:nvSpPr>
        <p:spPr>
          <a:xfrm>
            <a:off x="152400" y="1984248"/>
            <a:ext cx="8534400" cy="4873752"/>
          </a:xfrm>
        </p:spPr>
        <p:txBody>
          <a:bodyPr/>
          <a:lstStyle/>
          <a:p>
            <a:pPr lvl="0" latinLnBrk="1"/>
            <a:r>
              <a:rPr lang="en-US" sz="4000" b="1" dirty="0" smtClean="0"/>
              <a:t>A. Full public disclosure</a:t>
            </a:r>
            <a:endParaRPr lang="en-US" sz="4000" dirty="0" smtClean="0"/>
          </a:p>
          <a:p>
            <a:pPr lvl="0" latinLnBrk="1"/>
            <a:r>
              <a:rPr lang="en-US" sz="4000" dirty="0" smtClean="0"/>
              <a:t>B. Balanced and healthful </a:t>
            </a:r>
          </a:p>
          <a:p>
            <a:pPr lvl="0" latinLnBrk="1">
              <a:buNone/>
            </a:pPr>
            <a:r>
              <a:rPr lang="en-US" sz="4000" dirty="0" smtClean="0"/>
              <a:t>     ecology</a:t>
            </a:r>
          </a:p>
          <a:p>
            <a:pPr lvl="0" latinLnBrk="1"/>
            <a:r>
              <a:rPr lang="en-US" sz="4000" dirty="0" smtClean="0"/>
              <a:t>C. Private enterprise and </a:t>
            </a:r>
          </a:p>
          <a:p>
            <a:pPr lvl="0" latinLnBrk="1">
              <a:buNone/>
            </a:pPr>
            <a:r>
              <a:rPr lang="en-US" sz="4000" dirty="0" smtClean="0"/>
              <a:t>   incentives to needed investments</a:t>
            </a:r>
          </a:p>
          <a:p>
            <a:pPr lvl="0" latinLnBrk="1"/>
            <a:r>
              <a:rPr lang="en-US" sz="4000" dirty="0" smtClean="0"/>
              <a:t>D. Rural development and </a:t>
            </a:r>
          </a:p>
          <a:p>
            <a:pPr lvl="0" latinLnBrk="1">
              <a:buNone/>
            </a:pPr>
            <a:r>
              <a:rPr lang="en-US" sz="4000" dirty="0" smtClean="0"/>
              <a:t>    agrarian reform</a:t>
            </a:r>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371600"/>
            <a:ext cx="8610600" cy="1143000"/>
          </a:xfrm>
        </p:spPr>
        <p:txBody>
          <a:bodyPr>
            <a:normAutofit fontScale="90000"/>
          </a:bodyPr>
          <a:lstStyle/>
          <a:p>
            <a:pPr lvl="0"/>
            <a:r>
              <a:rPr lang="en-US" dirty="0" smtClean="0"/>
              <a:t>11. Filipino citizens have the </a:t>
            </a:r>
            <a:r>
              <a:rPr lang="en-US" b="1" dirty="0" smtClean="0">
                <a:solidFill>
                  <a:srgbClr val="FF0000"/>
                </a:solidFill>
              </a:rPr>
              <a:t>power to participate in the establishment or administration of government </a:t>
            </a:r>
            <a:r>
              <a:rPr lang="en-US" dirty="0" smtClean="0"/>
              <a:t>such as </a:t>
            </a:r>
            <a:r>
              <a:rPr lang="en-US" dirty="0" smtClean="0">
                <a:solidFill>
                  <a:srgbClr val="FF0000"/>
                </a:solidFill>
              </a:rPr>
              <a:t>right to vote and be voted upon </a:t>
            </a:r>
            <a:r>
              <a:rPr lang="en-US" dirty="0" smtClean="0"/>
              <a:t>as an exercise of _____________.</a:t>
            </a:r>
            <a:br>
              <a:rPr lang="en-US" dirty="0" smtClean="0"/>
            </a:br>
            <a:endParaRPr lang="en-US" dirty="0"/>
          </a:p>
        </p:txBody>
      </p:sp>
      <p:sp>
        <p:nvSpPr>
          <p:cNvPr id="3" name="Content Placeholder 2"/>
          <p:cNvSpPr>
            <a:spLocks noGrp="1"/>
          </p:cNvSpPr>
          <p:nvPr>
            <p:ph sz="quarter" idx="1"/>
          </p:nvPr>
        </p:nvSpPr>
        <p:spPr>
          <a:xfrm>
            <a:off x="457200" y="1984248"/>
            <a:ext cx="8229600" cy="4873752"/>
          </a:xfrm>
        </p:spPr>
        <p:txBody>
          <a:bodyPr/>
          <a:lstStyle/>
          <a:p>
            <a:pPr latinLnBrk="1">
              <a:buNone/>
            </a:pPr>
            <a:r>
              <a:rPr lang="en-US" sz="5400" dirty="0" smtClean="0"/>
              <a:t> </a:t>
            </a:r>
          </a:p>
          <a:p>
            <a:pPr lvl="0" latinLnBrk="1"/>
            <a:r>
              <a:rPr lang="en-US" sz="5400" b="1" dirty="0" smtClean="0"/>
              <a:t>A. Political rights </a:t>
            </a:r>
            <a:endParaRPr lang="en-US" sz="5400" dirty="0" smtClean="0"/>
          </a:p>
          <a:p>
            <a:pPr lvl="0" latinLnBrk="1"/>
            <a:r>
              <a:rPr lang="en-US" sz="5400" dirty="0" smtClean="0"/>
              <a:t>B .Civil rights</a:t>
            </a:r>
          </a:p>
          <a:p>
            <a:pPr lvl="0" latinLnBrk="1"/>
            <a:r>
              <a:rPr lang="en-US" sz="5400" dirty="0" smtClean="0"/>
              <a:t>C. Social rights</a:t>
            </a:r>
          </a:p>
          <a:p>
            <a:pPr lvl="0" latinLnBrk="1"/>
            <a:r>
              <a:rPr lang="en-US" sz="5400" dirty="0" smtClean="0"/>
              <a:t>D. Economic rights</a:t>
            </a:r>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09600"/>
            <a:ext cx="8534400" cy="1143000"/>
          </a:xfrm>
        </p:spPr>
        <p:txBody>
          <a:bodyPr>
            <a:normAutofit fontScale="90000"/>
          </a:bodyPr>
          <a:lstStyle/>
          <a:p>
            <a:pPr lvl="0"/>
            <a:r>
              <a:rPr lang="en-US" dirty="0" smtClean="0"/>
              <a:t>12. Can the accused waive his right to remain silent and to have competent and independent counsel?</a:t>
            </a:r>
            <a:br>
              <a:rPr lang="en-US" dirty="0" smtClean="0"/>
            </a:br>
            <a:endParaRPr lang="en-US" dirty="0"/>
          </a:p>
        </p:txBody>
      </p:sp>
      <p:sp>
        <p:nvSpPr>
          <p:cNvPr id="3" name="Content Placeholder 2"/>
          <p:cNvSpPr>
            <a:spLocks noGrp="1"/>
          </p:cNvSpPr>
          <p:nvPr>
            <p:ph sz="quarter" idx="1"/>
          </p:nvPr>
        </p:nvSpPr>
        <p:spPr>
          <a:xfrm>
            <a:off x="152400" y="1295400"/>
            <a:ext cx="8534400" cy="5562600"/>
          </a:xfrm>
        </p:spPr>
        <p:txBody>
          <a:bodyPr/>
          <a:lstStyle/>
          <a:p>
            <a:pPr lvl="0" latinLnBrk="1"/>
            <a:r>
              <a:rPr lang="en-US" sz="4000" b="1" dirty="0" smtClean="0"/>
              <a:t>A. No, except in writing and </a:t>
            </a:r>
          </a:p>
          <a:p>
            <a:pPr lvl="0" latinLnBrk="1">
              <a:buNone/>
            </a:pPr>
            <a:r>
              <a:rPr lang="en-US" sz="4000" b="1" dirty="0" smtClean="0"/>
              <a:t>   in the presence of counsel.</a:t>
            </a:r>
            <a:endParaRPr lang="en-US" sz="4000" dirty="0" smtClean="0"/>
          </a:p>
          <a:p>
            <a:pPr lvl="0" latinLnBrk="1"/>
            <a:r>
              <a:rPr lang="en-US" sz="4000" dirty="0" smtClean="0"/>
              <a:t>B. Yes, if there is no counsel </a:t>
            </a:r>
          </a:p>
          <a:p>
            <a:pPr lvl="0" latinLnBrk="1">
              <a:buNone/>
            </a:pPr>
            <a:r>
              <a:rPr lang="en-US" sz="4000" dirty="0" smtClean="0"/>
              <a:t>   offering his service.</a:t>
            </a:r>
          </a:p>
          <a:p>
            <a:pPr lvl="0" latinLnBrk="1"/>
            <a:r>
              <a:rPr lang="en-US" sz="4000" dirty="0" smtClean="0"/>
              <a:t>C. No, it cannot be waived.</a:t>
            </a:r>
          </a:p>
          <a:p>
            <a:pPr lvl="0" latinLnBrk="1"/>
            <a:r>
              <a:rPr lang="en-US" sz="4000" dirty="0" smtClean="0"/>
              <a:t>D. Yes, if he voluntarily does so.</a:t>
            </a:r>
          </a:p>
          <a:p>
            <a:pPr>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05800" cy="1143000"/>
          </a:xfrm>
        </p:spPr>
        <p:txBody>
          <a:bodyPr/>
          <a:lstStyle/>
          <a:p>
            <a:r>
              <a:rPr lang="en-US" dirty="0" smtClean="0"/>
              <a:t>13. Which is </a:t>
            </a:r>
            <a:r>
              <a:rPr lang="en-US" b="1" dirty="0" smtClean="0">
                <a:solidFill>
                  <a:srgbClr val="FF0000"/>
                </a:solidFill>
              </a:rPr>
              <a:t>right violated by wiretapping</a:t>
            </a:r>
            <a:r>
              <a:rPr lang="en-US" dirty="0" smtClean="0"/>
              <a:t>? </a:t>
            </a:r>
            <a:endParaRPr lang="en-US" dirty="0"/>
          </a:p>
        </p:txBody>
      </p:sp>
      <p:sp>
        <p:nvSpPr>
          <p:cNvPr id="3" name="Content Placeholder 2"/>
          <p:cNvSpPr>
            <a:spLocks noGrp="1"/>
          </p:cNvSpPr>
          <p:nvPr>
            <p:ph sz="quarter" idx="1"/>
          </p:nvPr>
        </p:nvSpPr>
        <p:spPr>
          <a:xfrm>
            <a:off x="228600" y="1600200"/>
            <a:ext cx="8458200" cy="4873752"/>
          </a:xfrm>
        </p:spPr>
        <p:txBody>
          <a:bodyPr/>
          <a:lstStyle/>
          <a:p>
            <a:pPr lvl="0" latinLnBrk="1"/>
            <a:r>
              <a:rPr lang="en-US" sz="4000" dirty="0" smtClean="0"/>
              <a:t>A. Freedom of expression</a:t>
            </a:r>
          </a:p>
          <a:p>
            <a:pPr lvl="0" latinLnBrk="1"/>
            <a:r>
              <a:rPr lang="en-US" sz="4000" dirty="0" smtClean="0"/>
              <a:t>B. The right to private property</a:t>
            </a:r>
          </a:p>
          <a:p>
            <a:pPr lvl="0" latinLnBrk="1"/>
            <a:r>
              <a:rPr lang="en-US" sz="4000" b="1" dirty="0" smtClean="0"/>
              <a:t>C. The right to privacy of </a:t>
            </a:r>
          </a:p>
          <a:p>
            <a:pPr lvl="0" latinLnBrk="1">
              <a:buNone/>
            </a:pPr>
            <a:r>
              <a:rPr lang="en-US" sz="4000" b="1" dirty="0" smtClean="0"/>
              <a:t>     communication</a:t>
            </a:r>
            <a:endParaRPr lang="en-US" sz="4000" dirty="0" smtClean="0"/>
          </a:p>
          <a:p>
            <a:pPr lvl="0" latinLnBrk="1"/>
            <a:r>
              <a:rPr lang="en-US" sz="4000" dirty="0" smtClean="0"/>
              <a:t>D. The right to information on </a:t>
            </a:r>
          </a:p>
          <a:p>
            <a:pPr lvl="0" latinLnBrk="1">
              <a:buNone/>
            </a:pPr>
            <a:r>
              <a:rPr lang="en-US" sz="4000" dirty="0" smtClean="0"/>
              <a:t>     matters of public concern</a:t>
            </a:r>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534400" cy="1143000"/>
          </a:xfrm>
        </p:spPr>
        <p:txBody>
          <a:bodyPr>
            <a:normAutofit fontScale="90000"/>
          </a:bodyPr>
          <a:lstStyle/>
          <a:p>
            <a:pPr lvl="0"/>
            <a:r>
              <a:rPr lang="en-US" dirty="0" smtClean="0"/>
              <a:t>14. Which </a:t>
            </a:r>
            <a:r>
              <a:rPr lang="en-US" dirty="0" smtClean="0">
                <a:solidFill>
                  <a:srgbClr val="FF0000"/>
                </a:solidFill>
              </a:rPr>
              <a:t>act</a:t>
            </a:r>
            <a:r>
              <a:rPr lang="en-US" dirty="0" smtClean="0"/>
              <a:t> is a </a:t>
            </a:r>
            <a:r>
              <a:rPr lang="en-US" b="1" dirty="0" smtClean="0">
                <a:solidFill>
                  <a:srgbClr val="FF0000"/>
                </a:solidFill>
              </a:rPr>
              <a:t>deprivation of life without due process</a:t>
            </a:r>
            <a:r>
              <a:rPr lang="en-US" dirty="0" smtClean="0"/>
              <a:t>?</a:t>
            </a:r>
            <a:br>
              <a:rPr lang="en-US" dirty="0" smtClean="0"/>
            </a:br>
            <a:endParaRPr lang="en-US" dirty="0"/>
          </a:p>
        </p:txBody>
      </p:sp>
      <p:sp>
        <p:nvSpPr>
          <p:cNvPr id="3" name="Content Placeholder 2"/>
          <p:cNvSpPr>
            <a:spLocks noGrp="1"/>
          </p:cNvSpPr>
          <p:nvPr>
            <p:ph sz="quarter" idx="1"/>
          </p:nvPr>
        </p:nvSpPr>
        <p:spPr>
          <a:xfrm>
            <a:off x="228600" y="1143000"/>
            <a:ext cx="8915400" cy="5330952"/>
          </a:xfrm>
        </p:spPr>
        <p:txBody>
          <a:bodyPr/>
          <a:lstStyle/>
          <a:p>
            <a:pPr lvl="0" latinLnBrk="1"/>
            <a:r>
              <a:rPr lang="en-US" sz="4400" dirty="0" smtClean="0"/>
              <a:t>A. Killing in self-defense</a:t>
            </a:r>
          </a:p>
          <a:p>
            <a:pPr lvl="0" latinLnBrk="1"/>
            <a:r>
              <a:rPr lang="en-US" sz="4400" b="1" dirty="0" smtClean="0"/>
              <a:t>B. Salvaging</a:t>
            </a:r>
            <a:endParaRPr lang="en-US" sz="4400" dirty="0" smtClean="0"/>
          </a:p>
          <a:p>
            <a:pPr lvl="0" latinLnBrk="1"/>
            <a:r>
              <a:rPr lang="en-US" sz="4400" dirty="0" smtClean="0"/>
              <a:t>C. Imposition of the death </a:t>
            </a:r>
          </a:p>
          <a:p>
            <a:pPr lvl="0" latinLnBrk="1">
              <a:buNone/>
            </a:pPr>
            <a:r>
              <a:rPr lang="en-US" sz="4400" dirty="0" smtClean="0"/>
              <a:t>       penalty</a:t>
            </a:r>
          </a:p>
          <a:p>
            <a:pPr lvl="0" latinLnBrk="1"/>
            <a:r>
              <a:rPr lang="en-US" sz="4400" dirty="0" smtClean="0"/>
              <a:t>D. Death resulting from illness</a:t>
            </a:r>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534400" cy="1143000"/>
          </a:xfrm>
        </p:spPr>
        <p:txBody>
          <a:bodyPr>
            <a:normAutofit fontScale="90000"/>
          </a:bodyPr>
          <a:lstStyle/>
          <a:p>
            <a:pPr lvl="0"/>
            <a:r>
              <a:rPr lang="en-US" dirty="0" smtClean="0"/>
              <a:t>15. Is </a:t>
            </a:r>
            <a:r>
              <a:rPr lang="en-US" b="1" dirty="0" smtClean="0">
                <a:solidFill>
                  <a:srgbClr val="FF0000"/>
                </a:solidFill>
              </a:rPr>
              <a:t>land grabbing </a:t>
            </a:r>
            <a:r>
              <a:rPr lang="en-US" dirty="0" smtClean="0"/>
              <a:t>an </a:t>
            </a:r>
            <a:r>
              <a:rPr lang="en-US" dirty="0" smtClean="0">
                <a:solidFill>
                  <a:srgbClr val="FF0000"/>
                </a:solidFill>
              </a:rPr>
              <a:t>act of deprivation of property without due process</a:t>
            </a:r>
            <a:r>
              <a:rPr lang="en-US" dirty="0" smtClean="0"/>
              <a:t>?</a:t>
            </a:r>
            <a:br>
              <a:rPr lang="en-US" dirty="0" smtClean="0"/>
            </a:br>
            <a:endParaRPr lang="en-US" dirty="0"/>
          </a:p>
        </p:txBody>
      </p:sp>
      <p:sp>
        <p:nvSpPr>
          <p:cNvPr id="3" name="Content Placeholder 2"/>
          <p:cNvSpPr>
            <a:spLocks noGrp="1"/>
          </p:cNvSpPr>
          <p:nvPr>
            <p:ph sz="quarter" idx="1"/>
          </p:nvPr>
        </p:nvSpPr>
        <p:spPr>
          <a:xfrm>
            <a:off x="228600" y="1143000"/>
            <a:ext cx="8458200" cy="5330952"/>
          </a:xfrm>
        </p:spPr>
        <p:txBody>
          <a:bodyPr/>
          <a:lstStyle/>
          <a:p>
            <a:pPr lvl="0" latinLnBrk="1"/>
            <a:r>
              <a:rPr lang="en-US" sz="4800" b="1" dirty="0" smtClean="0"/>
              <a:t>A. Yes.</a:t>
            </a:r>
            <a:endParaRPr lang="en-US" sz="4800" dirty="0" smtClean="0"/>
          </a:p>
          <a:p>
            <a:pPr lvl="0" latinLnBrk="1"/>
            <a:r>
              <a:rPr lang="en-US" sz="4800" dirty="0" smtClean="0"/>
              <a:t>B. No.</a:t>
            </a:r>
          </a:p>
          <a:p>
            <a:pPr lvl="0" latinLnBrk="1"/>
            <a:r>
              <a:rPr lang="en-US" sz="4800" dirty="0" smtClean="0"/>
              <a:t>C. Yes, if the land grabber </a:t>
            </a:r>
          </a:p>
          <a:p>
            <a:pPr lvl="0" latinLnBrk="1">
              <a:buNone/>
            </a:pPr>
            <a:r>
              <a:rPr lang="en-US" sz="4800" dirty="0" smtClean="0"/>
              <a:t>    is rich.</a:t>
            </a:r>
          </a:p>
          <a:p>
            <a:pPr lvl="0" latinLnBrk="1"/>
            <a:r>
              <a:rPr lang="en-US" sz="4800" dirty="0" smtClean="0"/>
              <a:t>D. No, if the land grabber is landless.</a:t>
            </a:r>
          </a:p>
          <a:p>
            <a:pPr>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534400" cy="1143000"/>
          </a:xfrm>
        </p:spPr>
        <p:txBody>
          <a:bodyPr>
            <a:normAutofit fontScale="90000"/>
          </a:bodyPr>
          <a:lstStyle/>
          <a:p>
            <a:pPr lvl="0"/>
            <a:r>
              <a:rPr lang="en-US" dirty="0" smtClean="0"/>
              <a:t>16. Can you </a:t>
            </a:r>
            <a:r>
              <a:rPr lang="en-US" b="1" dirty="0" smtClean="0">
                <a:solidFill>
                  <a:srgbClr val="FF0000"/>
                </a:solidFill>
              </a:rPr>
              <a:t>be arrested without a warrant of arrest</a:t>
            </a:r>
            <a:r>
              <a:rPr lang="en-US" dirty="0" smtClean="0"/>
              <a:t>?</a:t>
            </a:r>
            <a:br>
              <a:rPr lang="en-US" dirty="0" smtClean="0"/>
            </a:br>
            <a:endParaRPr lang="en-US" dirty="0"/>
          </a:p>
        </p:txBody>
      </p:sp>
      <p:sp>
        <p:nvSpPr>
          <p:cNvPr id="3" name="Content Placeholder 2"/>
          <p:cNvSpPr>
            <a:spLocks noGrp="1"/>
          </p:cNvSpPr>
          <p:nvPr>
            <p:ph sz="quarter" idx="1"/>
          </p:nvPr>
        </p:nvSpPr>
        <p:spPr>
          <a:xfrm>
            <a:off x="228600" y="1066800"/>
            <a:ext cx="8458200" cy="5407152"/>
          </a:xfrm>
        </p:spPr>
        <p:txBody>
          <a:bodyPr/>
          <a:lstStyle/>
          <a:p>
            <a:pPr lvl="0" latinLnBrk="1"/>
            <a:r>
              <a:rPr lang="en-US" sz="4400" dirty="0" smtClean="0"/>
              <a:t>A. No, if you are minor.</a:t>
            </a:r>
          </a:p>
          <a:p>
            <a:pPr lvl="0" latinLnBrk="1"/>
            <a:r>
              <a:rPr lang="en-US" sz="4400" dirty="0" smtClean="0"/>
              <a:t>B. No, if you are more than 60 years old.</a:t>
            </a:r>
          </a:p>
          <a:p>
            <a:pPr lvl="0" latinLnBrk="1"/>
            <a:r>
              <a:rPr lang="en-US" sz="4400" dirty="0" smtClean="0"/>
              <a:t>C. Yes, if you were reported to have committed a crime.</a:t>
            </a:r>
          </a:p>
          <a:p>
            <a:pPr lvl="0" latinLnBrk="1"/>
            <a:r>
              <a:rPr lang="en-US" sz="4400" b="1" dirty="0" smtClean="0"/>
              <a:t>D. Yes, if you are in the act of committing a crime.</a:t>
            </a:r>
            <a:endParaRPr lang="en-US" sz="4400" dirty="0" smtClean="0"/>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8915400" cy="1143000"/>
          </a:xfrm>
        </p:spPr>
        <p:txBody>
          <a:bodyPr>
            <a:normAutofit fontScale="90000"/>
          </a:bodyPr>
          <a:lstStyle/>
          <a:p>
            <a:pPr latinLnBrk="1"/>
            <a:r>
              <a:rPr lang="en-US" dirty="0" smtClean="0"/>
              <a:t>  </a:t>
            </a:r>
            <a:br>
              <a:rPr lang="en-US" dirty="0" smtClean="0"/>
            </a:br>
            <a:r>
              <a:rPr lang="en-US" dirty="0" smtClean="0"/>
              <a:t>17. Can </a:t>
            </a:r>
            <a:r>
              <a:rPr lang="en-US" b="1" dirty="0" smtClean="0">
                <a:solidFill>
                  <a:srgbClr val="FF0000"/>
                </a:solidFill>
              </a:rPr>
              <a:t>religious instruction be taught </a:t>
            </a:r>
            <a:br>
              <a:rPr lang="en-US" b="1" dirty="0" smtClean="0">
                <a:solidFill>
                  <a:srgbClr val="FF0000"/>
                </a:solidFill>
              </a:rPr>
            </a:br>
            <a:r>
              <a:rPr lang="en-US" dirty="0" smtClean="0"/>
              <a:t>in </a:t>
            </a:r>
            <a:r>
              <a:rPr lang="en-US" dirty="0" smtClean="0">
                <a:solidFill>
                  <a:srgbClr val="FF0000"/>
                </a:solidFill>
              </a:rPr>
              <a:t>public schools</a:t>
            </a:r>
            <a:r>
              <a:rPr lang="en-US" dirty="0" smtClean="0"/>
              <a:t>?</a:t>
            </a:r>
            <a:br>
              <a:rPr lang="en-US" dirty="0" smtClean="0"/>
            </a:br>
            <a:endParaRPr lang="en-US" dirty="0"/>
          </a:p>
        </p:txBody>
      </p:sp>
      <p:sp>
        <p:nvSpPr>
          <p:cNvPr id="3" name="Content Placeholder 2"/>
          <p:cNvSpPr>
            <a:spLocks noGrp="1"/>
          </p:cNvSpPr>
          <p:nvPr>
            <p:ph sz="quarter" idx="1"/>
          </p:nvPr>
        </p:nvSpPr>
        <p:spPr>
          <a:xfrm>
            <a:off x="228600" y="1295400"/>
            <a:ext cx="8458200" cy="5178552"/>
          </a:xfrm>
        </p:spPr>
        <p:txBody>
          <a:bodyPr>
            <a:normAutofit lnSpcReduction="10000"/>
          </a:bodyPr>
          <a:lstStyle/>
          <a:p>
            <a:pPr lvl="0" latinLnBrk="1"/>
            <a:r>
              <a:rPr lang="en-US" sz="4800" dirty="0" smtClean="0"/>
              <a:t>I. Yes, if given free.</a:t>
            </a:r>
          </a:p>
          <a:p>
            <a:pPr lvl="0" latinLnBrk="1"/>
            <a:r>
              <a:rPr lang="en-US" sz="4800" dirty="0" smtClean="0"/>
              <a:t>II. Yes, if given outside </a:t>
            </a:r>
          </a:p>
          <a:p>
            <a:pPr lvl="0" latinLnBrk="1">
              <a:buNone/>
            </a:pPr>
            <a:r>
              <a:rPr lang="en-US" sz="4800" dirty="0" smtClean="0"/>
              <a:t>    class hours.</a:t>
            </a:r>
          </a:p>
          <a:p>
            <a:pPr lvl="0" latinLnBrk="1"/>
            <a:r>
              <a:rPr lang="en-US" sz="4800" dirty="0" smtClean="0"/>
              <a:t>III. Yes, only to those </a:t>
            </a:r>
          </a:p>
          <a:p>
            <a:pPr lvl="0" latinLnBrk="1">
              <a:buNone/>
            </a:pPr>
            <a:r>
              <a:rPr lang="en-US" sz="4800" dirty="0" smtClean="0"/>
              <a:t>     children whose parents </a:t>
            </a:r>
          </a:p>
          <a:p>
            <a:pPr lvl="0" latinLnBrk="1">
              <a:buNone/>
            </a:pPr>
            <a:r>
              <a:rPr lang="en-US" sz="4800" dirty="0" smtClean="0"/>
              <a:t>      give their consent in </a:t>
            </a:r>
          </a:p>
          <a:p>
            <a:pPr lvl="0" latinLnBrk="1">
              <a:buNone/>
            </a:pPr>
            <a:r>
              <a:rPr lang="en-US" sz="4800" dirty="0" smtClean="0"/>
              <a:t>      writing.</a:t>
            </a:r>
          </a:p>
          <a:p>
            <a:pPr>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457200" y="304800"/>
            <a:ext cx="8229600" cy="6169152"/>
          </a:xfrm>
        </p:spPr>
        <p:txBody>
          <a:bodyPr/>
          <a:lstStyle/>
          <a:p>
            <a:pPr latinLnBrk="1">
              <a:buNone/>
            </a:pPr>
            <a:r>
              <a:rPr lang="en-US" dirty="0" smtClean="0"/>
              <a:t> </a:t>
            </a:r>
          </a:p>
          <a:p>
            <a:pPr lvl="0" latinLnBrk="1"/>
            <a:r>
              <a:rPr lang="en-US" sz="8000" b="1" dirty="0" smtClean="0"/>
              <a:t>A. I and III</a:t>
            </a:r>
            <a:endParaRPr lang="en-US" sz="8000" dirty="0" smtClean="0"/>
          </a:p>
          <a:p>
            <a:pPr lvl="0" latinLnBrk="1"/>
            <a:r>
              <a:rPr lang="en-US" sz="8000" dirty="0" smtClean="0"/>
              <a:t>B. II and III</a:t>
            </a:r>
          </a:p>
          <a:p>
            <a:pPr lvl="0" latinLnBrk="1"/>
            <a:r>
              <a:rPr lang="en-US" sz="8000" dirty="0" smtClean="0"/>
              <a:t>C. I, II,  and III</a:t>
            </a:r>
          </a:p>
          <a:p>
            <a:pPr lvl="0" latinLnBrk="1"/>
            <a:r>
              <a:rPr lang="en-US" sz="8000" dirty="0" smtClean="0"/>
              <a:t>D. III only</a:t>
            </a:r>
          </a:p>
          <a:p>
            <a:pPr>
              <a:buNone/>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18. </a:t>
            </a:r>
            <a:r>
              <a:rPr lang="en-US" dirty="0" smtClean="0">
                <a:solidFill>
                  <a:srgbClr val="FF0000"/>
                </a:solidFill>
              </a:rPr>
              <a:t>Can</a:t>
            </a:r>
            <a:r>
              <a:rPr lang="en-US" dirty="0" smtClean="0"/>
              <a:t> an </a:t>
            </a:r>
            <a:r>
              <a:rPr lang="en-US" dirty="0" smtClean="0">
                <a:solidFill>
                  <a:srgbClr val="FF0000"/>
                </a:solidFill>
              </a:rPr>
              <a:t>accused </a:t>
            </a:r>
            <a:r>
              <a:rPr lang="en-US" dirty="0" smtClean="0"/>
              <a:t>avail of </a:t>
            </a:r>
            <a:r>
              <a:rPr lang="en-US" b="1" dirty="0" smtClean="0">
                <a:solidFill>
                  <a:srgbClr val="FF0000"/>
                </a:solidFill>
              </a:rPr>
              <a:t>free legal assistance</a:t>
            </a:r>
            <a:r>
              <a:rPr lang="en-US" dirty="0" smtClean="0"/>
              <a:t>?</a:t>
            </a:r>
            <a:br>
              <a:rPr lang="en-US" dirty="0" smtClean="0"/>
            </a:br>
            <a:r>
              <a:rPr lang="en-US" dirty="0" smtClean="0"/>
              <a:t> </a:t>
            </a:r>
            <a:endParaRPr lang="en-US" dirty="0"/>
          </a:p>
        </p:txBody>
      </p:sp>
      <p:sp>
        <p:nvSpPr>
          <p:cNvPr id="3" name="Content Placeholder 2"/>
          <p:cNvSpPr>
            <a:spLocks noGrp="1"/>
          </p:cNvSpPr>
          <p:nvPr>
            <p:ph sz="quarter" idx="1"/>
          </p:nvPr>
        </p:nvSpPr>
        <p:spPr>
          <a:xfrm>
            <a:off x="304800" y="1143000"/>
            <a:ext cx="8382000" cy="5715000"/>
          </a:xfrm>
        </p:spPr>
        <p:txBody>
          <a:bodyPr/>
          <a:lstStyle/>
          <a:p>
            <a:pPr lvl="0" latinLnBrk="1"/>
            <a:r>
              <a:rPr lang="en-US" sz="4000" dirty="0" smtClean="0"/>
              <a:t>A. No, there is no such thing as </a:t>
            </a:r>
          </a:p>
          <a:p>
            <a:pPr lvl="0" latinLnBrk="1">
              <a:buNone/>
            </a:pPr>
            <a:r>
              <a:rPr lang="en-US" sz="4000" dirty="0" smtClean="0"/>
              <a:t>    free lunch.</a:t>
            </a:r>
          </a:p>
          <a:p>
            <a:pPr lvl="0" latinLnBrk="1"/>
            <a:r>
              <a:rPr lang="en-US" sz="4000" b="1" dirty="0" smtClean="0"/>
              <a:t>B. Yes, provided he is </a:t>
            </a:r>
          </a:p>
          <a:p>
            <a:pPr lvl="0" latinLnBrk="1">
              <a:buNone/>
            </a:pPr>
            <a:r>
              <a:rPr lang="en-US" sz="4000" b="1" dirty="0" smtClean="0"/>
              <a:t>  classified as a poor litigant by the court.</a:t>
            </a:r>
            <a:endParaRPr lang="en-US" sz="4000" dirty="0" smtClean="0"/>
          </a:p>
          <a:p>
            <a:pPr lvl="0" latinLnBrk="1"/>
            <a:r>
              <a:rPr lang="en-US" sz="4000" dirty="0" smtClean="0"/>
              <a:t>C. Yes, if the act committed is a minor offense.</a:t>
            </a:r>
          </a:p>
          <a:p>
            <a:pPr lvl="0" latinLnBrk="1"/>
            <a:r>
              <a:rPr lang="en-US" sz="4000" dirty="0" smtClean="0"/>
              <a:t>D. No, if the offense is grave.</a:t>
            </a:r>
          </a:p>
          <a:p>
            <a:pPr>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19. </a:t>
            </a:r>
            <a:r>
              <a:rPr lang="en-US" b="1" dirty="0" smtClean="0">
                <a:solidFill>
                  <a:srgbClr val="FF0000"/>
                </a:solidFill>
              </a:rPr>
              <a:t>My right is another man’s duty</a:t>
            </a:r>
            <a:r>
              <a:rPr lang="en-US" dirty="0" smtClean="0"/>
              <a:t>. Which one </a:t>
            </a:r>
            <a:r>
              <a:rPr lang="en-US" dirty="0" smtClean="0">
                <a:solidFill>
                  <a:srgbClr val="FF0000"/>
                </a:solidFill>
              </a:rPr>
              <a:t>correctly illustrates </a:t>
            </a:r>
            <a:r>
              <a:rPr lang="en-US" dirty="0" smtClean="0"/>
              <a:t>this?</a:t>
            </a:r>
            <a:br>
              <a:rPr lang="en-US" dirty="0" smtClean="0"/>
            </a:br>
            <a:endParaRPr lang="en-US" dirty="0"/>
          </a:p>
        </p:txBody>
      </p:sp>
      <p:sp>
        <p:nvSpPr>
          <p:cNvPr id="3" name="Content Placeholder 2"/>
          <p:cNvSpPr>
            <a:spLocks noGrp="1"/>
          </p:cNvSpPr>
          <p:nvPr>
            <p:ph sz="quarter" idx="1"/>
          </p:nvPr>
        </p:nvSpPr>
        <p:spPr>
          <a:xfrm>
            <a:off x="457200" y="1143000"/>
            <a:ext cx="8153400" cy="5330952"/>
          </a:xfrm>
        </p:spPr>
        <p:txBody>
          <a:bodyPr>
            <a:normAutofit fontScale="77500" lnSpcReduction="20000"/>
          </a:bodyPr>
          <a:lstStyle/>
          <a:p>
            <a:pPr lvl="0" latinLnBrk="1"/>
            <a:r>
              <a:rPr lang="en-US" sz="4400" b="1" dirty="0" smtClean="0"/>
              <a:t>A. My right to my private </a:t>
            </a:r>
          </a:p>
          <a:p>
            <a:pPr lvl="0" latinLnBrk="1">
              <a:buNone/>
            </a:pPr>
            <a:r>
              <a:rPr lang="en-US" sz="4400" b="1" dirty="0" smtClean="0"/>
              <a:t>   property requires my neighbor’s duty not to trespass the same.</a:t>
            </a:r>
            <a:endParaRPr lang="en-US" sz="4400" dirty="0" smtClean="0"/>
          </a:p>
          <a:p>
            <a:pPr lvl="0" latinLnBrk="1"/>
            <a:r>
              <a:rPr lang="en-US" sz="4400" dirty="0" smtClean="0"/>
              <a:t>B. I have freedom of speech but I see </a:t>
            </a:r>
          </a:p>
          <a:p>
            <a:pPr lvl="0" latinLnBrk="1">
              <a:buNone/>
            </a:pPr>
            <a:r>
              <a:rPr lang="en-US" sz="4400" dirty="0" smtClean="0"/>
              <a:t>  to it that I speak only what is true.</a:t>
            </a:r>
          </a:p>
          <a:p>
            <a:pPr lvl="0" latinLnBrk="1"/>
            <a:r>
              <a:rPr lang="en-US" sz="4400" dirty="0" smtClean="0"/>
              <a:t>C. Suffrage is both a right and a duty.</a:t>
            </a:r>
          </a:p>
          <a:p>
            <a:pPr lvl="0" latinLnBrk="1"/>
            <a:r>
              <a:rPr lang="en-US" sz="4400" dirty="0" smtClean="0"/>
              <a:t>D. I exercise my right in such a way </a:t>
            </a:r>
          </a:p>
          <a:p>
            <a:pPr lvl="0" latinLnBrk="1">
              <a:buNone/>
            </a:pPr>
            <a:r>
              <a:rPr lang="en-US" sz="4400" dirty="0" smtClean="0"/>
              <a:t>  that it does not </a:t>
            </a:r>
          </a:p>
          <a:p>
            <a:pPr lvl="0" latinLnBrk="1">
              <a:buNone/>
            </a:pPr>
            <a:r>
              <a:rPr lang="en-US" sz="4400" dirty="0" smtClean="0"/>
              <a:t>   violate another person’s right.</a:t>
            </a:r>
          </a:p>
          <a:p>
            <a:pPr>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r>
              <a:rPr lang="en-US" dirty="0" smtClean="0"/>
              <a:t>20. </a:t>
            </a:r>
            <a:r>
              <a:rPr lang="en-US" b="1" dirty="0" smtClean="0">
                <a:solidFill>
                  <a:srgbClr val="FF0000"/>
                </a:solidFill>
              </a:rPr>
              <a:t>Every right has a built-in duty</a:t>
            </a:r>
            <a:r>
              <a:rPr lang="en-US" dirty="0" smtClean="0"/>
              <a:t>. Which of the following </a:t>
            </a:r>
            <a:r>
              <a:rPr lang="en-US" dirty="0" smtClean="0">
                <a:solidFill>
                  <a:srgbClr val="FF0000"/>
                </a:solidFill>
              </a:rPr>
              <a:t>illustrates this correctly</a:t>
            </a:r>
            <a:r>
              <a:rPr lang="en-US" dirty="0" smtClean="0"/>
              <a:t>?</a:t>
            </a:r>
            <a:endParaRPr lang="en-US" dirty="0"/>
          </a:p>
        </p:txBody>
      </p:sp>
      <p:sp>
        <p:nvSpPr>
          <p:cNvPr id="3" name="Content Placeholder 2"/>
          <p:cNvSpPr>
            <a:spLocks noGrp="1"/>
          </p:cNvSpPr>
          <p:nvPr>
            <p:ph sz="quarter" idx="1"/>
          </p:nvPr>
        </p:nvSpPr>
        <p:spPr>
          <a:xfrm>
            <a:off x="228600" y="1600200"/>
            <a:ext cx="8458200" cy="4873752"/>
          </a:xfrm>
        </p:spPr>
        <p:txBody>
          <a:bodyPr/>
          <a:lstStyle/>
          <a:p>
            <a:pPr lvl="0" latinLnBrk="1"/>
            <a:r>
              <a:rPr lang="en-US" dirty="0" smtClean="0"/>
              <a:t>A. I have the right to vote, and it is the duty of the </a:t>
            </a:r>
          </a:p>
          <a:p>
            <a:pPr lvl="0" latinLnBrk="1">
              <a:buNone/>
            </a:pPr>
            <a:r>
              <a:rPr lang="en-US" dirty="0" smtClean="0"/>
              <a:t>   COMELEC to allow me to vote.</a:t>
            </a:r>
          </a:p>
          <a:p>
            <a:pPr lvl="0" latinLnBrk="1"/>
            <a:r>
              <a:rPr lang="en-US" dirty="0" smtClean="0"/>
              <a:t>B. My right to privacy requires my neighbor to respect </a:t>
            </a:r>
          </a:p>
          <a:p>
            <a:pPr lvl="0" latinLnBrk="1">
              <a:buNone/>
            </a:pPr>
            <a:r>
              <a:rPr lang="en-US" dirty="0" smtClean="0"/>
              <a:t>    it.</a:t>
            </a:r>
          </a:p>
          <a:p>
            <a:pPr lvl="0" latinLnBrk="1"/>
            <a:r>
              <a:rPr lang="en-US" dirty="0" smtClean="0"/>
              <a:t>C. I have the right to sell you my </a:t>
            </a:r>
            <a:r>
              <a:rPr lang="en-US" dirty="0" err="1" smtClean="0"/>
              <a:t>cellphone</a:t>
            </a:r>
            <a:r>
              <a:rPr lang="en-US" dirty="0" smtClean="0"/>
              <a:t> but it is your duty to pay for it.</a:t>
            </a:r>
          </a:p>
          <a:p>
            <a:pPr lvl="0" latinLnBrk="1"/>
            <a:r>
              <a:rPr lang="en-US" b="1" dirty="0" smtClean="0"/>
              <a:t>D. I have the right to drive my car but I must see </a:t>
            </a:r>
          </a:p>
          <a:p>
            <a:pPr lvl="0" latinLnBrk="1">
              <a:buNone/>
            </a:pPr>
            <a:r>
              <a:rPr lang="en-US" b="1" dirty="0" smtClean="0"/>
              <a:t>   to it that I obey traffic rules.</a:t>
            </a:r>
            <a:endParaRPr lang="en-US" dirty="0" smtClean="0"/>
          </a:p>
          <a:p>
            <a:pPr>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21. Can a person </a:t>
            </a:r>
            <a:r>
              <a:rPr lang="en-US" b="1" dirty="0" smtClean="0">
                <a:solidFill>
                  <a:srgbClr val="FF0000"/>
                </a:solidFill>
              </a:rPr>
              <a:t>be imprisoned for debt</a:t>
            </a:r>
            <a:r>
              <a:rPr lang="en-US" dirty="0" smtClean="0"/>
              <a:t>?</a:t>
            </a:r>
            <a:br>
              <a:rPr lang="en-US" dirty="0" smtClean="0"/>
            </a:br>
            <a:endParaRPr lang="en-US" dirty="0"/>
          </a:p>
        </p:txBody>
      </p:sp>
      <p:sp>
        <p:nvSpPr>
          <p:cNvPr id="3" name="Content Placeholder 2"/>
          <p:cNvSpPr>
            <a:spLocks noGrp="1"/>
          </p:cNvSpPr>
          <p:nvPr>
            <p:ph sz="quarter" idx="1"/>
          </p:nvPr>
        </p:nvSpPr>
        <p:spPr>
          <a:xfrm>
            <a:off x="304800" y="1219200"/>
            <a:ext cx="8534400" cy="5254752"/>
          </a:xfrm>
        </p:spPr>
        <p:txBody>
          <a:bodyPr/>
          <a:lstStyle/>
          <a:p>
            <a:pPr latinLnBrk="1">
              <a:buNone/>
            </a:pPr>
            <a:r>
              <a:rPr lang="en-US" dirty="0" smtClean="0"/>
              <a:t> </a:t>
            </a:r>
          </a:p>
          <a:p>
            <a:pPr lvl="0" latinLnBrk="1"/>
            <a:r>
              <a:rPr lang="en-US" sz="4000" dirty="0" smtClean="0"/>
              <a:t>A. No, if he can’t pay the interest of his debt.</a:t>
            </a:r>
          </a:p>
          <a:p>
            <a:pPr lvl="0" latinLnBrk="1"/>
            <a:r>
              <a:rPr lang="en-US" sz="4000" dirty="0" smtClean="0"/>
              <a:t>B. Yes, if he has no property with which to pay his debt.</a:t>
            </a:r>
          </a:p>
          <a:p>
            <a:pPr lvl="0" latinLnBrk="1"/>
            <a:r>
              <a:rPr lang="en-US" sz="4000" b="1" dirty="0" smtClean="0"/>
              <a:t>C. No.</a:t>
            </a:r>
            <a:endParaRPr lang="en-US" sz="4000" dirty="0" smtClean="0"/>
          </a:p>
          <a:p>
            <a:pPr lvl="0" latinLnBrk="1"/>
            <a:r>
              <a:rPr lang="en-US" sz="4000" dirty="0" smtClean="0"/>
              <a:t>D. Yes, if he stubbornly refuses to pay.</a:t>
            </a:r>
          </a:p>
          <a:p>
            <a:pPr>
              <a:buNone/>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22. What does </a:t>
            </a:r>
            <a:r>
              <a:rPr lang="en-US" b="1" dirty="0" smtClean="0">
                <a:solidFill>
                  <a:srgbClr val="FF0000"/>
                </a:solidFill>
              </a:rPr>
              <a:t>“presumption of innocence” mean</a:t>
            </a:r>
            <a:r>
              <a:rPr lang="en-US" dirty="0" smtClean="0"/>
              <a:t> in so far </a:t>
            </a:r>
            <a:r>
              <a:rPr lang="en-US" dirty="0" smtClean="0">
                <a:solidFill>
                  <a:srgbClr val="FF0000"/>
                </a:solidFill>
              </a:rPr>
              <a:t>as human right is concerned</a:t>
            </a:r>
            <a:r>
              <a:rPr lang="en-US" dirty="0" smtClean="0"/>
              <a:t>?</a:t>
            </a:r>
            <a:br>
              <a:rPr lang="en-US" dirty="0" smtClean="0"/>
            </a:br>
            <a:endParaRPr lang="en-US" dirty="0"/>
          </a:p>
        </p:txBody>
      </p:sp>
      <p:sp>
        <p:nvSpPr>
          <p:cNvPr id="3" name="Content Placeholder 2"/>
          <p:cNvSpPr>
            <a:spLocks noGrp="1"/>
          </p:cNvSpPr>
          <p:nvPr>
            <p:ph sz="quarter" idx="1"/>
          </p:nvPr>
        </p:nvSpPr>
        <p:spPr>
          <a:xfrm>
            <a:off x="457200" y="1219200"/>
            <a:ext cx="8229600" cy="5254752"/>
          </a:xfrm>
        </p:spPr>
        <p:txBody>
          <a:bodyPr>
            <a:normAutofit fontScale="92500" lnSpcReduction="10000"/>
          </a:bodyPr>
          <a:lstStyle/>
          <a:p>
            <a:pPr lvl="0" latinLnBrk="1"/>
            <a:r>
              <a:rPr lang="en-US" sz="4400" dirty="0" smtClean="0"/>
              <a:t>A. A suspect is considered </a:t>
            </a:r>
          </a:p>
          <a:p>
            <a:pPr lvl="0" latinLnBrk="1">
              <a:buNone/>
            </a:pPr>
            <a:r>
              <a:rPr lang="en-US" sz="4400" dirty="0" smtClean="0"/>
              <a:t>guilty until proven otherwise.</a:t>
            </a:r>
          </a:p>
          <a:p>
            <a:pPr lvl="0" latinLnBrk="1"/>
            <a:r>
              <a:rPr lang="en-US" sz="4400" dirty="0" smtClean="0"/>
              <a:t>B. A suspect has the right to remain silent.</a:t>
            </a:r>
          </a:p>
          <a:p>
            <a:pPr lvl="0" latinLnBrk="1"/>
            <a:r>
              <a:rPr lang="en-US" sz="4400" dirty="0" smtClean="0"/>
              <a:t>C. A suspect has the right to a legal counsel.</a:t>
            </a:r>
          </a:p>
          <a:p>
            <a:pPr lvl="0" latinLnBrk="1"/>
            <a:r>
              <a:rPr lang="en-US" sz="4400" b="1" dirty="0" smtClean="0"/>
              <a:t>D. A suspect remains </a:t>
            </a:r>
          </a:p>
          <a:p>
            <a:pPr lvl="0" latinLnBrk="1">
              <a:buNone/>
            </a:pPr>
            <a:r>
              <a:rPr lang="en-US" sz="4400" b="1" dirty="0" smtClean="0"/>
              <a:t>innocent until proven guilty.</a:t>
            </a:r>
            <a:endParaRPr lang="en-US" sz="4400" dirty="0" smtClean="0"/>
          </a:p>
          <a:p>
            <a:pPr>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rmAutofit fontScale="90000"/>
          </a:bodyPr>
          <a:lstStyle/>
          <a:p>
            <a:pPr lvl="0"/>
            <a:r>
              <a:rPr lang="en-US" dirty="0" smtClean="0"/>
              <a:t>23. </a:t>
            </a:r>
            <a:r>
              <a:rPr lang="en-US" b="1" dirty="0" smtClean="0">
                <a:solidFill>
                  <a:srgbClr val="FF0000"/>
                </a:solidFill>
              </a:rPr>
              <a:t>No person may be elected as President </a:t>
            </a:r>
            <a:r>
              <a:rPr lang="en-US" dirty="0" smtClean="0"/>
              <a:t>of the Philippines </a:t>
            </a:r>
            <a:r>
              <a:rPr lang="en-US" dirty="0" smtClean="0">
                <a:solidFill>
                  <a:srgbClr val="FF0000"/>
                </a:solidFill>
              </a:rPr>
              <a:t>unless he/she is </a:t>
            </a:r>
            <a:r>
              <a:rPr lang="en-US" dirty="0" smtClean="0"/>
              <a:t>a ___________.</a:t>
            </a:r>
            <a:br>
              <a:rPr lang="en-US" dirty="0" smtClean="0"/>
            </a:br>
            <a:endParaRPr lang="en-US" dirty="0"/>
          </a:p>
        </p:txBody>
      </p:sp>
      <p:sp>
        <p:nvSpPr>
          <p:cNvPr id="3" name="Content Placeholder 2"/>
          <p:cNvSpPr>
            <a:spLocks noGrp="1"/>
          </p:cNvSpPr>
          <p:nvPr>
            <p:ph sz="quarter" idx="1"/>
          </p:nvPr>
        </p:nvSpPr>
        <p:spPr>
          <a:xfrm>
            <a:off x="228600" y="1447800"/>
            <a:ext cx="8458200" cy="5026152"/>
          </a:xfrm>
        </p:spPr>
        <p:txBody>
          <a:bodyPr>
            <a:normAutofit fontScale="92500" lnSpcReduction="10000"/>
          </a:bodyPr>
          <a:lstStyle/>
          <a:p>
            <a:pPr latinLnBrk="1">
              <a:buNone/>
            </a:pPr>
            <a:r>
              <a:rPr lang="en-US" dirty="0" smtClean="0"/>
              <a:t> </a:t>
            </a:r>
          </a:p>
          <a:p>
            <a:pPr lvl="0" latinLnBrk="1"/>
            <a:r>
              <a:rPr lang="en-US" sz="5400" b="1" dirty="0" smtClean="0"/>
              <a:t>A. Natural born citizen</a:t>
            </a:r>
            <a:endParaRPr lang="en-US" sz="5400" dirty="0" smtClean="0"/>
          </a:p>
          <a:p>
            <a:pPr lvl="0" latinLnBrk="1"/>
            <a:r>
              <a:rPr lang="en-US" sz="5400" dirty="0" smtClean="0"/>
              <a:t>B. Resident of the </a:t>
            </a:r>
          </a:p>
          <a:p>
            <a:pPr lvl="0" latinLnBrk="1">
              <a:buNone/>
            </a:pPr>
            <a:r>
              <a:rPr lang="en-US" sz="5400" dirty="0" smtClean="0"/>
              <a:t>  Philippines for at least 2 </a:t>
            </a:r>
          </a:p>
          <a:p>
            <a:pPr lvl="0" latinLnBrk="1">
              <a:buNone/>
            </a:pPr>
            <a:r>
              <a:rPr lang="en-US" sz="5400" dirty="0" smtClean="0"/>
              <a:t>   years</a:t>
            </a:r>
          </a:p>
          <a:p>
            <a:pPr lvl="0" latinLnBrk="1"/>
            <a:r>
              <a:rPr lang="en-US" sz="5400" dirty="0" smtClean="0"/>
              <a:t>C. At least 21 years old</a:t>
            </a:r>
          </a:p>
          <a:p>
            <a:pPr lvl="0" latinLnBrk="1"/>
            <a:r>
              <a:rPr lang="en-US" sz="5400" dirty="0" smtClean="0"/>
              <a:t>D. Professional</a:t>
            </a:r>
          </a:p>
          <a:p>
            <a:pPr>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33400"/>
            <a:ext cx="8534400" cy="1143000"/>
          </a:xfrm>
        </p:spPr>
        <p:txBody>
          <a:bodyPr>
            <a:normAutofit fontScale="90000"/>
          </a:bodyPr>
          <a:lstStyle/>
          <a:p>
            <a:pPr lvl="0"/>
            <a:r>
              <a:rPr lang="en-US" dirty="0" smtClean="0"/>
              <a:t>24. Who </a:t>
            </a:r>
            <a:r>
              <a:rPr lang="en-US" b="1" dirty="0" smtClean="0">
                <a:solidFill>
                  <a:srgbClr val="FF0000"/>
                </a:solidFill>
              </a:rPr>
              <a:t>does the canvassing </a:t>
            </a:r>
            <a:r>
              <a:rPr lang="en-US" dirty="0" smtClean="0"/>
              <a:t>of </a:t>
            </a:r>
            <a:r>
              <a:rPr lang="en-US" dirty="0" smtClean="0">
                <a:solidFill>
                  <a:srgbClr val="FF0000"/>
                </a:solidFill>
              </a:rPr>
              <a:t>votes for President and Vice President</a:t>
            </a:r>
            <a:r>
              <a:rPr lang="en-US" dirty="0" smtClean="0"/>
              <a:t> in every election?</a:t>
            </a:r>
            <a:br>
              <a:rPr lang="en-US" dirty="0" smtClean="0"/>
            </a:br>
            <a:endParaRPr lang="en-US" dirty="0"/>
          </a:p>
        </p:txBody>
      </p:sp>
      <p:sp>
        <p:nvSpPr>
          <p:cNvPr id="3" name="Content Placeholder 2"/>
          <p:cNvSpPr>
            <a:spLocks noGrp="1"/>
          </p:cNvSpPr>
          <p:nvPr>
            <p:ph sz="quarter" idx="1"/>
          </p:nvPr>
        </p:nvSpPr>
        <p:spPr>
          <a:xfrm>
            <a:off x="228600" y="1600200"/>
            <a:ext cx="8458200" cy="4873752"/>
          </a:xfrm>
        </p:spPr>
        <p:txBody>
          <a:bodyPr>
            <a:normAutofit fontScale="85000" lnSpcReduction="20000"/>
          </a:bodyPr>
          <a:lstStyle/>
          <a:p>
            <a:pPr lvl="0" latinLnBrk="1"/>
            <a:r>
              <a:rPr lang="en-US" sz="6000" dirty="0" smtClean="0"/>
              <a:t>A. </a:t>
            </a:r>
            <a:r>
              <a:rPr lang="en-US" sz="6000" dirty="0" err="1" smtClean="0"/>
              <a:t>Comelec</a:t>
            </a:r>
            <a:r>
              <a:rPr lang="en-US" sz="6000" dirty="0" smtClean="0"/>
              <a:t> and Chief </a:t>
            </a:r>
          </a:p>
          <a:p>
            <a:pPr lvl="0" latinLnBrk="1">
              <a:buNone/>
            </a:pPr>
            <a:r>
              <a:rPr lang="en-US" sz="6000" dirty="0" smtClean="0"/>
              <a:t>     Justice</a:t>
            </a:r>
          </a:p>
          <a:p>
            <a:pPr lvl="0" latinLnBrk="1"/>
            <a:r>
              <a:rPr lang="en-US" sz="6000" dirty="0" smtClean="0"/>
              <a:t>B. Senate and Congress</a:t>
            </a:r>
          </a:p>
          <a:p>
            <a:pPr lvl="0" latinLnBrk="1"/>
            <a:r>
              <a:rPr lang="en-US" sz="6000" dirty="0" smtClean="0"/>
              <a:t>C. Supreme Court and </a:t>
            </a:r>
          </a:p>
          <a:p>
            <a:pPr lvl="0" latinLnBrk="1">
              <a:buNone/>
            </a:pPr>
            <a:r>
              <a:rPr lang="en-US" sz="6000" dirty="0" smtClean="0"/>
              <a:t>     Congress</a:t>
            </a:r>
          </a:p>
          <a:p>
            <a:pPr lvl="0" latinLnBrk="1"/>
            <a:r>
              <a:rPr lang="en-US" sz="6000" b="1" dirty="0" smtClean="0"/>
              <a:t>D. Joint committee of Congress</a:t>
            </a:r>
            <a:endParaRPr lang="en-US" sz="6000" dirty="0" smtClean="0"/>
          </a:p>
          <a:p>
            <a:pPr>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lvl="0"/>
            <a:r>
              <a:rPr lang="en-US" dirty="0" smtClean="0"/>
              <a:t>25. All </a:t>
            </a:r>
            <a:r>
              <a:rPr lang="en-US" b="1" dirty="0" smtClean="0">
                <a:solidFill>
                  <a:srgbClr val="FF0000"/>
                </a:solidFill>
              </a:rPr>
              <a:t>appropriations, revenue of tariff bills </a:t>
            </a:r>
            <a:r>
              <a:rPr lang="en-US" dirty="0" smtClean="0"/>
              <a:t>shall </a:t>
            </a:r>
            <a:r>
              <a:rPr lang="en-US" dirty="0" smtClean="0">
                <a:solidFill>
                  <a:srgbClr val="FF0000"/>
                </a:solidFill>
              </a:rPr>
              <a:t>originate exclusively from </a:t>
            </a:r>
            <a:r>
              <a:rPr lang="en-US" dirty="0" smtClean="0"/>
              <a:t>the ______________.</a:t>
            </a:r>
            <a:br>
              <a:rPr lang="en-US" dirty="0" smtClean="0"/>
            </a:br>
            <a:endParaRPr lang="en-US" dirty="0"/>
          </a:p>
        </p:txBody>
      </p:sp>
      <p:sp>
        <p:nvSpPr>
          <p:cNvPr id="3" name="Content Placeholder 2"/>
          <p:cNvSpPr>
            <a:spLocks noGrp="1"/>
          </p:cNvSpPr>
          <p:nvPr>
            <p:ph sz="quarter" idx="1"/>
          </p:nvPr>
        </p:nvSpPr>
        <p:spPr>
          <a:xfrm>
            <a:off x="457200" y="1600200"/>
            <a:ext cx="8229600" cy="4873752"/>
          </a:xfrm>
        </p:spPr>
        <p:txBody>
          <a:bodyPr>
            <a:normAutofit fontScale="70000" lnSpcReduction="20000"/>
          </a:bodyPr>
          <a:lstStyle/>
          <a:p>
            <a:pPr lvl="0" latinLnBrk="1"/>
            <a:r>
              <a:rPr lang="en-US" sz="7200" dirty="0" smtClean="0"/>
              <a:t>A. Senate</a:t>
            </a:r>
          </a:p>
          <a:p>
            <a:pPr lvl="0" latinLnBrk="1"/>
            <a:r>
              <a:rPr lang="en-US" sz="7200" dirty="0" smtClean="0"/>
              <a:t>B. </a:t>
            </a:r>
            <a:r>
              <a:rPr lang="en-US" sz="7200" dirty="0" err="1" smtClean="0"/>
              <a:t>Sangguniang</a:t>
            </a:r>
            <a:r>
              <a:rPr lang="en-US" sz="7200" dirty="0" smtClean="0"/>
              <a:t> </a:t>
            </a:r>
          </a:p>
          <a:p>
            <a:pPr lvl="0" latinLnBrk="1">
              <a:buNone/>
            </a:pPr>
            <a:r>
              <a:rPr lang="en-US" sz="7200" dirty="0" smtClean="0"/>
              <a:t>     </a:t>
            </a:r>
            <a:r>
              <a:rPr lang="en-US" sz="7200" dirty="0" err="1" smtClean="0"/>
              <a:t>Panlalawigan</a:t>
            </a:r>
            <a:endParaRPr lang="en-US" sz="7200" dirty="0" smtClean="0"/>
          </a:p>
          <a:p>
            <a:pPr lvl="0" latinLnBrk="1"/>
            <a:r>
              <a:rPr lang="en-US" sz="7200" b="1" dirty="0" smtClean="0"/>
              <a:t>C. House of </a:t>
            </a:r>
          </a:p>
          <a:p>
            <a:pPr lvl="0" latinLnBrk="1">
              <a:buNone/>
            </a:pPr>
            <a:r>
              <a:rPr lang="en-US" sz="7200" b="1" dirty="0" smtClean="0"/>
              <a:t>     representatives</a:t>
            </a:r>
            <a:endParaRPr lang="en-US" sz="7200" dirty="0" smtClean="0"/>
          </a:p>
          <a:p>
            <a:pPr lvl="0" latinLnBrk="1"/>
            <a:r>
              <a:rPr lang="en-US" sz="7200" dirty="0" smtClean="0"/>
              <a:t>D. Department of Budget</a:t>
            </a:r>
          </a:p>
          <a:p>
            <a:pPr>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534400" cy="1417638"/>
          </a:xfrm>
        </p:spPr>
        <p:txBody>
          <a:bodyPr>
            <a:normAutofit fontScale="90000"/>
          </a:bodyPr>
          <a:lstStyle/>
          <a:p>
            <a:r>
              <a:rPr lang="en-US" dirty="0" smtClean="0"/>
              <a:t>26. Which </a:t>
            </a:r>
            <a:r>
              <a:rPr lang="en-US" dirty="0" smtClean="0">
                <a:solidFill>
                  <a:srgbClr val="FF0000"/>
                </a:solidFill>
              </a:rPr>
              <a:t>department has the authority </a:t>
            </a:r>
            <a:r>
              <a:rPr lang="en-US" dirty="0" smtClean="0"/>
              <a:t>to </a:t>
            </a:r>
            <a:r>
              <a:rPr lang="en-US" b="1" dirty="0" smtClean="0">
                <a:solidFill>
                  <a:srgbClr val="FF0000"/>
                </a:solidFill>
              </a:rPr>
              <a:t>make</a:t>
            </a:r>
            <a:r>
              <a:rPr lang="en-US" dirty="0" smtClean="0"/>
              <a:t> </a:t>
            </a:r>
            <a:r>
              <a:rPr lang="en-US" b="1" dirty="0" smtClean="0">
                <a:solidFill>
                  <a:srgbClr val="FF0000"/>
                </a:solidFill>
              </a:rPr>
              <a:t>laws</a:t>
            </a:r>
            <a:r>
              <a:rPr lang="en-US" dirty="0" smtClean="0"/>
              <a:t> and </a:t>
            </a:r>
            <a:r>
              <a:rPr lang="en-US" b="1" dirty="0" smtClean="0">
                <a:solidFill>
                  <a:srgbClr val="FF0000"/>
                </a:solidFill>
              </a:rPr>
              <a:t>to alter them </a:t>
            </a:r>
            <a:r>
              <a:rPr lang="en-US" dirty="0" smtClean="0"/>
              <a:t>when needed?</a:t>
            </a:r>
            <a:endParaRPr lang="en-US" dirty="0"/>
          </a:p>
        </p:txBody>
      </p:sp>
      <p:sp>
        <p:nvSpPr>
          <p:cNvPr id="3" name="Content Placeholder 2"/>
          <p:cNvSpPr>
            <a:spLocks noGrp="1"/>
          </p:cNvSpPr>
          <p:nvPr>
            <p:ph sz="quarter" idx="1"/>
          </p:nvPr>
        </p:nvSpPr>
        <p:spPr/>
        <p:txBody>
          <a:bodyPr/>
          <a:lstStyle/>
          <a:p>
            <a:pPr lvl="0" latinLnBrk="1"/>
            <a:r>
              <a:rPr lang="en-US" sz="6000" dirty="0" smtClean="0"/>
              <a:t>A. Executive</a:t>
            </a:r>
          </a:p>
          <a:p>
            <a:pPr lvl="0" latinLnBrk="1"/>
            <a:r>
              <a:rPr lang="en-US" sz="6000" b="1" dirty="0" smtClean="0"/>
              <a:t>B. Legislative</a:t>
            </a:r>
            <a:endParaRPr lang="en-US" sz="6000" dirty="0" smtClean="0"/>
          </a:p>
          <a:p>
            <a:pPr lvl="0" latinLnBrk="1"/>
            <a:r>
              <a:rPr lang="en-US" sz="6000" dirty="0" smtClean="0"/>
              <a:t>C. Judicial</a:t>
            </a:r>
          </a:p>
          <a:p>
            <a:pPr lvl="0" latinLnBrk="1"/>
            <a:r>
              <a:rPr lang="en-US" sz="6000" dirty="0" smtClean="0"/>
              <a:t>D. Administrative</a:t>
            </a:r>
          </a:p>
          <a:p>
            <a:pPr>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27. A </a:t>
            </a:r>
            <a:r>
              <a:rPr lang="en-US" b="1" dirty="0" smtClean="0">
                <a:solidFill>
                  <a:srgbClr val="FF0000"/>
                </a:solidFill>
              </a:rPr>
              <a:t>bill becomes a law even if not signed by the President</a:t>
            </a:r>
            <a:r>
              <a:rPr lang="en-US" dirty="0" smtClean="0"/>
              <a:t> after _________ days.</a:t>
            </a:r>
            <a:br>
              <a:rPr lang="en-US" dirty="0" smtClean="0"/>
            </a:br>
            <a:endParaRPr lang="en-US" dirty="0"/>
          </a:p>
        </p:txBody>
      </p:sp>
      <p:sp>
        <p:nvSpPr>
          <p:cNvPr id="3" name="Content Placeholder 2"/>
          <p:cNvSpPr>
            <a:spLocks noGrp="1"/>
          </p:cNvSpPr>
          <p:nvPr>
            <p:ph sz="quarter" idx="1"/>
          </p:nvPr>
        </p:nvSpPr>
        <p:spPr>
          <a:xfrm>
            <a:off x="457200" y="1600200"/>
            <a:ext cx="8229600" cy="4873752"/>
          </a:xfrm>
        </p:spPr>
        <p:txBody>
          <a:bodyPr/>
          <a:lstStyle/>
          <a:p>
            <a:pPr lvl="0" latinLnBrk="1"/>
            <a:r>
              <a:rPr lang="en-US" sz="7200" dirty="0" smtClean="0"/>
              <a:t>A. 60</a:t>
            </a:r>
          </a:p>
          <a:p>
            <a:pPr lvl="0" latinLnBrk="1"/>
            <a:r>
              <a:rPr lang="en-US" sz="7200" dirty="0" smtClean="0"/>
              <a:t>B. 40</a:t>
            </a:r>
          </a:p>
          <a:p>
            <a:pPr lvl="0" latinLnBrk="1"/>
            <a:r>
              <a:rPr lang="en-US" sz="7200" dirty="0" smtClean="0"/>
              <a:t>C. 20</a:t>
            </a:r>
          </a:p>
          <a:p>
            <a:pPr lvl="0" latinLnBrk="1"/>
            <a:r>
              <a:rPr lang="en-US" sz="7200" b="1" dirty="0" smtClean="0"/>
              <a:t>D. 30</a:t>
            </a:r>
            <a:endParaRPr lang="en-US" sz="7200" dirty="0" smtClean="0"/>
          </a:p>
          <a:p>
            <a:pPr>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r>
              <a:rPr lang="en-US" dirty="0" smtClean="0"/>
              <a:t>28. Which refers to the </a:t>
            </a:r>
            <a:r>
              <a:rPr lang="en-US" b="1" dirty="0" smtClean="0">
                <a:solidFill>
                  <a:srgbClr val="FF0000"/>
                </a:solidFill>
              </a:rPr>
              <a:t>act of the President to stay the execution </a:t>
            </a:r>
            <a:r>
              <a:rPr lang="en-US" dirty="0" smtClean="0"/>
              <a:t>of a convict?</a:t>
            </a:r>
            <a:endParaRPr lang="en-US" dirty="0"/>
          </a:p>
        </p:txBody>
      </p:sp>
      <p:sp>
        <p:nvSpPr>
          <p:cNvPr id="3" name="Content Placeholder 2"/>
          <p:cNvSpPr>
            <a:spLocks noGrp="1"/>
          </p:cNvSpPr>
          <p:nvPr>
            <p:ph sz="quarter" idx="1"/>
          </p:nvPr>
        </p:nvSpPr>
        <p:spPr>
          <a:xfrm>
            <a:off x="457200" y="1600200"/>
            <a:ext cx="8153400" cy="4873752"/>
          </a:xfrm>
        </p:spPr>
        <p:txBody>
          <a:bodyPr/>
          <a:lstStyle/>
          <a:p>
            <a:pPr lvl="0" latinLnBrk="1"/>
            <a:r>
              <a:rPr lang="en-US" sz="7200" dirty="0" smtClean="0"/>
              <a:t>A. Commutation</a:t>
            </a:r>
          </a:p>
          <a:p>
            <a:pPr lvl="0" latinLnBrk="1"/>
            <a:r>
              <a:rPr lang="en-US" sz="7200" dirty="0" smtClean="0"/>
              <a:t>B. Amnesty</a:t>
            </a:r>
          </a:p>
          <a:p>
            <a:pPr lvl="0" latinLnBrk="1"/>
            <a:r>
              <a:rPr lang="en-US" sz="7200" dirty="0" smtClean="0"/>
              <a:t>C. Pardon</a:t>
            </a:r>
          </a:p>
          <a:p>
            <a:pPr lvl="0" latinLnBrk="1"/>
            <a:r>
              <a:rPr lang="en-US" sz="7200" b="1" dirty="0" smtClean="0"/>
              <a:t>D. Reprieve</a:t>
            </a:r>
            <a:endParaRPr lang="en-US" sz="7200" dirty="0" smtClean="0"/>
          </a:p>
          <a:p>
            <a:pPr>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29. Who </a:t>
            </a:r>
            <a:r>
              <a:rPr lang="en-US" b="1" dirty="0" smtClean="0">
                <a:solidFill>
                  <a:srgbClr val="FF0000"/>
                </a:solidFill>
              </a:rPr>
              <a:t>has the power to declare the existence of a state of war</a:t>
            </a:r>
            <a:r>
              <a:rPr lang="en-US" dirty="0" smtClean="0"/>
              <a:t>?</a:t>
            </a:r>
            <a:br>
              <a:rPr lang="en-US" dirty="0" smtClean="0"/>
            </a:br>
            <a:endParaRPr lang="en-US" dirty="0"/>
          </a:p>
        </p:txBody>
      </p:sp>
      <p:sp>
        <p:nvSpPr>
          <p:cNvPr id="3" name="Content Placeholder 2"/>
          <p:cNvSpPr>
            <a:spLocks noGrp="1"/>
          </p:cNvSpPr>
          <p:nvPr>
            <p:ph sz="quarter" idx="1"/>
          </p:nvPr>
        </p:nvSpPr>
        <p:spPr>
          <a:xfrm>
            <a:off x="457200" y="1600200"/>
            <a:ext cx="8153400" cy="4873752"/>
          </a:xfrm>
        </p:spPr>
        <p:txBody>
          <a:bodyPr/>
          <a:lstStyle/>
          <a:p>
            <a:pPr lvl="0" latinLnBrk="1"/>
            <a:r>
              <a:rPr lang="en-US" sz="6000" dirty="0" smtClean="0"/>
              <a:t>A. Chief Justice</a:t>
            </a:r>
          </a:p>
          <a:p>
            <a:pPr lvl="0" latinLnBrk="1"/>
            <a:r>
              <a:rPr lang="en-US" sz="6000" dirty="0" smtClean="0"/>
              <a:t>B. President</a:t>
            </a:r>
          </a:p>
          <a:p>
            <a:pPr lvl="0" latinLnBrk="1"/>
            <a:r>
              <a:rPr lang="en-US" sz="6000" dirty="0" smtClean="0"/>
              <a:t>C. Senate President</a:t>
            </a:r>
          </a:p>
          <a:p>
            <a:pPr lvl="0" latinLnBrk="1"/>
            <a:r>
              <a:rPr lang="en-US" sz="6000" b="1" dirty="0" smtClean="0"/>
              <a:t>D. Congress</a:t>
            </a:r>
            <a:endParaRPr lang="en-US" sz="6000" dirty="0" smtClean="0"/>
          </a:p>
          <a:p>
            <a:pPr>
              <a:buNone/>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8458200" cy="1143000"/>
          </a:xfrm>
        </p:spPr>
        <p:txBody>
          <a:bodyPr>
            <a:normAutofit fontScale="90000"/>
          </a:bodyPr>
          <a:lstStyle/>
          <a:p>
            <a:pPr lvl="0"/>
            <a:r>
              <a:rPr lang="en-US" dirty="0" smtClean="0"/>
              <a:t>30. A </a:t>
            </a:r>
            <a:r>
              <a:rPr lang="en-US" dirty="0" smtClean="0">
                <a:solidFill>
                  <a:srgbClr val="FF0000"/>
                </a:solidFill>
              </a:rPr>
              <a:t>losing senatorial candidate may file a protest against the winner</a:t>
            </a:r>
            <a:r>
              <a:rPr lang="en-US" dirty="0" smtClean="0"/>
              <a:t>. What </a:t>
            </a:r>
            <a:r>
              <a:rPr lang="en-US" b="1" dirty="0" smtClean="0">
                <a:solidFill>
                  <a:srgbClr val="FF0000"/>
                </a:solidFill>
              </a:rPr>
              <a:t>body will assume jurisdiction</a:t>
            </a:r>
            <a:r>
              <a:rPr lang="en-US" dirty="0" smtClean="0"/>
              <a:t> over the case?</a:t>
            </a:r>
            <a:br>
              <a:rPr lang="en-US" dirty="0" smtClean="0"/>
            </a:br>
            <a:endParaRPr lang="en-US" dirty="0"/>
          </a:p>
        </p:txBody>
      </p:sp>
      <p:sp>
        <p:nvSpPr>
          <p:cNvPr id="3" name="Content Placeholder 2"/>
          <p:cNvSpPr>
            <a:spLocks noGrp="1"/>
          </p:cNvSpPr>
          <p:nvPr>
            <p:ph sz="quarter" idx="1"/>
          </p:nvPr>
        </p:nvSpPr>
        <p:spPr>
          <a:xfrm>
            <a:off x="228600" y="1371600"/>
            <a:ext cx="8382000" cy="5102352"/>
          </a:xfrm>
        </p:spPr>
        <p:txBody>
          <a:bodyPr>
            <a:normAutofit fontScale="92500" lnSpcReduction="10000"/>
          </a:bodyPr>
          <a:lstStyle/>
          <a:p>
            <a:pPr lvl="0" latinLnBrk="1"/>
            <a:r>
              <a:rPr lang="en-US" sz="6000" dirty="0" smtClean="0"/>
              <a:t>A. Supreme Court</a:t>
            </a:r>
          </a:p>
          <a:p>
            <a:pPr lvl="0" latinLnBrk="1"/>
            <a:r>
              <a:rPr lang="en-US" sz="6000" b="1" dirty="0" smtClean="0"/>
              <a:t>B. Electoral </a:t>
            </a:r>
          </a:p>
          <a:p>
            <a:pPr lvl="0" latinLnBrk="1">
              <a:buNone/>
            </a:pPr>
            <a:r>
              <a:rPr lang="en-US" sz="6000" b="1" dirty="0" smtClean="0"/>
              <a:t>      Tribunal</a:t>
            </a:r>
            <a:endParaRPr lang="en-US" sz="6000" dirty="0" smtClean="0"/>
          </a:p>
          <a:p>
            <a:pPr lvl="0" latinLnBrk="1"/>
            <a:r>
              <a:rPr lang="en-US" sz="6000" dirty="0" smtClean="0"/>
              <a:t>C. COMELEC</a:t>
            </a:r>
          </a:p>
          <a:p>
            <a:pPr lvl="0" latinLnBrk="1"/>
            <a:r>
              <a:rPr lang="en-US" sz="6000" dirty="0" smtClean="0"/>
              <a:t>D. Regional Trial </a:t>
            </a:r>
          </a:p>
          <a:p>
            <a:pPr lvl="0" latinLnBrk="1">
              <a:buNone/>
            </a:pPr>
            <a:r>
              <a:rPr lang="en-US" sz="6000" dirty="0" smtClean="0"/>
              <a:t>       Court</a:t>
            </a:r>
          </a:p>
          <a:p>
            <a:pPr>
              <a:buNone/>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smtClean="0"/>
              <a:t>31. How is the </a:t>
            </a:r>
            <a:r>
              <a:rPr lang="en-US" b="1" dirty="0" smtClean="0">
                <a:solidFill>
                  <a:srgbClr val="FF0000"/>
                </a:solidFill>
              </a:rPr>
              <a:t>crime of rape classified</a:t>
            </a:r>
            <a:r>
              <a:rPr lang="en-US" dirty="0" smtClean="0"/>
              <a:t>?</a:t>
            </a:r>
            <a:br>
              <a:rPr lang="en-US" dirty="0" smtClean="0"/>
            </a:br>
            <a:endParaRPr lang="en-US" dirty="0"/>
          </a:p>
        </p:txBody>
      </p:sp>
      <p:sp>
        <p:nvSpPr>
          <p:cNvPr id="3" name="Content Placeholder 2"/>
          <p:cNvSpPr>
            <a:spLocks noGrp="1"/>
          </p:cNvSpPr>
          <p:nvPr>
            <p:ph sz="quarter" idx="1"/>
          </p:nvPr>
        </p:nvSpPr>
        <p:spPr>
          <a:xfrm>
            <a:off x="228600" y="1143000"/>
            <a:ext cx="8458200" cy="5330952"/>
          </a:xfrm>
        </p:spPr>
        <p:txBody>
          <a:bodyPr>
            <a:normAutofit/>
          </a:bodyPr>
          <a:lstStyle/>
          <a:p>
            <a:pPr lvl="0" latinLnBrk="1"/>
            <a:r>
              <a:rPr lang="en-US" sz="6000" b="1" dirty="0" smtClean="0"/>
              <a:t>A. Heinous</a:t>
            </a:r>
            <a:endParaRPr lang="en-US" sz="6000" dirty="0" smtClean="0"/>
          </a:p>
          <a:p>
            <a:pPr lvl="0" latinLnBrk="1"/>
            <a:r>
              <a:rPr lang="en-US" sz="6000" dirty="0" smtClean="0"/>
              <a:t>B. Homicide</a:t>
            </a:r>
          </a:p>
          <a:p>
            <a:pPr lvl="0" latinLnBrk="1"/>
            <a:r>
              <a:rPr lang="en-US" sz="6000" dirty="0" smtClean="0"/>
              <a:t>C. Slander</a:t>
            </a:r>
          </a:p>
          <a:p>
            <a:pPr lvl="0" latinLnBrk="1"/>
            <a:r>
              <a:rPr lang="en-US" sz="6000" dirty="0" smtClean="0"/>
              <a:t>D. Malicious Mischief</a:t>
            </a:r>
          </a:p>
          <a:p>
            <a:pPr>
              <a:buNone/>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838200"/>
            <a:ext cx="8610600" cy="1143000"/>
          </a:xfrm>
        </p:spPr>
        <p:txBody>
          <a:bodyPr>
            <a:normAutofit fontScale="90000"/>
          </a:bodyPr>
          <a:lstStyle/>
          <a:p>
            <a:pPr lvl="0"/>
            <a:r>
              <a:rPr lang="en-US" dirty="0" smtClean="0"/>
              <a:t>32. All Filipino citizens have the </a:t>
            </a:r>
            <a:r>
              <a:rPr lang="en-US" dirty="0" smtClean="0">
                <a:solidFill>
                  <a:srgbClr val="FF0000"/>
                </a:solidFill>
              </a:rPr>
              <a:t>right to vote and to be voted upon</a:t>
            </a:r>
            <a:r>
              <a:rPr lang="en-US" dirty="0" smtClean="0"/>
              <a:t> as government official. What is this </a:t>
            </a:r>
            <a:r>
              <a:rPr lang="en-US" b="1" dirty="0" smtClean="0">
                <a:solidFill>
                  <a:srgbClr val="FF0000"/>
                </a:solidFill>
              </a:rPr>
              <a:t>constitutional right called</a:t>
            </a:r>
            <a:r>
              <a:rPr lang="en-US" dirty="0" smtClean="0"/>
              <a:t>?</a:t>
            </a:r>
            <a:br>
              <a:rPr lang="en-US" dirty="0" smtClean="0"/>
            </a:br>
            <a:endParaRPr lang="en-US" dirty="0"/>
          </a:p>
        </p:txBody>
      </p:sp>
      <p:sp>
        <p:nvSpPr>
          <p:cNvPr id="3" name="Content Placeholder 2"/>
          <p:cNvSpPr>
            <a:spLocks noGrp="1"/>
          </p:cNvSpPr>
          <p:nvPr>
            <p:ph sz="quarter" idx="1"/>
          </p:nvPr>
        </p:nvSpPr>
        <p:spPr>
          <a:xfrm>
            <a:off x="457200" y="1984248"/>
            <a:ext cx="8153400" cy="4873752"/>
          </a:xfrm>
        </p:spPr>
        <p:txBody>
          <a:bodyPr/>
          <a:lstStyle/>
          <a:p>
            <a:pPr lvl="0" latinLnBrk="1"/>
            <a:r>
              <a:rPr lang="en-US" sz="5400" dirty="0" smtClean="0"/>
              <a:t>A. Passive right to vote</a:t>
            </a:r>
          </a:p>
          <a:p>
            <a:pPr lvl="0" latinLnBrk="1"/>
            <a:r>
              <a:rPr lang="en-US" sz="5400" dirty="0" smtClean="0"/>
              <a:t>B. Political franchise</a:t>
            </a:r>
          </a:p>
          <a:p>
            <a:pPr lvl="0" latinLnBrk="1"/>
            <a:r>
              <a:rPr lang="en-US" sz="5400" b="1" dirty="0" smtClean="0"/>
              <a:t>C. Suffrage</a:t>
            </a:r>
            <a:endParaRPr lang="en-US" sz="5400" dirty="0" smtClean="0"/>
          </a:p>
          <a:p>
            <a:pPr lvl="0" latinLnBrk="1"/>
            <a:r>
              <a:rPr lang="en-US" sz="5400" dirty="0" smtClean="0"/>
              <a:t>D. Electoral right</a:t>
            </a:r>
          </a:p>
          <a:p>
            <a:pPr>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143000"/>
          </a:xfrm>
        </p:spPr>
        <p:txBody>
          <a:bodyPr>
            <a:normAutofit fontScale="90000"/>
          </a:bodyPr>
          <a:lstStyle/>
          <a:p>
            <a:r>
              <a:rPr lang="en-US" dirty="0" smtClean="0"/>
              <a:t>33. </a:t>
            </a:r>
            <a:r>
              <a:rPr lang="en-US" sz="2700" dirty="0" smtClean="0"/>
              <a:t>Any individual has the </a:t>
            </a:r>
            <a:r>
              <a:rPr lang="en-US" sz="2700" dirty="0" smtClean="0">
                <a:solidFill>
                  <a:srgbClr val="FF0000"/>
                </a:solidFill>
              </a:rPr>
              <a:t>right to question </a:t>
            </a:r>
            <a:r>
              <a:rPr lang="en-US" sz="2700" dirty="0" smtClean="0"/>
              <a:t>why </a:t>
            </a:r>
            <a:r>
              <a:rPr lang="en-US" sz="2700" dirty="0" smtClean="0">
                <a:solidFill>
                  <a:srgbClr val="FF0000"/>
                </a:solidFill>
              </a:rPr>
              <a:t>he is being arrested</a:t>
            </a:r>
            <a:r>
              <a:rPr lang="en-US" sz="2700" dirty="0" smtClean="0"/>
              <a:t>, and </a:t>
            </a:r>
            <a:r>
              <a:rPr lang="en-US" sz="2700" dirty="0" smtClean="0">
                <a:solidFill>
                  <a:srgbClr val="FF0000"/>
                </a:solidFill>
              </a:rPr>
              <a:t>to summon his accusers to court </a:t>
            </a:r>
            <a:r>
              <a:rPr lang="en-US" sz="2700" dirty="0" smtClean="0"/>
              <a:t>so that due process may be performed. This right is </a:t>
            </a:r>
            <a:r>
              <a:rPr lang="en-US" sz="2700" b="1" dirty="0" smtClean="0">
                <a:solidFill>
                  <a:srgbClr val="FF0000"/>
                </a:solidFill>
              </a:rPr>
              <a:t>embodied in </a:t>
            </a:r>
            <a:r>
              <a:rPr lang="en-US" sz="2700" dirty="0" smtClean="0"/>
              <a:t>which of the following?</a:t>
            </a:r>
            <a:endParaRPr lang="en-US" sz="2700" dirty="0"/>
          </a:p>
        </p:txBody>
      </p:sp>
      <p:sp>
        <p:nvSpPr>
          <p:cNvPr id="3" name="Content Placeholder 2"/>
          <p:cNvSpPr>
            <a:spLocks noGrp="1"/>
          </p:cNvSpPr>
          <p:nvPr>
            <p:ph sz="quarter" idx="1"/>
          </p:nvPr>
        </p:nvSpPr>
        <p:spPr>
          <a:xfrm>
            <a:off x="152400" y="1600200"/>
            <a:ext cx="8534400" cy="4873752"/>
          </a:xfrm>
        </p:spPr>
        <p:txBody>
          <a:bodyPr>
            <a:normAutofit/>
          </a:bodyPr>
          <a:lstStyle/>
          <a:p>
            <a:pPr lvl="0" latinLnBrk="1"/>
            <a:r>
              <a:rPr lang="en-US" sz="6000" dirty="0" smtClean="0"/>
              <a:t>A. Reclusion </a:t>
            </a:r>
            <a:r>
              <a:rPr lang="en-US" sz="6000" dirty="0" err="1" smtClean="0"/>
              <a:t>perpetua</a:t>
            </a:r>
            <a:endParaRPr lang="en-US" sz="6000" dirty="0" smtClean="0"/>
          </a:p>
          <a:p>
            <a:pPr lvl="0" latinLnBrk="1"/>
            <a:r>
              <a:rPr lang="en-US" sz="6000" dirty="0" smtClean="0"/>
              <a:t>B. Res </a:t>
            </a:r>
            <a:r>
              <a:rPr lang="en-US" sz="6000" dirty="0" err="1" smtClean="0"/>
              <a:t>ipsa</a:t>
            </a:r>
            <a:r>
              <a:rPr lang="en-US" sz="6000" dirty="0" smtClean="0"/>
              <a:t> </a:t>
            </a:r>
            <a:r>
              <a:rPr lang="en-US" sz="6000" dirty="0" err="1" smtClean="0"/>
              <a:t>loquitor</a:t>
            </a:r>
            <a:endParaRPr lang="en-US" sz="6000" dirty="0" smtClean="0"/>
          </a:p>
          <a:p>
            <a:pPr lvl="0" latinLnBrk="1"/>
            <a:r>
              <a:rPr lang="en-US" sz="6000" b="1" dirty="0" smtClean="0"/>
              <a:t>C. Prison mayor</a:t>
            </a:r>
            <a:endParaRPr lang="en-US" sz="6000" dirty="0" smtClean="0"/>
          </a:p>
          <a:p>
            <a:pPr lvl="0" latinLnBrk="1"/>
            <a:r>
              <a:rPr lang="en-US" sz="6000" dirty="0" smtClean="0"/>
              <a:t>D. Habeas corpus</a:t>
            </a:r>
          </a:p>
          <a:p>
            <a:pPr>
              <a:buNone/>
            </a:pP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90600"/>
            <a:ext cx="8458200" cy="1143000"/>
          </a:xfrm>
        </p:spPr>
        <p:txBody>
          <a:bodyPr>
            <a:normAutofit fontScale="90000"/>
          </a:bodyPr>
          <a:lstStyle/>
          <a:p>
            <a:pPr lvl="0"/>
            <a:r>
              <a:rPr lang="en-US" dirty="0" smtClean="0"/>
              <a:t>34. Which among the following represents the </a:t>
            </a:r>
            <a:r>
              <a:rPr lang="en-US" dirty="0" smtClean="0">
                <a:solidFill>
                  <a:srgbClr val="FF0000"/>
                </a:solidFill>
              </a:rPr>
              <a:t>political process </a:t>
            </a:r>
            <a:r>
              <a:rPr lang="en-US" dirty="0" smtClean="0"/>
              <a:t>involved in </a:t>
            </a:r>
            <a:r>
              <a:rPr lang="en-US" dirty="0" smtClean="0">
                <a:solidFill>
                  <a:srgbClr val="FF0000"/>
                </a:solidFill>
              </a:rPr>
              <a:t>amending or revising the Philippine constitution </a:t>
            </a:r>
            <a:r>
              <a:rPr lang="en-US" dirty="0" smtClean="0"/>
              <a:t>to adapt to the present Philippine situation?</a:t>
            </a:r>
            <a:br>
              <a:rPr lang="en-US" dirty="0" smtClean="0"/>
            </a:br>
            <a:endParaRPr lang="en-US" dirty="0"/>
          </a:p>
        </p:txBody>
      </p:sp>
      <p:sp>
        <p:nvSpPr>
          <p:cNvPr id="3" name="Content Placeholder 2"/>
          <p:cNvSpPr>
            <a:spLocks noGrp="1"/>
          </p:cNvSpPr>
          <p:nvPr>
            <p:ph sz="quarter" idx="1"/>
          </p:nvPr>
        </p:nvSpPr>
        <p:spPr>
          <a:xfrm>
            <a:off x="152400" y="1984248"/>
            <a:ext cx="8610600" cy="4873752"/>
          </a:xfrm>
        </p:spPr>
        <p:txBody>
          <a:bodyPr>
            <a:normAutofit fontScale="92500" lnSpcReduction="10000"/>
          </a:bodyPr>
          <a:lstStyle/>
          <a:p>
            <a:pPr lvl="0" latinLnBrk="1"/>
            <a:r>
              <a:rPr lang="en-US" sz="5400" dirty="0" smtClean="0"/>
              <a:t>A. Constitutional </a:t>
            </a:r>
          </a:p>
          <a:p>
            <a:pPr lvl="0" latinLnBrk="1">
              <a:buNone/>
            </a:pPr>
            <a:r>
              <a:rPr lang="en-US" sz="5400" dirty="0" smtClean="0"/>
              <a:t>   convention</a:t>
            </a:r>
          </a:p>
          <a:p>
            <a:pPr lvl="0" latinLnBrk="1"/>
            <a:r>
              <a:rPr lang="en-US" sz="5400" dirty="0" smtClean="0"/>
              <a:t>B. Citizen’s assembly</a:t>
            </a:r>
          </a:p>
          <a:p>
            <a:pPr lvl="0" latinLnBrk="1"/>
            <a:r>
              <a:rPr lang="en-US" sz="5400" b="1" dirty="0" smtClean="0"/>
              <a:t>C. Charter change</a:t>
            </a:r>
            <a:endParaRPr lang="en-US" sz="5400" dirty="0" smtClean="0"/>
          </a:p>
          <a:p>
            <a:pPr lvl="0" latinLnBrk="1"/>
            <a:r>
              <a:rPr lang="en-US" sz="5400" dirty="0" smtClean="0"/>
              <a:t>D. Constitutional </a:t>
            </a:r>
          </a:p>
          <a:p>
            <a:pPr lvl="0" latinLnBrk="1">
              <a:buNone/>
            </a:pPr>
            <a:r>
              <a:rPr lang="en-US" sz="5400" dirty="0" smtClean="0"/>
              <a:t>    correction</a:t>
            </a:r>
          </a:p>
          <a:p>
            <a:pPr>
              <a:buNone/>
            </a:pP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457200" y="1600200"/>
            <a:ext cx="8077200" cy="4873752"/>
          </a:xfrm>
        </p:spPr>
        <p:txBody>
          <a:bodyPr>
            <a:normAutofit/>
          </a:bodyPr>
          <a:lstStyle/>
          <a:p>
            <a:r>
              <a:rPr lang="en-US" sz="9600" b="1" dirty="0" smtClean="0"/>
              <a:t>Philippine History</a:t>
            </a:r>
            <a:endParaRPr lang="en-US" sz="9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1143000"/>
          </a:xfrm>
        </p:spPr>
        <p:txBody>
          <a:bodyPr>
            <a:normAutofit fontScale="90000"/>
          </a:bodyPr>
          <a:lstStyle/>
          <a:p>
            <a:pPr lvl="0"/>
            <a:r>
              <a:rPr lang="en-US" dirty="0" smtClean="0"/>
              <a:t>35. Which is </a:t>
            </a:r>
            <a:r>
              <a:rPr lang="en-US" b="1" dirty="0" smtClean="0">
                <a:solidFill>
                  <a:srgbClr val="FF0000"/>
                </a:solidFill>
              </a:rPr>
              <a:t>true of the historical development </a:t>
            </a:r>
            <a:r>
              <a:rPr lang="en-US" dirty="0" smtClean="0"/>
              <a:t>of the Philippines?</a:t>
            </a:r>
            <a:br>
              <a:rPr lang="en-US" dirty="0" smtClean="0"/>
            </a:br>
            <a:endParaRPr lang="en-US" dirty="0"/>
          </a:p>
        </p:txBody>
      </p:sp>
      <p:sp>
        <p:nvSpPr>
          <p:cNvPr id="3" name="Content Placeholder 2"/>
          <p:cNvSpPr>
            <a:spLocks noGrp="1"/>
          </p:cNvSpPr>
          <p:nvPr>
            <p:ph sz="quarter" idx="1"/>
          </p:nvPr>
        </p:nvSpPr>
        <p:spPr>
          <a:xfrm>
            <a:off x="457200" y="1143000"/>
            <a:ext cx="8153400" cy="5330952"/>
          </a:xfrm>
        </p:spPr>
        <p:txBody>
          <a:bodyPr>
            <a:normAutofit fontScale="92500" lnSpcReduction="10000"/>
          </a:bodyPr>
          <a:lstStyle/>
          <a:p>
            <a:pPr lvl="0" latinLnBrk="1"/>
            <a:r>
              <a:rPr lang="en-US" sz="4000" dirty="0" smtClean="0"/>
              <a:t>A. It has never been an </a:t>
            </a:r>
          </a:p>
          <a:p>
            <a:pPr lvl="0" latinLnBrk="1">
              <a:buNone/>
            </a:pPr>
            <a:r>
              <a:rPr lang="en-US" sz="4000" dirty="0" smtClean="0"/>
              <a:t>    independent nation.</a:t>
            </a:r>
          </a:p>
          <a:p>
            <a:pPr lvl="0" latinLnBrk="1"/>
            <a:r>
              <a:rPr lang="en-US" sz="4000" dirty="0" smtClean="0"/>
              <a:t>B. It has been an independent </a:t>
            </a:r>
          </a:p>
          <a:p>
            <a:pPr lvl="0" latinLnBrk="1">
              <a:buNone/>
            </a:pPr>
            <a:r>
              <a:rPr lang="en-US" sz="4000" dirty="0" smtClean="0"/>
              <a:t>    nation ever since.</a:t>
            </a:r>
          </a:p>
          <a:p>
            <a:pPr lvl="0" latinLnBrk="1"/>
            <a:r>
              <a:rPr lang="en-US" sz="4000" b="1" dirty="0" smtClean="0"/>
              <a:t>C. It has evolved from a colony to a fully independent nation.</a:t>
            </a:r>
            <a:endParaRPr lang="en-US" sz="4000" dirty="0" smtClean="0"/>
          </a:p>
          <a:p>
            <a:pPr lvl="0" latinLnBrk="1"/>
            <a:r>
              <a:rPr lang="en-US" sz="4000" dirty="0" smtClean="0"/>
              <a:t>D. It has not achieved full </a:t>
            </a:r>
          </a:p>
          <a:p>
            <a:pPr lvl="0" latinLnBrk="1">
              <a:buNone/>
            </a:pPr>
            <a:r>
              <a:rPr lang="en-US" sz="4000" dirty="0" smtClean="0"/>
              <a:t>   independence from the very </a:t>
            </a:r>
          </a:p>
          <a:p>
            <a:pPr lvl="0" latinLnBrk="1">
              <a:buNone/>
            </a:pPr>
            <a:r>
              <a:rPr lang="en-US" sz="4000" dirty="0" smtClean="0"/>
              <a:t>   beginning.</a:t>
            </a:r>
          </a:p>
          <a:p>
            <a:pPr>
              <a:buNone/>
            </a:pP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33400"/>
            <a:ext cx="8382000" cy="1143000"/>
          </a:xfrm>
        </p:spPr>
        <p:txBody>
          <a:bodyPr>
            <a:normAutofit fontScale="90000"/>
          </a:bodyPr>
          <a:lstStyle/>
          <a:p>
            <a:pPr lvl="0"/>
            <a:r>
              <a:rPr lang="en-US" dirty="0" smtClean="0"/>
              <a:t>36. Which </a:t>
            </a:r>
            <a:r>
              <a:rPr lang="en-US" b="1" dirty="0" smtClean="0">
                <a:solidFill>
                  <a:srgbClr val="FF0000"/>
                </a:solidFill>
              </a:rPr>
              <a:t>problem is common </a:t>
            </a:r>
            <a:r>
              <a:rPr lang="en-US" dirty="0" smtClean="0"/>
              <a:t>from the </a:t>
            </a:r>
            <a:r>
              <a:rPr lang="en-US" dirty="0" smtClean="0">
                <a:solidFill>
                  <a:srgbClr val="FF0000"/>
                </a:solidFill>
              </a:rPr>
              <a:t>presidency </a:t>
            </a:r>
            <a:r>
              <a:rPr lang="en-US" dirty="0" smtClean="0"/>
              <a:t>of Marcos, Aquino, Ramos, Estrada, </a:t>
            </a:r>
            <a:r>
              <a:rPr lang="en-US" dirty="0" err="1" smtClean="0"/>
              <a:t>Macapagal</a:t>
            </a:r>
            <a:r>
              <a:rPr lang="en-US" dirty="0" smtClean="0"/>
              <a:t>-Arroyo and </a:t>
            </a:r>
            <a:r>
              <a:rPr lang="en-US" dirty="0" err="1" smtClean="0"/>
              <a:t>Benigno</a:t>
            </a:r>
            <a:r>
              <a:rPr lang="en-US" dirty="0" smtClean="0"/>
              <a:t> Aquino III?</a:t>
            </a:r>
            <a:br>
              <a:rPr lang="en-US" dirty="0" smtClean="0"/>
            </a:br>
            <a:endParaRPr lang="en-US" dirty="0"/>
          </a:p>
        </p:txBody>
      </p:sp>
      <p:sp>
        <p:nvSpPr>
          <p:cNvPr id="3" name="Content Placeholder 2"/>
          <p:cNvSpPr>
            <a:spLocks noGrp="1"/>
          </p:cNvSpPr>
          <p:nvPr>
            <p:ph sz="quarter" idx="1"/>
          </p:nvPr>
        </p:nvSpPr>
        <p:spPr>
          <a:xfrm>
            <a:off x="228600" y="1524000"/>
            <a:ext cx="8382000" cy="4949952"/>
          </a:xfrm>
        </p:spPr>
        <p:txBody>
          <a:bodyPr/>
          <a:lstStyle/>
          <a:p>
            <a:pPr lvl="0" latinLnBrk="1"/>
            <a:r>
              <a:rPr lang="en-US" sz="5400" dirty="0" smtClean="0"/>
              <a:t>A. Social injustice</a:t>
            </a:r>
          </a:p>
          <a:p>
            <a:pPr lvl="0" latinLnBrk="1"/>
            <a:r>
              <a:rPr lang="en-US" sz="5400" b="1" dirty="0" smtClean="0"/>
              <a:t>B. Peace and security</a:t>
            </a:r>
            <a:endParaRPr lang="en-US" sz="5400" dirty="0" smtClean="0"/>
          </a:p>
          <a:p>
            <a:pPr lvl="0" latinLnBrk="1"/>
            <a:r>
              <a:rPr lang="en-US" sz="5400" dirty="0" smtClean="0"/>
              <a:t>C. Poor governance</a:t>
            </a:r>
          </a:p>
          <a:p>
            <a:pPr lvl="0" latinLnBrk="1"/>
            <a:r>
              <a:rPr lang="en-US" sz="5400" dirty="0" smtClean="0"/>
              <a:t>D. Moral degeneration</a:t>
            </a:r>
          </a:p>
          <a:p>
            <a:pPr>
              <a:buNone/>
            </a:pP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37. Basically, the </a:t>
            </a:r>
            <a:r>
              <a:rPr lang="en-US" dirty="0" smtClean="0">
                <a:solidFill>
                  <a:srgbClr val="FF0000"/>
                </a:solidFill>
              </a:rPr>
              <a:t>Philippine agrarian problem is a question of</a:t>
            </a:r>
            <a:r>
              <a:rPr lang="en-US" dirty="0" smtClean="0"/>
              <a:t>?</a:t>
            </a:r>
            <a:br>
              <a:rPr lang="en-US" dirty="0" smtClean="0"/>
            </a:br>
            <a:endParaRPr lang="en-US" dirty="0"/>
          </a:p>
        </p:txBody>
      </p:sp>
      <p:sp>
        <p:nvSpPr>
          <p:cNvPr id="3" name="Content Placeholder 2"/>
          <p:cNvSpPr>
            <a:spLocks noGrp="1"/>
          </p:cNvSpPr>
          <p:nvPr>
            <p:ph sz="quarter" idx="1"/>
          </p:nvPr>
        </p:nvSpPr>
        <p:spPr>
          <a:xfrm>
            <a:off x="457200" y="1219200"/>
            <a:ext cx="8153400" cy="5254752"/>
          </a:xfrm>
        </p:spPr>
        <p:txBody>
          <a:bodyPr/>
          <a:lstStyle/>
          <a:p>
            <a:pPr lvl="0" latinLnBrk="1"/>
            <a:r>
              <a:rPr lang="en-US" sz="4800" b="1" dirty="0" smtClean="0"/>
              <a:t>A. Land distribution</a:t>
            </a:r>
            <a:endParaRPr lang="en-US" sz="4800" dirty="0" smtClean="0"/>
          </a:p>
          <a:p>
            <a:pPr lvl="0" latinLnBrk="1"/>
            <a:r>
              <a:rPr lang="en-US" sz="4800" dirty="0" smtClean="0"/>
              <a:t>B. Nepotism and </a:t>
            </a:r>
          </a:p>
          <a:p>
            <a:pPr lvl="0" latinLnBrk="1">
              <a:buNone/>
            </a:pPr>
            <a:r>
              <a:rPr lang="en-US" sz="4800" dirty="0" smtClean="0"/>
              <a:t>      corruption</a:t>
            </a:r>
          </a:p>
          <a:p>
            <a:pPr lvl="0" latinLnBrk="1"/>
            <a:r>
              <a:rPr lang="en-US" sz="4800" dirty="0" smtClean="0"/>
              <a:t>C. Graft and corruption</a:t>
            </a:r>
          </a:p>
          <a:p>
            <a:pPr lvl="0" latinLnBrk="1"/>
            <a:r>
              <a:rPr lang="en-US" sz="4800" dirty="0" smtClean="0"/>
              <a:t>D. Environmental </a:t>
            </a:r>
          </a:p>
          <a:p>
            <a:pPr lvl="0" latinLnBrk="1">
              <a:buNone/>
            </a:pPr>
            <a:r>
              <a:rPr lang="en-US" sz="4800" dirty="0" smtClean="0"/>
              <a:t>       degradation</a:t>
            </a:r>
          </a:p>
          <a:p>
            <a:pPr>
              <a:buNone/>
            </a:pP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1143000"/>
          </a:xfrm>
        </p:spPr>
        <p:txBody>
          <a:bodyPr>
            <a:normAutofit fontScale="90000"/>
          </a:bodyPr>
          <a:lstStyle/>
          <a:p>
            <a:r>
              <a:rPr lang="en-US" dirty="0" smtClean="0"/>
              <a:t>38. Every elected President of the Philippines delivers SONA. What does </a:t>
            </a:r>
            <a:r>
              <a:rPr lang="en-US" b="1" dirty="0" smtClean="0">
                <a:solidFill>
                  <a:srgbClr val="FF0000"/>
                </a:solidFill>
              </a:rPr>
              <a:t>SONA </a:t>
            </a:r>
            <a:r>
              <a:rPr lang="en-US" dirty="0" smtClean="0"/>
              <a:t>mean?</a:t>
            </a:r>
            <a:endParaRPr lang="en-US" dirty="0"/>
          </a:p>
        </p:txBody>
      </p:sp>
      <p:sp>
        <p:nvSpPr>
          <p:cNvPr id="3" name="Content Placeholder 2"/>
          <p:cNvSpPr>
            <a:spLocks noGrp="1"/>
          </p:cNvSpPr>
          <p:nvPr>
            <p:ph sz="quarter" idx="1"/>
          </p:nvPr>
        </p:nvSpPr>
        <p:spPr>
          <a:xfrm>
            <a:off x="228600" y="1600200"/>
            <a:ext cx="8610600" cy="4873752"/>
          </a:xfrm>
        </p:spPr>
        <p:txBody>
          <a:bodyPr>
            <a:normAutofit/>
          </a:bodyPr>
          <a:lstStyle/>
          <a:p>
            <a:pPr lvl="0" latinLnBrk="1"/>
            <a:r>
              <a:rPr lang="en-US" sz="4000" dirty="0" smtClean="0"/>
              <a:t>A. Speech of the Nation </a:t>
            </a:r>
          </a:p>
          <a:p>
            <a:pPr lvl="0" latinLnBrk="1">
              <a:buNone/>
            </a:pPr>
            <a:r>
              <a:rPr lang="en-US" sz="4000" dirty="0" smtClean="0"/>
              <a:t>      Assembly</a:t>
            </a:r>
          </a:p>
          <a:p>
            <a:pPr lvl="0" latinLnBrk="1"/>
            <a:r>
              <a:rPr lang="en-US" sz="4000" dirty="0" smtClean="0"/>
              <a:t>B. Speech of the Nation Address</a:t>
            </a:r>
          </a:p>
          <a:p>
            <a:pPr lvl="0" latinLnBrk="1"/>
            <a:r>
              <a:rPr lang="en-US" sz="4000" b="1" dirty="0" smtClean="0"/>
              <a:t>C. State of the Nation Address</a:t>
            </a:r>
            <a:endParaRPr lang="en-US" sz="4000" dirty="0" smtClean="0"/>
          </a:p>
          <a:p>
            <a:pPr lvl="0" latinLnBrk="1"/>
            <a:r>
              <a:rPr lang="en-US" sz="4000" dirty="0" smtClean="0"/>
              <a:t>D. State of the Nation Advocacy</a:t>
            </a:r>
          </a:p>
          <a:p>
            <a:pPr>
              <a:buNone/>
            </a:pP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smtClean="0"/>
              <a:t>39. Rizal </a:t>
            </a:r>
            <a:r>
              <a:rPr lang="en-US" dirty="0" smtClean="0">
                <a:solidFill>
                  <a:srgbClr val="FF0000"/>
                </a:solidFill>
              </a:rPr>
              <a:t>founded the La </a:t>
            </a:r>
            <a:r>
              <a:rPr lang="en-US" dirty="0" err="1" smtClean="0">
                <a:solidFill>
                  <a:srgbClr val="FF0000"/>
                </a:solidFill>
              </a:rPr>
              <a:t>Liga</a:t>
            </a:r>
            <a:r>
              <a:rPr lang="en-US" dirty="0" smtClean="0">
                <a:solidFill>
                  <a:srgbClr val="FF0000"/>
                </a:solidFill>
              </a:rPr>
              <a:t> Filipina to </a:t>
            </a:r>
            <a:r>
              <a:rPr lang="en-US" dirty="0" smtClean="0"/>
              <a:t>________________.</a:t>
            </a:r>
            <a:br>
              <a:rPr lang="en-US" dirty="0" smtClean="0"/>
            </a:br>
            <a:endParaRPr lang="en-US" dirty="0"/>
          </a:p>
        </p:txBody>
      </p:sp>
      <p:sp>
        <p:nvSpPr>
          <p:cNvPr id="3" name="Content Placeholder 2"/>
          <p:cNvSpPr>
            <a:spLocks noGrp="1"/>
          </p:cNvSpPr>
          <p:nvPr>
            <p:ph sz="quarter" idx="1"/>
          </p:nvPr>
        </p:nvSpPr>
        <p:spPr>
          <a:xfrm>
            <a:off x="228600" y="1295400"/>
            <a:ext cx="8610600" cy="5178552"/>
          </a:xfrm>
        </p:spPr>
        <p:txBody>
          <a:bodyPr/>
          <a:lstStyle/>
          <a:p>
            <a:pPr lvl="0" latinLnBrk="1"/>
            <a:r>
              <a:rPr lang="en-US" sz="4800" dirty="0" smtClean="0"/>
              <a:t>I. Unite the whole country.</a:t>
            </a:r>
          </a:p>
          <a:p>
            <a:pPr lvl="0" latinLnBrk="1"/>
            <a:r>
              <a:rPr lang="en-US" sz="4800" dirty="0" smtClean="0"/>
              <a:t>II. Fight violence and </a:t>
            </a:r>
          </a:p>
          <a:p>
            <a:pPr lvl="0" latinLnBrk="1">
              <a:buNone/>
            </a:pPr>
            <a:r>
              <a:rPr lang="en-US" sz="4800" dirty="0" smtClean="0"/>
              <a:t>      injustice</a:t>
            </a:r>
          </a:p>
          <a:p>
            <a:pPr lvl="0" latinLnBrk="1"/>
            <a:r>
              <a:rPr lang="en-US" sz="4800" dirty="0" smtClean="0"/>
              <a:t>III. Revolt against the </a:t>
            </a:r>
          </a:p>
          <a:p>
            <a:pPr lvl="0" latinLnBrk="1">
              <a:buNone/>
            </a:pPr>
            <a:r>
              <a:rPr lang="en-US" sz="4800" dirty="0" smtClean="0"/>
              <a:t>     Spaniards</a:t>
            </a:r>
          </a:p>
          <a:p>
            <a:pPr latinLnBrk="1">
              <a:buNone/>
            </a:pPr>
            <a:endParaRPr lang="en-US" dirty="0" smtClean="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lstStyle/>
          <a:p>
            <a:pPr lvl="0" latinLnBrk="1"/>
            <a:r>
              <a:rPr lang="en-US" sz="5400" dirty="0" smtClean="0"/>
              <a:t>A. I and II</a:t>
            </a:r>
          </a:p>
          <a:p>
            <a:pPr lvl="0" latinLnBrk="1"/>
            <a:r>
              <a:rPr lang="en-US" sz="5400" dirty="0" smtClean="0"/>
              <a:t>B. II only</a:t>
            </a:r>
          </a:p>
          <a:p>
            <a:pPr lvl="0" latinLnBrk="1"/>
            <a:r>
              <a:rPr lang="en-US" sz="5400" b="1" dirty="0" smtClean="0"/>
              <a:t>C. I and II</a:t>
            </a:r>
            <a:endParaRPr lang="en-US" sz="5400" dirty="0" smtClean="0"/>
          </a:p>
          <a:p>
            <a:pPr lvl="0" latinLnBrk="1"/>
            <a:r>
              <a:rPr lang="en-US" sz="5400" dirty="0" smtClean="0"/>
              <a:t>D. II and III</a:t>
            </a:r>
          </a:p>
          <a:p>
            <a:pPr>
              <a:buNone/>
            </a:pP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1143000"/>
          </a:xfrm>
        </p:spPr>
        <p:txBody>
          <a:bodyPr/>
          <a:lstStyle/>
          <a:p>
            <a:pPr lvl="0"/>
            <a:r>
              <a:rPr lang="en-US" dirty="0" smtClean="0"/>
              <a:t>40. Which is </a:t>
            </a:r>
            <a:r>
              <a:rPr lang="en-US" b="1" dirty="0" smtClean="0">
                <a:solidFill>
                  <a:srgbClr val="FF0000"/>
                </a:solidFill>
              </a:rPr>
              <a:t>true of the Philippines</a:t>
            </a:r>
            <a:r>
              <a:rPr lang="en-US" dirty="0" smtClean="0"/>
              <a:t>?</a:t>
            </a:r>
            <a:br>
              <a:rPr lang="en-US" dirty="0" smtClean="0"/>
            </a:br>
            <a:endParaRPr lang="en-US" dirty="0"/>
          </a:p>
        </p:txBody>
      </p:sp>
      <p:sp>
        <p:nvSpPr>
          <p:cNvPr id="3" name="Content Placeholder 2"/>
          <p:cNvSpPr>
            <a:spLocks noGrp="1"/>
          </p:cNvSpPr>
          <p:nvPr>
            <p:ph sz="quarter" idx="1"/>
          </p:nvPr>
        </p:nvSpPr>
        <p:spPr>
          <a:xfrm>
            <a:off x="228600" y="1143000"/>
            <a:ext cx="8458200" cy="5330952"/>
          </a:xfrm>
        </p:spPr>
        <p:txBody>
          <a:bodyPr>
            <a:normAutofit fontScale="92500" lnSpcReduction="10000"/>
          </a:bodyPr>
          <a:lstStyle/>
          <a:p>
            <a:pPr lvl="0" latinLnBrk="1"/>
            <a:r>
              <a:rPr lang="en-US" sz="4000" dirty="0" smtClean="0"/>
              <a:t>A. It was colonized by Spain, </a:t>
            </a:r>
          </a:p>
          <a:p>
            <a:pPr lvl="0" latinLnBrk="1">
              <a:buNone/>
            </a:pPr>
            <a:r>
              <a:rPr lang="en-US" sz="4000" dirty="0" smtClean="0"/>
              <a:t>     Portugal, America, and Japan.</a:t>
            </a:r>
          </a:p>
          <a:p>
            <a:pPr lvl="0" latinLnBrk="1"/>
            <a:r>
              <a:rPr lang="en-US" sz="4000" b="1" dirty="0" smtClean="0"/>
              <a:t>B. It has been part of the world’s economy since the Spanish </a:t>
            </a:r>
          </a:p>
          <a:p>
            <a:pPr lvl="0" latinLnBrk="1">
              <a:buNone/>
            </a:pPr>
            <a:r>
              <a:rPr lang="en-US" sz="4000" b="1" dirty="0" smtClean="0"/>
              <a:t>   colonial rule.</a:t>
            </a:r>
            <a:endParaRPr lang="en-US" sz="4000" dirty="0" smtClean="0"/>
          </a:p>
          <a:p>
            <a:pPr lvl="0" latinLnBrk="1"/>
            <a:r>
              <a:rPr lang="en-US" sz="4000" dirty="0" smtClean="0"/>
              <a:t>C. It is one of the least populated </a:t>
            </a:r>
          </a:p>
          <a:p>
            <a:pPr lvl="0" latinLnBrk="1">
              <a:buNone/>
            </a:pPr>
            <a:r>
              <a:rPr lang="en-US" sz="4000" dirty="0" smtClean="0"/>
              <a:t>    countries in the world.</a:t>
            </a:r>
          </a:p>
          <a:p>
            <a:pPr lvl="0" latinLnBrk="1"/>
            <a:r>
              <a:rPr lang="en-US" sz="4000" dirty="0" smtClean="0"/>
              <a:t>D. It has two autonomous regions</a:t>
            </a:r>
          </a:p>
          <a:p>
            <a:pPr lvl="0" latinLnBrk="1">
              <a:buNone/>
            </a:pPr>
            <a:r>
              <a:rPr lang="en-US" sz="4000" smtClean="0"/>
              <a:t>     - </a:t>
            </a:r>
            <a:r>
              <a:rPr lang="en-US" sz="4000" dirty="0" smtClean="0"/>
              <a:t>ARMM and CAR.</a:t>
            </a:r>
          </a:p>
          <a:p>
            <a:pPr>
              <a:buNone/>
            </a:pP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lvl="0"/>
            <a:r>
              <a:rPr lang="en-US" dirty="0" smtClean="0"/>
              <a:t>41. </a:t>
            </a:r>
            <a:r>
              <a:rPr lang="en-US" dirty="0" smtClean="0"/>
              <a:t>Which is </a:t>
            </a:r>
            <a:r>
              <a:rPr lang="en-US" b="1" dirty="0" smtClean="0">
                <a:solidFill>
                  <a:srgbClr val="FF0000"/>
                </a:solidFill>
              </a:rPr>
              <a:t>true of the Philippines</a:t>
            </a:r>
            <a:r>
              <a:rPr lang="en-US" dirty="0" smtClean="0"/>
              <a:t>?</a:t>
            </a:r>
            <a:br>
              <a:rPr lang="en-US" dirty="0" smtClean="0"/>
            </a:br>
            <a:endParaRPr lang="en-US" dirty="0"/>
          </a:p>
        </p:txBody>
      </p:sp>
      <p:sp>
        <p:nvSpPr>
          <p:cNvPr id="3" name="Content Placeholder 2"/>
          <p:cNvSpPr>
            <a:spLocks noGrp="1"/>
          </p:cNvSpPr>
          <p:nvPr>
            <p:ph sz="quarter" idx="1"/>
          </p:nvPr>
        </p:nvSpPr>
        <p:spPr>
          <a:xfrm>
            <a:off x="0" y="1066800"/>
            <a:ext cx="8915400" cy="5407152"/>
          </a:xfrm>
        </p:spPr>
        <p:txBody>
          <a:bodyPr>
            <a:normAutofit fontScale="70000" lnSpcReduction="20000"/>
          </a:bodyPr>
          <a:lstStyle/>
          <a:p>
            <a:pPr lvl="0" latinLnBrk="1"/>
            <a:r>
              <a:rPr lang="en-US" sz="5400" dirty="0" smtClean="0"/>
              <a:t>A. It </a:t>
            </a:r>
            <a:r>
              <a:rPr lang="en-US" sz="5400" dirty="0" smtClean="0"/>
              <a:t>has been colonized by two </a:t>
            </a:r>
            <a:endParaRPr lang="en-US" sz="5400" dirty="0" smtClean="0"/>
          </a:p>
          <a:p>
            <a:pPr lvl="0" latinLnBrk="1">
              <a:buNone/>
            </a:pPr>
            <a:r>
              <a:rPr lang="en-US" sz="5400" dirty="0" smtClean="0"/>
              <a:t> </a:t>
            </a:r>
            <a:r>
              <a:rPr lang="en-US" sz="5400" dirty="0" smtClean="0"/>
              <a:t>  European </a:t>
            </a:r>
            <a:r>
              <a:rPr lang="en-US" sz="5400" dirty="0" smtClean="0"/>
              <a:t>colonial powers.</a:t>
            </a:r>
          </a:p>
          <a:p>
            <a:pPr lvl="0" latinLnBrk="1"/>
            <a:r>
              <a:rPr lang="en-US" sz="5400" dirty="0" smtClean="0"/>
              <a:t>B. It </a:t>
            </a:r>
            <a:r>
              <a:rPr lang="en-US" sz="5400" dirty="0" smtClean="0"/>
              <a:t>has never been united as a </a:t>
            </a:r>
            <a:endParaRPr lang="en-US" sz="5400" dirty="0" smtClean="0"/>
          </a:p>
          <a:p>
            <a:pPr lvl="0" latinLnBrk="1">
              <a:buNone/>
            </a:pPr>
            <a:r>
              <a:rPr lang="en-US" sz="5400" dirty="0" smtClean="0"/>
              <a:t> </a:t>
            </a:r>
            <a:r>
              <a:rPr lang="en-US" sz="5400" dirty="0" smtClean="0"/>
              <a:t>   nation</a:t>
            </a:r>
            <a:r>
              <a:rPr lang="en-US" sz="5400" dirty="0" smtClean="0"/>
              <a:t>.</a:t>
            </a:r>
          </a:p>
          <a:p>
            <a:pPr lvl="0" latinLnBrk="1"/>
            <a:r>
              <a:rPr lang="en-US" sz="5400" b="1" dirty="0" smtClean="0"/>
              <a:t>C. There </a:t>
            </a:r>
            <a:r>
              <a:rPr lang="en-US" sz="5400" b="1" dirty="0" smtClean="0"/>
              <a:t>have been </a:t>
            </a:r>
            <a:endParaRPr lang="en-US" sz="5400" b="1" dirty="0" smtClean="0"/>
          </a:p>
          <a:p>
            <a:pPr lvl="0" latinLnBrk="1">
              <a:buNone/>
            </a:pPr>
            <a:r>
              <a:rPr lang="en-US" sz="5400" b="1" dirty="0" smtClean="0"/>
              <a:t> </a:t>
            </a:r>
            <a:r>
              <a:rPr lang="en-US" sz="5400" b="1" dirty="0" smtClean="0"/>
              <a:t>   attempts </a:t>
            </a:r>
            <a:r>
              <a:rPr lang="en-US" sz="5400" b="1" dirty="0" smtClean="0"/>
              <a:t>to change its </a:t>
            </a:r>
            <a:endParaRPr lang="en-US" sz="5400" b="1" dirty="0" smtClean="0"/>
          </a:p>
          <a:p>
            <a:pPr lvl="0" latinLnBrk="1">
              <a:buNone/>
            </a:pPr>
            <a:r>
              <a:rPr lang="en-US" sz="5400" b="1" dirty="0" smtClean="0"/>
              <a:t> </a:t>
            </a:r>
            <a:r>
              <a:rPr lang="en-US" sz="5400" b="1" dirty="0" smtClean="0"/>
              <a:t>   government </a:t>
            </a:r>
            <a:r>
              <a:rPr lang="en-US" sz="5400" b="1" dirty="0" smtClean="0"/>
              <a:t>to a parliamentary form.</a:t>
            </a:r>
            <a:endParaRPr lang="en-US" sz="5400" dirty="0" smtClean="0"/>
          </a:p>
          <a:p>
            <a:pPr lvl="0" latinLnBrk="1"/>
            <a:r>
              <a:rPr lang="en-US" sz="5400" dirty="0" smtClean="0"/>
              <a:t>D. It </a:t>
            </a:r>
            <a:r>
              <a:rPr lang="en-US" sz="5400" dirty="0" smtClean="0"/>
              <a:t>is the only Christian country in Asia.</a:t>
            </a:r>
          </a:p>
          <a:p>
            <a:pPr>
              <a:buNone/>
            </a:pP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458200" cy="1143000"/>
          </a:xfrm>
        </p:spPr>
        <p:txBody>
          <a:bodyPr>
            <a:normAutofit fontScale="90000"/>
          </a:bodyPr>
          <a:lstStyle/>
          <a:p>
            <a:pPr lvl="0"/>
            <a:r>
              <a:rPr lang="en-US" dirty="0" smtClean="0"/>
              <a:t>42. </a:t>
            </a:r>
            <a:r>
              <a:rPr lang="en-US" dirty="0" smtClean="0"/>
              <a:t>As a </a:t>
            </a:r>
            <a:r>
              <a:rPr lang="en-US" b="1" dirty="0" smtClean="0">
                <a:solidFill>
                  <a:srgbClr val="FF0000"/>
                </a:solidFill>
              </a:rPr>
              <a:t>result of EDSA 1</a:t>
            </a:r>
            <a:r>
              <a:rPr lang="en-US" dirty="0" smtClean="0"/>
              <a:t>, the Philippines ___________.</a:t>
            </a:r>
            <a:br>
              <a:rPr lang="en-US" dirty="0" smtClean="0"/>
            </a:br>
            <a:endParaRPr lang="en-US" dirty="0"/>
          </a:p>
        </p:txBody>
      </p:sp>
      <p:sp>
        <p:nvSpPr>
          <p:cNvPr id="3" name="Content Placeholder 2"/>
          <p:cNvSpPr>
            <a:spLocks noGrp="1"/>
          </p:cNvSpPr>
          <p:nvPr>
            <p:ph sz="quarter" idx="1"/>
          </p:nvPr>
        </p:nvSpPr>
        <p:spPr>
          <a:xfrm>
            <a:off x="152400" y="1219200"/>
            <a:ext cx="8534400" cy="5254752"/>
          </a:xfrm>
        </p:spPr>
        <p:txBody>
          <a:bodyPr>
            <a:normAutofit fontScale="77500" lnSpcReduction="20000"/>
          </a:bodyPr>
          <a:lstStyle/>
          <a:p>
            <a:pPr lvl="0" latinLnBrk="1"/>
            <a:r>
              <a:rPr lang="en-US" sz="5400" b="1" dirty="0" smtClean="0"/>
              <a:t>A. Became </a:t>
            </a:r>
            <a:r>
              <a:rPr lang="en-US" sz="5400" b="1" dirty="0" smtClean="0"/>
              <a:t>known worldwide for its People Power </a:t>
            </a:r>
            <a:endParaRPr lang="en-US" sz="5400" b="1" dirty="0" smtClean="0"/>
          </a:p>
          <a:p>
            <a:pPr lvl="0" latinLnBrk="1">
              <a:buNone/>
            </a:pPr>
            <a:r>
              <a:rPr lang="en-US" sz="5400" b="1" dirty="0" smtClean="0"/>
              <a:t>  Revolution</a:t>
            </a:r>
            <a:r>
              <a:rPr lang="en-US" sz="5400" b="1" dirty="0" smtClean="0"/>
              <a:t>.</a:t>
            </a:r>
            <a:endParaRPr lang="en-US" sz="5400" dirty="0" smtClean="0"/>
          </a:p>
          <a:p>
            <a:pPr lvl="0" latinLnBrk="1"/>
            <a:r>
              <a:rPr lang="en-US" sz="5400" dirty="0" smtClean="0"/>
              <a:t>B. Changed </a:t>
            </a:r>
            <a:r>
              <a:rPr lang="en-US" sz="5400" dirty="0" smtClean="0"/>
              <a:t>its form of </a:t>
            </a:r>
            <a:endParaRPr lang="en-US" sz="5400" dirty="0" smtClean="0"/>
          </a:p>
          <a:p>
            <a:pPr lvl="0" latinLnBrk="1">
              <a:buNone/>
            </a:pPr>
            <a:r>
              <a:rPr lang="en-US" sz="5400" dirty="0" smtClean="0"/>
              <a:t> </a:t>
            </a:r>
            <a:r>
              <a:rPr lang="en-US" sz="5400" dirty="0" smtClean="0"/>
              <a:t> government </a:t>
            </a:r>
            <a:r>
              <a:rPr lang="en-US" sz="5400" dirty="0" smtClean="0"/>
              <a:t>to parliamentary</a:t>
            </a:r>
          </a:p>
          <a:p>
            <a:pPr lvl="0" latinLnBrk="1"/>
            <a:r>
              <a:rPr lang="en-US" sz="5400" dirty="0" smtClean="0"/>
              <a:t>C. Saw </a:t>
            </a:r>
            <a:r>
              <a:rPr lang="en-US" sz="5400" dirty="0" smtClean="0"/>
              <a:t>the impeachment of </a:t>
            </a:r>
            <a:endParaRPr lang="en-US" sz="5400" dirty="0" smtClean="0"/>
          </a:p>
          <a:p>
            <a:pPr lvl="0" latinLnBrk="1">
              <a:buNone/>
            </a:pPr>
            <a:r>
              <a:rPr lang="en-US" sz="5400" dirty="0" smtClean="0"/>
              <a:t> </a:t>
            </a:r>
            <a:r>
              <a:rPr lang="en-US" sz="5400" dirty="0" smtClean="0"/>
              <a:t> Joseph </a:t>
            </a:r>
            <a:r>
              <a:rPr lang="en-US" sz="5400" dirty="0" smtClean="0"/>
              <a:t>Estrada as president</a:t>
            </a:r>
          </a:p>
          <a:p>
            <a:pPr lvl="0" latinLnBrk="1"/>
            <a:r>
              <a:rPr lang="en-US" sz="5400" dirty="0" smtClean="0"/>
              <a:t>D. Intensified </a:t>
            </a:r>
            <a:r>
              <a:rPr lang="en-US" sz="5400" dirty="0" smtClean="0"/>
              <a:t>its participation </a:t>
            </a:r>
            <a:endParaRPr lang="en-US" sz="5400" dirty="0" smtClean="0"/>
          </a:p>
          <a:p>
            <a:pPr lvl="0" latinLnBrk="1">
              <a:buNone/>
            </a:pPr>
            <a:r>
              <a:rPr lang="en-US" sz="5400" dirty="0" smtClean="0"/>
              <a:t> </a:t>
            </a:r>
            <a:r>
              <a:rPr lang="en-US" sz="5400" dirty="0" smtClean="0"/>
              <a:t>  in </a:t>
            </a:r>
            <a:r>
              <a:rPr lang="en-US" sz="5400" dirty="0" smtClean="0"/>
              <a:t>international affairs.</a:t>
            </a:r>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43. </a:t>
            </a:r>
            <a:r>
              <a:rPr lang="en-US" dirty="0" smtClean="0"/>
              <a:t>Which is </a:t>
            </a:r>
            <a:r>
              <a:rPr lang="en-US" b="1" dirty="0" smtClean="0">
                <a:solidFill>
                  <a:srgbClr val="FF0000"/>
                </a:solidFill>
              </a:rPr>
              <a:t>true of former Corazon Aquino</a:t>
            </a:r>
            <a:r>
              <a:rPr lang="en-US" dirty="0" smtClean="0"/>
              <a:t>?</a:t>
            </a:r>
            <a:br>
              <a:rPr lang="en-US" dirty="0" smtClean="0"/>
            </a:br>
            <a:endParaRPr lang="en-US" dirty="0"/>
          </a:p>
        </p:txBody>
      </p:sp>
      <p:sp>
        <p:nvSpPr>
          <p:cNvPr id="3" name="Content Placeholder 2"/>
          <p:cNvSpPr>
            <a:spLocks noGrp="1"/>
          </p:cNvSpPr>
          <p:nvPr>
            <p:ph sz="quarter" idx="1"/>
          </p:nvPr>
        </p:nvSpPr>
        <p:spPr>
          <a:xfrm>
            <a:off x="228600" y="1295400"/>
            <a:ext cx="8382000" cy="5178552"/>
          </a:xfrm>
        </p:spPr>
        <p:txBody>
          <a:bodyPr>
            <a:normAutofit/>
          </a:bodyPr>
          <a:lstStyle/>
          <a:p>
            <a:pPr lvl="0" latinLnBrk="1"/>
            <a:r>
              <a:rPr lang="en-US" sz="4800" dirty="0" smtClean="0"/>
              <a:t>I. The </a:t>
            </a:r>
            <a:r>
              <a:rPr lang="en-US" sz="4800" dirty="0" smtClean="0"/>
              <a:t>first female </a:t>
            </a:r>
            <a:endParaRPr lang="en-US" sz="4800" dirty="0" smtClean="0"/>
          </a:p>
          <a:p>
            <a:pPr lvl="0" latinLnBrk="1">
              <a:buNone/>
            </a:pPr>
            <a:r>
              <a:rPr lang="en-US" sz="4800" dirty="0" smtClean="0"/>
              <a:t> </a:t>
            </a:r>
            <a:r>
              <a:rPr lang="en-US" sz="4800" dirty="0" smtClean="0"/>
              <a:t>president </a:t>
            </a:r>
            <a:r>
              <a:rPr lang="en-US" sz="4800" dirty="0" smtClean="0"/>
              <a:t>of the Philippines.</a:t>
            </a:r>
          </a:p>
          <a:p>
            <a:pPr lvl="0" latinLnBrk="1"/>
            <a:r>
              <a:rPr lang="en-US" sz="4800" dirty="0" smtClean="0"/>
              <a:t>II. The </a:t>
            </a:r>
            <a:r>
              <a:rPr lang="en-US" sz="4800" dirty="0" smtClean="0"/>
              <a:t>first female </a:t>
            </a:r>
            <a:endParaRPr lang="en-US" sz="4800" dirty="0" smtClean="0"/>
          </a:p>
          <a:p>
            <a:pPr lvl="0" latinLnBrk="1">
              <a:buNone/>
            </a:pPr>
            <a:r>
              <a:rPr lang="en-US" sz="4800" dirty="0" smtClean="0"/>
              <a:t> </a:t>
            </a:r>
            <a:r>
              <a:rPr lang="en-US" sz="4800" dirty="0" smtClean="0"/>
              <a:t>  president </a:t>
            </a:r>
            <a:r>
              <a:rPr lang="en-US" sz="4800" dirty="0" smtClean="0"/>
              <a:t>in Asia.</a:t>
            </a:r>
          </a:p>
          <a:p>
            <a:pPr lvl="0" latinLnBrk="1"/>
            <a:r>
              <a:rPr lang="en-US" sz="4800" dirty="0" smtClean="0"/>
              <a:t>III. Described </a:t>
            </a:r>
            <a:r>
              <a:rPr lang="en-US" sz="4800" dirty="0" smtClean="0"/>
              <a:t>as the “icon </a:t>
            </a:r>
            <a:endParaRPr lang="en-US" sz="4800" dirty="0" smtClean="0"/>
          </a:p>
          <a:p>
            <a:pPr lvl="0" latinLnBrk="1">
              <a:buNone/>
            </a:pPr>
            <a:r>
              <a:rPr lang="en-US" sz="4800" dirty="0" smtClean="0"/>
              <a:t> </a:t>
            </a:r>
            <a:r>
              <a:rPr lang="en-US" sz="4800" dirty="0" smtClean="0"/>
              <a:t> of </a:t>
            </a:r>
            <a:r>
              <a:rPr lang="en-US" sz="4800" dirty="0" smtClean="0"/>
              <a:t>democracy”.</a:t>
            </a:r>
          </a:p>
          <a:p>
            <a:pPr>
              <a:buNone/>
            </a:pP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457200" y="685800"/>
            <a:ext cx="8229600" cy="5788152"/>
          </a:xfrm>
        </p:spPr>
        <p:txBody>
          <a:bodyPr/>
          <a:lstStyle/>
          <a:p>
            <a:pPr lvl="0" latinLnBrk="1"/>
            <a:r>
              <a:rPr lang="en-US" sz="6600" b="1" dirty="0" smtClean="0"/>
              <a:t>A. I</a:t>
            </a:r>
            <a:r>
              <a:rPr lang="en-US" sz="6600" b="1" dirty="0" smtClean="0"/>
              <a:t>, II, and III</a:t>
            </a:r>
            <a:endParaRPr lang="en-US" sz="6600" dirty="0" smtClean="0"/>
          </a:p>
          <a:p>
            <a:pPr lvl="0" latinLnBrk="1"/>
            <a:r>
              <a:rPr lang="en-US" sz="6600" dirty="0" smtClean="0"/>
              <a:t>B. I </a:t>
            </a:r>
            <a:r>
              <a:rPr lang="en-US" sz="6600" dirty="0" smtClean="0"/>
              <a:t>and II</a:t>
            </a:r>
          </a:p>
          <a:p>
            <a:pPr lvl="0" latinLnBrk="1"/>
            <a:r>
              <a:rPr lang="en-US" sz="6600" dirty="0" smtClean="0"/>
              <a:t>C. I </a:t>
            </a:r>
            <a:r>
              <a:rPr lang="en-US" sz="6600" dirty="0" smtClean="0"/>
              <a:t>and III</a:t>
            </a:r>
          </a:p>
          <a:p>
            <a:pPr lvl="0" latinLnBrk="1"/>
            <a:r>
              <a:rPr lang="en-US" sz="6600" dirty="0" smtClean="0"/>
              <a:t>D. I </a:t>
            </a:r>
            <a:r>
              <a:rPr lang="en-US" sz="6600" dirty="0" smtClean="0"/>
              <a:t>only</a:t>
            </a:r>
          </a:p>
          <a:p>
            <a:pPr latinLnBrk="1">
              <a:buNone/>
            </a:pPr>
            <a:endParaRPr lang="en-US" dirty="0" smtClean="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66800"/>
            <a:ext cx="8382000" cy="1143000"/>
          </a:xfrm>
        </p:spPr>
        <p:txBody>
          <a:bodyPr>
            <a:normAutofit fontScale="90000"/>
          </a:bodyPr>
          <a:lstStyle/>
          <a:p>
            <a:pPr lvl="0"/>
            <a:r>
              <a:rPr lang="en-US" dirty="0" smtClean="0"/>
              <a:t>44. </a:t>
            </a:r>
            <a:r>
              <a:rPr lang="en-US" dirty="0" smtClean="0"/>
              <a:t>Years ago, </a:t>
            </a:r>
            <a:r>
              <a:rPr lang="en-US" dirty="0" smtClean="0">
                <a:solidFill>
                  <a:srgbClr val="FF0000"/>
                </a:solidFill>
              </a:rPr>
              <a:t>“Cha-cha” </a:t>
            </a:r>
            <a:r>
              <a:rPr lang="en-US" dirty="0" smtClean="0"/>
              <a:t>and </a:t>
            </a:r>
            <a:r>
              <a:rPr lang="en-US" dirty="0" smtClean="0">
                <a:solidFill>
                  <a:srgbClr val="FF0000"/>
                </a:solidFill>
              </a:rPr>
              <a:t>“con ass” </a:t>
            </a:r>
            <a:r>
              <a:rPr lang="en-US" dirty="0" smtClean="0"/>
              <a:t>were popular words in the Philippines. With which were the words “Cha-cha” and “con-ass” </a:t>
            </a:r>
            <a:r>
              <a:rPr lang="en-US" b="1" dirty="0" smtClean="0">
                <a:solidFill>
                  <a:srgbClr val="FF0000"/>
                </a:solidFill>
              </a:rPr>
              <a:t>associated</a:t>
            </a:r>
            <a:r>
              <a:rPr lang="en-US" dirty="0" smtClean="0"/>
              <a:t>?</a:t>
            </a:r>
            <a:br>
              <a:rPr lang="en-US" dirty="0" smtClean="0"/>
            </a:br>
            <a:endParaRPr lang="en-US" dirty="0"/>
          </a:p>
        </p:txBody>
      </p:sp>
      <p:sp>
        <p:nvSpPr>
          <p:cNvPr id="3" name="Content Placeholder 2"/>
          <p:cNvSpPr>
            <a:spLocks noGrp="1"/>
          </p:cNvSpPr>
          <p:nvPr>
            <p:ph sz="quarter" idx="1"/>
          </p:nvPr>
        </p:nvSpPr>
        <p:spPr>
          <a:xfrm>
            <a:off x="228600" y="1600200"/>
            <a:ext cx="8534400" cy="4873752"/>
          </a:xfrm>
        </p:spPr>
        <p:txBody>
          <a:bodyPr>
            <a:normAutofit lnSpcReduction="10000"/>
          </a:bodyPr>
          <a:lstStyle/>
          <a:p>
            <a:pPr lvl="0" latinLnBrk="1"/>
            <a:r>
              <a:rPr lang="en-US" sz="4400" dirty="0" smtClean="0"/>
              <a:t>A. Imposition </a:t>
            </a:r>
            <a:r>
              <a:rPr lang="en-US" sz="4400" dirty="0" smtClean="0"/>
              <a:t>of martial law</a:t>
            </a:r>
          </a:p>
          <a:p>
            <a:pPr lvl="0" latinLnBrk="1"/>
            <a:r>
              <a:rPr lang="en-US" sz="4400" dirty="0" smtClean="0"/>
              <a:t>B. Return </a:t>
            </a:r>
            <a:r>
              <a:rPr lang="en-US" sz="4400" dirty="0" smtClean="0"/>
              <a:t>to dictatorial form </a:t>
            </a:r>
            <a:endParaRPr lang="en-US" sz="4400" dirty="0" smtClean="0"/>
          </a:p>
          <a:p>
            <a:pPr lvl="0" latinLnBrk="1">
              <a:buNone/>
            </a:pPr>
            <a:r>
              <a:rPr lang="en-US" sz="4400" dirty="0" smtClean="0"/>
              <a:t> </a:t>
            </a:r>
            <a:r>
              <a:rPr lang="en-US" sz="4400" dirty="0" smtClean="0"/>
              <a:t>     of </a:t>
            </a:r>
            <a:r>
              <a:rPr lang="en-US" sz="4400" dirty="0" smtClean="0"/>
              <a:t>government</a:t>
            </a:r>
          </a:p>
          <a:p>
            <a:pPr lvl="0" latinLnBrk="1"/>
            <a:r>
              <a:rPr lang="en-US" sz="4400" b="1" dirty="0" smtClean="0"/>
              <a:t>C. Amendment </a:t>
            </a:r>
            <a:r>
              <a:rPr lang="en-US" sz="4400" b="1" dirty="0" smtClean="0"/>
              <a:t>of the </a:t>
            </a:r>
            <a:endParaRPr lang="en-US" sz="4400" b="1" dirty="0" smtClean="0"/>
          </a:p>
          <a:p>
            <a:pPr lvl="0" latinLnBrk="1">
              <a:buNone/>
            </a:pPr>
            <a:r>
              <a:rPr lang="en-US" sz="4400" b="1" dirty="0" smtClean="0"/>
              <a:t> </a:t>
            </a:r>
            <a:r>
              <a:rPr lang="en-US" sz="4400" b="1" dirty="0" smtClean="0"/>
              <a:t>    present </a:t>
            </a:r>
            <a:r>
              <a:rPr lang="en-US" sz="4400" b="1" dirty="0" smtClean="0"/>
              <a:t>Constitution</a:t>
            </a:r>
            <a:endParaRPr lang="en-US" sz="4400" dirty="0" smtClean="0"/>
          </a:p>
          <a:p>
            <a:pPr lvl="0" latinLnBrk="1"/>
            <a:r>
              <a:rPr lang="en-US" sz="4400" dirty="0" smtClean="0"/>
              <a:t>D. Division </a:t>
            </a:r>
            <a:r>
              <a:rPr lang="en-US" sz="4400" dirty="0" smtClean="0"/>
              <a:t>between Senate </a:t>
            </a:r>
            <a:endParaRPr lang="en-US" sz="4400" dirty="0" smtClean="0"/>
          </a:p>
          <a:p>
            <a:pPr lvl="0" latinLnBrk="1">
              <a:buNone/>
            </a:pPr>
            <a:r>
              <a:rPr lang="en-US" sz="4400" dirty="0" smtClean="0"/>
              <a:t> </a:t>
            </a:r>
            <a:r>
              <a:rPr lang="en-US" sz="4400" dirty="0" smtClean="0"/>
              <a:t> and </a:t>
            </a:r>
            <a:r>
              <a:rPr lang="en-US" sz="4400" dirty="0" smtClean="0"/>
              <a:t>House of Representatives</a:t>
            </a:r>
          </a:p>
          <a:p>
            <a:pPr>
              <a:buNone/>
            </a:pP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371600"/>
            <a:ext cx="8686800" cy="1143000"/>
          </a:xfrm>
        </p:spPr>
        <p:txBody>
          <a:bodyPr>
            <a:normAutofit fontScale="90000"/>
          </a:bodyPr>
          <a:lstStyle/>
          <a:p>
            <a:pPr lvl="0"/>
            <a:r>
              <a:rPr lang="en-US" dirty="0" smtClean="0"/>
              <a:t>45. </a:t>
            </a:r>
            <a:r>
              <a:rPr lang="en-US" dirty="0" smtClean="0"/>
              <a:t>The Philippine revolts </a:t>
            </a:r>
            <a:r>
              <a:rPr lang="en-US" dirty="0" smtClean="0">
                <a:solidFill>
                  <a:srgbClr val="FF0000"/>
                </a:solidFill>
              </a:rPr>
              <a:t>against Spain</a:t>
            </a:r>
            <a:r>
              <a:rPr lang="en-US" dirty="0" smtClean="0"/>
              <a:t>, the Philippine-American </a:t>
            </a:r>
            <a:r>
              <a:rPr lang="en-US" dirty="0" smtClean="0">
                <a:solidFill>
                  <a:srgbClr val="FF0000"/>
                </a:solidFill>
              </a:rPr>
              <a:t>War</a:t>
            </a:r>
            <a:r>
              <a:rPr lang="en-US" dirty="0" smtClean="0"/>
              <a:t>, the Muslim </a:t>
            </a:r>
            <a:r>
              <a:rPr lang="en-US" dirty="0" smtClean="0">
                <a:solidFill>
                  <a:srgbClr val="FF0000"/>
                </a:solidFill>
              </a:rPr>
              <a:t>rebellion</a:t>
            </a:r>
            <a:r>
              <a:rPr lang="en-US" dirty="0" smtClean="0"/>
              <a:t>, the </a:t>
            </a:r>
            <a:r>
              <a:rPr lang="en-US" dirty="0" smtClean="0">
                <a:solidFill>
                  <a:srgbClr val="FF0000"/>
                </a:solidFill>
              </a:rPr>
              <a:t>NPA, the MILF and Abu </a:t>
            </a:r>
            <a:r>
              <a:rPr lang="en-US" dirty="0" err="1" smtClean="0">
                <a:solidFill>
                  <a:srgbClr val="FF0000"/>
                </a:solidFill>
              </a:rPr>
              <a:t>Sayaff</a:t>
            </a:r>
            <a:r>
              <a:rPr lang="en-US" dirty="0" smtClean="0">
                <a:solidFill>
                  <a:srgbClr val="FF0000"/>
                </a:solidFill>
              </a:rPr>
              <a:t> movement point to the reality of </a:t>
            </a:r>
            <a:r>
              <a:rPr lang="en-US" dirty="0" smtClean="0"/>
              <a:t>_________ in the Philippines.</a:t>
            </a:r>
            <a:br>
              <a:rPr lang="en-US" dirty="0" smtClean="0"/>
            </a:br>
            <a:endParaRPr lang="en-US" dirty="0"/>
          </a:p>
        </p:txBody>
      </p:sp>
      <p:sp>
        <p:nvSpPr>
          <p:cNvPr id="3" name="Content Placeholder 2"/>
          <p:cNvSpPr>
            <a:spLocks noGrp="1"/>
          </p:cNvSpPr>
          <p:nvPr>
            <p:ph sz="quarter" idx="1"/>
          </p:nvPr>
        </p:nvSpPr>
        <p:spPr>
          <a:xfrm>
            <a:off x="0" y="1984248"/>
            <a:ext cx="8686800" cy="4873752"/>
          </a:xfrm>
        </p:spPr>
        <p:txBody>
          <a:bodyPr>
            <a:normAutofit lnSpcReduction="10000"/>
          </a:bodyPr>
          <a:lstStyle/>
          <a:p>
            <a:pPr lvl="0" latinLnBrk="1"/>
            <a:r>
              <a:rPr lang="en-US" sz="6000" dirty="0" smtClean="0"/>
              <a:t>A. Multi-ethnicity</a:t>
            </a:r>
            <a:endParaRPr lang="en-US" sz="6000" dirty="0" smtClean="0"/>
          </a:p>
          <a:p>
            <a:pPr lvl="0" latinLnBrk="1"/>
            <a:r>
              <a:rPr lang="en-US" sz="6000" dirty="0" smtClean="0"/>
              <a:t>B. Poverty</a:t>
            </a:r>
            <a:endParaRPr lang="en-US" sz="6000" dirty="0" smtClean="0"/>
          </a:p>
          <a:p>
            <a:pPr lvl="0" latinLnBrk="1"/>
            <a:r>
              <a:rPr lang="en-US" sz="6000" dirty="0" smtClean="0"/>
              <a:t>C. Poor </a:t>
            </a:r>
            <a:r>
              <a:rPr lang="en-US" sz="6000" dirty="0" smtClean="0"/>
              <a:t>quality of </a:t>
            </a:r>
            <a:endParaRPr lang="en-US" sz="6000" dirty="0" smtClean="0"/>
          </a:p>
          <a:p>
            <a:pPr lvl="0" latinLnBrk="1">
              <a:buNone/>
            </a:pPr>
            <a:r>
              <a:rPr lang="en-US" sz="6000" dirty="0" smtClean="0"/>
              <a:t> </a:t>
            </a:r>
            <a:r>
              <a:rPr lang="en-US" sz="6000" dirty="0" smtClean="0"/>
              <a:t>     education</a:t>
            </a:r>
            <a:endParaRPr lang="en-US" sz="6000" dirty="0" smtClean="0"/>
          </a:p>
          <a:p>
            <a:pPr lvl="0" latinLnBrk="1"/>
            <a:r>
              <a:rPr lang="en-US" sz="6000" b="1" dirty="0" smtClean="0"/>
              <a:t>D. Insurgency</a:t>
            </a:r>
            <a:endParaRPr lang="en-US" sz="6000" dirty="0" smtClean="0"/>
          </a:p>
          <a:p>
            <a:pPr>
              <a:buNone/>
            </a:pP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686800" cy="1143000"/>
          </a:xfrm>
        </p:spPr>
        <p:txBody>
          <a:bodyPr>
            <a:normAutofit fontScale="90000"/>
          </a:bodyPr>
          <a:lstStyle/>
          <a:p>
            <a:pPr lvl="0"/>
            <a:r>
              <a:rPr lang="en-US" dirty="0" smtClean="0"/>
              <a:t>46. </a:t>
            </a:r>
            <a:r>
              <a:rPr lang="en-US" dirty="0" smtClean="0"/>
              <a:t>Which of the following was </a:t>
            </a:r>
            <a:r>
              <a:rPr lang="en-US" b="1" dirty="0" smtClean="0">
                <a:solidFill>
                  <a:srgbClr val="FF0000"/>
                </a:solidFill>
              </a:rPr>
              <a:t>the first to happen</a:t>
            </a:r>
            <a:r>
              <a:rPr lang="en-US" dirty="0" smtClean="0"/>
              <a:t>?</a:t>
            </a:r>
            <a:br>
              <a:rPr lang="en-US" dirty="0" smtClean="0"/>
            </a:br>
            <a:endParaRPr lang="en-US" dirty="0"/>
          </a:p>
        </p:txBody>
      </p:sp>
      <p:sp>
        <p:nvSpPr>
          <p:cNvPr id="3" name="Content Placeholder 2"/>
          <p:cNvSpPr>
            <a:spLocks noGrp="1"/>
          </p:cNvSpPr>
          <p:nvPr>
            <p:ph sz="quarter" idx="1"/>
          </p:nvPr>
        </p:nvSpPr>
        <p:spPr>
          <a:xfrm>
            <a:off x="228600" y="1143000"/>
            <a:ext cx="8458200" cy="5330952"/>
          </a:xfrm>
        </p:spPr>
        <p:txBody>
          <a:bodyPr>
            <a:normAutofit fontScale="92500" lnSpcReduction="20000"/>
          </a:bodyPr>
          <a:lstStyle/>
          <a:p>
            <a:pPr lvl="0" latinLnBrk="1"/>
            <a:r>
              <a:rPr lang="en-US" sz="4800" dirty="0" smtClean="0"/>
              <a:t>A. Aguinaldo </a:t>
            </a:r>
            <a:r>
              <a:rPr lang="en-US" sz="4800" dirty="0" smtClean="0"/>
              <a:t>was captured.</a:t>
            </a:r>
          </a:p>
          <a:p>
            <a:pPr lvl="0" latinLnBrk="1"/>
            <a:r>
              <a:rPr lang="en-US" sz="4800" dirty="0" smtClean="0"/>
              <a:t>B. Aguinaldo </a:t>
            </a:r>
            <a:r>
              <a:rPr lang="en-US" sz="4800" dirty="0" smtClean="0"/>
              <a:t>declared </a:t>
            </a:r>
            <a:endParaRPr lang="en-US" sz="4800" dirty="0" smtClean="0"/>
          </a:p>
          <a:p>
            <a:pPr lvl="0" latinLnBrk="1">
              <a:buNone/>
            </a:pPr>
            <a:r>
              <a:rPr lang="en-US" sz="4800" dirty="0" smtClean="0"/>
              <a:t> </a:t>
            </a:r>
            <a:r>
              <a:rPr lang="en-US" sz="4800" dirty="0" smtClean="0"/>
              <a:t>  Philippine </a:t>
            </a:r>
            <a:r>
              <a:rPr lang="en-US" sz="4800" dirty="0" smtClean="0"/>
              <a:t>independence.</a:t>
            </a:r>
          </a:p>
          <a:p>
            <a:pPr lvl="0" latinLnBrk="1"/>
            <a:r>
              <a:rPr lang="en-US" sz="4800" dirty="0" smtClean="0"/>
              <a:t>C. Guerilla </a:t>
            </a:r>
            <a:r>
              <a:rPr lang="en-US" sz="4800" dirty="0" smtClean="0"/>
              <a:t>warfare against </a:t>
            </a:r>
            <a:endParaRPr lang="en-US" sz="4800" dirty="0" smtClean="0"/>
          </a:p>
          <a:p>
            <a:pPr lvl="0" latinLnBrk="1">
              <a:buNone/>
            </a:pPr>
            <a:r>
              <a:rPr lang="en-US" sz="4800" dirty="0" smtClean="0"/>
              <a:t> </a:t>
            </a:r>
            <a:r>
              <a:rPr lang="en-US" sz="4800" dirty="0" smtClean="0"/>
              <a:t>   the </a:t>
            </a:r>
            <a:r>
              <a:rPr lang="en-US" sz="4800" dirty="0" smtClean="0"/>
              <a:t>US was initiated.</a:t>
            </a:r>
          </a:p>
          <a:p>
            <a:pPr lvl="0" latinLnBrk="1"/>
            <a:r>
              <a:rPr lang="en-US" sz="4800" b="1" dirty="0" smtClean="0"/>
              <a:t>D. The </a:t>
            </a:r>
            <a:r>
              <a:rPr lang="en-US" sz="4800" b="1" dirty="0" smtClean="0"/>
              <a:t>Philippine was </a:t>
            </a:r>
            <a:endParaRPr lang="en-US" sz="4800" b="1" dirty="0" smtClean="0"/>
          </a:p>
          <a:p>
            <a:pPr lvl="0" latinLnBrk="1">
              <a:buNone/>
            </a:pPr>
            <a:r>
              <a:rPr lang="en-US" sz="4800" b="1" dirty="0" smtClean="0"/>
              <a:t> </a:t>
            </a:r>
            <a:r>
              <a:rPr lang="en-US" sz="4800" b="1" dirty="0" smtClean="0"/>
              <a:t>  ceded </a:t>
            </a:r>
            <a:r>
              <a:rPr lang="en-US" sz="4800" b="1" dirty="0" smtClean="0"/>
              <a:t>to the US by </a:t>
            </a:r>
            <a:endParaRPr lang="en-US" sz="4800" b="1" dirty="0" smtClean="0"/>
          </a:p>
          <a:p>
            <a:pPr lvl="0" latinLnBrk="1">
              <a:buNone/>
            </a:pPr>
            <a:r>
              <a:rPr lang="en-US" sz="4800" b="1" dirty="0" smtClean="0"/>
              <a:t> </a:t>
            </a:r>
            <a:r>
              <a:rPr lang="en-US" sz="4800" b="1" dirty="0" smtClean="0"/>
              <a:t>  the </a:t>
            </a:r>
            <a:r>
              <a:rPr lang="en-US" sz="4800" b="1" dirty="0" smtClean="0"/>
              <a:t>treaty of Paris.</a:t>
            </a:r>
            <a:endParaRPr lang="en-US" sz="4800" dirty="0" smtClean="0"/>
          </a:p>
          <a:p>
            <a:pPr>
              <a:buNone/>
            </a:pP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47. </a:t>
            </a:r>
            <a:r>
              <a:rPr lang="en-US" dirty="0" smtClean="0"/>
              <a:t>With whom is the </a:t>
            </a:r>
            <a:r>
              <a:rPr lang="en-US" b="1" dirty="0" smtClean="0">
                <a:solidFill>
                  <a:srgbClr val="FF0000"/>
                </a:solidFill>
              </a:rPr>
              <a:t>“Strong Republic” associated</a:t>
            </a:r>
            <a:r>
              <a:rPr lang="en-US" dirty="0" smtClean="0"/>
              <a:t>?</a:t>
            </a:r>
            <a:br>
              <a:rPr lang="en-US" dirty="0" smtClean="0"/>
            </a:br>
            <a:endParaRPr lang="en-US" dirty="0"/>
          </a:p>
        </p:txBody>
      </p:sp>
      <p:sp>
        <p:nvSpPr>
          <p:cNvPr id="3" name="Content Placeholder 2"/>
          <p:cNvSpPr>
            <a:spLocks noGrp="1"/>
          </p:cNvSpPr>
          <p:nvPr>
            <p:ph sz="quarter" idx="1"/>
          </p:nvPr>
        </p:nvSpPr>
        <p:spPr>
          <a:xfrm>
            <a:off x="228600" y="1143000"/>
            <a:ext cx="8534400" cy="5330952"/>
          </a:xfrm>
        </p:spPr>
        <p:txBody>
          <a:bodyPr>
            <a:normAutofit/>
          </a:bodyPr>
          <a:lstStyle/>
          <a:p>
            <a:pPr lvl="0" latinLnBrk="1"/>
            <a:r>
              <a:rPr lang="en-US" sz="6000" dirty="0" smtClean="0"/>
              <a:t>A. Fidel </a:t>
            </a:r>
            <a:r>
              <a:rPr lang="en-US" sz="6000" dirty="0" smtClean="0"/>
              <a:t>V. Ramos</a:t>
            </a:r>
          </a:p>
          <a:p>
            <a:pPr lvl="0" latinLnBrk="1"/>
            <a:r>
              <a:rPr lang="en-US" sz="6000" dirty="0" smtClean="0"/>
              <a:t>B. Joseph </a:t>
            </a:r>
            <a:r>
              <a:rPr lang="en-US" sz="6000" dirty="0" smtClean="0"/>
              <a:t>Estrada</a:t>
            </a:r>
          </a:p>
          <a:p>
            <a:pPr lvl="0" latinLnBrk="1"/>
            <a:r>
              <a:rPr lang="en-US" sz="6000" b="1" dirty="0" smtClean="0"/>
              <a:t>C. Gloria </a:t>
            </a:r>
          </a:p>
          <a:p>
            <a:pPr lvl="0" latinLnBrk="1">
              <a:buNone/>
            </a:pPr>
            <a:r>
              <a:rPr lang="en-US" sz="6000" b="1" dirty="0" smtClean="0"/>
              <a:t> </a:t>
            </a:r>
            <a:r>
              <a:rPr lang="en-US" sz="6000" b="1" dirty="0" smtClean="0"/>
              <a:t> </a:t>
            </a:r>
            <a:r>
              <a:rPr lang="en-US" sz="6000" b="1" dirty="0" err="1" smtClean="0"/>
              <a:t>Macapagal</a:t>
            </a:r>
            <a:r>
              <a:rPr lang="en-US" sz="6000" b="1" dirty="0" smtClean="0"/>
              <a:t>-Arroyo</a:t>
            </a:r>
            <a:endParaRPr lang="en-US" sz="6000" dirty="0" smtClean="0"/>
          </a:p>
          <a:p>
            <a:pPr lvl="0" latinLnBrk="1"/>
            <a:r>
              <a:rPr lang="en-US" sz="6000" dirty="0" smtClean="0"/>
              <a:t>D. Corazon </a:t>
            </a:r>
            <a:r>
              <a:rPr lang="en-US" sz="6000" dirty="0" smtClean="0"/>
              <a:t>Aquino</a:t>
            </a:r>
          </a:p>
          <a:p>
            <a:pPr>
              <a:buNone/>
            </a:pP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458200" cy="1143000"/>
          </a:xfrm>
        </p:spPr>
        <p:txBody>
          <a:bodyPr>
            <a:normAutofit fontScale="90000"/>
          </a:bodyPr>
          <a:lstStyle/>
          <a:p>
            <a:pPr lvl="0"/>
            <a:r>
              <a:rPr lang="en-US" dirty="0" smtClean="0"/>
              <a:t>48. </a:t>
            </a:r>
            <a:r>
              <a:rPr lang="en-US" dirty="0" smtClean="0"/>
              <a:t>Which of the </a:t>
            </a:r>
            <a:r>
              <a:rPr lang="en-US" dirty="0" smtClean="0">
                <a:solidFill>
                  <a:srgbClr val="FF0000"/>
                </a:solidFill>
              </a:rPr>
              <a:t>four pillars </a:t>
            </a:r>
            <a:r>
              <a:rPr lang="en-US" dirty="0" smtClean="0"/>
              <a:t>of education for the 21</a:t>
            </a:r>
            <a:r>
              <a:rPr lang="en-US" baseline="30000" dirty="0" smtClean="0"/>
              <a:t>st</a:t>
            </a:r>
            <a:r>
              <a:rPr lang="en-US" dirty="0" smtClean="0"/>
              <a:t> century is </a:t>
            </a:r>
            <a:r>
              <a:rPr lang="en-US" b="1" dirty="0" smtClean="0">
                <a:solidFill>
                  <a:srgbClr val="FF0000"/>
                </a:solidFill>
              </a:rPr>
              <a:t>crucial in the light of conflicts between Israel and Palestine</a:t>
            </a:r>
            <a:r>
              <a:rPr lang="en-US" dirty="0" smtClean="0"/>
              <a:t>?</a:t>
            </a:r>
            <a:br>
              <a:rPr lang="en-US" dirty="0" smtClean="0"/>
            </a:br>
            <a:endParaRPr lang="en-US" dirty="0"/>
          </a:p>
        </p:txBody>
      </p:sp>
      <p:sp>
        <p:nvSpPr>
          <p:cNvPr id="3" name="Content Placeholder 2"/>
          <p:cNvSpPr>
            <a:spLocks noGrp="1"/>
          </p:cNvSpPr>
          <p:nvPr>
            <p:ph sz="quarter" idx="1"/>
          </p:nvPr>
        </p:nvSpPr>
        <p:spPr>
          <a:xfrm>
            <a:off x="457200" y="1600200"/>
            <a:ext cx="8077200" cy="4873752"/>
          </a:xfrm>
        </p:spPr>
        <p:txBody>
          <a:bodyPr>
            <a:normAutofit lnSpcReduction="10000"/>
          </a:bodyPr>
          <a:lstStyle/>
          <a:p>
            <a:pPr lvl="0" latinLnBrk="1"/>
            <a:r>
              <a:rPr lang="en-US" sz="6000" dirty="0" smtClean="0"/>
              <a:t>A. Learning </a:t>
            </a:r>
            <a:r>
              <a:rPr lang="en-US" sz="6000" dirty="0" smtClean="0"/>
              <a:t>to do</a:t>
            </a:r>
          </a:p>
          <a:p>
            <a:pPr lvl="0" latinLnBrk="1"/>
            <a:r>
              <a:rPr lang="en-US" sz="6000" dirty="0" smtClean="0"/>
              <a:t>B. Learning </a:t>
            </a:r>
            <a:r>
              <a:rPr lang="en-US" sz="6000" dirty="0" smtClean="0"/>
              <a:t>to be</a:t>
            </a:r>
          </a:p>
          <a:p>
            <a:pPr lvl="0" latinLnBrk="1"/>
            <a:r>
              <a:rPr lang="en-US" sz="6000" b="1" dirty="0" smtClean="0"/>
              <a:t>C. Learning </a:t>
            </a:r>
            <a:r>
              <a:rPr lang="en-US" sz="6000" b="1" dirty="0" smtClean="0"/>
              <a:t>to live together</a:t>
            </a:r>
            <a:endParaRPr lang="en-US" sz="6000" dirty="0" smtClean="0"/>
          </a:p>
          <a:p>
            <a:pPr lvl="0" latinLnBrk="1"/>
            <a:r>
              <a:rPr lang="en-US" sz="6000" dirty="0" smtClean="0"/>
              <a:t>D. Learning </a:t>
            </a:r>
            <a:r>
              <a:rPr lang="en-US" sz="6000" dirty="0" smtClean="0"/>
              <a:t>to know</a:t>
            </a:r>
          </a:p>
          <a:p>
            <a:pPr>
              <a:buNone/>
            </a:pP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09600"/>
            <a:ext cx="8534400" cy="1143000"/>
          </a:xfrm>
        </p:spPr>
        <p:txBody>
          <a:bodyPr>
            <a:normAutofit fontScale="90000"/>
          </a:bodyPr>
          <a:lstStyle/>
          <a:p>
            <a:pPr lvl="0"/>
            <a:r>
              <a:rPr lang="en-US" dirty="0" smtClean="0"/>
              <a:t>49. </a:t>
            </a:r>
            <a:r>
              <a:rPr lang="en-US" dirty="0" smtClean="0"/>
              <a:t>Who is the </a:t>
            </a:r>
            <a:r>
              <a:rPr lang="en-US" dirty="0" smtClean="0">
                <a:solidFill>
                  <a:srgbClr val="FF0000"/>
                </a:solidFill>
              </a:rPr>
              <a:t>general</a:t>
            </a:r>
            <a:r>
              <a:rPr lang="en-US" dirty="0" smtClean="0"/>
              <a:t> who said, </a:t>
            </a:r>
            <a:r>
              <a:rPr lang="en-US" b="1" dirty="0" smtClean="0">
                <a:solidFill>
                  <a:srgbClr val="FF0000"/>
                </a:solidFill>
              </a:rPr>
              <a:t>“I shall return!”</a:t>
            </a:r>
            <a:r>
              <a:rPr lang="en-US" dirty="0" smtClean="0"/>
              <a:t>? A moment in his honor stands in Corregidor by the bay.</a:t>
            </a:r>
            <a:br>
              <a:rPr lang="en-US" dirty="0" smtClean="0"/>
            </a:br>
            <a:endParaRPr lang="en-US" dirty="0"/>
          </a:p>
        </p:txBody>
      </p:sp>
      <p:sp>
        <p:nvSpPr>
          <p:cNvPr id="3" name="Content Placeholder 2"/>
          <p:cNvSpPr>
            <a:spLocks noGrp="1"/>
          </p:cNvSpPr>
          <p:nvPr>
            <p:ph sz="quarter" idx="1"/>
          </p:nvPr>
        </p:nvSpPr>
        <p:spPr>
          <a:xfrm>
            <a:off x="152400" y="1600200"/>
            <a:ext cx="8534400" cy="4873752"/>
          </a:xfrm>
        </p:spPr>
        <p:txBody>
          <a:bodyPr>
            <a:normAutofit fontScale="92500" lnSpcReduction="20000"/>
          </a:bodyPr>
          <a:lstStyle/>
          <a:p>
            <a:pPr lvl="0" latinLnBrk="1"/>
            <a:r>
              <a:rPr lang="en-US" sz="7200" dirty="0" smtClean="0"/>
              <a:t>A. William </a:t>
            </a:r>
            <a:r>
              <a:rPr lang="en-US" sz="7200" dirty="0" smtClean="0"/>
              <a:t>H. Taft</a:t>
            </a:r>
          </a:p>
          <a:p>
            <a:pPr lvl="0" latinLnBrk="1"/>
            <a:r>
              <a:rPr lang="en-US" sz="7200" b="1" dirty="0" smtClean="0"/>
              <a:t>B. Douglas </a:t>
            </a:r>
          </a:p>
          <a:p>
            <a:pPr lvl="0" latinLnBrk="1">
              <a:buNone/>
            </a:pPr>
            <a:r>
              <a:rPr lang="en-US" sz="7200" b="1" dirty="0" smtClean="0"/>
              <a:t> </a:t>
            </a:r>
            <a:r>
              <a:rPr lang="en-US" sz="7200" b="1" dirty="0" smtClean="0"/>
              <a:t>    McArthur</a:t>
            </a:r>
            <a:endParaRPr lang="en-US" sz="7200" dirty="0" smtClean="0"/>
          </a:p>
          <a:p>
            <a:pPr lvl="0" latinLnBrk="1"/>
            <a:r>
              <a:rPr lang="en-US" sz="7200" dirty="0" smtClean="0"/>
              <a:t>C. John </a:t>
            </a:r>
            <a:r>
              <a:rPr lang="en-US" sz="7200" dirty="0" smtClean="0"/>
              <a:t>Dewey</a:t>
            </a:r>
          </a:p>
          <a:p>
            <a:pPr lvl="0" latinLnBrk="1"/>
            <a:r>
              <a:rPr lang="en-US" sz="7200" dirty="0" smtClean="0"/>
              <a:t>D. </a:t>
            </a:r>
            <a:r>
              <a:rPr lang="en-US" sz="7200" dirty="0" err="1" smtClean="0"/>
              <a:t>Schurmann</a:t>
            </a:r>
            <a:endParaRPr lang="en-US" sz="7200" dirty="0" smtClean="0"/>
          </a:p>
          <a:p>
            <a:pPr>
              <a:buNone/>
            </a:pP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1143000"/>
          </a:xfrm>
        </p:spPr>
        <p:txBody>
          <a:bodyPr>
            <a:normAutofit fontScale="90000"/>
          </a:bodyPr>
          <a:lstStyle/>
          <a:p>
            <a:pPr lvl="0"/>
            <a:r>
              <a:rPr lang="en-US" dirty="0" smtClean="0"/>
              <a:t>50. </a:t>
            </a:r>
            <a:r>
              <a:rPr lang="en-US" dirty="0" smtClean="0"/>
              <a:t>The Philippines </a:t>
            </a:r>
            <a:r>
              <a:rPr lang="en-US" dirty="0" smtClean="0">
                <a:solidFill>
                  <a:srgbClr val="FF0000"/>
                </a:solidFill>
              </a:rPr>
              <a:t>objected to the advisory on travels to Mindanao by the Australian government</a:t>
            </a:r>
            <a:r>
              <a:rPr lang="en-US" dirty="0" smtClean="0"/>
              <a:t>. What </a:t>
            </a:r>
            <a:r>
              <a:rPr lang="en-US" b="1" dirty="0" smtClean="0">
                <a:solidFill>
                  <a:srgbClr val="FF0000"/>
                </a:solidFill>
              </a:rPr>
              <a:t>should</a:t>
            </a:r>
            <a:r>
              <a:rPr lang="en-US" dirty="0" smtClean="0"/>
              <a:t> the government </a:t>
            </a:r>
            <a:r>
              <a:rPr lang="en-US" b="1" dirty="0" smtClean="0">
                <a:solidFill>
                  <a:srgbClr val="FF0000"/>
                </a:solidFill>
              </a:rPr>
              <a:t>do</a:t>
            </a:r>
            <a:r>
              <a:rPr lang="en-US" dirty="0" smtClean="0"/>
              <a:t>?</a:t>
            </a:r>
            <a:br>
              <a:rPr lang="en-US" dirty="0" smtClean="0"/>
            </a:br>
            <a:endParaRPr lang="en-US" dirty="0"/>
          </a:p>
        </p:txBody>
      </p:sp>
      <p:sp>
        <p:nvSpPr>
          <p:cNvPr id="3" name="Content Placeholder 2"/>
          <p:cNvSpPr>
            <a:spLocks noGrp="1"/>
          </p:cNvSpPr>
          <p:nvPr>
            <p:ph sz="quarter" idx="1"/>
          </p:nvPr>
        </p:nvSpPr>
        <p:spPr>
          <a:xfrm>
            <a:off x="304800" y="1905000"/>
            <a:ext cx="8305800" cy="5330952"/>
          </a:xfrm>
        </p:spPr>
        <p:txBody>
          <a:bodyPr/>
          <a:lstStyle/>
          <a:p>
            <a:pPr lvl="0" latinLnBrk="1"/>
            <a:r>
              <a:rPr lang="en-US" sz="4800" dirty="0" smtClean="0"/>
              <a:t>A. Declare </a:t>
            </a:r>
            <a:r>
              <a:rPr lang="en-US" sz="4800" dirty="0" smtClean="0"/>
              <a:t>war against the country</a:t>
            </a:r>
          </a:p>
          <a:p>
            <a:pPr lvl="0" latinLnBrk="1"/>
            <a:r>
              <a:rPr lang="en-US" sz="4800" b="1" dirty="0" smtClean="0"/>
              <a:t>B. File </a:t>
            </a:r>
            <a:r>
              <a:rPr lang="en-US" sz="4800" b="1" dirty="0" smtClean="0"/>
              <a:t>diplomatic </a:t>
            </a:r>
            <a:endParaRPr lang="en-US" sz="4800" b="1" dirty="0" smtClean="0"/>
          </a:p>
          <a:p>
            <a:pPr lvl="0" latinLnBrk="1">
              <a:buNone/>
            </a:pPr>
            <a:r>
              <a:rPr lang="en-US" sz="4800" b="1" dirty="0" smtClean="0"/>
              <a:t> </a:t>
            </a:r>
            <a:r>
              <a:rPr lang="en-US" sz="4800" b="1" dirty="0" smtClean="0"/>
              <a:t> protest</a:t>
            </a:r>
            <a:endParaRPr lang="en-US" sz="4800" dirty="0" smtClean="0"/>
          </a:p>
          <a:p>
            <a:pPr lvl="0" latinLnBrk="1"/>
            <a:r>
              <a:rPr lang="en-US" sz="4800" dirty="0" smtClean="0"/>
              <a:t>C. Recall </a:t>
            </a:r>
            <a:r>
              <a:rPr lang="en-US" sz="4800" dirty="0" smtClean="0"/>
              <a:t>all nationals</a:t>
            </a:r>
          </a:p>
          <a:p>
            <a:pPr lvl="0" latinLnBrk="1"/>
            <a:r>
              <a:rPr lang="en-US" sz="4800" dirty="0" smtClean="0"/>
              <a:t>D. Arrest </a:t>
            </a:r>
            <a:r>
              <a:rPr lang="en-US" sz="4800" dirty="0" smtClean="0"/>
              <a:t>their nationals</a:t>
            </a:r>
          </a:p>
          <a:p>
            <a:pPr>
              <a:buNone/>
            </a:pP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pPr lvl="0"/>
            <a:r>
              <a:rPr lang="en-US" dirty="0" smtClean="0"/>
              <a:t>51. </a:t>
            </a:r>
            <a:r>
              <a:rPr lang="en-US" dirty="0" smtClean="0">
                <a:solidFill>
                  <a:srgbClr val="FF0000"/>
                </a:solidFill>
              </a:rPr>
              <a:t>Foreign investors are discouraged </a:t>
            </a:r>
            <a:r>
              <a:rPr lang="en-US" dirty="0" smtClean="0"/>
              <a:t>in doing business in our country. To what </a:t>
            </a:r>
            <a:r>
              <a:rPr lang="en-US" b="1" dirty="0" smtClean="0">
                <a:solidFill>
                  <a:srgbClr val="FF0000"/>
                </a:solidFill>
              </a:rPr>
              <a:t>condition/s can this be attributed</a:t>
            </a:r>
            <a:r>
              <a:rPr lang="en-US" dirty="0" smtClean="0"/>
              <a:t>?</a:t>
            </a:r>
            <a:br>
              <a:rPr lang="en-US" dirty="0" smtClean="0"/>
            </a:br>
            <a:endParaRPr lang="en-US" dirty="0"/>
          </a:p>
        </p:txBody>
      </p:sp>
      <p:sp>
        <p:nvSpPr>
          <p:cNvPr id="3" name="Content Placeholder 2"/>
          <p:cNvSpPr>
            <a:spLocks noGrp="1"/>
          </p:cNvSpPr>
          <p:nvPr>
            <p:ph sz="quarter" idx="1"/>
          </p:nvPr>
        </p:nvSpPr>
        <p:spPr>
          <a:xfrm>
            <a:off x="152400" y="1295400"/>
            <a:ext cx="8610600" cy="5178552"/>
          </a:xfrm>
        </p:spPr>
        <p:txBody>
          <a:bodyPr>
            <a:normAutofit lnSpcReduction="10000"/>
          </a:bodyPr>
          <a:lstStyle/>
          <a:p>
            <a:pPr latinLnBrk="1">
              <a:buNone/>
            </a:pPr>
            <a:r>
              <a:rPr lang="en-US" dirty="0" smtClean="0"/>
              <a:t> </a:t>
            </a:r>
          </a:p>
          <a:p>
            <a:pPr lvl="0" latinLnBrk="1"/>
            <a:r>
              <a:rPr lang="en-US" sz="6000" dirty="0" smtClean="0"/>
              <a:t>I. Deteriorating </a:t>
            </a:r>
            <a:r>
              <a:rPr lang="en-US" sz="6000" dirty="0" smtClean="0"/>
              <a:t>peace and order</a:t>
            </a:r>
          </a:p>
          <a:p>
            <a:pPr lvl="0" latinLnBrk="1"/>
            <a:r>
              <a:rPr lang="en-US" sz="6000" dirty="0" smtClean="0"/>
              <a:t>II. Poor </a:t>
            </a:r>
            <a:r>
              <a:rPr lang="en-US" sz="6000" dirty="0" smtClean="0"/>
              <a:t>technology</a:t>
            </a:r>
          </a:p>
          <a:p>
            <a:pPr lvl="0" latinLnBrk="1"/>
            <a:r>
              <a:rPr lang="en-US" sz="6000" dirty="0" smtClean="0"/>
              <a:t>III. High </a:t>
            </a:r>
            <a:r>
              <a:rPr lang="en-US" sz="6000" dirty="0" smtClean="0"/>
              <a:t>tariffs</a:t>
            </a:r>
          </a:p>
          <a:p>
            <a:pPr lvl="0" latinLnBrk="1"/>
            <a:r>
              <a:rPr lang="en-US" sz="6000" dirty="0" smtClean="0"/>
              <a:t>IV. Poor </a:t>
            </a:r>
            <a:r>
              <a:rPr lang="en-US" sz="6000" dirty="0" smtClean="0"/>
              <a:t>standards</a:t>
            </a:r>
          </a:p>
          <a:p>
            <a:pPr>
              <a:buNone/>
            </a:pP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lvl="0" latinLnBrk="1"/>
            <a:r>
              <a:rPr lang="en-US" sz="6600" b="1" dirty="0" smtClean="0"/>
              <a:t>A. I </a:t>
            </a:r>
            <a:r>
              <a:rPr lang="en-US" sz="6600" b="1" dirty="0" smtClean="0"/>
              <a:t>and II</a:t>
            </a:r>
            <a:endParaRPr lang="en-US" sz="6600" dirty="0" smtClean="0"/>
          </a:p>
          <a:p>
            <a:pPr lvl="0" latinLnBrk="1"/>
            <a:r>
              <a:rPr lang="en-US" sz="6600" dirty="0" smtClean="0"/>
              <a:t>B. I</a:t>
            </a:r>
            <a:r>
              <a:rPr lang="en-US" sz="6600" dirty="0" smtClean="0"/>
              <a:t>, II and III</a:t>
            </a:r>
          </a:p>
          <a:p>
            <a:pPr lvl="0" latinLnBrk="1"/>
            <a:r>
              <a:rPr lang="en-US" sz="6600" dirty="0" smtClean="0"/>
              <a:t>C. II </a:t>
            </a:r>
            <a:r>
              <a:rPr lang="en-US" sz="6600" dirty="0" smtClean="0"/>
              <a:t>only</a:t>
            </a:r>
          </a:p>
          <a:p>
            <a:pPr lvl="0" latinLnBrk="1"/>
            <a:r>
              <a:rPr lang="en-US" sz="6600" dirty="0" smtClean="0"/>
              <a:t>D. IV </a:t>
            </a:r>
            <a:r>
              <a:rPr lang="en-US" sz="6600" dirty="0" smtClean="0"/>
              <a:t>only</a:t>
            </a:r>
          </a:p>
          <a:p>
            <a:pPr>
              <a:buNone/>
            </a:pP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153400" cy="1143000"/>
          </a:xfrm>
        </p:spPr>
        <p:txBody>
          <a:bodyPr>
            <a:normAutofit fontScale="90000"/>
          </a:bodyPr>
          <a:lstStyle/>
          <a:p>
            <a:pPr lvl="0"/>
            <a:r>
              <a:rPr lang="en-US" dirty="0" smtClean="0"/>
              <a:t>52. </a:t>
            </a:r>
            <a:r>
              <a:rPr lang="en-US" dirty="0" smtClean="0"/>
              <a:t>Who is the President who is known for his </a:t>
            </a:r>
            <a:r>
              <a:rPr lang="en-US" b="1" dirty="0" smtClean="0">
                <a:solidFill>
                  <a:srgbClr val="FF0000"/>
                </a:solidFill>
              </a:rPr>
              <a:t>“Filipino First Policy” </a:t>
            </a:r>
            <a:r>
              <a:rPr lang="en-US" dirty="0" smtClean="0"/>
              <a:t>and </a:t>
            </a:r>
            <a:r>
              <a:rPr lang="en-US" b="1" dirty="0" smtClean="0">
                <a:solidFill>
                  <a:srgbClr val="FF0000"/>
                </a:solidFill>
              </a:rPr>
              <a:t>Austerity Program</a:t>
            </a:r>
            <a:r>
              <a:rPr lang="en-US" dirty="0" smtClean="0"/>
              <a:t>?</a:t>
            </a:r>
            <a:br>
              <a:rPr lang="en-US" dirty="0" smtClean="0"/>
            </a:br>
            <a:endParaRPr lang="en-US" dirty="0"/>
          </a:p>
        </p:txBody>
      </p:sp>
      <p:sp>
        <p:nvSpPr>
          <p:cNvPr id="3" name="Content Placeholder 2"/>
          <p:cNvSpPr>
            <a:spLocks noGrp="1"/>
          </p:cNvSpPr>
          <p:nvPr>
            <p:ph sz="quarter" idx="1"/>
          </p:nvPr>
        </p:nvSpPr>
        <p:spPr>
          <a:xfrm>
            <a:off x="0" y="1371600"/>
            <a:ext cx="9144000" cy="5102352"/>
          </a:xfrm>
        </p:spPr>
        <p:txBody>
          <a:bodyPr>
            <a:normAutofit/>
          </a:bodyPr>
          <a:lstStyle/>
          <a:p>
            <a:pPr lvl="0" latinLnBrk="1"/>
            <a:r>
              <a:rPr lang="en-US" sz="6000" dirty="0" smtClean="0"/>
              <a:t>A. </a:t>
            </a:r>
            <a:r>
              <a:rPr lang="en-US" sz="6000" dirty="0" err="1" smtClean="0"/>
              <a:t>Diosdado</a:t>
            </a:r>
            <a:r>
              <a:rPr lang="en-US" sz="6000" dirty="0" smtClean="0"/>
              <a:t> </a:t>
            </a:r>
            <a:r>
              <a:rPr lang="en-US" sz="6000" dirty="0" err="1" smtClean="0"/>
              <a:t>Macapagal</a:t>
            </a:r>
            <a:endParaRPr lang="en-US" sz="6000" dirty="0" smtClean="0"/>
          </a:p>
          <a:p>
            <a:pPr lvl="0" latinLnBrk="1"/>
            <a:r>
              <a:rPr lang="en-US" sz="6000" b="1" dirty="0" smtClean="0"/>
              <a:t>B. Carlos </a:t>
            </a:r>
            <a:r>
              <a:rPr lang="en-US" sz="6000" b="1" dirty="0" smtClean="0"/>
              <a:t>P. Garcia</a:t>
            </a:r>
            <a:endParaRPr lang="en-US" sz="6000" dirty="0" smtClean="0"/>
          </a:p>
          <a:p>
            <a:pPr lvl="0" latinLnBrk="1"/>
            <a:r>
              <a:rPr lang="en-US" sz="6000" dirty="0" smtClean="0"/>
              <a:t>C. Manuel </a:t>
            </a:r>
            <a:r>
              <a:rPr lang="en-US" sz="6000" dirty="0" err="1" smtClean="0"/>
              <a:t>Roxas</a:t>
            </a:r>
            <a:endParaRPr lang="en-US" sz="6000" dirty="0" smtClean="0"/>
          </a:p>
          <a:p>
            <a:pPr lvl="0" latinLnBrk="1"/>
            <a:r>
              <a:rPr lang="en-US" sz="6000" dirty="0" smtClean="0"/>
              <a:t>D. Ramon </a:t>
            </a:r>
            <a:r>
              <a:rPr lang="en-US" sz="6000" dirty="0" smtClean="0"/>
              <a:t>Magsaysay</a:t>
            </a:r>
          </a:p>
          <a:p>
            <a:pPr>
              <a:buNone/>
            </a:pP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305800" cy="1143000"/>
          </a:xfrm>
        </p:spPr>
        <p:txBody>
          <a:bodyPr>
            <a:normAutofit fontScale="90000"/>
          </a:bodyPr>
          <a:lstStyle/>
          <a:p>
            <a:pPr lvl="0"/>
            <a:r>
              <a:rPr lang="en-US" dirty="0" smtClean="0"/>
              <a:t>53. </a:t>
            </a:r>
            <a:r>
              <a:rPr lang="en-US" dirty="0" smtClean="0">
                <a:solidFill>
                  <a:srgbClr val="FF0000"/>
                </a:solidFill>
              </a:rPr>
              <a:t>Pre-colonial trade </a:t>
            </a:r>
            <a:r>
              <a:rPr lang="en-US" dirty="0" smtClean="0"/>
              <a:t>in the Philippines was </a:t>
            </a:r>
            <a:r>
              <a:rPr lang="en-US" dirty="0" smtClean="0">
                <a:solidFill>
                  <a:srgbClr val="FF0000"/>
                </a:solidFill>
              </a:rPr>
              <a:t>prosperous</a:t>
            </a:r>
            <a:r>
              <a:rPr lang="en-US" dirty="0" smtClean="0"/>
              <a:t>. What </a:t>
            </a:r>
            <a:r>
              <a:rPr lang="en-US" b="1" dirty="0" smtClean="0">
                <a:solidFill>
                  <a:srgbClr val="FF0000"/>
                </a:solidFill>
              </a:rPr>
              <a:t>system did they use for their business </a:t>
            </a:r>
            <a:r>
              <a:rPr lang="en-US" dirty="0" smtClean="0"/>
              <a:t>transactions?</a:t>
            </a:r>
            <a:br>
              <a:rPr lang="en-US" dirty="0" smtClean="0"/>
            </a:br>
            <a:endParaRPr lang="en-US" dirty="0"/>
          </a:p>
        </p:txBody>
      </p:sp>
      <p:sp>
        <p:nvSpPr>
          <p:cNvPr id="3" name="Content Placeholder 2"/>
          <p:cNvSpPr>
            <a:spLocks noGrp="1"/>
          </p:cNvSpPr>
          <p:nvPr>
            <p:ph sz="quarter" idx="1"/>
          </p:nvPr>
        </p:nvSpPr>
        <p:spPr/>
        <p:txBody>
          <a:bodyPr/>
          <a:lstStyle/>
          <a:p>
            <a:pPr lvl="0" latinLnBrk="1"/>
            <a:r>
              <a:rPr lang="en-US" sz="6000" dirty="0" smtClean="0"/>
              <a:t>A. Money</a:t>
            </a:r>
            <a:endParaRPr lang="en-US" sz="6000" dirty="0" smtClean="0"/>
          </a:p>
          <a:p>
            <a:pPr lvl="0" latinLnBrk="1"/>
            <a:r>
              <a:rPr lang="en-US" sz="6000" b="1" dirty="0" smtClean="0"/>
              <a:t>B. Barter</a:t>
            </a:r>
            <a:endParaRPr lang="en-US" sz="6000" dirty="0" smtClean="0"/>
          </a:p>
          <a:p>
            <a:pPr lvl="0" latinLnBrk="1"/>
            <a:r>
              <a:rPr lang="en-US" sz="6000" dirty="0" smtClean="0"/>
              <a:t>C. Credit</a:t>
            </a:r>
            <a:endParaRPr lang="en-US" sz="6000" dirty="0" smtClean="0"/>
          </a:p>
          <a:p>
            <a:pPr lvl="0" latinLnBrk="1"/>
            <a:r>
              <a:rPr lang="en-US" sz="6000" dirty="0" smtClean="0"/>
              <a:t>D. Banking</a:t>
            </a:r>
            <a:endParaRPr lang="en-US" sz="6000" dirty="0" smtClean="0"/>
          </a:p>
          <a:p>
            <a:pPr>
              <a:buNone/>
            </a:pP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lvl="0"/>
            <a:r>
              <a:rPr lang="en-US" dirty="0" smtClean="0"/>
              <a:t>54. </a:t>
            </a:r>
            <a:r>
              <a:rPr lang="en-US" dirty="0" smtClean="0"/>
              <a:t>The late President Ferdinand </a:t>
            </a:r>
            <a:r>
              <a:rPr lang="en-US" b="1" dirty="0" smtClean="0">
                <a:solidFill>
                  <a:srgbClr val="FF0000"/>
                </a:solidFill>
              </a:rPr>
              <a:t>Marcos placed the Philippines under Martial Law </a:t>
            </a:r>
            <a:r>
              <a:rPr lang="en-US" dirty="0" smtClean="0"/>
              <a:t>through which of the following laws?</a:t>
            </a:r>
            <a:br>
              <a:rPr lang="en-US" dirty="0" smtClean="0"/>
            </a:br>
            <a:endParaRPr lang="en-US" dirty="0"/>
          </a:p>
        </p:txBody>
      </p:sp>
      <p:sp>
        <p:nvSpPr>
          <p:cNvPr id="3" name="Content Placeholder 2"/>
          <p:cNvSpPr>
            <a:spLocks noGrp="1"/>
          </p:cNvSpPr>
          <p:nvPr>
            <p:ph sz="quarter" idx="1"/>
          </p:nvPr>
        </p:nvSpPr>
        <p:spPr>
          <a:xfrm>
            <a:off x="0" y="1600200"/>
            <a:ext cx="8686800" cy="4873752"/>
          </a:xfrm>
        </p:spPr>
        <p:txBody>
          <a:bodyPr>
            <a:normAutofit fontScale="92500"/>
          </a:bodyPr>
          <a:lstStyle/>
          <a:p>
            <a:pPr lvl="0" latinLnBrk="1"/>
            <a:r>
              <a:rPr lang="en-US" sz="4800" dirty="0" smtClean="0"/>
              <a:t>A. Article </a:t>
            </a:r>
            <a:r>
              <a:rPr lang="en-US" sz="4800" dirty="0" smtClean="0"/>
              <a:t>6 section 14 of the 1973 Constitution</a:t>
            </a:r>
          </a:p>
          <a:p>
            <a:pPr lvl="0" latinLnBrk="1"/>
            <a:r>
              <a:rPr lang="en-US" sz="4800" dirty="0" smtClean="0"/>
              <a:t>B. R.A</a:t>
            </a:r>
            <a:r>
              <a:rPr lang="en-US" sz="4800" dirty="0" smtClean="0"/>
              <a:t>. 274</a:t>
            </a:r>
          </a:p>
          <a:p>
            <a:pPr lvl="0" latinLnBrk="1"/>
            <a:r>
              <a:rPr lang="en-US" sz="4800" b="1" dirty="0" smtClean="0"/>
              <a:t>C. Proclamation </a:t>
            </a:r>
            <a:r>
              <a:rPr lang="en-US" sz="4800" b="1" dirty="0" smtClean="0"/>
              <a:t>1081</a:t>
            </a:r>
            <a:endParaRPr lang="en-US" sz="4800" dirty="0" smtClean="0"/>
          </a:p>
          <a:p>
            <a:pPr lvl="0" latinLnBrk="1"/>
            <a:r>
              <a:rPr lang="en-US" sz="4800" dirty="0" smtClean="0"/>
              <a:t>D. </a:t>
            </a:r>
            <a:r>
              <a:rPr lang="en-US" sz="4800" dirty="0" err="1" smtClean="0"/>
              <a:t>Kautusang</a:t>
            </a:r>
            <a:r>
              <a:rPr lang="en-US" sz="4800" dirty="0" smtClean="0"/>
              <a:t> </a:t>
            </a:r>
          </a:p>
          <a:p>
            <a:pPr lvl="0" latinLnBrk="1">
              <a:buNone/>
            </a:pPr>
            <a:r>
              <a:rPr lang="en-US" sz="4800" dirty="0" err="1" smtClean="0"/>
              <a:t>Tagapagpaganap</a:t>
            </a:r>
            <a:r>
              <a:rPr lang="en-US" sz="4800" dirty="0" smtClean="0"/>
              <a:t> </a:t>
            </a:r>
            <a:r>
              <a:rPr lang="en-US" sz="4800" dirty="0" err="1" smtClean="0"/>
              <a:t>blg</a:t>
            </a:r>
            <a:r>
              <a:rPr lang="en-US" sz="4800" dirty="0" smtClean="0"/>
              <a:t>. 25 S.1974</a:t>
            </a:r>
          </a:p>
          <a:p>
            <a:pPr>
              <a:buNone/>
            </a:pP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153400" cy="1143000"/>
          </a:xfrm>
        </p:spPr>
        <p:txBody>
          <a:bodyPr>
            <a:normAutofit fontScale="90000"/>
          </a:bodyPr>
          <a:lstStyle/>
          <a:p>
            <a:pPr lvl="0"/>
            <a:r>
              <a:rPr lang="en-US" dirty="0" smtClean="0"/>
              <a:t>55. </a:t>
            </a:r>
            <a:r>
              <a:rPr lang="en-US" dirty="0" smtClean="0"/>
              <a:t>What </a:t>
            </a:r>
            <a:r>
              <a:rPr lang="en-US" b="1" dirty="0" smtClean="0">
                <a:solidFill>
                  <a:srgbClr val="FF0000"/>
                </a:solidFill>
              </a:rPr>
              <a:t>building was the only one left intact after the destruction of </a:t>
            </a:r>
            <a:r>
              <a:rPr lang="en-US" b="1" dirty="0" err="1" smtClean="0">
                <a:solidFill>
                  <a:srgbClr val="FF0000"/>
                </a:solidFill>
              </a:rPr>
              <a:t>Intramuros</a:t>
            </a:r>
            <a:r>
              <a:rPr lang="en-US" b="1" dirty="0" smtClean="0">
                <a:solidFill>
                  <a:srgbClr val="FF0000"/>
                </a:solidFill>
              </a:rPr>
              <a:t> </a:t>
            </a:r>
            <a:r>
              <a:rPr lang="en-US" dirty="0" smtClean="0"/>
              <a:t>during the Battle of Manila?</a:t>
            </a:r>
            <a:br>
              <a:rPr lang="en-US" dirty="0" smtClean="0"/>
            </a:br>
            <a:endParaRPr lang="en-US" dirty="0"/>
          </a:p>
        </p:txBody>
      </p:sp>
      <p:sp>
        <p:nvSpPr>
          <p:cNvPr id="3" name="Content Placeholder 2"/>
          <p:cNvSpPr>
            <a:spLocks noGrp="1"/>
          </p:cNvSpPr>
          <p:nvPr>
            <p:ph sz="quarter" idx="1"/>
          </p:nvPr>
        </p:nvSpPr>
        <p:spPr>
          <a:xfrm>
            <a:off x="152400" y="1600200"/>
            <a:ext cx="8610600" cy="4873752"/>
          </a:xfrm>
        </p:spPr>
        <p:txBody>
          <a:bodyPr>
            <a:normAutofit lnSpcReduction="10000"/>
          </a:bodyPr>
          <a:lstStyle/>
          <a:p>
            <a:pPr lvl="0" latinLnBrk="1"/>
            <a:r>
              <a:rPr lang="en-US" sz="6000" dirty="0" smtClean="0"/>
              <a:t>A. Manila </a:t>
            </a:r>
            <a:r>
              <a:rPr lang="en-US" sz="6000" dirty="0" smtClean="0"/>
              <a:t>Post Office</a:t>
            </a:r>
          </a:p>
          <a:p>
            <a:pPr lvl="0" latinLnBrk="1"/>
            <a:r>
              <a:rPr lang="en-US" sz="6000" b="1" dirty="0" smtClean="0"/>
              <a:t>B. San </a:t>
            </a:r>
            <a:r>
              <a:rPr lang="en-US" sz="6000" b="1" dirty="0" smtClean="0"/>
              <a:t>Agustin </a:t>
            </a:r>
            <a:endParaRPr lang="en-US" sz="6000" b="1" dirty="0" smtClean="0"/>
          </a:p>
          <a:p>
            <a:pPr lvl="0" latinLnBrk="1">
              <a:buNone/>
            </a:pPr>
            <a:r>
              <a:rPr lang="en-US" sz="6000" b="1" dirty="0" smtClean="0"/>
              <a:t> </a:t>
            </a:r>
            <a:r>
              <a:rPr lang="en-US" sz="6000" b="1" dirty="0" smtClean="0"/>
              <a:t>    Church</a:t>
            </a:r>
            <a:endParaRPr lang="en-US" sz="6000" dirty="0" smtClean="0"/>
          </a:p>
          <a:p>
            <a:pPr lvl="0" latinLnBrk="1"/>
            <a:r>
              <a:rPr lang="en-US" sz="6000" dirty="0" smtClean="0"/>
              <a:t>C. Manila </a:t>
            </a:r>
            <a:r>
              <a:rPr lang="en-US" sz="6000" dirty="0" smtClean="0"/>
              <a:t>Cathedral</a:t>
            </a:r>
          </a:p>
          <a:p>
            <a:pPr lvl="0" latinLnBrk="1"/>
            <a:r>
              <a:rPr lang="en-US" sz="6000" dirty="0" smtClean="0"/>
              <a:t>D. </a:t>
            </a:r>
            <a:r>
              <a:rPr lang="en-US" sz="6000" dirty="0" err="1" smtClean="0"/>
              <a:t>Quiapo</a:t>
            </a:r>
            <a:r>
              <a:rPr lang="en-US" sz="6000" dirty="0" smtClean="0"/>
              <a:t> </a:t>
            </a:r>
            <a:r>
              <a:rPr lang="en-US" sz="6000" dirty="0" smtClean="0"/>
              <a:t>Church</a:t>
            </a:r>
          </a:p>
          <a:p>
            <a:pPr>
              <a:buNone/>
            </a:pP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a:xfrm>
            <a:off x="457200" y="609600"/>
            <a:ext cx="8153400" cy="5864352"/>
          </a:xfrm>
        </p:spPr>
        <p:txBody>
          <a:bodyPr>
            <a:noAutofit/>
          </a:bodyPr>
          <a:lstStyle/>
          <a:p>
            <a:r>
              <a:rPr lang="en-US" sz="7200" b="1" dirty="0" smtClean="0">
                <a:solidFill>
                  <a:srgbClr val="00B0F0"/>
                </a:solidFill>
                <a:latin typeface="Arial Black" pitchFamily="34" charset="0"/>
              </a:rPr>
              <a:t>ECONOMICS</a:t>
            </a:r>
            <a:r>
              <a:rPr lang="en-US" sz="7200" b="1" dirty="0" smtClean="0">
                <a:latin typeface="Arial Black" pitchFamily="34" charset="0"/>
              </a:rPr>
              <a:t>, </a:t>
            </a:r>
            <a:r>
              <a:rPr lang="en-US" sz="7200" b="1" dirty="0" smtClean="0">
                <a:solidFill>
                  <a:srgbClr val="FFC000"/>
                </a:solidFill>
                <a:latin typeface="Arial Black" pitchFamily="34" charset="0"/>
              </a:rPr>
              <a:t>TAXATION</a:t>
            </a:r>
            <a:r>
              <a:rPr lang="en-US" sz="7200" b="1" dirty="0" smtClean="0">
                <a:latin typeface="Arial Black" pitchFamily="34" charset="0"/>
              </a:rPr>
              <a:t>, </a:t>
            </a:r>
            <a:r>
              <a:rPr lang="en-US" sz="7200" b="1" dirty="0" smtClean="0">
                <a:solidFill>
                  <a:srgbClr val="7030A0"/>
                </a:solidFill>
                <a:latin typeface="Arial Black" pitchFamily="34" charset="0"/>
              </a:rPr>
              <a:t>LAND REFORM </a:t>
            </a:r>
            <a:r>
              <a:rPr lang="en-US" sz="7200" b="1" dirty="0" smtClean="0">
                <a:latin typeface="Arial Black" pitchFamily="34" charset="0"/>
              </a:rPr>
              <a:t>and </a:t>
            </a:r>
            <a:r>
              <a:rPr lang="en-US" sz="7200" b="1" dirty="0" smtClean="0">
                <a:solidFill>
                  <a:srgbClr val="92D050"/>
                </a:solidFill>
                <a:latin typeface="Arial Black" pitchFamily="34" charset="0"/>
              </a:rPr>
              <a:t>COOPERATIVE</a:t>
            </a:r>
            <a:endParaRPr lang="en-US" sz="7200" dirty="0">
              <a:solidFill>
                <a:srgbClr val="92D050"/>
              </a:solidFill>
              <a:latin typeface="Arial Black"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914400"/>
            <a:ext cx="8153400" cy="1143000"/>
          </a:xfrm>
        </p:spPr>
        <p:txBody>
          <a:bodyPr>
            <a:normAutofit fontScale="90000"/>
          </a:bodyPr>
          <a:lstStyle/>
          <a:p>
            <a:pPr latinLnBrk="1"/>
            <a:r>
              <a:rPr lang="en-US" dirty="0" smtClean="0"/>
              <a:t>56. </a:t>
            </a:r>
            <a:r>
              <a:rPr lang="en-US" dirty="0" smtClean="0"/>
              <a:t> </a:t>
            </a:r>
            <a:r>
              <a:rPr lang="en-US" dirty="0" smtClean="0"/>
              <a:t>The </a:t>
            </a:r>
            <a:r>
              <a:rPr lang="en-US" dirty="0" smtClean="0">
                <a:solidFill>
                  <a:srgbClr val="FF0000"/>
                </a:solidFill>
              </a:rPr>
              <a:t>world of nations </a:t>
            </a:r>
            <a:r>
              <a:rPr lang="en-US" dirty="0" smtClean="0"/>
              <a:t>is suffering from </a:t>
            </a:r>
            <a:r>
              <a:rPr lang="en-US" dirty="0" smtClean="0"/>
              <a:t/>
            </a:r>
            <a:br>
              <a:rPr lang="en-US" dirty="0" smtClean="0"/>
            </a:br>
            <a:r>
              <a:rPr lang="en-US" dirty="0" smtClean="0">
                <a:solidFill>
                  <a:srgbClr val="FF0000"/>
                </a:solidFill>
              </a:rPr>
              <a:t>recession</a:t>
            </a:r>
            <a:r>
              <a:rPr lang="en-US" dirty="0" smtClean="0"/>
              <a:t> </a:t>
            </a:r>
            <a:r>
              <a:rPr lang="en-US" dirty="0" smtClean="0"/>
              <a:t>and so nations are </a:t>
            </a:r>
            <a:r>
              <a:rPr lang="en-US" dirty="0" smtClean="0">
                <a:solidFill>
                  <a:srgbClr val="FF0000"/>
                </a:solidFill>
              </a:rPr>
              <a:t>experiencing</a:t>
            </a:r>
            <a:r>
              <a:rPr lang="en-US" dirty="0" smtClean="0"/>
              <a:t> </a:t>
            </a:r>
            <a:r>
              <a:rPr lang="en-US" dirty="0" smtClean="0"/>
              <a:t/>
            </a:r>
            <a:br>
              <a:rPr lang="en-US" dirty="0" smtClean="0"/>
            </a:br>
            <a:r>
              <a:rPr lang="en-US" dirty="0" smtClean="0"/>
              <a:t>the </a:t>
            </a:r>
            <a:r>
              <a:rPr lang="en-US" dirty="0" smtClean="0"/>
              <a:t>following </a:t>
            </a:r>
            <a:r>
              <a:rPr lang="en-US" b="1" dirty="0" smtClean="0">
                <a:solidFill>
                  <a:srgbClr val="FF0000"/>
                </a:solidFill>
              </a:rPr>
              <a:t>except</a:t>
            </a:r>
            <a:r>
              <a:rPr lang="en-US" dirty="0" smtClean="0"/>
              <a:t> _______________.</a:t>
            </a:r>
            <a:br>
              <a:rPr lang="en-US" dirty="0" smtClean="0"/>
            </a:br>
            <a:endParaRPr lang="en-US" dirty="0"/>
          </a:p>
        </p:txBody>
      </p:sp>
      <p:sp>
        <p:nvSpPr>
          <p:cNvPr id="3" name="Content Placeholder 2"/>
          <p:cNvSpPr>
            <a:spLocks noGrp="1"/>
          </p:cNvSpPr>
          <p:nvPr>
            <p:ph sz="quarter" idx="1"/>
          </p:nvPr>
        </p:nvSpPr>
        <p:spPr>
          <a:xfrm>
            <a:off x="457200" y="1600200"/>
            <a:ext cx="8229600" cy="4873752"/>
          </a:xfrm>
        </p:spPr>
        <p:txBody>
          <a:bodyPr>
            <a:normAutofit fontScale="92500" lnSpcReduction="10000"/>
          </a:bodyPr>
          <a:lstStyle/>
          <a:p>
            <a:pPr lvl="0" latinLnBrk="1"/>
            <a:r>
              <a:rPr lang="en-US" sz="4800" dirty="0" smtClean="0"/>
              <a:t>A. People </a:t>
            </a:r>
            <a:r>
              <a:rPr lang="en-US" sz="4800" dirty="0" smtClean="0"/>
              <a:t>are losing their jobs </a:t>
            </a:r>
          </a:p>
          <a:p>
            <a:pPr lvl="0" latinLnBrk="1"/>
            <a:r>
              <a:rPr lang="en-US" sz="4800" b="1" dirty="0" smtClean="0"/>
              <a:t>B. Businesses </a:t>
            </a:r>
            <a:r>
              <a:rPr lang="en-US" sz="4800" b="1" dirty="0" smtClean="0"/>
              <a:t>are ranking bigger profits</a:t>
            </a:r>
            <a:endParaRPr lang="en-US" sz="4800" dirty="0" smtClean="0"/>
          </a:p>
          <a:p>
            <a:pPr lvl="0" latinLnBrk="1"/>
            <a:r>
              <a:rPr lang="en-US" sz="4800" dirty="0" smtClean="0"/>
              <a:t>C. There </a:t>
            </a:r>
            <a:r>
              <a:rPr lang="en-US" sz="4800" dirty="0" smtClean="0"/>
              <a:t>is a drop in total </a:t>
            </a:r>
            <a:endParaRPr lang="en-US" sz="4800" dirty="0" smtClean="0"/>
          </a:p>
          <a:p>
            <a:pPr lvl="0" latinLnBrk="1">
              <a:buNone/>
            </a:pPr>
            <a:r>
              <a:rPr lang="en-US" sz="4800" dirty="0" smtClean="0"/>
              <a:t> </a:t>
            </a:r>
            <a:r>
              <a:rPr lang="en-US" sz="4800" dirty="0" smtClean="0"/>
              <a:t> spending</a:t>
            </a:r>
            <a:endParaRPr lang="en-US" sz="4800" dirty="0" smtClean="0"/>
          </a:p>
          <a:p>
            <a:pPr lvl="0" latinLnBrk="1"/>
            <a:r>
              <a:rPr lang="en-US" sz="4800" dirty="0" smtClean="0"/>
              <a:t>D. Production </a:t>
            </a:r>
            <a:r>
              <a:rPr lang="en-US" sz="4800" dirty="0" smtClean="0"/>
              <a:t>is slowing </a:t>
            </a:r>
            <a:endParaRPr lang="en-US" sz="4800" dirty="0" smtClean="0"/>
          </a:p>
          <a:p>
            <a:pPr lvl="0" latinLnBrk="1">
              <a:buNone/>
            </a:pPr>
            <a:r>
              <a:rPr lang="en-US" sz="4800" dirty="0" smtClean="0"/>
              <a:t> </a:t>
            </a:r>
            <a:r>
              <a:rPr lang="en-US" sz="4800" dirty="0" smtClean="0"/>
              <a:t> down  </a:t>
            </a:r>
            <a:endParaRPr lang="en-US" sz="4800" dirty="0" smtClean="0"/>
          </a:p>
          <a:p>
            <a:pPr>
              <a:buNone/>
            </a:pP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0"/>
            <a:ext cx="8229600" cy="1143000"/>
          </a:xfrm>
        </p:spPr>
        <p:txBody>
          <a:bodyPr>
            <a:normAutofit fontScale="90000"/>
          </a:bodyPr>
          <a:lstStyle/>
          <a:p>
            <a:pPr lvl="0" latinLnBrk="1"/>
            <a:r>
              <a:rPr lang="en-US" dirty="0" smtClean="0"/>
              <a:t>57. </a:t>
            </a:r>
            <a:r>
              <a:rPr lang="en-US" dirty="0" smtClean="0"/>
              <a:t>When </a:t>
            </a:r>
            <a:r>
              <a:rPr lang="en-US" b="1" dirty="0" smtClean="0">
                <a:solidFill>
                  <a:srgbClr val="FF0000"/>
                </a:solidFill>
              </a:rPr>
              <a:t>one company controls the supply of sugar</a:t>
            </a:r>
            <a:r>
              <a:rPr lang="en-US" dirty="0" smtClean="0"/>
              <a:t>, which </a:t>
            </a:r>
            <a:r>
              <a:rPr lang="en-US" dirty="0" smtClean="0">
                <a:solidFill>
                  <a:srgbClr val="FF0000"/>
                </a:solidFill>
              </a:rPr>
              <a:t>term applies</a:t>
            </a:r>
            <a:r>
              <a:rPr lang="en-US" dirty="0" smtClean="0"/>
              <a:t>?</a:t>
            </a:r>
            <a:br>
              <a:rPr lang="en-US" dirty="0" smtClean="0"/>
            </a:br>
            <a:r>
              <a:rPr lang="en-US" dirty="0" smtClean="0"/>
              <a:t> </a:t>
            </a:r>
            <a:br>
              <a:rPr lang="en-US" dirty="0" smtClean="0"/>
            </a:br>
            <a:endParaRPr lang="en-US" dirty="0"/>
          </a:p>
        </p:txBody>
      </p:sp>
      <p:sp>
        <p:nvSpPr>
          <p:cNvPr id="3" name="Content Placeholder 2"/>
          <p:cNvSpPr>
            <a:spLocks noGrp="1"/>
          </p:cNvSpPr>
          <p:nvPr>
            <p:ph sz="quarter" idx="1"/>
          </p:nvPr>
        </p:nvSpPr>
        <p:spPr>
          <a:xfrm>
            <a:off x="457200" y="1600200"/>
            <a:ext cx="8305800" cy="4873752"/>
          </a:xfrm>
        </p:spPr>
        <p:txBody>
          <a:bodyPr>
            <a:normAutofit/>
          </a:bodyPr>
          <a:lstStyle/>
          <a:p>
            <a:pPr lvl="0" latinLnBrk="1"/>
            <a:r>
              <a:rPr lang="en-US" sz="6000" dirty="0" smtClean="0"/>
              <a:t>A. Monopoly</a:t>
            </a:r>
            <a:endParaRPr lang="en-US" sz="6000" dirty="0" smtClean="0"/>
          </a:p>
          <a:p>
            <a:pPr lvl="0" latinLnBrk="1"/>
            <a:r>
              <a:rPr lang="en-US" sz="6000" b="1" dirty="0" smtClean="0"/>
              <a:t>B. Inflation</a:t>
            </a:r>
            <a:endParaRPr lang="en-US" sz="6000" dirty="0" smtClean="0"/>
          </a:p>
          <a:p>
            <a:pPr lvl="0" latinLnBrk="1"/>
            <a:r>
              <a:rPr lang="en-US" sz="6000" dirty="0" smtClean="0"/>
              <a:t>C. Economic </a:t>
            </a:r>
            <a:r>
              <a:rPr lang="en-US" sz="6000" dirty="0" smtClean="0"/>
              <a:t>stability</a:t>
            </a:r>
          </a:p>
          <a:p>
            <a:pPr lvl="0" latinLnBrk="1"/>
            <a:r>
              <a:rPr lang="en-US" sz="6000" dirty="0" smtClean="0"/>
              <a:t>D. Equilibrium</a:t>
            </a:r>
            <a:endParaRPr lang="en-US" sz="6000" dirty="0" smtClean="0"/>
          </a:p>
          <a:p>
            <a:pPr>
              <a:buNone/>
            </a:pP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rmAutofit fontScale="90000"/>
          </a:bodyPr>
          <a:lstStyle/>
          <a:p>
            <a:pPr lvl="0"/>
            <a:r>
              <a:rPr lang="en-US" dirty="0" smtClean="0"/>
              <a:t>58. </a:t>
            </a:r>
            <a:r>
              <a:rPr lang="en-US" dirty="0" smtClean="0">
                <a:solidFill>
                  <a:srgbClr val="FF0000"/>
                </a:solidFill>
              </a:rPr>
              <a:t>Tomatoes are off season </a:t>
            </a:r>
            <a:r>
              <a:rPr lang="en-US" dirty="0" smtClean="0"/>
              <a:t>and so </a:t>
            </a:r>
            <a:r>
              <a:rPr lang="en-US" dirty="0" smtClean="0">
                <a:solidFill>
                  <a:srgbClr val="FF0000"/>
                </a:solidFill>
              </a:rPr>
              <a:t>price </a:t>
            </a:r>
            <a:r>
              <a:rPr lang="en-US" dirty="0" smtClean="0"/>
              <a:t>for tomatoes </a:t>
            </a:r>
            <a:r>
              <a:rPr lang="en-US" dirty="0" smtClean="0">
                <a:solidFill>
                  <a:srgbClr val="FF0000"/>
                </a:solidFill>
              </a:rPr>
              <a:t>is up</a:t>
            </a:r>
            <a:r>
              <a:rPr lang="en-US" dirty="0" smtClean="0"/>
              <a:t>. Which </a:t>
            </a:r>
            <a:r>
              <a:rPr lang="en-US" dirty="0" smtClean="0">
                <a:solidFill>
                  <a:srgbClr val="FF0000"/>
                </a:solidFill>
              </a:rPr>
              <a:t>law/ principle </a:t>
            </a:r>
            <a:r>
              <a:rPr lang="en-US" dirty="0" smtClean="0"/>
              <a:t>in economics </a:t>
            </a:r>
            <a:r>
              <a:rPr lang="en-US" b="1" dirty="0" smtClean="0">
                <a:solidFill>
                  <a:srgbClr val="FF0000"/>
                </a:solidFill>
              </a:rPr>
              <a:t>explain it</a:t>
            </a:r>
            <a:r>
              <a:rPr lang="en-US" dirty="0" smtClean="0"/>
              <a:t>?</a:t>
            </a:r>
            <a:br>
              <a:rPr lang="en-US" dirty="0" smtClean="0"/>
            </a:br>
            <a:endParaRPr lang="en-US" dirty="0"/>
          </a:p>
        </p:txBody>
      </p:sp>
      <p:sp>
        <p:nvSpPr>
          <p:cNvPr id="3" name="Content Placeholder 2"/>
          <p:cNvSpPr>
            <a:spLocks noGrp="1"/>
          </p:cNvSpPr>
          <p:nvPr>
            <p:ph sz="quarter" idx="1"/>
          </p:nvPr>
        </p:nvSpPr>
        <p:spPr>
          <a:xfrm>
            <a:off x="228600" y="1600200"/>
            <a:ext cx="8458200" cy="4873752"/>
          </a:xfrm>
        </p:spPr>
        <p:txBody>
          <a:bodyPr>
            <a:normAutofit fontScale="77500" lnSpcReduction="20000"/>
          </a:bodyPr>
          <a:lstStyle/>
          <a:p>
            <a:pPr lvl="0" latinLnBrk="1"/>
            <a:r>
              <a:rPr lang="en-US" sz="6000" dirty="0" smtClean="0"/>
              <a:t>A. Substitution </a:t>
            </a:r>
            <a:r>
              <a:rPr lang="en-US" sz="6000" dirty="0" smtClean="0"/>
              <a:t>effect</a:t>
            </a:r>
          </a:p>
          <a:p>
            <a:pPr lvl="0" latinLnBrk="1"/>
            <a:r>
              <a:rPr lang="en-US" sz="6000" b="1" dirty="0" smtClean="0"/>
              <a:t>B. Law </a:t>
            </a:r>
            <a:r>
              <a:rPr lang="en-US" sz="6000" b="1" dirty="0" smtClean="0"/>
              <a:t>of cause and </a:t>
            </a:r>
            <a:endParaRPr lang="en-US" sz="6000" b="1" dirty="0" smtClean="0"/>
          </a:p>
          <a:p>
            <a:pPr lvl="0" latinLnBrk="1">
              <a:buNone/>
            </a:pPr>
            <a:r>
              <a:rPr lang="en-US" sz="6000" b="1" dirty="0" smtClean="0"/>
              <a:t> </a:t>
            </a:r>
            <a:r>
              <a:rPr lang="en-US" sz="6000" b="1" dirty="0" smtClean="0"/>
              <a:t>   effect</a:t>
            </a:r>
            <a:endParaRPr lang="en-US" sz="6000" dirty="0" smtClean="0"/>
          </a:p>
          <a:p>
            <a:pPr lvl="0" latinLnBrk="1"/>
            <a:r>
              <a:rPr lang="en-US" sz="6000" dirty="0" smtClean="0"/>
              <a:t>C. Principle </a:t>
            </a:r>
            <a:r>
              <a:rPr lang="en-US" sz="6000" dirty="0" smtClean="0"/>
              <a:t>of marginal </a:t>
            </a:r>
            <a:endParaRPr lang="en-US" sz="6000" dirty="0" smtClean="0"/>
          </a:p>
          <a:p>
            <a:pPr lvl="0" latinLnBrk="1">
              <a:buNone/>
            </a:pPr>
            <a:r>
              <a:rPr lang="en-US" sz="6000" dirty="0" smtClean="0"/>
              <a:t> </a:t>
            </a:r>
            <a:r>
              <a:rPr lang="en-US" sz="6000" dirty="0" smtClean="0"/>
              <a:t>   utility</a:t>
            </a:r>
            <a:endParaRPr lang="en-US" sz="6000" dirty="0" smtClean="0"/>
          </a:p>
          <a:p>
            <a:pPr lvl="0" latinLnBrk="1"/>
            <a:r>
              <a:rPr lang="en-US" sz="6000" dirty="0" smtClean="0"/>
              <a:t>D. Law </a:t>
            </a:r>
            <a:r>
              <a:rPr lang="en-US" sz="6000" dirty="0" smtClean="0"/>
              <a:t>of supply and </a:t>
            </a:r>
            <a:endParaRPr lang="en-US" sz="6000" dirty="0" smtClean="0"/>
          </a:p>
          <a:p>
            <a:pPr lvl="0" latinLnBrk="1">
              <a:buNone/>
            </a:pPr>
            <a:r>
              <a:rPr lang="en-US" sz="6000" dirty="0" smtClean="0"/>
              <a:t> </a:t>
            </a:r>
            <a:r>
              <a:rPr lang="en-US" sz="6000" dirty="0" smtClean="0"/>
              <a:t>    demand</a:t>
            </a:r>
            <a:endParaRPr lang="en-US" sz="6000" dirty="0" smtClean="0"/>
          </a:p>
          <a:p>
            <a:pPr>
              <a:buNone/>
            </a:pP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atinLnBrk="1"/>
            <a:r>
              <a:rPr lang="en-US" dirty="0" smtClean="0"/>
              <a:t>59. </a:t>
            </a:r>
            <a:r>
              <a:rPr lang="en-US" dirty="0" smtClean="0"/>
              <a:t> </a:t>
            </a:r>
            <a:r>
              <a:rPr lang="en-US" dirty="0" smtClean="0"/>
              <a:t>Which </a:t>
            </a:r>
            <a:r>
              <a:rPr lang="en-US" b="1" dirty="0" smtClean="0">
                <a:solidFill>
                  <a:srgbClr val="FF0000"/>
                </a:solidFill>
              </a:rPr>
              <a:t>explains GNP</a:t>
            </a:r>
            <a:r>
              <a:rPr lang="en-US" dirty="0" smtClean="0"/>
              <a:t>?</a:t>
            </a:r>
            <a:br>
              <a:rPr lang="en-US" dirty="0" smtClean="0"/>
            </a:br>
            <a:endParaRPr lang="en-US" dirty="0"/>
          </a:p>
        </p:txBody>
      </p:sp>
      <p:sp>
        <p:nvSpPr>
          <p:cNvPr id="3" name="Content Placeholder 2"/>
          <p:cNvSpPr>
            <a:spLocks noGrp="1"/>
          </p:cNvSpPr>
          <p:nvPr>
            <p:ph sz="quarter" idx="1"/>
          </p:nvPr>
        </p:nvSpPr>
        <p:spPr>
          <a:xfrm>
            <a:off x="228600" y="1143000"/>
            <a:ext cx="8458200" cy="5330952"/>
          </a:xfrm>
        </p:spPr>
        <p:txBody>
          <a:bodyPr>
            <a:normAutofit fontScale="77500" lnSpcReduction="20000"/>
          </a:bodyPr>
          <a:lstStyle/>
          <a:p>
            <a:pPr lvl="0" latinLnBrk="1"/>
            <a:r>
              <a:rPr lang="en-US" sz="4800" b="1" dirty="0" smtClean="0"/>
              <a:t>A. The </a:t>
            </a:r>
            <a:r>
              <a:rPr lang="en-US" sz="4800" b="1" dirty="0" smtClean="0"/>
              <a:t>total value in pesos of </a:t>
            </a:r>
            <a:endParaRPr lang="en-US" sz="4800" b="1" dirty="0" smtClean="0"/>
          </a:p>
          <a:p>
            <a:pPr lvl="0" latinLnBrk="1">
              <a:buNone/>
            </a:pPr>
            <a:r>
              <a:rPr lang="en-US" sz="4800" b="1" dirty="0" smtClean="0"/>
              <a:t>goods </a:t>
            </a:r>
            <a:r>
              <a:rPr lang="en-US" sz="4800" b="1" dirty="0" smtClean="0"/>
              <a:t>and services produced </a:t>
            </a:r>
            <a:endParaRPr lang="en-US" sz="4800" b="1" dirty="0" smtClean="0"/>
          </a:p>
          <a:p>
            <a:pPr lvl="0" latinLnBrk="1">
              <a:buNone/>
            </a:pPr>
            <a:r>
              <a:rPr lang="en-US" sz="4800" b="1" dirty="0" smtClean="0"/>
              <a:t>during </a:t>
            </a:r>
            <a:r>
              <a:rPr lang="en-US" sz="4800" b="1" dirty="0" smtClean="0"/>
              <a:t>the year.</a:t>
            </a:r>
            <a:endParaRPr lang="en-US" sz="4800" dirty="0" smtClean="0"/>
          </a:p>
          <a:p>
            <a:pPr lvl="0" latinLnBrk="1"/>
            <a:r>
              <a:rPr lang="en-US" sz="4800" dirty="0" smtClean="0"/>
              <a:t>B. The </a:t>
            </a:r>
            <a:r>
              <a:rPr lang="en-US" sz="4800" dirty="0" smtClean="0"/>
              <a:t>total value in pesos of </a:t>
            </a:r>
            <a:endParaRPr lang="en-US" sz="4800" dirty="0" smtClean="0"/>
          </a:p>
          <a:p>
            <a:pPr lvl="0" latinLnBrk="1">
              <a:buNone/>
            </a:pPr>
            <a:r>
              <a:rPr lang="en-US" sz="4800" dirty="0" smtClean="0"/>
              <a:t> </a:t>
            </a:r>
            <a:r>
              <a:rPr lang="en-US" sz="4800" dirty="0" smtClean="0"/>
              <a:t> goods </a:t>
            </a:r>
            <a:r>
              <a:rPr lang="en-US" sz="4800" dirty="0" smtClean="0"/>
              <a:t>produced during the year.</a:t>
            </a:r>
          </a:p>
          <a:p>
            <a:pPr lvl="0" latinLnBrk="1"/>
            <a:r>
              <a:rPr lang="en-US" sz="4800" dirty="0" smtClean="0"/>
              <a:t>C. The </a:t>
            </a:r>
            <a:r>
              <a:rPr lang="en-US" sz="4800" dirty="0" smtClean="0"/>
              <a:t>total value in pesos of </a:t>
            </a:r>
            <a:endParaRPr lang="en-US" sz="4800" dirty="0" smtClean="0"/>
          </a:p>
          <a:p>
            <a:pPr lvl="0" latinLnBrk="1">
              <a:buNone/>
            </a:pPr>
            <a:r>
              <a:rPr lang="en-US" sz="4800" dirty="0" smtClean="0"/>
              <a:t>services </a:t>
            </a:r>
            <a:r>
              <a:rPr lang="en-US" sz="4800" dirty="0" smtClean="0"/>
              <a:t>produced during the year.</a:t>
            </a:r>
          </a:p>
          <a:p>
            <a:pPr lvl="0" latinLnBrk="1"/>
            <a:r>
              <a:rPr lang="en-US" sz="4800" dirty="0" smtClean="0"/>
              <a:t>D. The </a:t>
            </a:r>
            <a:r>
              <a:rPr lang="en-US" sz="4800" dirty="0" smtClean="0"/>
              <a:t>total value in pesos of goods and services produced for 2 quarters.</a:t>
            </a:r>
          </a:p>
          <a:p>
            <a:pPr>
              <a:buNone/>
            </a:pP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8610600" cy="1143000"/>
          </a:xfrm>
        </p:spPr>
        <p:txBody>
          <a:bodyPr>
            <a:normAutofit fontScale="90000"/>
          </a:bodyPr>
          <a:lstStyle/>
          <a:p>
            <a:pPr lvl="0"/>
            <a:r>
              <a:rPr lang="en-US" dirty="0" smtClean="0"/>
              <a:t>60. </a:t>
            </a:r>
            <a:r>
              <a:rPr lang="en-US" dirty="0" smtClean="0"/>
              <a:t>How can the </a:t>
            </a:r>
            <a:r>
              <a:rPr lang="en-US" dirty="0" smtClean="0">
                <a:solidFill>
                  <a:srgbClr val="FF0000"/>
                </a:solidFill>
              </a:rPr>
              <a:t>Comprehensive Agrarian Reform Program bring </a:t>
            </a:r>
            <a:r>
              <a:rPr lang="en-US" dirty="0" smtClean="0"/>
              <a:t>about </a:t>
            </a:r>
            <a:r>
              <a:rPr lang="en-US" dirty="0" smtClean="0">
                <a:solidFill>
                  <a:srgbClr val="FF0000"/>
                </a:solidFill>
              </a:rPr>
              <a:t>social equity </a:t>
            </a:r>
            <a:r>
              <a:rPr lang="en-US" dirty="0" smtClean="0"/>
              <a:t>and </a:t>
            </a:r>
            <a:r>
              <a:rPr lang="en-US" dirty="0" smtClean="0">
                <a:solidFill>
                  <a:srgbClr val="FF0000"/>
                </a:solidFill>
              </a:rPr>
              <a:t>economic prosperity </a:t>
            </a:r>
            <a:r>
              <a:rPr lang="en-US" dirty="0" smtClean="0"/>
              <a:t>in the country?</a:t>
            </a:r>
            <a:br>
              <a:rPr lang="en-US" dirty="0" smtClean="0"/>
            </a:br>
            <a:endParaRPr lang="en-US" dirty="0"/>
          </a:p>
        </p:txBody>
      </p:sp>
      <p:sp>
        <p:nvSpPr>
          <p:cNvPr id="3" name="Content Placeholder 2"/>
          <p:cNvSpPr>
            <a:spLocks noGrp="1"/>
          </p:cNvSpPr>
          <p:nvPr>
            <p:ph sz="quarter" idx="1"/>
          </p:nvPr>
        </p:nvSpPr>
        <p:spPr>
          <a:xfrm>
            <a:off x="152400" y="1600200"/>
            <a:ext cx="8839200" cy="4873752"/>
          </a:xfrm>
        </p:spPr>
        <p:txBody>
          <a:bodyPr>
            <a:normAutofit fontScale="77500" lnSpcReduction="20000"/>
          </a:bodyPr>
          <a:lstStyle/>
          <a:p>
            <a:pPr lvl="0" latinLnBrk="1"/>
            <a:r>
              <a:rPr lang="en-US" sz="4400" dirty="0" smtClean="0"/>
              <a:t>I. By </a:t>
            </a:r>
            <a:r>
              <a:rPr lang="en-US" sz="4400" dirty="0" smtClean="0"/>
              <a:t>distributing the agricultural </a:t>
            </a:r>
            <a:endParaRPr lang="en-US" sz="4400" dirty="0" smtClean="0"/>
          </a:p>
          <a:p>
            <a:pPr lvl="0" latinLnBrk="1">
              <a:buNone/>
            </a:pPr>
            <a:r>
              <a:rPr lang="en-US" sz="4400" dirty="0" smtClean="0"/>
              <a:t> </a:t>
            </a:r>
            <a:r>
              <a:rPr lang="en-US" sz="4400" dirty="0" smtClean="0"/>
              <a:t> lands </a:t>
            </a:r>
            <a:r>
              <a:rPr lang="en-US" sz="4400" dirty="0" smtClean="0"/>
              <a:t>to landless farmers free of charge.</a:t>
            </a:r>
          </a:p>
          <a:p>
            <a:pPr lvl="0" latinLnBrk="1"/>
            <a:r>
              <a:rPr lang="en-US" sz="4400" dirty="0" smtClean="0"/>
              <a:t>II. By </a:t>
            </a:r>
            <a:r>
              <a:rPr lang="en-US" sz="4400" dirty="0" smtClean="0"/>
              <a:t>transferring the ownership of </a:t>
            </a:r>
            <a:endParaRPr lang="en-US" sz="4400" dirty="0" smtClean="0"/>
          </a:p>
          <a:p>
            <a:pPr lvl="0" latinLnBrk="1">
              <a:buNone/>
            </a:pPr>
            <a:r>
              <a:rPr lang="en-US" sz="4400" dirty="0" smtClean="0"/>
              <a:t> </a:t>
            </a:r>
            <a:r>
              <a:rPr lang="en-US" sz="4400" dirty="0" smtClean="0"/>
              <a:t>  land </a:t>
            </a:r>
            <a:r>
              <a:rPr lang="en-US" sz="4400" dirty="0" smtClean="0"/>
              <a:t>to farmers for a value.</a:t>
            </a:r>
          </a:p>
          <a:p>
            <a:pPr lvl="0" latinLnBrk="1"/>
            <a:r>
              <a:rPr lang="en-US" sz="4400" dirty="0" smtClean="0"/>
              <a:t>III. By </a:t>
            </a:r>
            <a:r>
              <a:rPr lang="en-US" sz="4400" dirty="0" smtClean="0"/>
              <a:t>helping the affected landowners to use their land compensation in viable </a:t>
            </a:r>
            <a:endParaRPr lang="en-US" sz="4400" dirty="0" smtClean="0"/>
          </a:p>
          <a:p>
            <a:pPr lvl="0" latinLnBrk="1">
              <a:buNone/>
            </a:pPr>
            <a:r>
              <a:rPr lang="en-US" sz="4400" dirty="0" smtClean="0"/>
              <a:t> </a:t>
            </a:r>
            <a:r>
              <a:rPr lang="en-US" sz="4400" dirty="0" smtClean="0"/>
              <a:t> business </a:t>
            </a:r>
            <a:r>
              <a:rPr lang="en-US" sz="4400" dirty="0" smtClean="0"/>
              <a:t>activities.</a:t>
            </a:r>
          </a:p>
          <a:p>
            <a:pPr lvl="0" latinLnBrk="1"/>
            <a:r>
              <a:rPr lang="en-US" sz="4400" dirty="0" smtClean="0"/>
              <a:t>IV. By </a:t>
            </a:r>
            <a:r>
              <a:rPr lang="en-US" sz="4400" dirty="0" smtClean="0"/>
              <a:t>providing support services to </a:t>
            </a:r>
            <a:endParaRPr lang="en-US" sz="4400" dirty="0" smtClean="0"/>
          </a:p>
          <a:p>
            <a:pPr lvl="0" latinLnBrk="1">
              <a:buNone/>
            </a:pPr>
            <a:r>
              <a:rPr lang="en-US" sz="4400" dirty="0" smtClean="0"/>
              <a:t> </a:t>
            </a:r>
            <a:r>
              <a:rPr lang="en-US" sz="4400" dirty="0" smtClean="0"/>
              <a:t>  farmer-beneficiaries</a:t>
            </a:r>
            <a:endParaRPr lang="en-US" sz="4400" dirty="0" smtClean="0"/>
          </a:p>
          <a:p>
            <a:pPr>
              <a:buNone/>
            </a:pP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lvl="0" latinLnBrk="1"/>
            <a:r>
              <a:rPr lang="en-US" sz="6000" b="1" dirty="0" smtClean="0"/>
              <a:t>A. II</a:t>
            </a:r>
            <a:r>
              <a:rPr lang="en-US" sz="6000" b="1" dirty="0" smtClean="0"/>
              <a:t>, III, and IV</a:t>
            </a:r>
            <a:endParaRPr lang="en-US" sz="6000" dirty="0" smtClean="0"/>
          </a:p>
          <a:p>
            <a:pPr lvl="0" latinLnBrk="1"/>
            <a:r>
              <a:rPr lang="en-US" sz="6000" dirty="0" smtClean="0"/>
              <a:t>B. I</a:t>
            </a:r>
            <a:r>
              <a:rPr lang="en-US" sz="6000" dirty="0" smtClean="0"/>
              <a:t>, II and IV</a:t>
            </a:r>
          </a:p>
          <a:p>
            <a:pPr lvl="0" latinLnBrk="1"/>
            <a:r>
              <a:rPr lang="en-US" sz="6000" dirty="0" smtClean="0"/>
              <a:t>C. I</a:t>
            </a:r>
            <a:r>
              <a:rPr lang="en-US" sz="6000" dirty="0" smtClean="0"/>
              <a:t>, II, and III</a:t>
            </a:r>
          </a:p>
          <a:p>
            <a:pPr lvl="0" latinLnBrk="1"/>
            <a:r>
              <a:rPr lang="en-US" sz="6000" dirty="0" smtClean="0"/>
              <a:t>D. I</a:t>
            </a:r>
            <a:r>
              <a:rPr lang="en-US" sz="6000" dirty="0" smtClean="0"/>
              <a:t>, III, and IV</a:t>
            </a:r>
          </a:p>
          <a:p>
            <a:pPr>
              <a:buNone/>
            </a:pP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33400"/>
            <a:ext cx="8458200" cy="1143000"/>
          </a:xfrm>
        </p:spPr>
        <p:txBody>
          <a:bodyPr>
            <a:normAutofit fontScale="90000"/>
          </a:bodyPr>
          <a:lstStyle/>
          <a:p>
            <a:pPr lvl="0"/>
            <a:r>
              <a:rPr lang="en-US" dirty="0" smtClean="0"/>
              <a:t>61. </a:t>
            </a:r>
            <a:r>
              <a:rPr lang="en-US" dirty="0" smtClean="0"/>
              <a:t>While the capitalist system, “to the strongest goes the spoil”, what </a:t>
            </a:r>
            <a:r>
              <a:rPr lang="en-US" b="1" dirty="0" smtClean="0">
                <a:solidFill>
                  <a:srgbClr val="FF0000"/>
                </a:solidFill>
              </a:rPr>
              <a:t>happens in the cooperative system</a:t>
            </a:r>
            <a:r>
              <a:rPr lang="en-US" dirty="0" smtClean="0"/>
              <a:t>?</a:t>
            </a:r>
            <a:br>
              <a:rPr lang="en-US" dirty="0" smtClean="0"/>
            </a:br>
            <a:endParaRPr lang="en-US" dirty="0"/>
          </a:p>
        </p:txBody>
      </p:sp>
      <p:sp>
        <p:nvSpPr>
          <p:cNvPr id="3" name="Content Placeholder 2"/>
          <p:cNvSpPr>
            <a:spLocks noGrp="1"/>
          </p:cNvSpPr>
          <p:nvPr>
            <p:ph sz="quarter" idx="1"/>
          </p:nvPr>
        </p:nvSpPr>
        <p:spPr>
          <a:xfrm>
            <a:off x="152400" y="1371600"/>
            <a:ext cx="8534400" cy="5102352"/>
          </a:xfrm>
        </p:spPr>
        <p:txBody>
          <a:bodyPr>
            <a:normAutofit fontScale="92500" lnSpcReduction="10000"/>
          </a:bodyPr>
          <a:lstStyle/>
          <a:p>
            <a:pPr lvl="0" latinLnBrk="1"/>
            <a:r>
              <a:rPr lang="en-US" sz="3200" dirty="0" smtClean="0"/>
              <a:t>A. All </a:t>
            </a:r>
            <a:r>
              <a:rPr lang="en-US" sz="3200" dirty="0" smtClean="0"/>
              <a:t>benefits are shared to the members proportionate to the shared capital.</a:t>
            </a:r>
          </a:p>
          <a:p>
            <a:pPr lvl="0" latinLnBrk="1"/>
            <a:r>
              <a:rPr lang="en-US" sz="3200" dirty="0" smtClean="0"/>
              <a:t>B. Goods </a:t>
            </a:r>
            <a:r>
              <a:rPr lang="en-US" sz="3200" dirty="0" smtClean="0"/>
              <a:t>are distributed among the </a:t>
            </a:r>
            <a:endParaRPr lang="en-US" sz="3200" dirty="0" smtClean="0"/>
          </a:p>
          <a:p>
            <a:pPr lvl="0" latinLnBrk="1">
              <a:buNone/>
            </a:pPr>
            <a:r>
              <a:rPr lang="en-US" sz="3200" dirty="0" smtClean="0"/>
              <a:t> </a:t>
            </a:r>
            <a:r>
              <a:rPr lang="en-US" sz="3200" dirty="0" smtClean="0"/>
              <a:t>  members </a:t>
            </a:r>
            <a:r>
              <a:rPr lang="en-US" sz="3200" dirty="0" smtClean="0"/>
              <a:t>but benefiting mostly the </a:t>
            </a:r>
          </a:p>
          <a:p>
            <a:pPr lvl="0" latinLnBrk="1">
              <a:buNone/>
            </a:pPr>
            <a:r>
              <a:rPr lang="en-US" sz="3200" dirty="0" smtClean="0"/>
              <a:t>   policy-making </a:t>
            </a:r>
            <a:r>
              <a:rPr lang="en-US" sz="3200" dirty="0" smtClean="0"/>
              <a:t>body.</a:t>
            </a:r>
          </a:p>
          <a:p>
            <a:pPr lvl="0" latinLnBrk="1"/>
            <a:r>
              <a:rPr lang="en-US" sz="3200" b="1" dirty="0" smtClean="0"/>
              <a:t>C. Goods </a:t>
            </a:r>
            <a:r>
              <a:rPr lang="en-US" sz="3200" b="1" dirty="0" smtClean="0"/>
              <a:t>are distributed among the </a:t>
            </a:r>
            <a:endParaRPr lang="en-US" sz="3200" b="1" dirty="0" smtClean="0"/>
          </a:p>
          <a:p>
            <a:pPr lvl="0" latinLnBrk="1">
              <a:buNone/>
            </a:pPr>
            <a:r>
              <a:rPr lang="en-US" sz="3200" b="1" dirty="0" smtClean="0"/>
              <a:t> </a:t>
            </a:r>
            <a:r>
              <a:rPr lang="en-US" sz="3200" b="1" dirty="0" smtClean="0"/>
              <a:t> members</a:t>
            </a:r>
            <a:r>
              <a:rPr lang="en-US" sz="3200" b="1" dirty="0" smtClean="0"/>
              <a:t>.</a:t>
            </a:r>
            <a:endParaRPr lang="en-US" sz="3200" dirty="0" smtClean="0"/>
          </a:p>
          <a:p>
            <a:pPr lvl="0" latinLnBrk="1"/>
            <a:r>
              <a:rPr lang="en-US" sz="3200" dirty="0" smtClean="0"/>
              <a:t>D. Goods </a:t>
            </a:r>
            <a:r>
              <a:rPr lang="en-US" sz="3200" dirty="0" smtClean="0"/>
              <a:t>are distributed among the </a:t>
            </a:r>
            <a:endParaRPr lang="en-US" sz="3200" dirty="0" smtClean="0"/>
          </a:p>
          <a:p>
            <a:pPr lvl="0" latinLnBrk="1">
              <a:buNone/>
            </a:pPr>
            <a:r>
              <a:rPr lang="en-US" sz="3200" dirty="0" smtClean="0"/>
              <a:t> </a:t>
            </a:r>
            <a:r>
              <a:rPr lang="en-US" sz="3200" dirty="0" smtClean="0"/>
              <a:t>members </a:t>
            </a:r>
            <a:r>
              <a:rPr lang="en-US" sz="3200" dirty="0" smtClean="0"/>
              <a:t>but elected and appointed </a:t>
            </a:r>
            <a:endParaRPr lang="en-US" sz="3200" dirty="0" smtClean="0"/>
          </a:p>
          <a:p>
            <a:pPr lvl="0" latinLnBrk="1">
              <a:buNone/>
            </a:pPr>
            <a:r>
              <a:rPr lang="en-US" sz="3200" dirty="0" smtClean="0"/>
              <a:t> </a:t>
            </a:r>
            <a:r>
              <a:rPr lang="en-US" sz="3200" dirty="0" smtClean="0"/>
              <a:t> officials </a:t>
            </a:r>
            <a:r>
              <a:rPr lang="en-US" sz="3200" dirty="0" smtClean="0"/>
              <a:t>get more to compensate their service. </a:t>
            </a:r>
          </a:p>
          <a:p>
            <a:pPr>
              <a:buNone/>
            </a:pP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62. </a:t>
            </a:r>
            <a:r>
              <a:rPr lang="en-US" dirty="0" smtClean="0"/>
              <a:t>The </a:t>
            </a:r>
            <a:r>
              <a:rPr lang="en-US" dirty="0" smtClean="0">
                <a:solidFill>
                  <a:srgbClr val="FF0000"/>
                </a:solidFill>
              </a:rPr>
              <a:t>Comprehensive Agrarian Reform and cooperatives </a:t>
            </a:r>
            <a:r>
              <a:rPr lang="en-US" dirty="0" smtClean="0"/>
              <a:t>are </a:t>
            </a:r>
            <a:r>
              <a:rPr lang="en-US" b="1" dirty="0" smtClean="0">
                <a:solidFill>
                  <a:srgbClr val="FF0000"/>
                </a:solidFill>
              </a:rPr>
              <a:t>meant to </a:t>
            </a:r>
            <a:r>
              <a:rPr lang="en-US" dirty="0" smtClean="0"/>
              <a:t>________.</a:t>
            </a:r>
            <a:br>
              <a:rPr lang="en-US" dirty="0" smtClean="0"/>
            </a:br>
            <a:endParaRPr lang="en-US" dirty="0"/>
          </a:p>
        </p:txBody>
      </p:sp>
      <p:sp>
        <p:nvSpPr>
          <p:cNvPr id="3" name="Content Placeholder 2"/>
          <p:cNvSpPr>
            <a:spLocks noGrp="1"/>
          </p:cNvSpPr>
          <p:nvPr>
            <p:ph sz="quarter" idx="1"/>
          </p:nvPr>
        </p:nvSpPr>
        <p:spPr>
          <a:xfrm>
            <a:off x="457200" y="1600200"/>
            <a:ext cx="8305800" cy="4873752"/>
          </a:xfrm>
        </p:spPr>
        <p:txBody>
          <a:bodyPr>
            <a:normAutofit lnSpcReduction="10000"/>
          </a:bodyPr>
          <a:lstStyle/>
          <a:p>
            <a:pPr lvl="0" latinLnBrk="1"/>
            <a:r>
              <a:rPr lang="en-US" sz="4400" dirty="0" smtClean="0"/>
              <a:t>A. Eradicate </a:t>
            </a:r>
            <a:r>
              <a:rPr lang="en-US" sz="4400" dirty="0" smtClean="0"/>
              <a:t>poverty in the </a:t>
            </a:r>
            <a:endParaRPr lang="en-US" sz="4400" dirty="0" smtClean="0"/>
          </a:p>
          <a:p>
            <a:pPr lvl="0" latinLnBrk="1">
              <a:buNone/>
            </a:pPr>
            <a:r>
              <a:rPr lang="en-US" sz="4400" dirty="0" smtClean="0"/>
              <a:t> </a:t>
            </a:r>
            <a:r>
              <a:rPr lang="en-US" sz="4400" dirty="0" smtClean="0"/>
              <a:t>country</a:t>
            </a:r>
            <a:r>
              <a:rPr lang="en-US" sz="4400" dirty="0" smtClean="0"/>
              <a:t>.</a:t>
            </a:r>
          </a:p>
          <a:p>
            <a:pPr lvl="0" latinLnBrk="1"/>
            <a:r>
              <a:rPr lang="en-US" sz="4400" b="1" dirty="0" smtClean="0"/>
              <a:t>B. Bridge </a:t>
            </a:r>
            <a:r>
              <a:rPr lang="en-US" sz="4400" b="1" dirty="0" smtClean="0"/>
              <a:t>the gap between the rich and the poor.</a:t>
            </a:r>
            <a:endParaRPr lang="en-US" sz="4400" dirty="0" smtClean="0"/>
          </a:p>
          <a:p>
            <a:pPr lvl="0" latinLnBrk="1"/>
            <a:r>
              <a:rPr lang="en-US" sz="4400" dirty="0" smtClean="0"/>
              <a:t>C. To </a:t>
            </a:r>
            <a:r>
              <a:rPr lang="en-US" sz="4400" dirty="0" smtClean="0"/>
              <a:t>make all citizens equal.</a:t>
            </a:r>
          </a:p>
          <a:p>
            <a:pPr lvl="0" latinLnBrk="1"/>
            <a:r>
              <a:rPr lang="en-US" sz="4400" dirty="0" smtClean="0"/>
              <a:t>D. To </a:t>
            </a:r>
            <a:r>
              <a:rPr lang="en-US" sz="4400" dirty="0" smtClean="0"/>
              <a:t>improve on the </a:t>
            </a:r>
            <a:endParaRPr lang="en-US" sz="4400" dirty="0" smtClean="0"/>
          </a:p>
          <a:p>
            <a:pPr lvl="0" latinLnBrk="1">
              <a:buNone/>
            </a:pPr>
            <a:r>
              <a:rPr lang="en-US" sz="4400" dirty="0" smtClean="0"/>
              <a:t> </a:t>
            </a:r>
            <a:r>
              <a:rPr lang="en-US" sz="4400" dirty="0" smtClean="0"/>
              <a:t>  country’s </a:t>
            </a:r>
            <a:r>
              <a:rPr lang="en-US" sz="4400" dirty="0" smtClean="0"/>
              <a:t>literacy rate.</a:t>
            </a:r>
          </a:p>
          <a:p>
            <a:pPr>
              <a:buNone/>
            </a:pPr>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828800"/>
            <a:ext cx="8305800" cy="1143000"/>
          </a:xfrm>
        </p:spPr>
        <p:txBody>
          <a:bodyPr>
            <a:normAutofit fontScale="90000"/>
          </a:bodyPr>
          <a:lstStyle/>
          <a:p>
            <a:pPr lvl="0"/>
            <a:r>
              <a:rPr lang="en-US" dirty="0" smtClean="0"/>
              <a:t>63. </a:t>
            </a:r>
            <a:r>
              <a:rPr lang="en-US" dirty="0" smtClean="0"/>
              <a:t>When </a:t>
            </a:r>
            <a:r>
              <a:rPr lang="en-US" dirty="0" smtClean="0">
                <a:solidFill>
                  <a:srgbClr val="FF0000"/>
                </a:solidFill>
              </a:rPr>
              <a:t>parents</a:t>
            </a:r>
            <a:r>
              <a:rPr lang="en-US" dirty="0" smtClean="0"/>
              <a:t> decide to </a:t>
            </a:r>
            <a:r>
              <a:rPr lang="en-US" dirty="0" smtClean="0">
                <a:solidFill>
                  <a:srgbClr val="FF0000"/>
                </a:solidFill>
              </a:rPr>
              <a:t>send their children to a private school </a:t>
            </a:r>
            <a:r>
              <a:rPr lang="en-US" dirty="0" smtClean="0"/>
              <a:t>and </a:t>
            </a:r>
            <a:r>
              <a:rPr lang="en-US" dirty="0" smtClean="0">
                <a:solidFill>
                  <a:srgbClr val="FF0000"/>
                </a:solidFill>
              </a:rPr>
              <a:t>pay their tuition fee instead of sending them to the public school</a:t>
            </a:r>
            <a:r>
              <a:rPr lang="en-US" dirty="0" smtClean="0"/>
              <a:t>, they don’t get their share in the benefit derived from the taxes they pay. This is a case of ___________.</a:t>
            </a:r>
            <a:br>
              <a:rPr lang="en-US" dirty="0" smtClean="0"/>
            </a:br>
            <a:endParaRPr lang="en-US" dirty="0"/>
          </a:p>
        </p:txBody>
      </p:sp>
      <p:sp>
        <p:nvSpPr>
          <p:cNvPr id="3" name="Content Placeholder 2"/>
          <p:cNvSpPr>
            <a:spLocks noGrp="1"/>
          </p:cNvSpPr>
          <p:nvPr>
            <p:ph sz="quarter" idx="1"/>
          </p:nvPr>
        </p:nvSpPr>
        <p:spPr>
          <a:xfrm>
            <a:off x="533400" y="2743200"/>
            <a:ext cx="8001000" cy="4873752"/>
          </a:xfrm>
        </p:spPr>
        <p:txBody>
          <a:bodyPr/>
          <a:lstStyle/>
          <a:p>
            <a:pPr lvl="0" latinLnBrk="1"/>
            <a:r>
              <a:rPr lang="en-US" sz="4800" dirty="0" smtClean="0"/>
              <a:t>A. Social </a:t>
            </a:r>
            <a:r>
              <a:rPr lang="en-US" sz="4800" dirty="0" smtClean="0"/>
              <a:t>injustice</a:t>
            </a:r>
          </a:p>
          <a:p>
            <a:pPr lvl="0" latinLnBrk="1"/>
            <a:r>
              <a:rPr lang="en-US" sz="4800" dirty="0" smtClean="0"/>
              <a:t>B. Double </a:t>
            </a:r>
            <a:r>
              <a:rPr lang="en-US" sz="4800" dirty="0" smtClean="0"/>
              <a:t>jeopardy</a:t>
            </a:r>
          </a:p>
          <a:p>
            <a:pPr lvl="0" latinLnBrk="1"/>
            <a:r>
              <a:rPr lang="en-US" sz="4800" b="1" dirty="0" smtClean="0"/>
              <a:t>C. Double </a:t>
            </a:r>
            <a:r>
              <a:rPr lang="en-US" sz="4800" b="1" dirty="0" smtClean="0"/>
              <a:t>taxation</a:t>
            </a:r>
            <a:endParaRPr lang="en-US" sz="4800" dirty="0" smtClean="0"/>
          </a:p>
          <a:p>
            <a:pPr lvl="0" latinLnBrk="1"/>
            <a:r>
              <a:rPr lang="en-US" sz="4800" dirty="0" smtClean="0"/>
              <a:t>D. Social </a:t>
            </a:r>
            <a:r>
              <a:rPr lang="en-US" sz="4800" dirty="0" smtClean="0"/>
              <a:t>inequity</a:t>
            </a:r>
          </a:p>
          <a:p>
            <a:pPr>
              <a:buNone/>
            </a:pP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1143000"/>
          </a:xfrm>
        </p:spPr>
        <p:txBody>
          <a:bodyPr>
            <a:normAutofit fontScale="90000"/>
          </a:bodyPr>
          <a:lstStyle/>
          <a:p>
            <a:pPr lvl="0"/>
            <a:r>
              <a:rPr lang="en-US" dirty="0" smtClean="0"/>
              <a:t>64. </a:t>
            </a:r>
            <a:r>
              <a:rPr lang="en-US" dirty="0" smtClean="0"/>
              <a:t>Which one </a:t>
            </a:r>
            <a:r>
              <a:rPr lang="en-US" b="1" dirty="0" smtClean="0">
                <a:solidFill>
                  <a:srgbClr val="FF0000"/>
                </a:solidFill>
              </a:rPr>
              <a:t>correctly applies to Philippine foreign trade</a:t>
            </a:r>
            <a:r>
              <a:rPr lang="en-US" dirty="0" smtClean="0"/>
              <a:t>?</a:t>
            </a:r>
            <a:br>
              <a:rPr lang="en-US" dirty="0" smtClean="0"/>
            </a:br>
            <a:endParaRPr lang="en-US" dirty="0"/>
          </a:p>
        </p:txBody>
      </p:sp>
      <p:sp>
        <p:nvSpPr>
          <p:cNvPr id="3" name="Content Placeholder 2"/>
          <p:cNvSpPr>
            <a:spLocks noGrp="1"/>
          </p:cNvSpPr>
          <p:nvPr>
            <p:ph sz="quarter" idx="1"/>
          </p:nvPr>
        </p:nvSpPr>
        <p:spPr>
          <a:xfrm>
            <a:off x="228600" y="1219200"/>
            <a:ext cx="8458200" cy="5254752"/>
          </a:xfrm>
        </p:spPr>
        <p:txBody>
          <a:bodyPr>
            <a:normAutofit fontScale="92500" lnSpcReduction="20000"/>
          </a:bodyPr>
          <a:lstStyle/>
          <a:p>
            <a:pPr lvl="0" latinLnBrk="1"/>
            <a:r>
              <a:rPr lang="en-US" sz="4000" dirty="0" smtClean="0"/>
              <a:t>A. Philippine </a:t>
            </a:r>
            <a:r>
              <a:rPr lang="en-US" sz="4000" dirty="0" smtClean="0"/>
              <a:t>expenditure exports </a:t>
            </a:r>
            <a:endParaRPr lang="en-US" sz="4000" dirty="0" smtClean="0"/>
          </a:p>
          <a:p>
            <a:pPr lvl="0" latinLnBrk="1">
              <a:buNone/>
            </a:pPr>
            <a:r>
              <a:rPr lang="en-US" sz="4000" dirty="0" smtClean="0"/>
              <a:t> </a:t>
            </a:r>
            <a:r>
              <a:rPr lang="en-US" sz="4000" dirty="0" smtClean="0"/>
              <a:t> and </a:t>
            </a:r>
            <a:r>
              <a:rPr lang="en-US" sz="4000" dirty="0" smtClean="0"/>
              <a:t>earning from imports fluctuate.</a:t>
            </a:r>
          </a:p>
          <a:p>
            <a:pPr lvl="0" latinLnBrk="1"/>
            <a:r>
              <a:rPr lang="en-US" sz="4000" dirty="0" smtClean="0"/>
              <a:t>B. The </a:t>
            </a:r>
            <a:r>
              <a:rPr lang="en-US" sz="4000" dirty="0" smtClean="0"/>
              <a:t>Philippines spends less on </a:t>
            </a:r>
            <a:endParaRPr lang="en-US" sz="4000" dirty="0" smtClean="0"/>
          </a:p>
          <a:p>
            <a:pPr lvl="0" latinLnBrk="1">
              <a:buNone/>
            </a:pPr>
            <a:r>
              <a:rPr lang="en-US" sz="4000" dirty="0" smtClean="0"/>
              <a:t> </a:t>
            </a:r>
            <a:r>
              <a:rPr lang="en-US" sz="4000" dirty="0" smtClean="0"/>
              <a:t>  imports </a:t>
            </a:r>
            <a:r>
              <a:rPr lang="en-US" sz="4000" dirty="0" smtClean="0"/>
              <a:t>that it earns from exports.</a:t>
            </a:r>
          </a:p>
          <a:p>
            <a:pPr lvl="0" latinLnBrk="1"/>
            <a:r>
              <a:rPr lang="en-US" sz="4000" dirty="0" smtClean="0"/>
              <a:t>C. The </a:t>
            </a:r>
            <a:r>
              <a:rPr lang="en-US" sz="4000" dirty="0" smtClean="0"/>
              <a:t>Philippine expenditure on </a:t>
            </a:r>
            <a:endParaRPr lang="en-US" sz="4000" dirty="0" smtClean="0"/>
          </a:p>
          <a:p>
            <a:pPr lvl="0" latinLnBrk="1">
              <a:buNone/>
            </a:pPr>
            <a:r>
              <a:rPr lang="en-US" sz="4000" dirty="0" smtClean="0"/>
              <a:t> </a:t>
            </a:r>
            <a:r>
              <a:rPr lang="en-US" sz="4000" dirty="0" smtClean="0"/>
              <a:t>imports </a:t>
            </a:r>
            <a:r>
              <a:rPr lang="en-US" sz="4000" dirty="0" smtClean="0"/>
              <a:t>is balanced with its earnings from exports.</a:t>
            </a:r>
          </a:p>
          <a:p>
            <a:pPr lvl="0" latinLnBrk="1"/>
            <a:r>
              <a:rPr lang="en-US" sz="4000" b="1" dirty="0" smtClean="0"/>
              <a:t>D. The </a:t>
            </a:r>
            <a:r>
              <a:rPr lang="en-US" sz="4000" b="1" dirty="0" smtClean="0"/>
              <a:t>Philippines spends more on imports than it earns from </a:t>
            </a:r>
            <a:endParaRPr lang="en-US" sz="4000" b="1" dirty="0" smtClean="0"/>
          </a:p>
          <a:p>
            <a:pPr lvl="0" latinLnBrk="1">
              <a:buNone/>
            </a:pPr>
            <a:r>
              <a:rPr lang="en-US" sz="4000" b="1" dirty="0" smtClean="0"/>
              <a:t>  exports</a:t>
            </a:r>
            <a:r>
              <a:rPr lang="en-US" sz="4000" b="1" dirty="0" smtClean="0"/>
              <a:t>.</a:t>
            </a:r>
            <a:endParaRPr lang="en-US" sz="4000" dirty="0" smtClean="0"/>
          </a:p>
          <a:p>
            <a:pPr latinLnBrk="1"/>
            <a:endParaRPr lang="en-US" dirty="0" smtClean="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8534400" cy="1143000"/>
          </a:xfrm>
        </p:spPr>
        <p:txBody>
          <a:bodyPr>
            <a:normAutofit fontScale="90000"/>
          </a:bodyPr>
          <a:lstStyle/>
          <a:p>
            <a:pPr lvl="0"/>
            <a:r>
              <a:rPr lang="en-US" dirty="0" smtClean="0"/>
              <a:t>65. </a:t>
            </a:r>
            <a:r>
              <a:rPr lang="en-US" dirty="0" smtClean="0"/>
              <a:t>The </a:t>
            </a:r>
            <a:r>
              <a:rPr lang="en-US" b="1" dirty="0" smtClean="0">
                <a:solidFill>
                  <a:srgbClr val="FF0000"/>
                </a:solidFill>
              </a:rPr>
              <a:t>ultimate objective of the Comprehensive Agrarian Reform </a:t>
            </a:r>
            <a:r>
              <a:rPr lang="en-US" dirty="0" smtClean="0"/>
              <a:t>is to __________.</a:t>
            </a:r>
            <a:br>
              <a:rPr lang="en-US" dirty="0" smtClean="0"/>
            </a:br>
            <a:endParaRPr lang="en-US" dirty="0"/>
          </a:p>
        </p:txBody>
      </p:sp>
      <p:sp>
        <p:nvSpPr>
          <p:cNvPr id="3" name="Content Placeholder 2"/>
          <p:cNvSpPr>
            <a:spLocks noGrp="1"/>
          </p:cNvSpPr>
          <p:nvPr>
            <p:ph sz="quarter" idx="1"/>
          </p:nvPr>
        </p:nvSpPr>
        <p:spPr>
          <a:xfrm>
            <a:off x="152400" y="1600200"/>
            <a:ext cx="8610600" cy="4873752"/>
          </a:xfrm>
        </p:spPr>
        <p:txBody>
          <a:bodyPr>
            <a:normAutofit fontScale="77500" lnSpcReduction="20000"/>
          </a:bodyPr>
          <a:lstStyle/>
          <a:p>
            <a:pPr lvl="0" latinLnBrk="1"/>
            <a:r>
              <a:rPr lang="en-US" sz="5400" dirty="0" smtClean="0"/>
              <a:t>A. Ensure </a:t>
            </a:r>
            <a:r>
              <a:rPr lang="en-US" sz="5400" dirty="0" smtClean="0"/>
              <a:t>the cultivation of </a:t>
            </a:r>
            <a:endParaRPr lang="en-US" sz="5400" dirty="0" smtClean="0"/>
          </a:p>
          <a:p>
            <a:pPr lvl="0" latinLnBrk="1">
              <a:buNone/>
            </a:pPr>
            <a:r>
              <a:rPr lang="en-US" sz="5400" dirty="0" smtClean="0"/>
              <a:t> </a:t>
            </a:r>
            <a:r>
              <a:rPr lang="en-US" sz="5400" dirty="0" smtClean="0"/>
              <a:t>  all </a:t>
            </a:r>
            <a:r>
              <a:rPr lang="en-US" sz="5400" dirty="0" smtClean="0"/>
              <a:t>idle lands</a:t>
            </a:r>
          </a:p>
          <a:p>
            <a:pPr lvl="0" latinLnBrk="1"/>
            <a:r>
              <a:rPr lang="en-US" sz="5400" b="1" dirty="0" smtClean="0"/>
              <a:t>B. Abolish </a:t>
            </a:r>
            <a:r>
              <a:rPr lang="en-US" sz="5400" b="1" dirty="0" smtClean="0"/>
              <a:t>share tendency in favor of lease tenancy</a:t>
            </a:r>
            <a:endParaRPr lang="en-US" sz="5400" dirty="0" smtClean="0"/>
          </a:p>
          <a:p>
            <a:pPr lvl="0" latinLnBrk="1"/>
            <a:r>
              <a:rPr lang="en-US" sz="5400" dirty="0" smtClean="0"/>
              <a:t>C. Distribute </a:t>
            </a:r>
            <a:r>
              <a:rPr lang="en-US" sz="5400" dirty="0" smtClean="0"/>
              <a:t>arable lands to the landless</a:t>
            </a:r>
          </a:p>
          <a:p>
            <a:pPr lvl="0" latinLnBrk="1"/>
            <a:r>
              <a:rPr lang="en-US" sz="5400" dirty="0" smtClean="0"/>
              <a:t>D. Establish </a:t>
            </a:r>
            <a:r>
              <a:rPr lang="en-US" sz="5400" dirty="0" smtClean="0"/>
              <a:t>owner-cultivated </a:t>
            </a:r>
            <a:endParaRPr lang="en-US" sz="5400" dirty="0" smtClean="0"/>
          </a:p>
          <a:p>
            <a:pPr lvl="0" latinLnBrk="1">
              <a:buNone/>
            </a:pPr>
            <a:r>
              <a:rPr lang="en-US" sz="5400" dirty="0" smtClean="0"/>
              <a:t> </a:t>
            </a:r>
            <a:r>
              <a:rPr lang="en-US" sz="5400" dirty="0" smtClean="0"/>
              <a:t>  farms</a:t>
            </a:r>
            <a:endParaRPr lang="en-US" sz="5400" dirty="0" smtClean="0"/>
          </a:p>
          <a:p>
            <a:pPr>
              <a:buNone/>
            </a:pP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05800" cy="1143000"/>
          </a:xfrm>
        </p:spPr>
        <p:txBody>
          <a:bodyPr>
            <a:normAutofit fontScale="90000"/>
          </a:bodyPr>
          <a:lstStyle/>
          <a:p>
            <a:pPr lvl="0"/>
            <a:r>
              <a:rPr lang="en-US" dirty="0" smtClean="0"/>
              <a:t>66. </a:t>
            </a:r>
            <a:r>
              <a:rPr lang="en-US" dirty="0" smtClean="0"/>
              <a:t>What is </a:t>
            </a:r>
            <a:r>
              <a:rPr lang="en-US" b="1" dirty="0" smtClean="0">
                <a:solidFill>
                  <a:srgbClr val="FF0000"/>
                </a:solidFill>
              </a:rPr>
              <a:t>true of progressive system of taxation</a:t>
            </a:r>
            <a:r>
              <a:rPr lang="en-US" dirty="0" smtClean="0"/>
              <a:t>?</a:t>
            </a:r>
            <a:br>
              <a:rPr lang="en-US" dirty="0" smtClean="0"/>
            </a:br>
            <a:endParaRPr lang="en-US" dirty="0"/>
          </a:p>
        </p:txBody>
      </p:sp>
      <p:sp>
        <p:nvSpPr>
          <p:cNvPr id="3" name="Content Placeholder 2"/>
          <p:cNvSpPr>
            <a:spLocks noGrp="1"/>
          </p:cNvSpPr>
          <p:nvPr>
            <p:ph sz="quarter" idx="1"/>
          </p:nvPr>
        </p:nvSpPr>
        <p:spPr>
          <a:xfrm>
            <a:off x="457200" y="1219200"/>
            <a:ext cx="8153400" cy="5254752"/>
          </a:xfrm>
        </p:spPr>
        <p:txBody>
          <a:bodyPr>
            <a:normAutofit fontScale="85000" lnSpcReduction="20000"/>
          </a:bodyPr>
          <a:lstStyle/>
          <a:p>
            <a:pPr lvl="0" latinLnBrk="1"/>
            <a:r>
              <a:rPr lang="en-US" sz="4800" b="1" dirty="0" smtClean="0"/>
              <a:t>A. The </a:t>
            </a:r>
            <a:r>
              <a:rPr lang="en-US" sz="4800" b="1" dirty="0" smtClean="0"/>
              <a:t>rate of tax increases as the income base or </a:t>
            </a:r>
            <a:endParaRPr lang="en-US" sz="4800" b="1" dirty="0" smtClean="0"/>
          </a:p>
          <a:p>
            <a:pPr lvl="0" latinLnBrk="1">
              <a:buNone/>
            </a:pPr>
            <a:r>
              <a:rPr lang="en-US" sz="4800" b="1" dirty="0" smtClean="0"/>
              <a:t> </a:t>
            </a:r>
            <a:r>
              <a:rPr lang="en-US" sz="4800" b="1" dirty="0" smtClean="0"/>
              <a:t>  income </a:t>
            </a:r>
            <a:r>
              <a:rPr lang="en-US" sz="4800" b="1" dirty="0" smtClean="0"/>
              <a:t>bracket increases.</a:t>
            </a:r>
            <a:endParaRPr lang="en-US" sz="4800" dirty="0" smtClean="0"/>
          </a:p>
          <a:p>
            <a:pPr lvl="0" latinLnBrk="1"/>
            <a:r>
              <a:rPr lang="en-US" sz="4800" dirty="0" smtClean="0"/>
              <a:t>B. The </a:t>
            </a:r>
            <a:r>
              <a:rPr lang="en-US" sz="4800" dirty="0" smtClean="0"/>
              <a:t>tax is equal regardless </a:t>
            </a:r>
            <a:endParaRPr lang="en-US" sz="4800" dirty="0" smtClean="0"/>
          </a:p>
          <a:p>
            <a:pPr lvl="0" latinLnBrk="1">
              <a:buNone/>
            </a:pPr>
            <a:r>
              <a:rPr lang="en-US" sz="4800" dirty="0" smtClean="0"/>
              <a:t> </a:t>
            </a:r>
            <a:r>
              <a:rPr lang="en-US" sz="4800" dirty="0" smtClean="0"/>
              <a:t>  of </a:t>
            </a:r>
            <a:r>
              <a:rPr lang="en-US" sz="4800" dirty="0" smtClean="0"/>
              <a:t>class and place.</a:t>
            </a:r>
          </a:p>
          <a:p>
            <a:pPr lvl="0" latinLnBrk="1"/>
            <a:r>
              <a:rPr lang="en-US" sz="4800" dirty="0" smtClean="0"/>
              <a:t>C. The </a:t>
            </a:r>
            <a:r>
              <a:rPr lang="en-US" sz="4800" dirty="0" smtClean="0"/>
              <a:t>rate of tax decreases as the income tax base increases.</a:t>
            </a:r>
          </a:p>
          <a:p>
            <a:pPr lvl="0" latinLnBrk="1"/>
            <a:r>
              <a:rPr lang="en-US" sz="4800" dirty="0" smtClean="0"/>
              <a:t>D. The </a:t>
            </a:r>
            <a:r>
              <a:rPr lang="en-US" sz="4800" dirty="0" smtClean="0"/>
              <a:t>rate of tax increases as the income tax base decreases.</a:t>
            </a:r>
          </a:p>
          <a:p>
            <a:pPr>
              <a:buNone/>
            </a:pPr>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371600"/>
            <a:ext cx="8458200" cy="1143000"/>
          </a:xfrm>
        </p:spPr>
        <p:txBody>
          <a:bodyPr>
            <a:normAutofit fontScale="90000"/>
          </a:bodyPr>
          <a:lstStyle/>
          <a:p>
            <a:pPr lvl="0"/>
            <a:r>
              <a:rPr lang="en-US" dirty="0" smtClean="0"/>
              <a:t>67. </a:t>
            </a:r>
            <a:r>
              <a:rPr lang="en-US" dirty="0" smtClean="0"/>
              <a:t>I </a:t>
            </a:r>
            <a:r>
              <a:rPr lang="en-US" b="1" dirty="0" smtClean="0">
                <a:solidFill>
                  <a:srgbClr val="FF0000"/>
                </a:solidFill>
              </a:rPr>
              <a:t>rent out for P10,000 per month </a:t>
            </a:r>
            <a:r>
              <a:rPr lang="en-US" dirty="0" smtClean="0"/>
              <a:t>my only building and </a:t>
            </a:r>
            <a:r>
              <a:rPr lang="en-US" dirty="0" smtClean="0">
                <a:solidFill>
                  <a:srgbClr val="FF0000"/>
                </a:solidFill>
              </a:rPr>
              <a:t>lot to the </a:t>
            </a:r>
            <a:r>
              <a:rPr lang="en-US" i="1" dirty="0" smtClean="0">
                <a:solidFill>
                  <a:srgbClr val="FF0000"/>
                </a:solidFill>
              </a:rPr>
              <a:t>Jesus is Lord</a:t>
            </a:r>
            <a:r>
              <a:rPr lang="en-US" dirty="0" smtClean="0">
                <a:solidFill>
                  <a:srgbClr val="FF0000"/>
                </a:solidFill>
              </a:rPr>
              <a:t> </a:t>
            </a:r>
            <a:r>
              <a:rPr lang="en-US" dirty="0" smtClean="0"/>
              <a:t>Group which </a:t>
            </a:r>
            <a:r>
              <a:rPr lang="en-US" dirty="0" smtClean="0">
                <a:solidFill>
                  <a:srgbClr val="FF0000"/>
                </a:solidFill>
              </a:rPr>
              <a:t>uses it exclusively for religious purposes.</a:t>
            </a:r>
            <a:r>
              <a:rPr lang="en-US" dirty="0" smtClean="0"/>
              <a:t> </a:t>
            </a:r>
            <a:r>
              <a:rPr lang="en-US" dirty="0" smtClean="0">
                <a:solidFill>
                  <a:srgbClr val="FF0000"/>
                </a:solidFill>
              </a:rPr>
              <a:t>I am exempt from payment of </a:t>
            </a:r>
            <a:r>
              <a:rPr lang="en-US" dirty="0" smtClean="0"/>
              <a:t>______________.</a:t>
            </a:r>
            <a:br>
              <a:rPr lang="en-US" dirty="0" smtClean="0"/>
            </a:br>
            <a:endParaRPr lang="en-US" dirty="0"/>
          </a:p>
        </p:txBody>
      </p:sp>
      <p:sp>
        <p:nvSpPr>
          <p:cNvPr id="3" name="Content Placeholder 2"/>
          <p:cNvSpPr>
            <a:spLocks noGrp="1"/>
          </p:cNvSpPr>
          <p:nvPr>
            <p:ph sz="quarter" idx="1"/>
          </p:nvPr>
        </p:nvSpPr>
        <p:spPr>
          <a:xfrm>
            <a:off x="228600" y="1984248"/>
            <a:ext cx="8534400" cy="4873752"/>
          </a:xfrm>
        </p:spPr>
        <p:txBody>
          <a:bodyPr/>
          <a:lstStyle/>
          <a:p>
            <a:pPr lvl="0" latinLnBrk="1"/>
            <a:r>
              <a:rPr lang="en-US" sz="6000" b="1" dirty="0" smtClean="0"/>
              <a:t>A. Property </a:t>
            </a:r>
            <a:r>
              <a:rPr lang="en-US" sz="6000" b="1" dirty="0" smtClean="0"/>
              <a:t>tax</a:t>
            </a:r>
            <a:endParaRPr lang="en-US" sz="6000" dirty="0" smtClean="0"/>
          </a:p>
          <a:p>
            <a:pPr lvl="0" latinLnBrk="1"/>
            <a:r>
              <a:rPr lang="en-US" sz="6000" dirty="0" smtClean="0"/>
              <a:t>B. Professional </a:t>
            </a:r>
            <a:r>
              <a:rPr lang="en-US" sz="6000" dirty="0" smtClean="0"/>
              <a:t>tax</a:t>
            </a:r>
          </a:p>
          <a:p>
            <a:pPr lvl="0" latinLnBrk="1"/>
            <a:r>
              <a:rPr lang="en-US" sz="6000" dirty="0" smtClean="0"/>
              <a:t>C. Income </a:t>
            </a:r>
            <a:r>
              <a:rPr lang="en-US" sz="6000" dirty="0" smtClean="0"/>
              <a:t>tax</a:t>
            </a:r>
          </a:p>
          <a:p>
            <a:pPr lvl="0" latinLnBrk="1"/>
            <a:r>
              <a:rPr lang="en-US" sz="6000" dirty="0" smtClean="0"/>
              <a:t>D. Community </a:t>
            </a:r>
            <a:r>
              <a:rPr lang="en-US" sz="6000" dirty="0" smtClean="0"/>
              <a:t>tax</a:t>
            </a:r>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09600"/>
            <a:ext cx="8534400" cy="1143000"/>
          </a:xfrm>
        </p:spPr>
        <p:txBody>
          <a:bodyPr>
            <a:normAutofit fontScale="90000"/>
          </a:bodyPr>
          <a:lstStyle/>
          <a:p>
            <a:pPr lvl="0"/>
            <a:r>
              <a:rPr lang="en-US" dirty="0" smtClean="0"/>
              <a:t>68. </a:t>
            </a:r>
            <a:r>
              <a:rPr lang="en-US" dirty="0" smtClean="0"/>
              <a:t>You are a </a:t>
            </a:r>
            <a:r>
              <a:rPr lang="en-US" dirty="0" smtClean="0">
                <a:solidFill>
                  <a:srgbClr val="FF0000"/>
                </a:solidFill>
              </a:rPr>
              <a:t>member of a cooperative </a:t>
            </a:r>
            <a:r>
              <a:rPr lang="en-US" dirty="0" smtClean="0"/>
              <a:t>which </a:t>
            </a:r>
            <a:r>
              <a:rPr lang="en-US" dirty="0" smtClean="0">
                <a:solidFill>
                  <a:srgbClr val="FF0000"/>
                </a:solidFill>
              </a:rPr>
              <a:t>operates taxis, tricycles, and buses</a:t>
            </a:r>
            <a:r>
              <a:rPr lang="en-US" dirty="0" smtClean="0"/>
              <a:t>. Of which </a:t>
            </a:r>
            <a:r>
              <a:rPr lang="en-US" b="1" dirty="0" smtClean="0">
                <a:solidFill>
                  <a:srgbClr val="FF0000"/>
                </a:solidFill>
              </a:rPr>
              <a:t>type</a:t>
            </a:r>
            <a:r>
              <a:rPr lang="en-US" dirty="0" smtClean="0"/>
              <a:t> of a cooperative are you a member?</a:t>
            </a:r>
            <a:br>
              <a:rPr lang="en-US" dirty="0" smtClean="0"/>
            </a:br>
            <a:endParaRPr lang="en-US" dirty="0"/>
          </a:p>
        </p:txBody>
      </p:sp>
      <p:sp>
        <p:nvSpPr>
          <p:cNvPr id="3" name="Content Placeholder 2"/>
          <p:cNvSpPr>
            <a:spLocks noGrp="1"/>
          </p:cNvSpPr>
          <p:nvPr>
            <p:ph sz="quarter" idx="1"/>
          </p:nvPr>
        </p:nvSpPr>
        <p:spPr>
          <a:xfrm>
            <a:off x="228600" y="1600200"/>
            <a:ext cx="8382000" cy="4873752"/>
          </a:xfrm>
        </p:spPr>
        <p:txBody>
          <a:bodyPr>
            <a:normAutofit fontScale="92500"/>
          </a:bodyPr>
          <a:lstStyle/>
          <a:p>
            <a:pPr lvl="0" latinLnBrk="1"/>
            <a:r>
              <a:rPr lang="en-US" sz="5400" b="1" dirty="0" smtClean="0"/>
              <a:t>A. Service </a:t>
            </a:r>
            <a:r>
              <a:rPr lang="en-US" sz="5400" b="1" dirty="0" smtClean="0"/>
              <a:t>cooperative</a:t>
            </a:r>
            <a:endParaRPr lang="en-US" sz="5400" dirty="0" smtClean="0"/>
          </a:p>
          <a:p>
            <a:pPr lvl="0" latinLnBrk="1"/>
            <a:r>
              <a:rPr lang="en-US" sz="5400" dirty="0" smtClean="0"/>
              <a:t>B. Multipurpose </a:t>
            </a:r>
          </a:p>
          <a:p>
            <a:pPr lvl="0" latinLnBrk="1">
              <a:buNone/>
            </a:pPr>
            <a:r>
              <a:rPr lang="en-US" sz="5400" dirty="0" smtClean="0"/>
              <a:t> </a:t>
            </a:r>
            <a:r>
              <a:rPr lang="en-US" sz="5400" dirty="0" smtClean="0"/>
              <a:t>    cooperative</a:t>
            </a:r>
            <a:endParaRPr lang="en-US" sz="5400" dirty="0" smtClean="0"/>
          </a:p>
          <a:p>
            <a:pPr lvl="0" latinLnBrk="1"/>
            <a:r>
              <a:rPr lang="en-US" sz="5400" dirty="0" smtClean="0"/>
              <a:t>C. Marketing </a:t>
            </a:r>
            <a:r>
              <a:rPr lang="en-US" sz="5400" dirty="0" smtClean="0"/>
              <a:t>cooperative</a:t>
            </a:r>
          </a:p>
          <a:p>
            <a:pPr lvl="0" latinLnBrk="1"/>
            <a:r>
              <a:rPr lang="en-US" sz="5400" dirty="0" smtClean="0"/>
              <a:t>D. Producers </a:t>
            </a:r>
            <a:r>
              <a:rPr lang="en-US" sz="5400" dirty="0" smtClean="0"/>
              <a:t>cooperative</a:t>
            </a:r>
          </a:p>
          <a:p>
            <a:pPr>
              <a:buNone/>
            </a:pP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1143000"/>
          </a:xfrm>
        </p:spPr>
        <p:txBody>
          <a:bodyPr>
            <a:normAutofit fontScale="90000"/>
          </a:bodyPr>
          <a:lstStyle/>
          <a:p>
            <a:pPr lvl="0"/>
            <a:r>
              <a:rPr lang="en-US" dirty="0" smtClean="0"/>
              <a:t>69. </a:t>
            </a:r>
            <a:r>
              <a:rPr lang="en-US" dirty="0" smtClean="0"/>
              <a:t>You have a property worth P500,000. The tax is 1% he pays P5000. If his property is worth P1,000,000 he pays P10,000. Which does this illustrate?</a:t>
            </a:r>
            <a:br>
              <a:rPr lang="en-US" dirty="0" smtClean="0"/>
            </a:br>
            <a:endParaRPr lang="en-US" dirty="0"/>
          </a:p>
        </p:txBody>
      </p:sp>
      <p:sp>
        <p:nvSpPr>
          <p:cNvPr id="3" name="Content Placeholder 2"/>
          <p:cNvSpPr>
            <a:spLocks noGrp="1"/>
          </p:cNvSpPr>
          <p:nvPr>
            <p:ph sz="quarter" idx="1"/>
          </p:nvPr>
        </p:nvSpPr>
        <p:spPr>
          <a:xfrm>
            <a:off x="457200" y="1984248"/>
            <a:ext cx="8229600" cy="4873752"/>
          </a:xfrm>
        </p:spPr>
        <p:txBody>
          <a:bodyPr/>
          <a:lstStyle/>
          <a:p>
            <a:pPr lvl="0" latinLnBrk="1"/>
            <a:r>
              <a:rPr lang="en-US" sz="4400" b="1" dirty="0" smtClean="0"/>
              <a:t>A. Progressive </a:t>
            </a:r>
            <a:r>
              <a:rPr lang="en-US" sz="4400" b="1" dirty="0" smtClean="0"/>
              <a:t>taxation</a:t>
            </a:r>
            <a:endParaRPr lang="en-US" sz="4400" dirty="0" smtClean="0"/>
          </a:p>
          <a:p>
            <a:pPr lvl="0" latinLnBrk="1"/>
            <a:r>
              <a:rPr lang="en-US" sz="4400" dirty="0" smtClean="0"/>
              <a:t>B. Uniformity </a:t>
            </a:r>
            <a:r>
              <a:rPr lang="en-US" sz="4400" dirty="0" smtClean="0"/>
              <a:t>in taxation</a:t>
            </a:r>
          </a:p>
          <a:p>
            <a:pPr lvl="0" latinLnBrk="1"/>
            <a:r>
              <a:rPr lang="en-US" sz="4400" dirty="0" smtClean="0"/>
              <a:t>C. Equity </a:t>
            </a:r>
            <a:r>
              <a:rPr lang="en-US" sz="4400" dirty="0" smtClean="0"/>
              <a:t>in taxation</a:t>
            </a:r>
          </a:p>
          <a:p>
            <a:pPr lvl="0" latinLnBrk="1"/>
            <a:r>
              <a:rPr lang="en-US" sz="4400" dirty="0" smtClean="0"/>
              <a:t>D. Equality </a:t>
            </a:r>
            <a:r>
              <a:rPr lang="en-US" sz="4400" dirty="0" smtClean="0"/>
              <a:t>in taxation</a:t>
            </a:r>
          </a:p>
          <a:p>
            <a:pPr latinLnBrk="1">
              <a:buNone/>
            </a:pPr>
            <a:endParaRPr lang="en-US" dirty="0" smtClean="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1143000"/>
          </a:xfrm>
        </p:spPr>
        <p:txBody>
          <a:bodyPr>
            <a:normAutofit fontScale="90000"/>
          </a:bodyPr>
          <a:lstStyle/>
          <a:p>
            <a:pPr lvl="0"/>
            <a:r>
              <a:rPr lang="en-US" dirty="0" smtClean="0"/>
              <a:t>70. </a:t>
            </a:r>
            <a:r>
              <a:rPr lang="en-US" dirty="0" smtClean="0"/>
              <a:t>Which is an </a:t>
            </a:r>
            <a:r>
              <a:rPr lang="en-US" b="1" dirty="0" smtClean="0">
                <a:solidFill>
                  <a:srgbClr val="FF0000"/>
                </a:solidFill>
              </a:rPr>
              <a:t>unlawful act of escaping from payment of taxes</a:t>
            </a:r>
            <a:r>
              <a:rPr lang="en-US" dirty="0" smtClean="0"/>
              <a:t>?</a:t>
            </a:r>
            <a:br>
              <a:rPr lang="en-US" dirty="0" smtClean="0"/>
            </a:br>
            <a:endParaRPr lang="en-US" dirty="0"/>
          </a:p>
        </p:txBody>
      </p:sp>
      <p:sp>
        <p:nvSpPr>
          <p:cNvPr id="3" name="Content Placeholder 2"/>
          <p:cNvSpPr>
            <a:spLocks noGrp="1"/>
          </p:cNvSpPr>
          <p:nvPr>
            <p:ph sz="quarter" idx="1"/>
          </p:nvPr>
        </p:nvSpPr>
        <p:spPr>
          <a:xfrm>
            <a:off x="457200" y="1371600"/>
            <a:ext cx="8229600" cy="5102352"/>
          </a:xfrm>
        </p:spPr>
        <p:txBody>
          <a:bodyPr/>
          <a:lstStyle/>
          <a:p>
            <a:pPr lvl="0" latinLnBrk="1"/>
            <a:r>
              <a:rPr lang="en-US" sz="6600" b="1" dirty="0" smtClean="0"/>
              <a:t>A. Evasion</a:t>
            </a:r>
            <a:endParaRPr lang="en-US" sz="6600" dirty="0" smtClean="0"/>
          </a:p>
          <a:p>
            <a:pPr lvl="0" latinLnBrk="1"/>
            <a:r>
              <a:rPr lang="en-US" sz="6600" dirty="0" smtClean="0"/>
              <a:t>B. Avoidance</a:t>
            </a:r>
            <a:endParaRPr lang="en-US" sz="6600" dirty="0" smtClean="0"/>
          </a:p>
          <a:p>
            <a:pPr lvl="0" latinLnBrk="1"/>
            <a:r>
              <a:rPr lang="en-US" sz="6600" dirty="0" smtClean="0"/>
              <a:t>C. Exemption</a:t>
            </a:r>
            <a:endParaRPr lang="en-US" sz="6600" dirty="0" smtClean="0"/>
          </a:p>
          <a:p>
            <a:pPr lvl="0" latinLnBrk="1"/>
            <a:r>
              <a:rPr lang="en-US" sz="6600" dirty="0" smtClean="0"/>
              <a:t>D. Shifting</a:t>
            </a:r>
            <a:endParaRPr lang="en-US" sz="6600" dirty="0" smtClean="0"/>
          </a:p>
          <a:p>
            <a:pPr>
              <a:buNone/>
            </a:pP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85800"/>
            <a:ext cx="8534400" cy="1143000"/>
          </a:xfrm>
        </p:spPr>
        <p:txBody>
          <a:bodyPr>
            <a:normAutofit fontScale="90000"/>
          </a:bodyPr>
          <a:lstStyle/>
          <a:p>
            <a:pPr lvl="0"/>
            <a:r>
              <a:rPr lang="en-US" dirty="0" smtClean="0"/>
              <a:t>71. </a:t>
            </a:r>
            <a:r>
              <a:rPr lang="en-US" dirty="0" smtClean="0"/>
              <a:t>Which is </a:t>
            </a:r>
            <a:r>
              <a:rPr lang="en-US" b="1" dirty="0" smtClean="0">
                <a:solidFill>
                  <a:srgbClr val="FF0000"/>
                </a:solidFill>
              </a:rPr>
              <a:t>required of cooperative members for the operation of their cooperative</a:t>
            </a:r>
            <a:r>
              <a:rPr lang="en-US" dirty="0" smtClean="0"/>
              <a:t>?</a:t>
            </a:r>
            <a:br>
              <a:rPr lang="en-US" dirty="0" smtClean="0"/>
            </a:br>
            <a:endParaRPr lang="en-US" dirty="0"/>
          </a:p>
        </p:txBody>
      </p:sp>
      <p:sp>
        <p:nvSpPr>
          <p:cNvPr id="3" name="Content Placeholder 2"/>
          <p:cNvSpPr>
            <a:spLocks noGrp="1"/>
          </p:cNvSpPr>
          <p:nvPr>
            <p:ph sz="quarter" idx="1"/>
          </p:nvPr>
        </p:nvSpPr>
        <p:spPr>
          <a:xfrm>
            <a:off x="457200" y="1600200"/>
            <a:ext cx="8229600" cy="4873752"/>
          </a:xfrm>
        </p:spPr>
        <p:txBody>
          <a:bodyPr/>
          <a:lstStyle/>
          <a:p>
            <a:pPr lvl="0" latinLnBrk="1"/>
            <a:r>
              <a:rPr lang="en-US" sz="5400" b="1" dirty="0" smtClean="0"/>
              <a:t>A. Share </a:t>
            </a:r>
            <a:r>
              <a:rPr lang="en-US" sz="5400" b="1" dirty="0" smtClean="0"/>
              <a:t>capital</a:t>
            </a:r>
            <a:endParaRPr lang="en-US" sz="5400" dirty="0" smtClean="0"/>
          </a:p>
          <a:p>
            <a:pPr lvl="0" latinLnBrk="1"/>
            <a:r>
              <a:rPr lang="en-US" sz="5400" dirty="0" smtClean="0"/>
              <a:t>B. Interest </a:t>
            </a:r>
            <a:r>
              <a:rPr lang="en-US" sz="5400" dirty="0" smtClean="0"/>
              <a:t>on the share capital</a:t>
            </a:r>
          </a:p>
          <a:p>
            <a:pPr lvl="0" latinLnBrk="1"/>
            <a:r>
              <a:rPr lang="en-US" sz="5400" dirty="0" smtClean="0"/>
              <a:t>C. Net </a:t>
            </a:r>
            <a:r>
              <a:rPr lang="en-US" sz="5400" dirty="0" smtClean="0"/>
              <a:t>surplus</a:t>
            </a:r>
          </a:p>
          <a:p>
            <a:pPr lvl="0" latinLnBrk="1"/>
            <a:r>
              <a:rPr lang="en-US" sz="5400" dirty="0" smtClean="0"/>
              <a:t>D. Patronage </a:t>
            </a:r>
            <a:r>
              <a:rPr lang="en-US" sz="5400" dirty="0" smtClean="0"/>
              <a:t>refund</a:t>
            </a:r>
          </a:p>
          <a:p>
            <a:pPr>
              <a:buNone/>
            </a:pP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72. </a:t>
            </a:r>
            <a:r>
              <a:rPr lang="en-US" dirty="0" smtClean="0"/>
              <a:t>The </a:t>
            </a:r>
            <a:r>
              <a:rPr lang="en-US" b="1" dirty="0" smtClean="0">
                <a:solidFill>
                  <a:srgbClr val="FF0000"/>
                </a:solidFill>
              </a:rPr>
              <a:t>primary purpose of taxation </a:t>
            </a:r>
            <a:r>
              <a:rPr lang="en-US" dirty="0" smtClean="0"/>
              <a:t>is to ________.</a:t>
            </a:r>
            <a:br>
              <a:rPr lang="en-US" dirty="0" smtClean="0"/>
            </a:br>
            <a:endParaRPr lang="en-US" dirty="0"/>
          </a:p>
        </p:txBody>
      </p:sp>
      <p:sp>
        <p:nvSpPr>
          <p:cNvPr id="3" name="Content Placeholder 2"/>
          <p:cNvSpPr>
            <a:spLocks noGrp="1"/>
          </p:cNvSpPr>
          <p:nvPr>
            <p:ph sz="quarter" idx="1"/>
          </p:nvPr>
        </p:nvSpPr>
        <p:spPr>
          <a:xfrm>
            <a:off x="457200" y="1143000"/>
            <a:ext cx="8229600" cy="5330952"/>
          </a:xfrm>
        </p:spPr>
        <p:txBody>
          <a:bodyPr>
            <a:normAutofit fontScale="92500" lnSpcReduction="20000"/>
          </a:bodyPr>
          <a:lstStyle/>
          <a:p>
            <a:pPr lvl="0" latinLnBrk="1"/>
            <a:r>
              <a:rPr lang="en-US" sz="4400" b="1" dirty="0" smtClean="0"/>
              <a:t>A. Raise </a:t>
            </a:r>
            <a:r>
              <a:rPr lang="en-US" sz="4400" b="1" dirty="0" smtClean="0"/>
              <a:t>revenue for the </a:t>
            </a:r>
            <a:endParaRPr lang="en-US" sz="4400" b="1" dirty="0" smtClean="0"/>
          </a:p>
          <a:p>
            <a:pPr lvl="0" latinLnBrk="1">
              <a:buNone/>
            </a:pPr>
            <a:r>
              <a:rPr lang="en-US" sz="4400" b="1" dirty="0" smtClean="0"/>
              <a:t> </a:t>
            </a:r>
            <a:r>
              <a:rPr lang="en-US" sz="4400" b="1" dirty="0" smtClean="0"/>
              <a:t>   support </a:t>
            </a:r>
            <a:r>
              <a:rPr lang="en-US" sz="4400" b="1" dirty="0" smtClean="0"/>
              <a:t>of government</a:t>
            </a:r>
            <a:endParaRPr lang="en-US" sz="4400" dirty="0" smtClean="0"/>
          </a:p>
          <a:p>
            <a:pPr lvl="0" latinLnBrk="1"/>
            <a:r>
              <a:rPr lang="en-US" sz="4400" dirty="0" smtClean="0"/>
              <a:t>B. Reduce </a:t>
            </a:r>
            <a:r>
              <a:rPr lang="en-US" sz="4400" dirty="0" smtClean="0"/>
              <a:t>inequalities in </a:t>
            </a:r>
            <a:endParaRPr lang="en-US" sz="4400" dirty="0" smtClean="0"/>
          </a:p>
          <a:p>
            <a:pPr lvl="0" latinLnBrk="1">
              <a:buNone/>
            </a:pPr>
            <a:r>
              <a:rPr lang="en-US" sz="4400" dirty="0" smtClean="0"/>
              <a:t> </a:t>
            </a:r>
            <a:r>
              <a:rPr lang="en-US" sz="4400" dirty="0" smtClean="0"/>
              <a:t>   wealth </a:t>
            </a:r>
            <a:r>
              <a:rPr lang="en-US" sz="4400" dirty="0" smtClean="0"/>
              <a:t>and incomes</a:t>
            </a:r>
          </a:p>
          <a:p>
            <a:pPr lvl="0" latinLnBrk="1"/>
            <a:r>
              <a:rPr lang="en-US" sz="4400" dirty="0" smtClean="0"/>
              <a:t>C. Fortify </a:t>
            </a:r>
            <a:r>
              <a:rPr lang="en-US" sz="4400" dirty="0" smtClean="0"/>
              <a:t>the government </a:t>
            </a:r>
            <a:endParaRPr lang="en-US" sz="4400" dirty="0" smtClean="0"/>
          </a:p>
          <a:p>
            <a:pPr lvl="0" latinLnBrk="1">
              <a:buNone/>
            </a:pPr>
            <a:r>
              <a:rPr lang="en-US" sz="4400" dirty="0" smtClean="0"/>
              <a:t>    against </a:t>
            </a:r>
            <a:r>
              <a:rPr lang="en-US" sz="4400" dirty="0" smtClean="0"/>
              <a:t>invaders</a:t>
            </a:r>
          </a:p>
          <a:p>
            <a:pPr lvl="0" latinLnBrk="1"/>
            <a:r>
              <a:rPr lang="en-US" sz="4400" dirty="0" smtClean="0"/>
              <a:t>D. Make </a:t>
            </a:r>
            <a:r>
              <a:rPr lang="en-US" sz="4400" dirty="0" smtClean="0"/>
              <a:t>the country a leading </a:t>
            </a:r>
            <a:endParaRPr lang="en-US" sz="4400" dirty="0" smtClean="0"/>
          </a:p>
          <a:p>
            <a:pPr lvl="0" latinLnBrk="1">
              <a:buNone/>
            </a:pPr>
            <a:r>
              <a:rPr lang="en-US" sz="4400" dirty="0" smtClean="0"/>
              <a:t> </a:t>
            </a:r>
            <a:r>
              <a:rPr lang="en-US" sz="4400" dirty="0" smtClean="0"/>
              <a:t>    industrialized </a:t>
            </a:r>
            <a:r>
              <a:rPr lang="en-US" sz="4400" dirty="0" smtClean="0"/>
              <a:t>country in the world.</a:t>
            </a:r>
          </a:p>
          <a:p>
            <a:pPr>
              <a:buNone/>
            </a:pP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143000"/>
          </a:xfrm>
        </p:spPr>
        <p:txBody>
          <a:bodyPr>
            <a:normAutofit fontScale="90000"/>
          </a:bodyPr>
          <a:lstStyle/>
          <a:p>
            <a:pPr lvl="0"/>
            <a:r>
              <a:rPr lang="en-US" dirty="0" smtClean="0"/>
              <a:t>73. </a:t>
            </a:r>
            <a:r>
              <a:rPr lang="en-US" dirty="0" smtClean="0"/>
              <a:t>Which is/ are </a:t>
            </a:r>
            <a:r>
              <a:rPr lang="en-US" b="1" dirty="0" smtClean="0">
                <a:solidFill>
                  <a:srgbClr val="FF0000"/>
                </a:solidFill>
              </a:rPr>
              <a:t>essential for the Comprehensive Agrarian Reform Program </a:t>
            </a:r>
            <a:r>
              <a:rPr lang="en-US" dirty="0" smtClean="0"/>
              <a:t>to </a:t>
            </a:r>
            <a:r>
              <a:rPr lang="en-US" dirty="0" smtClean="0">
                <a:solidFill>
                  <a:srgbClr val="FF0000"/>
                </a:solidFill>
              </a:rPr>
              <a:t>truly succeed</a:t>
            </a:r>
            <a:r>
              <a:rPr lang="en-US" dirty="0" smtClean="0"/>
              <a:t>?</a:t>
            </a:r>
            <a:br>
              <a:rPr lang="en-US" dirty="0" smtClean="0"/>
            </a:br>
            <a:endParaRPr lang="en-US" dirty="0"/>
          </a:p>
        </p:txBody>
      </p:sp>
      <p:sp>
        <p:nvSpPr>
          <p:cNvPr id="3" name="Content Placeholder 2"/>
          <p:cNvSpPr>
            <a:spLocks noGrp="1"/>
          </p:cNvSpPr>
          <p:nvPr>
            <p:ph sz="quarter" idx="1"/>
          </p:nvPr>
        </p:nvSpPr>
        <p:spPr>
          <a:xfrm>
            <a:off x="0" y="1600200"/>
            <a:ext cx="8763000" cy="4873752"/>
          </a:xfrm>
        </p:spPr>
        <p:txBody>
          <a:bodyPr>
            <a:normAutofit fontScale="92500" lnSpcReduction="10000"/>
          </a:bodyPr>
          <a:lstStyle/>
          <a:p>
            <a:pPr lvl="0" latinLnBrk="1"/>
            <a:r>
              <a:rPr lang="en-US" sz="4800" dirty="0" smtClean="0"/>
              <a:t>I. Granting </a:t>
            </a:r>
            <a:r>
              <a:rPr lang="en-US" sz="4800" dirty="0" smtClean="0"/>
              <a:t>the beneficiaries </a:t>
            </a:r>
            <a:endParaRPr lang="en-US" sz="4800" dirty="0" smtClean="0"/>
          </a:p>
          <a:p>
            <a:pPr lvl="0" latinLnBrk="1">
              <a:buNone/>
            </a:pPr>
            <a:r>
              <a:rPr lang="en-US" sz="4800" dirty="0" smtClean="0"/>
              <a:t> </a:t>
            </a:r>
            <a:r>
              <a:rPr lang="en-US" sz="4800" dirty="0" smtClean="0"/>
              <a:t> the </a:t>
            </a:r>
            <a:r>
              <a:rPr lang="en-US" sz="4800" dirty="0" smtClean="0"/>
              <a:t>right to sell the piece of </a:t>
            </a:r>
            <a:endParaRPr lang="en-US" sz="4800" dirty="0" smtClean="0"/>
          </a:p>
          <a:p>
            <a:pPr lvl="0" latinLnBrk="1">
              <a:buNone/>
            </a:pPr>
            <a:r>
              <a:rPr lang="en-US" sz="4800" dirty="0" smtClean="0"/>
              <a:t> </a:t>
            </a:r>
            <a:r>
              <a:rPr lang="en-US" sz="4800" dirty="0" smtClean="0"/>
              <a:t> land </a:t>
            </a:r>
            <a:r>
              <a:rPr lang="en-US" sz="4800" dirty="0" smtClean="0"/>
              <a:t>awarded to them.</a:t>
            </a:r>
          </a:p>
          <a:p>
            <a:pPr lvl="0" latinLnBrk="1"/>
            <a:r>
              <a:rPr lang="en-US" sz="4800" dirty="0" smtClean="0"/>
              <a:t>II. Change </a:t>
            </a:r>
            <a:r>
              <a:rPr lang="en-US" sz="4800" dirty="0" smtClean="0"/>
              <a:t>of heart of the </a:t>
            </a:r>
            <a:endParaRPr lang="en-US" sz="4800" dirty="0" smtClean="0"/>
          </a:p>
          <a:p>
            <a:pPr lvl="0" latinLnBrk="1">
              <a:buNone/>
            </a:pPr>
            <a:r>
              <a:rPr lang="en-US" sz="4800" dirty="0" smtClean="0"/>
              <a:t> </a:t>
            </a:r>
            <a:r>
              <a:rPr lang="en-US" sz="4800" dirty="0" smtClean="0"/>
              <a:t>  landlords </a:t>
            </a:r>
            <a:r>
              <a:rPr lang="en-US" sz="4800" dirty="0" smtClean="0"/>
              <a:t>and lawmakers</a:t>
            </a:r>
          </a:p>
          <a:p>
            <a:pPr lvl="0" latinLnBrk="1"/>
            <a:r>
              <a:rPr lang="en-US" sz="4800" dirty="0" smtClean="0"/>
              <a:t>III. Education </a:t>
            </a:r>
            <a:r>
              <a:rPr lang="en-US" sz="4800" dirty="0" smtClean="0"/>
              <a:t>of the </a:t>
            </a:r>
            <a:endParaRPr lang="en-US" sz="4800" dirty="0" smtClean="0"/>
          </a:p>
          <a:p>
            <a:pPr lvl="0" latinLnBrk="1">
              <a:buNone/>
            </a:pPr>
            <a:r>
              <a:rPr lang="en-US" sz="4800" dirty="0" smtClean="0"/>
              <a:t> </a:t>
            </a:r>
            <a:r>
              <a:rPr lang="en-US" sz="4800" dirty="0" smtClean="0"/>
              <a:t>   beneficiaries</a:t>
            </a:r>
            <a:endParaRPr lang="en-US" sz="4800" dirty="0" smtClean="0"/>
          </a:p>
          <a:p>
            <a:pPr>
              <a:buNone/>
            </a:pPr>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lvl="0" latinLnBrk="1"/>
            <a:r>
              <a:rPr lang="en-US" sz="6000" b="1" dirty="0" smtClean="0"/>
              <a:t>A. II </a:t>
            </a:r>
            <a:r>
              <a:rPr lang="en-US" sz="6000" b="1" dirty="0" smtClean="0"/>
              <a:t>and III</a:t>
            </a:r>
            <a:endParaRPr lang="en-US" sz="6000" dirty="0" smtClean="0"/>
          </a:p>
          <a:p>
            <a:pPr lvl="0" latinLnBrk="1"/>
            <a:r>
              <a:rPr lang="en-US" sz="6000" dirty="0" smtClean="0"/>
              <a:t>B. I</a:t>
            </a:r>
            <a:r>
              <a:rPr lang="en-US" sz="6000" dirty="0" smtClean="0"/>
              <a:t>, II, and III</a:t>
            </a:r>
          </a:p>
          <a:p>
            <a:pPr lvl="0" latinLnBrk="1"/>
            <a:r>
              <a:rPr lang="en-US" sz="6000" dirty="0" smtClean="0"/>
              <a:t>C. II </a:t>
            </a:r>
            <a:r>
              <a:rPr lang="en-US" sz="6000" dirty="0" smtClean="0"/>
              <a:t>only</a:t>
            </a:r>
          </a:p>
          <a:p>
            <a:pPr lvl="0" latinLnBrk="1"/>
            <a:r>
              <a:rPr lang="en-US" sz="6000" dirty="0" smtClean="0"/>
              <a:t>D. I </a:t>
            </a:r>
            <a:r>
              <a:rPr lang="en-US" sz="6000" dirty="0" smtClean="0"/>
              <a:t>and III</a:t>
            </a:r>
          </a:p>
          <a:p>
            <a:pPr>
              <a:buNone/>
            </a:pP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85800"/>
            <a:ext cx="7467600" cy="1143000"/>
          </a:xfrm>
        </p:spPr>
        <p:txBody>
          <a:bodyPr>
            <a:normAutofit fontScale="90000"/>
          </a:bodyPr>
          <a:lstStyle/>
          <a:p>
            <a:pPr lvl="0"/>
            <a:r>
              <a:rPr lang="en-US" dirty="0" smtClean="0"/>
              <a:t>74. </a:t>
            </a:r>
            <a:r>
              <a:rPr lang="en-US" dirty="0" smtClean="0"/>
              <a:t>Which is/are </a:t>
            </a:r>
            <a:r>
              <a:rPr lang="en-US" b="1" dirty="0" smtClean="0">
                <a:solidFill>
                  <a:srgbClr val="FF0000"/>
                </a:solidFill>
              </a:rPr>
              <a:t>true of cooperatives and the Comprehensive Agrarian Reform</a:t>
            </a:r>
            <a:r>
              <a:rPr lang="en-US" dirty="0" smtClean="0"/>
              <a:t>?</a:t>
            </a:r>
            <a:br>
              <a:rPr lang="en-US" dirty="0" smtClean="0"/>
            </a:br>
            <a:r>
              <a:rPr lang="en-US" dirty="0" smtClean="0"/>
              <a:t> </a:t>
            </a:r>
            <a:endParaRPr lang="en-US" dirty="0"/>
          </a:p>
        </p:txBody>
      </p:sp>
      <p:sp>
        <p:nvSpPr>
          <p:cNvPr id="3" name="Content Placeholder 2"/>
          <p:cNvSpPr>
            <a:spLocks noGrp="1"/>
          </p:cNvSpPr>
          <p:nvPr>
            <p:ph sz="quarter" idx="1"/>
          </p:nvPr>
        </p:nvSpPr>
        <p:spPr>
          <a:xfrm>
            <a:off x="152400" y="1600200"/>
            <a:ext cx="8610600" cy="4873752"/>
          </a:xfrm>
        </p:spPr>
        <p:txBody>
          <a:bodyPr/>
          <a:lstStyle/>
          <a:p>
            <a:pPr lvl="0" latinLnBrk="1"/>
            <a:r>
              <a:rPr lang="en-US" sz="4800" dirty="0" smtClean="0"/>
              <a:t>I. Intended </a:t>
            </a:r>
            <a:r>
              <a:rPr lang="en-US" sz="4800" dirty="0" smtClean="0"/>
              <a:t>to eliminate </a:t>
            </a:r>
            <a:endParaRPr lang="en-US" sz="4800" dirty="0" smtClean="0"/>
          </a:p>
          <a:p>
            <a:pPr lvl="0" latinLnBrk="1">
              <a:buNone/>
            </a:pPr>
            <a:r>
              <a:rPr lang="en-US" sz="4800" dirty="0" smtClean="0"/>
              <a:t> </a:t>
            </a:r>
            <a:r>
              <a:rPr lang="en-US" sz="4800" dirty="0" smtClean="0"/>
              <a:t>poverty </a:t>
            </a:r>
            <a:r>
              <a:rPr lang="en-US" sz="4800" dirty="0" smtClean="0"/>
              <a:t>in Philippine society</a:t>
            </a:r>
          </a:p>
          <a:p>
            <a:pPr lvl="0" latinLnBrk="1"/>
            <a:r>
              <a:rPr lang="en-US" sz="4800" dirty="0" smtClean="0"/>
              <a:t>II. Meant </a:t>
            </a:r>
            <a:r>
              <a:rPr lang="en-US" sz="4800" dirty="0" smtClean="0"/>
              <a:t>to alleviate </a:t>
            </a:r>
            <a:endParaRPr lang="en-US" sz="4800" dirty="0" smtClean="0"/>
          </a:p>
          <a:p>
            <a:pPr lvl="0" latinLnBrk="1">
              <a:buNone/>
            </a:pPr>
            <a:r>
              <a:rPr lang="en-US" sz="4800" dirty="0" smtClean="0"/>
              <a:t> </a:t>
            </a:r>
            <a:r>
              <a:rPr lang="en-US" sz="4800" dirty="0" smtClean="0"/>
              <a:t> poverty</a:t>
            </a:r>
            <a:endParaRPr lang="en-US" sz="4800" dirty="0" smtClean="0"/>
          </a:p>
          <a:p>
            <a:pPr lvl="0" latinLnBrk="1"/>
            <a:r>
              <a:rPr lang="en-US" sz="4800" dirty="0" smtClean="0"/>
              <a:t>III. Are </a:t>
            </a:r>
            <a:r>
              <a:rPr lang="en-US" sz="4800" dirty="0" smtClean="0"/>
              <a:t>programs for people empowerment</a:t>
            </a:r>
          </a:p>
          <a:p>
            <a:pPr>
              <a:buNone/>
            </a:pPr>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lvl="0" latinLnBrk="1"/>
            <a:r>
              <a:rPr lang="en-US" sz="7200" b="1" dirty="0" smtClean="0"/>
              <a:t>A. II </a:t>
            </a:r>
            <a:r>
              <a:rPr lang="en-US" sz="7200" b="1" dirty="0" smtClean="0"/>
              <a:t>and III</a:t>
            </a:r>
            <a:endParaRPr lang="en-US" sz="7200" dirty="0" smtClean="0"/>
          </a:p>
          <a:p>
            <a:pPr lvl="0" latinLnBrk="1"/>
            <a:r>
              <a:rPr lang="en-US" sz="7200" dirty="0" smtClean="0"/>
              <a:t>B. III </a:t>
            </a:r>
            <a:r>
              <a:rPr lang="en-US" sz="7200" dirty="0" smtClean="0"/>
              <a:t>only</a:t>
            </a:r>
          </a:p>
          <a:p>
            <a:pPr lvl="0" latinLnBrk="1"/>
            <a:r>
              <a:rPr lang="en-US" sz="7200" dirty="0" smtClean="0"/>
              <a:t>C. II </a:t>
            </a:r>
            <a:r>
              <a:rPr lang="en-US" sz="7200" dirty="0" smtClean="0"/>
              <a:t>only</a:t>
            </a:r>
          </a:p>
          <a:p>
            <a:pPr lvl="0" latinLnBrk="1"/>
            <a:r>
              <a:rPr lang="en-US" sz="7200" dirty="0" smtClean="0"/>
              <a:t>D. I </a:t>
            </a:r>
            <a:r>
              <a:rPr lang="en-US" sz="7200" dirty="0" smtClean="0"/>
              <a:t>and III</a:t>
            </a:r>
          </a:p>
          <a:p>
            <a:pPr>
              <a:buNone/>
            </a:pP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75. </a:t>
            </a:r>
            <a:r>
              <a:rPr lang="en-US" dirty="0" smtClean="0"/>
              <a:t>Which </a:t>
            </a:r>
            <a:r>
              <a:rPr lang="en-US" b="1" dirty="0" smtClean="0">
                <a:solidFill>
                  <a:srgbClr val="FF0000"/>
                </a:solidFill>
              </a:rPr>
              <a:t>assumption underlies the Comprehensive Agrarian Reform Program</a:t>
            </a:r>
            <a:r>
              <a:rPr lang="en-US" dirty="0" smtClean="0"/>
              <a:t>?</a:t>
            </a:r>
            <a:br>
              <a:rPr lang="en-US" dirty="0" smtClean="0"/>
            </a:br>
            <a:endParaRPr lang="en-US" dirty="0"/>
          </a:p>
        </p:txBody>
      </p:sp>
      <p:sp>
        <p:nvSpPr>
          <p:cNvPr id="3" name="Content Placeholder 2"/>
          <p:cNvSpPr>
            <a:spLocks noGrp="1"/>
          </p:cNvSpPr>
          <p:nvPr>
            <p:ph sz="quarter" idx="1"/>
          </p:nvPr>
        </p:nvSpPr>
        <p:spPr>
          <a:xfrm>
            <a:off x="457200" y="1143000"/>
            <a:ext cx="8229600" cy="5330952"/>
          </a:xfrm>
        </p:spPr>
        <p:txBody>
          <a:bodyPr>
            <a:normAutofit fontScale="85000" lnSpcReduction="10000"/>
          </a:bodyPr>
          <a:lstStyle/>
          <a:p>
            <a:pPr lvl="0" latinLnBrk="1"/>
            <a:r>
              <a:rPr lang="en-US" sz="4400" b="1" dirty="0" smtClean="0"/>
              <a:t>A. People </a:t>
            </a:r>
            <a:r>
              <a:rPr lang="en-US" sz="4400" b="1" dirty="0" smtClean="0"/>
              <a:t>are more productive </a:t>
            </a:r>
            <a:endParaRPr lang="en-US" sz="4400" b="1" dirty="0" smtClean="0"/>
          </a:p>
          <a:p>
            <a:pPr lvl="0" latinLnBrk="1">
              <a:buNone/>
            </a:pPr>
            <a:r>
              <a:rPr lang="en-US" sz="4400" b="1" dirty="0" smtClean="0"/>
              <a:t> </a:t>
            </a:r>
            <a:r>
              <a:rPr lang="en-US" sz="4400" b="1" dirty="0" smtClean="0"/>
              <a:t>if </a:t>
            </a:r>
            <a:r>
              <a:rPr lang="en-US" sz="4400" b="1" dirty="0" smtClean="0"/>
              <a:t>they own what they cultivate.</a:t>
            </a:r>
            <a:endParaRPr lang="en-US" sz="4400" dirty="0" smtClean="0"/>
          </a:p>
          <a:p>
            <a:pPr lvl="0" latinLnBrk="1"/>
            <a:r>
              <a:rPr lang="en-US" sz="4400" dirty="0" smtClean="0"/>
              <a:t>B. Our </a:t>
            </a:r>
            <a:r>
              <a:rPr lang="en-US" sz="4400" dirty="0" smtClean="0"/>
              <a:t>country has very few landed people and very many landless.</a:t>
            </a:r>
          </a:p>
          <a:p>
            <a:pPr lvl="0" latinLnBrk="1"/>
            <a:r>
              <a:rPr lang="en-US" sz="4400" dirty="0" smtClean="0"/>
              <a:t>C. The </a:t>
            </a:r>
            <a:r>
              <a:rPr lang="en-US" sz="4400" dirty="0" smtClean="0"/>
              <a:t>wealth of the country is </a:t>
            </a:r>
            <a:endParaRPr lang="en-US" sz="4400" dirty="0" smtClean="0"/>
          </a:p>
          <a:p>
            <a:pPr lvl="0" latinLnBrk="1">
              <a:buNone/>
            </a:pPr>
            <a:r>
              <a:rPr lang="en-US" sz="4400" dirty="0" smtClean="0"/>
              <a:t> </a:t>
            </a:r>
            <a:r>
              <a:rPr lang="en-US" sz="4400" dirty="0" smtClean="0"/>
              <a:t>concentrated </a:t>
            </a:r>
            <a:r>
              <a:rPr lang="en-US" sz="4400" dirty="0" smtClean="0"/>
              <a:t>in the lands of a few.</a:t>
            </a:r>
          </a:p>
          <a:p>
            <a:pPr lvl="0" latinLnBrk="1"/>
            <a:r>
              <a:rPr lang="en-US" sz="4400" dirty="0" smtClean="0"/>
              <a:t>D. There </a:t>
            </a:r>
            <a:r>
              <a:rPr lang="en-US" sz="4400" dirty="0" smtClean="0"/>
              <a:t>is so much poverty in the country because of overpopulation.</a:t>
            </a:r>
          </a:p>
          <a:p>
            <a:pPr>
              <a:buNone/>
            </a:pPr>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smtClean="0"/>
              <a:t>76. </a:t>
            </a:r>
            <a:r>
              <a:rPr lang="en-US" dirty="0" smtClean="0"/>
              <a:t>What does </a:t>
            </a:r>
            <a:r>
              <a:rPr lang="en-US" b="1" dirty="0" smtClean="0">
                <a:solidFill>
                  <a:srgbClr val="FF0000"/>
                </a:solidFill>
              </a:rPr>
              <a:t>“capital” </a:t>
            </a:r>
            <a:r>
              <a:rPr lang="en-US" dirty="0" smtClean="0"/>
              <a:t>in economics </a:t>
            </a:r>
            <a:r>
              <a:rPr lang="en-US" dirty="0" smtClean="0">
                <a:solidFill>
                  <a:srgbClr val="FF0000"/>
                </a:solidFill>
              </a:rPr>
              <a:t>refer to</a:t>
            </a:r>
            <a:r>
              <a:rPr lang="en-US" dirty="0" smtClean="0"/>
              <a:t>?</a:t>
            </a:r>
            <a:br>
              <a:rPr lang="en-US" dirty="0" smtClean="0"/>
            </a:br>
            <a:endParaRPr lang="en-US" dirty="0"/>
          </a:p>
        </p:txBody>
      </p:sp>
      <p:sp>
        <p:nvSpPr>
          <p:cNvPr id="3" name="Content Placeholder 2"/>
          <p:cNvSpPr>
            <a:spLocks noGrp="1"/>
          </p:cNvSpPr>
          <p:nvPr>
            <p:ph sz="quarter" idx="1"/>
          </p:nvPr>
        </p:nvSpPr>
        <p:spPr>
          <a:xfrm>
            <a:off x="457200" y="1600200"/>
            <a:ext cx="8229600" cy="4873752"/>
          </a:xfrm>
        </p:spPr>
        <p:txBody>
          <a:bodyPr>
            <a:normAutofit fontScale="92500" lnSpcReduction="20000"/>
          </a:bodyPr>
          <a:lstStyle/>
          <a:p>
            <a:pPr lvl="0" latinLnBrk="1"/>
            <a:r>
              <a:rPr lang="en-US" sz="4400" dirty="0" smtClean="0"/>
              <a:t>A. Investment </a:t>
            </a:r>
            <a:r>
              <a:rPr lang="en-US" sz="4400" dirty="0" smtClean="0"/>
              <a:t>and loss </a:t>
            </a:r>
            <a:endParaRPr lang="en-US" sz="4400" dirty="0" smtClean="0"/>
          </a:p>
          <a:p>
            <a:pPr lvl="0" latinLnBrk="1">
              <a:buNone/>
            </a:pPr>
            <a:r>
              <a:rPr lang="en-US" sz="4400" dirty="0" smtClean="0"/>
              <a:t> </a:t>
            </a:r>
            <a:r>
              <a:rPr lang="en-US" sz="4400" dirty="0" smtClean="0"/>
              <a:t>      computed</a:t>
            </a:r>
            <a:endParaRPr lang="en-US" sz="4400" dirty="0" smtClean="0"/>
          </a:p>
          <a:p>
            <a:pPr lvl="0" latinLnBrk="1"/>
            <a:r>
              <a:rPr lang="en-US" sz="4400" dirty="0" smtClean="0"/>
              <a:t>B. Outcome </a:t>
            </a:r>
            <a:r>
              <a:rPr lang="en-US" sz="4400" dirty="0" smtClean="0"/>
              <a:t>of a business </a:t>
            </a:r>
            <a:endParaRPr lang="en-US" sz="4400" dirty="0" smtClean="0"/>
          </a:p>
          <a:p>
            <a:pPr lvl="0" latinLnBrk="1">
              <a:buNone/>
            </a:pPr>
            <a:r>
              <a:rPr lang="en-US" sz="4400" dirty="0" smtClean="0"/>
              <a:t> </a:t>
            </a:r>
            <a:r>
              <a:rPr lang="en-US" sz="4400" dirty="0" smtClean="0"/>
              <a:t>      transaction</a:t>
            </a:r>
            <a:endParaRPr lang="en-US" sz="4400" dirty="0" smtClean="0"/>
          </a:p>
          <a:p>
            <a:pPr lvl="0" latinLnBrk="1"/>
            <a:r>
              <a:rPr lang="en-US" sz="4400" b="1" dirty="0" smtClean="0"/>
              <a:t>C. Money/machines </a:t>
            </a:r>
            <a:r>
              <a:rPr lang="en-US" sz="4400" b="1" dirty="0" smtClean="0"/>
              <a:t>invested to transact business</a:t>
            </a:r>
            <a:endParaRPr lang="en-US" sz="4400" dirty="0" smtClean="0"/>
          </a:p>
          <a:p>
            <a:pPr lvl="0" latinLnBrk="1"/>
            <a:r>
              <a:rPr lang="en-US" sz="4400" dirty="0" smtClean="0"/>
              <a:t>D. Profit </a:t>
            </a:r>
            <a:r>
              <a:rPr lang="en-US" sz="4400" dirty="0" smtClean="0"/>
              <a:t>and labor spent for the business</a:t>
            </a:r>
          </a:p>
          <a:p>
            <a:pPr>
              <a:buNone/>
            </a:pP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pPr lvl="0"/>
            <a:r>
              <a:rPr lang="en-US" dirty="0" smtClean="0"/>
              <a:t>77. </a:t>
            </a:r>
            <a:r>
              <a:rPr lang="en-US" dirty="0" smtClean="0"/>
              <a:t>What </a:t>
            </a:r>
            <a:r>
              <a:rPr lang="en-US" dirty="0" smtClean="0">
                <a:solidFill>
                  <a:srgbClr val="FF0000"/>
                </a:solidFill>
              </a:rPr>
              <a:t>results</a:t>
            </a:r>
            <a:r>
              <a:rPr lang="en-US" dirty="0" smtClean="0"/>
              <a:t> when the </a:t>
            </a:r>
            <a:r>
              <a:rPr lang="en-US" b="1" dirty="0" smtClean="0">
                <a:solidFill>
                  <a:srgbClr val="FF0000"/>
                </a:solidFill>
              </a:rPr>
              <a:t>government spends more than what it collects in the form of taxes</a:t>
            </a:r>
            <a:r>
              <a:rPr lang="en-US" dirty="0" smtClean="0"/>
              <a:t>?</a:t>
            </a:r>
            <a:br>
              <a:rPr lang="en-US" dirty="0" smtClean="0"/>
            </a:br>
            <a:endParaRPr lang="en-US" dirty="0"/>
          </a:p>
        </p:txBody>
      </p:sp>
      <p:sp>
        <p:nvSpPr>
          <p:cNvPr id="3" name="Content Placeholder 2"/>
          <p:cNvSpPr>
            <a:spLocks noGrp="1"/>
          </p:cNvSpPr>
          <p:nvPr>
            <p:ph sz="quarter" idx="1"/>
          </p:nvPr>
        </p:nvSpPr>
        <p:spPr>
          <a:xfrm>
            <a:off x="457200" y="1600200"/>
            <a:ext cx="8305800" cy="4873752"/>
          </a:xfrm>
        </p:spPr>
        <p:txBody>
          <a:bodyPr>
            <a:normAutofit fontScale="92500"/>
          </a:bodyPr>
          <a:lstStyle/>
          <a:p>
            <a:pPr lvl="0" latinLnBrk="1"/>
            <a:r>
              <a:rPr lang="en-US" sz="6000" dirty="0" smtClean="0"/>
              <a:t>A. Excessive </a:t>
            </a:r>
            <a:r>
              <a:rPr lang="en-US" sz="6000" dirty="0" smtClean="0"/>
              <a:t>allotment</a:t>
            </a:r>
          </a:p>
          <a:p>
            <a:pPr lvl="0" latinLnBrk="1"/>
            <a:r>
              <a:rPr lang="en-US" sz="6000" dirty="0" smtClean="0"/>
              <a:t>B. Fiscal </a:t>
            </a:r>
            <a:r>
              <a:rPr lang="en-US" sz="6000" dirty="0" smtClean="0"/>
              <a:t>overspending</a:t>
            </a:r>
          </a:p>
          <a:p>
            <a:pPr lvl="0" latinLnBrk="1"/>
            <a:r>
              <a:rPr lang="en-US" sz="6000" b="1" dirty="0" smtClean="0"/>
              <a:t>C. Fiscal </a:t>
            </a:r>
            <a:r>
              <a:rPr lang="en-US" sz="6000" b="1" dirty="0" smtClean="0"/>
              <a:t>deficit</a:t>
            </a:r>
            <a:endParaRPr lang="en-US" sz="6000" dirty="0" smtClean="0"/>
          </a:p>
          <a:p>
            <a:pPr lvl="0" latinLnBrk="1"/>
            <a:r>
              <a:rPr lang="en-US" sz="6000" dirty="0" smtClean="0"/>
              <a:t>D. Erroneous </a:t>
            </a:r>
          </a:p>
          <a:p>
            <a:pPr lvl="0" latinLnBrk="1">
              <a:buNone/>
            </a:pPr>
            <a:r>
              <a:rPr lang="en-US" sz="6000" dirty="0" smtClean="0"/>
              <a:t> </a:t>
            </a:r>
            <a:r>
              <a:rPr lang="en-US" sz="6000" dirty="0" smtClean="0"/>
              <a:t>   appropriations</a:t>
            </a:r>
            <a:endParaRPr lang="en-US" sz="6000" dirty="0" smtClean="0"/>
          </a:p>
          <a:p>
            <a:pPr>
              <a:buNone/>
            </a:pPr>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lvl="0"/>
            <a:r>
              <a:rPr lang="en-US" dirty="0" smtClean="0"/>
              <a:t>78. </a:t>
            </a:r>
            <a:r>
              <a:rPr lang="en-US" dirty="0" smtClean="0"/>
              <a:t>What is the </a:t>
            </a:r>
            <a:r>
              <a:rPr lang="en-US" dirty="0" smtClean="0">
                <a:solidFill>
                  <a:srgbClr val="FF0000"/>
                </a:solidFill>
              </a:rPr>
              <a:t>type of cooperative </a:t>
            </a:r>
            <a:r>
              <a:rPr lang="en-US" dirty="0" smtClean="0"/>
              <a:t>which </a:t>
            </a:r>
            <a:r>
              <a:rPr lang="en-US" dirty="0" smtClean="0">
                <a:solidFill>
                  <a:srgbClr val="FF0000"/>
                </a:solidFill>
              </a:rPr>
              <a:t>promotes thrift </a:t>
            </a:r>
            <a:r>
              <a:rPr lang="en-US" dirty="0" smtClean="0"/>
              <a:t>among members and </a:t>
            </a:r>
            <a:r>
              <a:rPr lang="en-US" dirty="0" smtClean="0">
                <a:solidFill>
                  <a:srgbClr val="FF0000"/>
                </a:solidFill>
              </a:rPr>
              <a:t>creates funds </a:t>
            </a:r>
            <a:r>
              <a:rPr lang="en-US" dirty="0" smtClean="0"/>
              <a:t>in order to be able </a:t>
            </a:r>
            <a:r>
              <a:rPr lang="en-US" dirty="0" smtClean="0">
                <a:solidFill>
                  <a:srgbClr val="FF0000"/>
                </a:solidFill>
              </a:rPr>
              <a:t>to grant loans</a:t>
            </a:r>
            <a:r>
              <a:rPr lang="en-US" dirty="0" smtClean="0"/>
              <a:t>?</a:t>
            </a:r>
            <a:br>
              <a:rPr lang="en-US" dirty="0" smtClean="0"/>
            </a:br>
            <a:endParaRPr lang="en-US" dirty="0"/>
          </a:p>
        </p:txBody>
      </p:sp>
      <p:sp>
        <p:nvSpPr>
          <p:cNvPr id="3" name="Content Placeholder 2"/>
          <p:cNvSpPr>
            <a:spLocks noGrp="1"/>
          </p:cNvSpPr>
          <p:nvPr>
            <p:ph sz="quarter" idx="1"/>
          </p:nvPr>
        </p:nvSpPr>
        <p:spPr/>
        <p:txBody>
          <a:bodyPr/>
          <a:lstStyle/>
          <a:p>
            <a:pPr lvl="0" latinLnBrk="1"/>
            <a:r>
              <a:rPr lang="en-US" sz="7200" dirty="0" smtClean="0"/>
              <a:t>A. Service</a:t>
            </a:r>
            <a:endParaRPr lang="en-US" sz="7200" dirty="0" smtClean="0"/>
          </a:p>
          <a:p>
            <a:pPr lvl="0" latinLnBrk="1"/>
            <a:r>
              <a:rPr lang="en-US" sz="7200" dirty="0" smtClean="0"/>
              <a:t>B. Producers</a:t>
            </a:r>
            <a:endParaRPr lang="en-US" sz="7200" dirty="0" smtClean="0"/>
          </a:p>
          <a:p>
            <a:pPr lvl="0" latinLnBrk="1"/>
            <a:r>
              <a:rPr lang="en-US" sz="7200" dirty="0" smtClean="0"/>
              <a:t>C. Consumers</a:t>
            </a:r>
            <a:endParaRPr lang="en-US" sz="7200" dirty="0" smtClean="0"/>
          </a:p>
          <a:p>
            <a:pPr lvl="0" latinLnBrk="1"/>
            <a:r>
              <a:rPr lang="en-US" sz="7200" b="1" dirty="0" smtClean="0"/>
              <a:t>D. Credit</a:t>
            </a:r>
            <a:endParaRPr lang="en-US" sz="7200" dirty="0" smtClean="0"/>
          </a:p>
          <a:p>
            <a:pPr>
              <a:buNone/>
            </a:pPr>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14400"/>
            <a:ext cx="9144000" cy="1143000"/>
          </a:xfrm>
        </p:spPr>
        <p:txBody>
          <a:bodyPr>
            <a:normAutofit fontScale="90000"/>
          </a:bodyPr>
          <a:lstStyle/>
          <a:p>
            <a:pPr latinLnBrk="1"/>
            <a:r>
              <a:rPr lang="en-US" dirty="0" smtClean="0"/>
              <a:t>79. </a:t>
            </a:r>
            <a:r>
              <a:rPr lang="en-US" dirty="0" smtClean="0"/>
              <a:t> </a:t>
            </a:r>
            <a:r>
              <a:rPr lang="en-US" dirty="0" smtClean="0"/>
              <a:t>One </a:t>
            </a:r>
            <a:r>
              <a:rPr lang="en-US" dirty="0" smtClean="0"/>
              <a:t>of the </a:t>
            </a:r>
            <a:r>
              <a:rPr lang="en-US" dirty="0" smtClean="0">
                <a:solidFill>
                  <a:srgbClr val="FF0000"/>
                </a:solidFill>
              </a:rPr>
              <a:t>major functions of taxes </a:t>
            </a:r>
            <a:r>
              <a:rPr lang="en-US" dirty="0" smtClean="0"/>
              <a:t>is to </a:t>
            </a:r>
            <a:r>
              <a:rPr lang="en-US" dirty="0" smtClean="0"/>
              <a:t/>
            </a:r>
            <a:br>
              <a:rPr lang="en-US" dirty="0" smtClean="0"/>
            </a:br>
            <a:r>
              <a:rPr lang="en-US" b="1" dirty="0" smtClean="0">
                <a:solidFill>
                  <a:srgbClr val="FF0000"/>
                </a:solidFill>
              </a:rPr>
              <a:t>finance </a:t>
            </a:r>
            <a:r>
              <a:rPr lang="en-US" b="1" dirty="0" smtClean="0">
                <a:solidFill>
                  <a:srgbClr val="FF0000"/>
                </a:solidFill>
              </a:rPr>
              <a:t>real government expenditures</a:t>
            </a:r>
            <a:r>
              <a:rPr lang="en-US" dirty="0" smtClean="0"/>
              <a:t>. This </a:t>
            </a:r>
            <a:r>
              <a:rPr lang="en-US" dirty="0" smtClean="0"/>
              <a:t/>
            </a:r>
            <a:br>
              <a:rPr lang="en-US" dirty="0" smtClean="0"/>
            </a:br>
            <a:r>
              <a:rPr lang="en-US" dirty="0" smtClean="0"/>
              <a:t>function </a:t>
            </a:r>
            <a:r>
              <a:rPr lang="en-US" dirty="0" smtClean="0"/>
              <a:t>can simply be stated as to </a:t>
            </a:r>
            <a:r>
              <a:rPr lang="en-US" dirty="0" smtClean="0"/>
              <a:t>_______________.</a:t>
            </a:r>
            <a:r>
              <a:rPr lang="en-US" dirty="0" smtClean="0"/>
              <a:t/>
            </a:r>
            <a:br>
              <a:rPr lang="en-US" dirty="0" smtClean="0"/>
            </a:br>
            <a:endParaRPr lang="en-US" dirty="0"/>
          </a:p>
        </p:txBody>
      </p:sp>
      <p:sp>
        <p:nvSpPr>
          <p:cNvPr id="3" name="Content Placeholder 2"/>
          <p:cNvSpPr>
            <a:spLocks noGrp="1"/>
          </p:cNvSpPr>
          <p:nvPr>
            <p:ph sz="quarter" idx="1"/>
          </p:nvPr>
        </p:nvSpPr>
        <p:spPr>
          <a:xfrm>
            <a:off x="228600" y="1984248"/>
            <a:ext cx="8458200" cy="4873752"/>
          </a:xfrm>
        </p:spPr>
        <p:txBody>
          <a:bodyPr>
            <a:normAutofit fontScale="85000" lnSpcReduction="10000"/>
          </a:bodyPr>
          <a:lstStyle/>
          <a:p>
            <a:pPr lvl="0" latinLnBrk="1"/>
            <a:r>
              <a:rPr lang="en-US" sz="6000" dirty="0" smtClean="0"/>
              <a:t>A. Promote </a:t>
            </a:r>
            <a:r>
              <a:rPr lang="en-US" sz="6000" dirty="0" smtClean="0"/>
              <a:t>development</a:t>
            </a:r>
          </a:p>
          <a:p>
            <a:pPr lvl="0" latinLnBrk="1"/>
            <a:r>
              <a:rPr lang="en-US" sz="6000" dirty="0" smtClean="0"/>
              <a:t>B. Secure </a:t>
            </a:r>
            <a:r>
              <a:rPr lang="en-US" sz="6000" dirty="0" smtClean="0"/>
              <a:t>price stability</a:t>
            </a:r>
          </a:p>
          <a:p>
            <a:pPr lvl="0" latinLnBrk="1"/>
            <a:r>
              <a:rPr lang="en-US" sz="6000" b="1" dirty="0" smtClean="0"/>
              <a:t>C. Raise </a:t>
            </a:r>
            <a:r>
              <a:rPr lang="en-US" sz="6000" b="1" dirty="0" smtClean="0"/>
              <a:t>revenues</a:t>
            </a:r>
            <a:endParaRPr lang="en-US" sz="6000" dirty="0" smtClean="0"/>
          </a:p>
          <a:p>
            <a:pPr lvl="0" latinLnBrk="1"/>
            <a:r>
              <a:rPr lang="en-US" sz="6000" dirty="0" smtClean="0"/>
              <a:t>D. Raise </a:t>
            </a:r>
            <a:r>
              <a:rPr lang="en-US" sz="6000" dirty="0" smtClean="0"/>
              <a:t>national security</a:t>
            </a:r>
          </a:p>
          <a:p>
            <a:pPr>
              <a:buNone/>
            </a:pPr>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600200"/>
            <a:ext cx="8534400" cy="1143000"/>
          </a:xfrm>
        </p:spPr>
        <p:txBody>
          <a:bodyPr>
            <a:normAutofit fontScale="90000"/>
          </a:bodyPr>
          <a:lstStyle/>
          <a:p>
            <a:pPr lvl="0"/>
            <a:r>
              <a:rPr lang="en-US" dirty="0" smtClean="0"/>
              <a:t>80. </a:t>
            </a:r>
            <a:r>
              <a:rPr lang="en-US" dirty="0" smtClean="0"/>
              <a:t>Which </a:t>
            </a:r>
            <a:r>
              <a:rPr lang="en-US" dirty="0" smtClean="0">
                <a:solidFill>
                  <a:srgbClr val="FF0000"/>
                </a:solidFill>
              </a:rPr>
              <a:t>term</a:t>
            </a:r>
            <a:r>
              <a:rPr lang="en-US" dirty="0" smtClean="0"/>
              <a:t> refers the </a:t>
            </a:r>
            <a:r>
              <a:rPr lang="en-US" b="1" dirty="0" smtClean="0">
                <a:solidFill>
                  <a:srgbClr val="FF0000"/>
                </a:solidFill>
              </a:rPr>
              <a:t>measures undertaken by the government which would remove anything that hinders the entry of foreign products, services, and capital between countries</a:t>
            </a:r>
            <a:r>
              <a:rPr lang="en-US" dirty="0" smtClean="0"/>
              <a:t>?</a:t>
            </a:r>
            <a:br>
              <a:rPr lang="en-US" dirty="0" smtClean="0"/>
            </a:br>
            <a:endParaRPr lang="en-US" dirty="0"/>
          </a:p>
        </p:txBody>
      </p:sp>
      <p:sp>
        <p:nvSpPr>
          <p:cNvPr id="3" name="Content Placeholder 2"/>
          <p:cNvSpPr>
            <a:spLocks noGrp="1"/>
          </p:cNvSpPr>
          <p:nvPr>
            <p:ph sz="quarter" idx="1"/>
          </p:nvPr>
        </p:nvSpPr>
        <p:spPr>
          <a:xfrm>
            <a:off x="533400" y="2667000"/>
            <a:ext cx="8229600" cy="4873752"/>
          </a:xfrm>
        </p:spPr>
        <p:txBody>
          <a:bodyPr/>
          <a:lstStyle/>
          <a:p>
            <a:pPr lvl="0" latinLnBrk="1"/>
            <a:r>
              <a:rPr lang="en-US" sz="5400" b="1" dirty="0" smtClean="0"/>
              <a:t>A. Liberalization</a:t>
            </a:r>
            <a:endParaRPr lang="en-US" sz="5400" dirty="0" smtClean="0"/>
          </a:p>
          <a:p>
            <a:pPr lvl="0" latinLnBrk="1"/>
            <a:r>
              <a:rPr lang="en-US" sz="5400" dirty="0" smtClean="0"/>
              <a:t>B. Globalization</a:t>
            </a:r>
            <a:endParaRPr lang="en-US" sz="5400" dirty="0" smtClean="0"/>
          </a:p>
          <a:p>
            <a:pPr lvl="0" latinLnBrk="1"/>
            <a:r>
              <a:rPr lang="en-US" sz="5400" dirty="0" smtClean="0"/>
              <a:t>C. Privatization</a:t>
            </a:r>
            <a:endParaRPr lang="en-US" sz="5400" dirty="0" smtClean="0"/>
          </a:p>
          <a:p>
            <a:pPr lvl="0" latinLnBrk="1"/>
            <a:r>
              <a:rPr lang="en-US" sz="5400" dirty="0" smtClean="0"/>
              <a:t>D. Internationalization</a:t>
            </a:r>
            <a:endParaRPr lang="en-US" sz="5400" dirty="0" smtClean="0"/>
          </a:p>
          <a:p>
            <a:pPr>
              <a:buNone/>
            </a:pP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305800" cy="1143000"/>
          </a:xfrm>
        </p:spPr>
        <p:txBody>
          <a:bodyPr>
            <a:normAutofit fontScale="90000"/>
          </a:bodyPr>
          <a:lstStyle/>
          <a:p>
            <a:pPr lvl="0"/>
            <a:r>
              <a:rPr lang="en-US" dirty="0" smtClean="0"/>
              <a:t>81. </a:t>
            </a:r>
            <a:r>
              <a:rPr lang="en-US" dirty="0" smtClean="0"/>
              <a:t>What do we call the </a:t>
            </a:r>
            <a:r>
              <a:rPr lang="en-US" b="1" dirty="0" smtClean="0">
                <a:solidFill>
                  <a:srgbClr val="FF0000"/>
                </a:solidFill>
              </a:rPr>
              <a:t>sum of money collected for our use of a road, bridge and high-way</a:t>
            </a:r>
            <a:r>
              <a:rPr lang="en-US" dirty="0" smtClean="0"/>
              <a:t>?</a:t>
            </a:r>
            <a:br>
              <a:rPr lang="en-US" dirty="0" smtClean="0"/>
            </a:br>
            <a:endParaRPr lang="en-US" dirty="0"/>
          </a:p>
        </p:txBody>
      </p:sp>
      <p:sp>
        <p:nvSpPr>
          <p:cNvPr id="3" name="Content Placeholder 2"/>
          <p:cNvSpPr>
            <a:spLocks noGrp="1"/>
          </p:cNvSpPr>
          <p:nvPr>
            <p:ph sz="quarter" idx="1"/>
          </p:nvPr>
        </p:nvSpPr>
        <p:spPr/>
        <p:txBody>
          <a:bodyPr/>
          <a:lstStyle/>
          <a:p>
            <a:pPr lvl="0" latinLnBrk="1"/>
            <a:r>
              <a:rPr lang="en-US" sz="7200" dirty="0" smtClean="0"/>
              <a:t>A. Tax</a:t>
            </a:r>
            <a:endParaRPr lang="en-US" sz="7200" dirty="0" smtClean="0"/>
          </a:p>
          <a:p>
            <a:pPr lvl="0" latinLnBrk="1"/>
            <a:r>
              <a:rPr lang="en-US" sz="7200" dirty="0" smtClean="0"/>
              <a:t>B. Assessment</a:t>
            </a:r>
            <a:endParaRPr lang="en-US" sz="7200" dirty="0" smtClean="0"/>
          </a:p>
          <a:p>
            <a:pPr lvl="0" latinLnBrk="1"/>
            <a:r>
              <a:rPr lang="en-US" sz="7200" dirty="0" smtClean="0"/>
              <a:t>C. Penalty</a:t>
            </a:r>
            <a:endParaRPr lang="en-US" sz="7200" dirty="0" smtClean="0"/>
          </a:p>
          <a:p>
            <a:pPr lvl="0" latinLnBrk="1"/>
            <a:r>
              <a:rPr lang="en-US" sz="7200" b="1" dirty="0" smtClean="0"/>
              <a:t>D. Toll</a:t>
            </a:r>
            <a:endParaRPr lang="en-US" sz="7200" dirty="0" smtClean="0"/>
          </a:p>
          <a:p>
            <a:pPr>
              <a:buNone/>
            </a:pP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05800" cy="1143000"/>
          </a:xfrm>
        </p:spPr>
        <p:txBody>
          <a:bodyPr>
            <a:normAutofit fontScale="90000"/>
          </a:bodyPr>
          <a:lstStyle/>
          <a:p>
            <a:pPr lvl="0"/>
            <a:r>
              <a:rPr lang="en-US" dirty="0" smtClean="0"/>
              <a:t>82. </a:t>
            </a:r>
            <a:r>
              <a:rPr lang="en-US" dirty="0" smtClean="0"/>
              <a:t>Which term </a:t>
            </a:r>
            <a:r>
              <a:rPr lang="en-US" b="1" dirty="0" smtClean="0">
                <a:solidFill>
                  <a:srgbClr val="FF0000"/>
                </a:solidFill>
              </a:rPr>
              <a:t>refers to duties payable on goods, whether imported or exported</a:t>
            </a:r>
            <a:r>
              <a:rPr lang="en-US" dirty="0" smtClean="0"/>
              <a:t>?</a:t>
            </a:r>
            <a:br>
              <a:rPr lang="en-US" dirty="0" smtClean="0"/>
            </a:br>
            <a:endParaRPr lang="en-US" dirty="0"/>
          </a:p>
        </p:txBody>
      </p:sp>
      <p:sp>
        <p:nvSpPr>
          <p:cNvPr id="3" name="Content Placeholder 2"/>
          <p:cNvSpPr>
            <a:spLocks noGrp="1"/>
          </p:cNvSpPr>
          <p:nvPr>
            <p:ph sz="quarter" idx="1"/>
          </p:nvPr>
        </p:nvSpPr>
        <p:spPr/>
        <p:txBody>
          <a:bodyPr/>
          <a:lstStyle/>
          <a:p>
            <a:pPr lvl="0" latinLnBrk="1"/>
            <a:r>
              <a:rPr lang="en-US" sz="6600" dirty="0" smtClean="0"/>
              <a:t>A. Assessment</a:t>
            </a:r>
            <a:endParaRPr lang="en-US" sz="6600" dirty="0" smtClean="0"/>
          </a:p>
          <a:p>
            <a:pPr lvl="0" latinLnBrk="1"/>
            <a:r>
              <a:rPr lang="en-US" sz="6600" b="1" dirty="0" smtClean="0"/>
              <a:t>B. Tariff</a:t>
            </a:r>
            <a:endParaRPr lang="en-US" sz="6600" dirty="0" smtClean="0"/>
          </a:p>
          <a:p>
            <a:pPr lvl="0" latinLnBrk="1"/>
            <a:r>
              <a:rPr lang="en-US" sz="6600" dirty="0" smtClean="0"/>
              <a:t>C. Subsidiary</a:t>
            </a:r>
            <a:endParaRPr lang="en-US" sz="6600" dirty="0" smtClean="0"/>
          </a:p>
          <a:p>
            <a:pPr lvl="0" latinLnBrk="1"/>
            <a:r>
              <a:rPr lang="en-US" sz="6600" dirty="0" smtClean="0"/>
              <a:t>D. Revenue</a:t>
            </a:r>
            <a:endParaRPr lang="en-US" sz="6600" dirty="0" smtClean="0"/>
          </a:p>
          <a:p>
            <a:pPr>
              <a:buNone/>
            </a:pP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lvl="0"/>
            <a:r>
              <a:rPr lang="en-US" dirty="0" smtClean="0"/>
              <a:t>83. </a:t>
            </a:r>
            <a:r>
              <a:rPr lang="en-US" dirty="0" smtClean="0"/>
              <a:t>Which term </a:t>
            </a:r>
            <a:r>
              <a:rPr lang="en-US" b="1" dirty="0" smtClean="0">
                <a:solidFill>
                  <a:srgbClr val="FF0000"/>
                </a:solidFill>
              </a:rPr>
              <a:t>refers to the social aspects of sex or to socially defined roles and expectations</a:t>
            </a:r>
            <a:r>
              <a:rPr lang="en-US" dirty="0" smtClean="0"/>
              <a:t> that are associated with sex?</a:t>
            </a:r>
            <a:br>
              <a:rPr lang="en-US" dirty="0" smtClean="0"/>
            </a:br>
            <a:endParaRPr lang="en-US" dirty="0"/>
          </a:p>
        </p:txBody>
      </p:sp>
      <p:sp>
        <p:nvSpPr>
          <p:cNvPr id="3" name="Content Placeholder 2"/>
          <p:cNvSpPr>
            <a:spLocks noGrp="1"/>
          </p:cNvSpPr>
          <p:nvPr>
            <p:ph sz="quarter" idx="1"/>
          </p:nvPr>
        </p:nvSpPr>
        <p:spPr>
          <a:xfrm>
            <a:off x="0" y="1600200"/>
            <a:ext cx="9144000" cy="4873752"/>
          </a:xfrm>
        </p:spPr>
        <p:txBody>
          <a:bodyPr>
            <a:normAutofit/>
          </a:bodyPr>
          <a:lstStyle/>
          <a:p>
            <a:pPr lvl="0" latinLnBrk="1"/>
            <a:r>
              <a:rPr lang="en-US" sz="6000" dirty="0" smtClean="0"/>
              <a:t>A. Social </a:t>
            </a:r>
            <a:r>
              <a:rPr lang="en-US" sz="6000" dirty="0" smtClean="0"/>
              <a:t>differentiation</a:t>
            </a:r>
          </a:p>
          <a:p>
            <a:pPr lvl="0" latinLnBrk="1"/>
            <a:r>
              <a:rPr lang="en-US" sz="6000" dirty="0" smtClean="0"/>
              <a:t>B. Social </a:t>
            </a:r>
            <a:r>
              <a:rPr lang="en-US" sz="6000" dirty="0" smtClean="0"/>
              <a:t>class</a:t>
            </a:r>
          </a:p>
          <a:p>
            <a:pPr lvl="0" latinLnBrk="1"/>
            <a:r>
              <a:rPr lang="en-US" sz="6000" b="1" dirty="0" smtClean="0"/>
              <a:t>C. Gender</a:t>
            </a:r>
            <a:endParaRPr lang="en-US" sz="6000" dirty="0" smtClean="0"/>
          </a:p>
          <a:p>
            <a:pPr lvl="0" latinLnBrk="1"/>
            <a:r>
              <a:rPr lang="en-US" sz="6000" dirty="0" smtClean="0"/>
              <a:t>D. Cultural </a:t>
            </a:r>
            <a:r>
              <a:rPr lang="en-US" sz="6000" dirty="0" smtClean="0"/>
              <a:t>context</a:t>
            </a:r>
          </a:p>
          <a:p>
            <a:pPr>
              <a:buNone/>
            </a:pPr>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6800"/>
            <a:ext cx="8763000" cy="1143000"/>
          </a:xfrm>
        </p:spPr>
        <p:txBody>
          <a:bodyPr>
            <a:normAutofit fontScale="90000"/>
          </a:bodyPr>
          <a:lstStyle/>
          <a:p>
            <a:pPr lvl="0"/>
            <a:r>
              <a:rPr lang="en-US" dirty="0" smtClean="0"/>
              <a:t>84. </a:t>
            </a:r>
            <a:r>
              <a:rPr lang="en-US" dirty="0" smtClean="0"/>
              <a:t>Among the </a:t>
            </a:r>
            <a:r>
              <a:rPr lang="en-US" dirty="0" smtClean="0">
                <a:solidFill>
                  <a:srgbClr val="FF0000"/>
                </a:solidFill>
              </a:rPr>
              <a:t>developing Asian nations</a:t>
            </a:r>
            <a:r>
              <a:rPr lang="en-US" dirty="0" smtClean="0"/>
              <a:t>, which of the following i</a:t>
            </a:r>
            <a:r>
              <a:rPr lang="en-US" dirty="0" smtClean="0"/>
              <a:t>s </a:t>
            </a:r>
            <a:r>
              <a:rPr lang="en-US" b="1" dirty="0" smtClean="0">
                <a:solidFill>
                  <a:srgbClr val="FF0000"/>
                </a:solidFill>
              </a:rPr>
              <a:t>widely promoted to be the better solution to poverty and unemployment</a:t>
            </a:r>
            <a:r>
              <a:rPr lang="en-US" dirty="0" smtClean="0"/>
              <a:t>?</a:t>
            </a:r>
            <a:br>
              <a:rPr lang="en-US" dirty="0" smtClean="0"/>
            </a:br>
            <a:endParaRPr lang="en-US" dirty="0"/>
          </a:p>
        </p:txBody>
      </p:sp>
      <p:sp>
        <p:nvSpPr>
          <p:cNvPr id="3" name="Content Placeholder 2"/>
          <p:cNvSpPr>
            <a:spLocks noGrp="1"/>
          </p:cNvSpPr>
          <p:nvPr>
            <p:ph sz="quarter" idx="1"/>
          </p:nvPr>
        </p:nvSpPr>
        <p:spPr>
          <a:xfrm>
            <a:off x="0" y="1984248"/>
            <a:ext cx="9144000" cy="4873752"/>
          </a:xfrm>
        </p:spPr>
        <p:txBody>
          <a:bodyPr>
            <a:normAutofit/>
          </a:bodyPr>
          <a:lstStyle/>
          <a:p>
            <a:pPr lvl="0" latinLnBrk="1"/>
            <a:r>
              <a:rPr lang="en-US" sz="6000" dirty="0" smtClean="0"/>
              <a:t>A. Privatization</a:t>
            </a:r>
            <a:endParaRPr lang="en-US" sz="6000" dirty="0" smtClean="0"/>
          </a:p>
          <a:p>
            <a:pPr lvl="0" latinLnBrk="1"/>
            <a:r>
              <a:rPr lang="en-US" sz="6000" dirty="0" smtClean="0"/>
              <a:t>B. Urbanization</a:t>
            </a:r>
            <a:endParaRPr lang="en-US" sz="6000" dirty="0" smtClean="0"/>
          </a:p>
          <a:p>
            <a:pPr lvl="0" latinLnBrk="1"/>
            <a:r>
              <a:rPr lang="en-US" sz="6000" b="1" dirty="0" smtClean="0"/>
              <a:t>C. Industrialization</a:t>
            </a:r>
            <a:endParaRPr lang="en-US" sz="6000" dirty="0" smtClean="0"/>
          </a:p>
          <a:p>
            <a:pPr lvl="0" latinLnBrk="1"/>
            <a:r>
              <a:rPr lang="en-US" sz="6000" dirty="0" smtClean="0"/>
              <a:t>D. Importation</a:t>
            </a:r>
            <a:endParaRPr lang="en-US" sz="6000" dirty="0" smtClean="0"/>
          </a:p>
          <a:p>
            <a:pPr>
              <a:buNone/>
            </a:pPr>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85. </a:t>
            </a:r>
            <a:r>
              <a:rPr lang="en-US" b="1" dirty="0" smtClean="0">
                <a:solidFill>
                  <a:srgbClr val="FF0000"/>
                </a:solidFill>
              </a:rPr>
              <a:t>Stagflation occurs </a:t>
            </a:r>
            <a:r>
              <a:rPr lang="en-US" dirty="0" smtClean="0"/>
              <a:t>when the economy experiences __________________.</a:t>
            </a:r>
            <a:br>
              <a:rPr lang="en-US" dirty="0" smtClean="0"/>
            </a:br>
            <a:endParaRPr lang="en-US" dirty="0"/>
          </a:p>
        </p:txBody>
      </p:sp>
      <p:sp>
        <p:nvSpPr>
          <p:cNvPr id="3" name="Content Placeholder 2"/>
          <p:cNvSpPr>
            <a:spLocks noGrp="1"/>
          </p:cNvSpPr>
          <p:nvPr>
            <p:ph sz="quarter" idx="1"/>
          </p:nvPr>
        </p:nvSpPr>
        <p:spPr>
          <a:xfrm>
            <a:off x="228600" y="1295400"/>
            <a:ext cx="8458200" cy="5178552"/>
          </a:xfrm>
        </p:spPr>
        <p:txBody>
          <a:bodyPr>
            <a:normAutofit fontScale="92500" lnSpcReduction="20000"/>
          </a:bodyPr>
          <a:lstStyle/>
          <a:p>
            <a:pPr lvl="0" latinLnBrk="1"/>
            <a:r>
              <a:rPr lang="en-US" sz="4800" dirty="0" smtClean="0"/>
              <a:t>A. Rising </a:t>
            </a:r>
            <a:r>
              <a:rPr lang="en-US" sz="4800" dirty="0" smtClean="0"/>
              <a:t>prices and rising </a:t>
            </a:r>
            <a:endParaRPr lang="en-US" sz="4800" dirty="0" smtClean="0"/>
          </a:p>
          <a:p>
            <a:pPr lvl="0" latinLnBrk="1">
              <a:buNone/>
            </a:pPr>
            <a:r>
              <a:rPr lang="en-US" sz="4800" dirty="0" smtClean="0"/>
              <a:t> </a:t>
            </a:r>
            <a:r>
              <a:rPr lang="en-US" sz="4800" dirty="0" smtClean="0"/>
              <a:t>   output</a:t>
            </a:r>
            <a:endParaRPr lang="en-US" sz="4800" dirty="0" smtClean="0"/>
          </a:p>
          <a:p>
            <a:pPr lvl="0" latinLnBrk="1"/>
            <a:r>
              <a:rPr lang="en-US" sz="4800" b="1" dirty="0" smtClean="0"/>
              <a:t>B. Rising </a:t>
            </a:r>
            <a:r>
              <a:rPr lang="en-US" sz="4800" b="1" dirty="0" smtClean="0"/>
              <a:t>prices and falling output</a:t>
            </a:r>
            <a:endParaRPr lang="en-US" sz="4800" dirty="0" smtClean="0"/>
          </a:p>
          <a:p>
            <a:pPr lvl="0" latinLnBrk="1"/>
            <a:r>
              <a:rPr lang="en-US" sz="4800" dirty="0" smtClean="0"/>
              <a:t>C. Falling </a:t>
            </a:r>
            <a:r>
              <a:rPr lang="en-US" sz="4800" dirty="0" smtClean="0"/>
              <a:t>prices and falling </a:t>
            </a:r>
            <a:endParaRPr lang="en-US" sz="4800" dirty="0" smtClean="0"/>
          </a:p>
          <a:p>
            <a:pPr lvl="0" latinLnBrk="1">
              <a:buNone/>
            </a:pPr>
            <a:r>
              <a:rPr lang="en-US" sz="4800" dirty="0" smtClean="0"/>
              <a:t> </a:t>
            </a:r>
            <a:r>
              <a:rPr lang="en-US" sz="4800" dirty="0" smtClean="0"/>
              <a:t>  output</a:t>
            </a:r>
            <a:endParaRPr lang="en-US" sz="4800" dirty="0" smtClean="0"/>
          </a:p>
          <a:p>
            <a:pPr lvl="0" latinLnBrk="1"/>
            <a:r>
              <a:rPr lang="en-US" sz="4800" dirty="0" smtClean="0"/>
              <a:t>D. Falling </a:t>
            </a:r>
            <a:r>
              <a:rPr lang="en-US" sz="4800" dirty="0" smtClean="0"/>
              <a:t>prices and rising </a:t>
            </a:r>
            <a:endParaRPr lang="en-US" sz="4800" dirty="0" smtClean="0"/>
          </a:p>
          <a:p>
            <a:pPr lvl="0" latinLnBrk="1">
              <a:buNone/>
            </a:pPr>
            <a:r>
              <a:rPr lang="en-US" sz="4800" dirty="0" smtClean="0"/>
              <a:t> </a:t>
            </a:r>
            <a:r>
              <a:rPr lang="en-US" sz="4800" dirty="0" smtClean="0"/>
              <a:t>  output</a:t>
            </a:r>
            <a:endParaRPr lang="en-US" sz="4800" dirty="0" smtClean="0"/>
          </a:p>
          <a:p>
            <a:pPr>
              <a:buNone/>
            </a:pPr>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1143000"/>
          </a:xfrm>
        </p:spPr>
        <p:txBody>
          <a:bodyPr>
            <a:normAutofit fontScale="90000"/>
          </a:bodyPr>
          <a:lstStyle/>
          <a:p>
            <a:pPr lvl="0"/>
            <a:r>
              <a:rPr lang="en-US" dirty="0" smtClean="0"/>
              <a:t>86. </a:t>
            </a:r>
            <a:r>
              <a:rPr lang="en-US" dirty="0" smtClean="0"/>
              <a:t>Which among the following is </a:t>
            </a:r>
            <a:r>
              <a:rPr lang="en-US" b="1" dirty="0" smtClean="0">
                <a:solidFill>
                  <a:srgbClr val="FF0000"/>
                </a:solidFill>
              </a:rPr>
              <a:t>an example of a transfer payment</a:t>
            </a:r>
            <a:r>
              <a:rPr lang="en-US" dirty="0" smtClean="0"/>
              <a:t>?</a:t>
            </a:r>
            <a:br>
              <a:rPr lang="en-US" dirty="0" smtClean="0"/>
            </a:br>
            <a:endParaRPr lang="en-US" dirty="0"/>
          </a:p>
        </p:txBody>
      </p:sp>
      <p:sp>
        <p:nvSpPr>
          <p:cNvPr id="3" name="Content Placeholder 2"/>
          <p:cNvSpPr>
            <a:spLocks noGrp="1"/>
          </p:cNvSpPr>
          <p:nvPr>
            <p:ph sz="quarter" idx="1"/>
          </p:nvPr>
        </p:nvSpPr>
        <p:spPr>
          <a:xfrm>
            <a:off x="0" y="1600200"/>
            <a:ext cx="9144000" cy="4873752"/>
          </a:xfrm>
        </p:spPr>
        <p:txBody>
          <a:bodyPr/>
          <a:lstStyle/>
          <a:p>
            <a:pPr lvl="0" latinLnBrk="1"/>
            <a:r>
              <a:rPr lang="en-US" sz="5400" dirty="0" smtClean="0"/>
              <a:t>A. Profit</a:t>
            </a:r>
            <a:endParaRPr lang="en-US" sz="5400" dirty="0" smtClean="0"/>
          </a:p>
          <a:p>
            <a:pPr lvl="0" latinLnBrk="1"/>
            <a:r>
              <a:rPr lang="en-US" sz="5400" dirty="0" smtClean="0"/>
              <a:t>B. Rent</a:t>
            </a:r>
            <a:endParaRPr lang="en-US" sz="5400" dirty="0" smtClean="0"/>
          </a:p>
          <a:p>
            <a:pPr lvl="0" latinLnBrk="1"/>
            <a:r>
              <a:rPr lang="en-US" sz="5400" b="1" dirty="0" smtClean="0"/>
              <a:t>C. Unemployment</a:t>
            </a:r>
            <a:endParaRPr lang="en-US" sz="5400" dirty="0" smtClean="0"/>
          </a:p>
          <a:p>
            <a:pPr lvl="0" latinLnBrk="1"/>
            <a:r>
              <a:rPr lang="en-US" sz="5400" dirty="0" smtClean="0"/>
              <a:t>D. Government </a:t>
            </a:r>
            <a:r>
              <a:rPr lang="en-US" sz="5400" dirty="0" smtClean="0"/>
              <a:t>purchases</a:t>
            </a:r>
          </a:p>
          <a:p>
            <a:pPr>
              <a:buNone/>
            </a:pPr>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82000" cy="1143000"/>
          </a:xfrm>
        </p:spPr>
        <p:txBody>
          <a:bodyPr>
            <a:normAutofit fontScale="90000"/>
          </a:bodyPr>
          <a:lstStyle/>
          <a:p>
            <a:pPr lvl="0"/>
            <a:r>
              <a:rPr lang="en-US" dirty="0" smtClean="0"/>
              <a:t>87. </a:t>
            </a:r>
            <a:r>
              <a:rPr lang="en-US" dirty="0" smtClean="0"/>
              <a:t>Which among the following </a:t>
            </a:r>
            <a:r>
              <a:rPr lang="en-US" b="1" dirty="0" smtClean="0">
                <a:solidFill>
                  <a:srgbClr val="FF0000"/>
                </a:solidFill>
              </a:rPr>
              <a:t>best describes a recession</a:t>
            </a:r>
            <a:r>
              <a:rPr lang="en-US" dirty="0" smtClean="0"/>
              <a:t>?</a:t>
            </a:r>
            <a:br>
              <a:rPr lang="en-US" dirty="0" smtClean="0"/>
            </a:br>
            <a:endParaRPr lang="en-US" dirty="0"/>
          </a:p>
        </p:txBody>
      </p:sp>
      <p:sp>
        <p:nvSpPr>
          <p:cNvPr id="3" name="Content Placeholder 2"/>
          <p:cNvSpPr>
            <a:spLocks noGrp="1"/>
          </p:cNvSpPr>
          <p:nvPr>
            <p:ph sz="quarter" idx="1"/>
          </p:nvPr>
        </p:nvSpPr>
        <p:spPr>
          <a:xfrm>
            <a:off x="457200" y="1295400"/>
            <a:ext cx="8229600" cy="5178552"/>
          </a:xfrm>
        </p:spPr>
        <p:txBody>
          <a:bodyPr>
            <a:normAutofit fontScale="92500" lnSpcReduction="10000"/>
          </a:bodyPr>
          <a:lstStyle/>
          <a:p>
            <a:pPr lvl="0" latinLnBrk="1"/>
            <a:r>
              <a:rPr lang="en-US" sz="4400" b="1" dirty="0" smtClean="0"/>
              <a:t>A. A </a:t>
            </a:r>
            <a:r>
              <a:rPr lang="en-US" sz="4400" b="1" dirty="0" smtClean="0"/>
              <a:t>fall in real GNP over </a:t>
            </a:r>
            <a:endParaRPr lang="en-US" sz="4400" b="1" dirty="0" smtClean="0"/>
          </a:p>
          <a:p>
            <a:pPr lvl="0" latinLnBrk="1">
              <a:buNone/>
            </a:pPr>
            <a:r>
              <a:rPr lang="en-US" sz="4400" b="1" dirty="0" smtClean="0"/>
              <a:t>two </a:t>
            </a:r>
            <a:r>
              <a:rPr lang="en-US" sz="4400" b="1" dirty="0" smtClean="0"/>
              <a:t>consecutive time periods.</a:t>
            </a:r>
            <a:endParaRPr lang="en-US" sz="4400" dirty="0" smtClean="0"/>
          </a:p>
          <a:p>
            <a:pPr lvl="0" latinLnBrk="1"/>
            <a:r>
              <a:rPr lang="en-US" sz="4400" dirty="0" smtClean="0"/>
              <a:t>B. An </a:t>
            </a:r>
            <a:r>
              <a:rPr lang="en-US" sz="4400" dirty="0" smtClean="0"/>
              <a:t>increase in real GNP </a:t>
            </a:r>
            <a:endParaRPr lang="en-US" sz="4400" dirty="0" smtClean="0"/>
          </a:p>
          <a:p>
            <a:pPr lvl="0" latinLnBrk="1">
              <a:buNone/>
            </a:pPr>
            <a:r>
              <a:rPr lang="en-US" sz="4400" dirty="0" smtClean="0"/>
              <a:t>from </a:t>
            </a:r>
            <a:r>
              <a:rPr lang="en-US" sz="4400" dirty="0" smtClean="0"/>
              <a:t>one period to the next.</a:t>
            </a:r>
          </a:p>
          <a:p>
            <a:pPr lvl="0" latinLnBrk="1"/>
            <a:r>
              <a:rPr lang="en-US" sz="4400" dirty="0" smtClean="0"/>
              <a:t>C. Nominal </a:t>
            </a:r>
            <a:r>
              <a:rPr lang="en-US" sz="4400" dirty="0" smtClean="0"/>
              <a:t>GNP declines from one period to the next.</a:t>
            </a:r>
          </a:p>
          <a:p>
            <a:pPr lvl="0" latinLnBrk="1"/>
            <a:r>
              <a:rPr lang="en-US" sz="4400" dirty="0" smtClean="0"/>
              <a:t>D. No </a:t>
            </a:r>
            <a:r>
              <a:rPr lang="en-US" sz="4400" dirty="0" smtClean="0"/>
              <a:t>change in real GNP from one period to the next.</a:t>
            </a:r>
          </a:p>
          <a:p>
            <a:pPr>
              <a:buNone/>
            </a:pPr>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05800" cy="1143000"/>
          </a:xfrm>
        </p:spPr>
        <p:txBody>
          <a:bodyPr>
            <a:normAutofit fontScale="90000"/>
          </a:bodyPr>
          <a:lstStyle/>
          <a:p>
            <a:pPr lvl="0"/>
            <a:r>
              <a:rPr lang="en-US" dirty="0" smtClean="0"/>
              <a:t>88. </a:t>
            </a:r>
            <a:r>
              <a:rPr lang="en-US" dirty="0" smtClean="0">
                <a:solidFill>
                  <a:srgbClr val="FF0000"/>
                </a:solidFill>
              </a:rPr>
              <a:t>Gross Domestic Product</a:t>
            </a:r>
            <a:r>
              <a:rPr lang="en-US" dirty="0" smtClean="0"/>
              <a:t> is the </a:t>
            </a:r>
            <a:r>
              <a:rPr lang="en-US" b="1" dirty="0" smtClean="0">
                <a:solidFill>
                  <a:srgbClr val="FF0000"/>
                </a:solidFill>
              </a:rPr>
              <a:t>sum of </a:t>
            </a:r>
            <a:r>
              <a:rPr lang="en-US" dirty="0" smtClean="0"/>
              <a:t>the market value of the ____________.</a:t>
            </a:r>
            <a:br>
              <a:rPr lang="en-US" dirty="0" smtClean="0"/>
            </a:br>
            <a:endParaRPr lang="en-US" dirty="0"/>
          </a:p>
        </p:txBody>
      </p:sp>
      <p:sp>
        <p:nvSpPr>
          <p:cNvPr id="3" name="Content Placeholder 2"/>
          <p:cNvSpPr>
            <a:spLocks noGrp="1"/>
          </p:cNvSpPr>
          <p:nvPr>
            <p:ph sz="quarter" idx="1"/>
          </p:nvPr>
        </p:nvSpPr>
        <p:spPr>
          <a:xfrm>
            <a:off x="457200" y="1143000"/>
            <a:ext cx="8229600" cy="5330952"/>
          </a:xfrm>
        </p:spPr>
        <p:txBody>
          <a:bodyPr/>
          <a:lstStyle/>
          <a:p>
            <a:pPr lvl="0" latinLnBrk="1"/>
            <a:r>
              <a:rPr lang="en-US" sz="4800" dirty="0" smtClean="0"/>
              <a:t>A. Intermediate </a:t>
            </a:r>
            <a:r>
              <a:rPr lang="en-US" sz="4800" dirty="0" smtClean="0"/>
              <a:t>goods</a:t>
            </a:r>
          </a:p>
          <a:p>
            <a:pPr lvl="0" latinLnBrk="1"/>
            <a:r>
              <a:rPr lang="en-US" sz="4800" b="1" dirty="0" smtClean="0"/>
              <a:t>B. Final </a:t>
            </a:r>
            <a:r>
              <a:rPr lang="en-US" sz="4800" b="1" dirty="0" smtClean="0"/>
              <a:t>goods and </a:t>
            </a:r>
            <a:endParaRPr lang="en-US" sz="4800" b="1" dirty="0" smtClean="0"/>
          </a:p>
          <a:p>
            <a:pPr lvl="0" latinLnBrk="1">
              <a:buNone/>
            </a:pPr>
            <a:r>
              <a:rPr lang="en-US" sz="4800" b="1" dirty="0" smtClean="0"/>
              <a:t> </a:t>
            </a:r>
            <a:r>
              <a:rPr lang="en-US" sz="4800" b="1" dirty="0" smtClean="0"/>
              <a:t>    services</a:t>
            </a:r>
            <a:endParaRPr lang="en-US" sz="4800" dirty="0" smtClean="0"/>
          </a:p>
          <a:p>
            <a:pPr lvl="0" latinLnBrk="1"/>
            <a:r>
              <a:rPr lang="en-US" sz="4800" dirty="0" smtClean="0"/>
              <a:t>C. Manufactured </a:t>
            </a:r>
            <a:r>
              <a:rPr lang="en-US" sz="4800" dirty="0" smtClean="0"/>
              <a:t>goods</a:t>
            </a:r>
          </a:p>
          <a:p>
            <a:pPr lvl="0" latinLnBrk="1"/>
            <a:r>
              <a:rPr lang="en-US" sz="4800" dirty="0" smtClean="0"/>
              <a:t>D. Inferior </a:t>
            </a:r>
            <a:r>
              <a:rPr lang="en-US" sz="4800" dirty="0" smtClean="0"/>
              <a:t>goods and </a:t>
            </a:r>
            <a:endParaRPr lang="en-US" sz="4800" dirty="0" smtClean="0"/>
          </a:p>
          <a:p>
            <a:pPr lvl="0" latinLnBrk="1">
              <a:buNone/>
            </a:pPr>
            <a:r>
              <a:rPr lang="en-US" sz="4800" dirty="0" smtClean="0"/>
              <a:t> </a:t>
            </a:r>
            <a:r>
              <a:rPr lang="en-US" sz="4800" dirty="0" smtClean="0"/>
              <a:t>    services</a:t>
            </a:r>
            <a:endParaRPr lang="en-US" sz="4800" dirty="0" smtClean="0"/>
          </a:p>
          <a:p>
            <a:pPr>
              <a:buNone/>
            </a:pPr>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89. </a:t>
            </a:r>
            <a:r>
              <a:rPr lang="en-US" dirty="0" smtClean="0"/>
              <a:t>Which of the following statements is </a:t>
            </a:r>
            <a:r>
              <a:rPr lang="en-US" b="1" dirty="0" smtClean="0">
                <a:solidFill>
                  <a:srgbClr val="FF0000"/>
                </a:solidFill>
              </a:rPr>
              <a:t>true about a market economy</a:t>
            </a:r>
            <a:r>
              <a:rPr lang="en-US" dirty="0" smtClean="0"/>
              <a:t>?</a:t>
            </a:r>
            <a:br>
              <a:rPr lang="en-US" dirty="0" smtClean="0"/>
            </a:br>
            <a:endParaRPr lang="en-US" dirty="0"/>
          </a:p>
        </p:txBody>
      </p:sp>
      <p:sp>
        <p:nvSpPr>
          <p:cNvPr id="3" name="Content Placeholder 2"/>
          <p:cNvSpPr>
            <a:spLocks noGrp="1"/>
          </p:cNvSpPr>
          <p:nvPr>
            <p:ph sz="quarter" idx="1"/>
          </p:nvPr>
        </p:nvSpPr>
        <p:spPr>
          <a:xfrm>
            <a:off x="152400" y="1143000"/>
            <a:ext cx="8534400" cy="5330952"/>
          </a:xfrm>
        </p:spPr>
        <p:txBody>
          <a:bodyPr>
            <a:normAutofit fontScale="55000" lnSpcReduction="20000"/>
          </a:bodyPr>
          <a:lstStyle/>
          <a:p>
            <a:pPr lvl="0" latinLnBrk="1"/>
            <a:r>
              <a:rPr lang="en-US" sz="5400" dirty="0" smtClean="0"/>
              <a:t>A. With </a:t>
            </a:r>
            <a:r>
              <a:rPr lang="en-US" sz="5400" dirty="0" smtClean="0"/>
              <a:t>a large enough computer, central </a:t>
            </a:r>
            <a:endParaRPr lang="en-US" sz="5400" dirty="0" smtClean="0"/>
          </a:p>
          <a:p>
            <a:pPr lvl="0" latinLnBrk="1">
              <a:buNone/>
            </a:pPr>
            <a:r>
              <a:rPr lang="en-US" sz="5400" dirty="0" smtClean="0"/>
              <a:t> </a:t>
            </a:r>
            <a:r>
              <a:rPr lang="en-US" sz="5400" dirty="0" smtClean="0"/>
              <a:t>planners </a:t>
            </a:r>
            <a:r>
              <a:rPr lang="en-US" sz="5400" dirty="0" smtClean="0"/>
              <a:t>could guide production more efficiently than markets.</a:t>
            </a:r>
          </a:p>
          <a:p>
            <a:pPr lvl="0" latinLnBrk="1"/>
            <a:r>
              <a:rPr lang="en-US" sz="5400" b="1" dirty="0" smtClean="0"/>
              <a:t>B. Market </a:t>
            </a:r>
            <a:r>
              <a:rPr lang="en-US" sz="5400" b="1" dirty="0" smtClean="0"/>
              <a:t>participants act as if guided </a:t>
            </a:r>
            <a:endParaRPr lang="en-US" sz="5400" b="1" dirty="0" smtClean="0"/>
          </a:p>
          <a:p>
            <a:pPr lvl="0" latinLnBrk="1">
              <a:buNone/>
            </a:pPr>
            <a:r>
              <a:rPr lang="en-US" sz="5400" b="1" dirty="0" smtClean="0"/>
              <a:t>by </a:t>
            </a:r>
            <a:r>
              <a:rPr lang="en-US" sz="5400" b="1" dirty="0" smtClean="0"/>
              <a:t>an invisible hand to produce outcomes that maximize social welfare.</a:t>
            </a:r>
            <a:endParaRPr lang="en-US" sz="5400" dirty="0" smtClean="0"/>
          </a:p>
          <a:p>
            <a:pPr lvl="0" latinLnBrk="1"/>
            <a:r>
              <a:rPr lang="en-US" sz="5400" dirty="0" smtClean="0"/>
              <a:t>C. The </a:t>
            </a:r>
            <a:r>
              <a:rPr lang="en-US" sz="5400" dirty="0" smtClean="0"/>
              <a:t>strength of a market system is that it tends to distribute resources evenly across </a:t>
            </a:r>
            <a:endParaRPr lang="en-US" sz="5400" dirty="0" smtClean="0"/>
          </a:p>
          <a:p>
            <a:pPr lvl="0" latinLnBrk="1">
              <a:buNone/>
            </a:pPr>
            <a:r>
              <a:rPr lang="en-US" sz="5400" dirty="0" smtClean="0"/>
              <a:t>consumers</a:t>
            </a:r>
            <a:r>
              <a:rPr lang="en-US" sz="5400" dirty="0" smtClean="0"/>
              <a:t>.</a:t>
            </a:r>
          </a:p>
          <a:p>
            <a:pPr lvl="0" latinLnBrk="1"/>
            <a:r>
              <a:rPr lang="en-US" sz="5400" dirty="0" smtClean="0"/>
              <a:t>D. Taxes </a:t>
            </a:r>
            <a:r>
              <a:rPr lang="en-US" sz="5400" dirty="0" smtClean="0"/>
              <a:t>help prices communicate costs and </a:t>
            </a:r>
            <a:endParaRPr lang="en-US" sz="5400" dirty="0" smtClean="0"/>
          </a:p>
          <a:p>
            <a:pPr lvl="0" latinLnBrk="1">
              <a:buNone/>
            </a:pPr>
            <a:r>
              <a:rPr lang="en-US" sz="5400" dirty="0" smtClean="0"/>
              <a:t>benefits </a:t>
            </a:r>
            <a:r>
              <a:rPr lang="en-US" sz="5400" dirty="0" smtClean="0"/>
              <a:t>to producers and consumers.</a:t>
            </a:r>
          </a:p>
          <a:p>
            <a:pPr>
              <a:buNone/>
            </a:pPr>
            <a:endParaRPr 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90. </a:t>
            </a:r>
            <a:r>
              <a:rPr lang="en-US" dirty="0" smtClean="0"/>
              <a:t>In a </a:t>
            </a:r>
            <a:r>
              <a:rPr lang="en-US" dirty="0" smtClean="0">
                <a:solidFill>
                  <a:srgbClr val="FF0000"/>
                </a:solidFill>
              </a:rPr>
              <a:t>free-market economy </a:t>
            </a:r>
            <a:r>
              <a:rPr lang="en-US" dirty="0" smtClean="0"/>
              <a:t>the </a:t>
            </a:r>
            <a:r>
              <a:rPr lang="en-US" b="1" dirty="0" smtClean="0">
                <a:solidFill>
                  <a:srgbClr val="FF0000"/>
                </a:solidFill>
              </a:rPr>
              <a:t>allocation of resources is determined by </a:t>
            </a:r>
            <a:r>
              <a:rPr lang="en-US" dirty="0" smtClean="0"/>
              <a:t>____________.</a:t>
            </a:r>
            <a:br>
              <a:rPr lang="en-US" dirty="0" smtClean="0"/>
            </a:br>
            <a:endParaRPr lang="en-US" dirty="0"/>
          </a:p>
        </p:txBody>
      </p:sp>
      <p:sp>
        <p:nvSpPr>
          <p:cNvPr id="3" name="Content Placeholder 2"/>
          <p:cNvSpPr>
            <a:spLocks noGrp="1"/>
          </p:cNvSpPr>
          <p:nvPr>
            <p:ph sz="quarter" idx="1"/>
          </p:nvPr>
        </p:nvSpPr>
        <p:spPr>
          <a:xfrm>
            <a:off x="228600" y="1600200"/>
            <a:ext cx="8534400" cy="4873752"/>
          </a:xfrm>
        </p:spPr>
        <p:txBody>
          <a:bodyPr>
            <a:normAutofit fontScale="77500" lnSpcReduction="20000"/>
          </a:bodyPr>
          <a:lstStyle/>
          <a:p>
            <a:pPr lvl="0" latinLnBrk="1"/>
            <a:r>
              <a:rPr lang="en-US" sz="6000" dirty="0" smtClean="0"/>
              <a:t>A. Votes </a:t>
            </a:r>
            <a:r>
              <a:rPr lang="en-US" sz="6000" dirty="0" smtClean="0"/>
              <a:t>taken by consumers</a:t>
            </a:r>
          </a:p>
          <a:p>
            <a:pPr lvl="0" latinLnBrk="1"/>
            <a:r>
              <a:rPr lang="en-US" sz="6000" dirty="0" smtClean="0"/>
              <a:t>B. Central </a:t>
            </a:r>
            <a:r>
              <a:rPr lang="en-US" sz="6000" dirty="0" smtClean="0"/>
              <a:t>planning </a:t>
            </a:r>
            <a:endParaRPr lang="en-US" sz="6000" dirty="0" smtClean="0"/>
          </a:p>
          <a:p>
            <a:pPr lvl="0" latinLnBrk="1">
              <a:buNone/>
            </a:pPr>
            <a:r>
              <a:rPr lang="en-US" sz="6000" dirty="0" smtClean="0"/>
              <a:t> </a:t>
            </a:r>
            <a:r>
              <a:rPr lang="en-US" sz="6000" dirty="0" smtClean="0"/>
              <a:t>   authority</a:t>
            </a:r>
            <a:endParaRPr lang="en-US" sz="6000" dirty="0" smtClean="0"/>
          </a:p>
          <a:p>
            <a:pPr lvl="0" latinLnBrk="1"/>
            <a:r>
              <a:rPr lang="en-US" sz="6000" b="1" dirty="0" smtClean="0"/>
              <a:t>C. Consumer </a:t>
            </a:r>
            <a:r>
              <a:rPr lang="en-US" sz="6000" b="1" dirty="0" smtClean="0"/>
              <a:t>preferences</a:t>
            </a:r>
            <a:endParaRPr lang="en-US" sz="6000" dirty="0" smtClean="0"/>
          </a:p>
          <a:p>
            <a:pPr lvl="0" latinLnBrk="1"/>
            <a:r>
              <a:rPr lang="en-US" sz="6000" dirty="0" smtClean="0"/>
              <a:t>D. The </a:t>
            </a:r>
            <a:r>
              <a:rPr lang="en-US" sz="6000" dirty="0" smtClean="0"/>
              <a:t>level of profits of </a:t>
            </a:r>
            <a:endParaRPr lang="en-US" sz="6000" dirty="0" smtClean="0"/>
          </a:p>
          <a:p>
            <a:pPr lvl="0" latinLnBrk="1">
              <a:buNone/>
            </a:pPr>
            <a:r>
              <a:rPr lang="en-US" sz="6000" dirty="0" smtClean="0"/>
              <a:t>     firms</a:t>
            </a:r>
            <a:endParaRPr lang="en-US" sz="6000" dirty="0" smtClean="0"/>
          </a:p>
          <a:p>
            <a:pPr>
              <a:buNone/>
            </a:pPr>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smtClean="0"/>
              <a:t>91. </a:t>
            </a:r>
            <a:r>
              <a:rPr lang="en-US" b="1" dirty="0" smtClean="0">
                <a:solidFill>
                  <a:srgbClr val="FF0000"/>
                </a:solidFill>
              </a:rPr>
              <a:t>Trade-offs is required </a:t>
            </a:r>
            <a:r>
              <a:rPr lang="en-US" dirty="0" smtClean="0"/>
              <a:t>because </a:t>
            </a:r>
            <a:r>
              <a:rPr lang="en-US" dirty="0" smtClean="0">
                <a:solidFill>
                  <a:srgbClr val="FF0000"/>
                </a:solidFill>
              </a:rPr>
              <a:t>wants are unlimited </a:t>
            </a:r>
            <a:r>
              <a:rPr lang="en-US" dirty="0" smtClean="0"/>
              <a:t>and </a:t>
            </a:r>
            <a:r>
              <a:rPr lang="en-US" b="1" dirty="0" smtClean="0">
                <a:solidFill>
                  <a:srgbClr val="FF0000"/>
                </a:solidFill>
              </a:rPr>
              <a:t>resources are </a:t>
            </a:r>
            <a:r>
              <a:rPr lang="en-US" dirty="0" smtClean="0"/>
              <a:t>__________.</a:t>
            </a:r>
            <a:endParaRPr lang="en-US" dirty="0"/>
          </a:p>
        </p:txBody>
      </p:sp>
      <p:sp>
        <p:nvSpPr>
          <p:cNvPr id="3" name="Content Placeholder 2"/>
          <p:cNvSpPr>
            <a:spLocks noGrp="1"/>
          </p:cNvSpPr>
          <p:nvPr>
            <p:ph sz="quarter" idx="1"/>
          </p:nvPr>
        </p:nvSpPr>
        <p:spPr>
          <a:xfrm>
            <a:off x="457200" y="1600200"/>
            <a:ext cx="8229600" cy="4873752"/>
          </a:xfrm>
        </p:spPr>
        <p:txBody>
          <a:bodyPr/>
          <a:lstStyle/>
          <a:p>
            <a:pPr lvl="0" latinLnBrk="1"/>
            <a:r>
              <a:rPr lang="en-US" sz="6000" dirty="0" smtClean="0"/>
              <a:t>A. Economical</a:t>
            </a:r>
            <a:endParaRPr lang="en-US" sz="6000" dirty="0" smtClean="0"/>
          </a:p>
          <a:p>
            <a:pPr lvl="0" latinLnBrk="1"/>
            <a:r>
              <a:rPr lang="en-US" sz="6000" dirty="0" smtClean="0"/>
              <a:t>B. Unlimited</a:t>
            </a:r>
            <a:endParaRPr lang="en-US" sz="6000" dirty="0" smtClean="0"/>
          </a:p>
          <a:p>
            <a:pPr lvl="0" latinLnBrk="1"/>
            <a:r>
              <a:rPr lang="en-US" sz="6000" dirty="0" smtClean="0"/>
              <a:t>C. Scarce</a:t>
            </a:r>
            <a:endParaRPr lang="en-US" sz="6000" dirty="0" smtClean="0"/>
          </a:p>
          <a:p>
            <a:pPr lvl="0" latinLnBrk="1"/>
            <a:r>
              <a:rPr lang="en-US" sz="6000" b="1" dirty="0" smtClean="0"/>
              <a:t>D. Marginal</a:t>
            </a:r>
            <a:endParaRPr lang="en-US" sz="6000" dirty="0" smtClean="0"/>
          </a:p>
          <a:p>
            <a:pPr>
              <a:buNone/>
            </a:pPr>
            <a:endParaRPr 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92. </a:t>
            </a:r>
            <a:r>
              <a:rPr lang="en-US" dirty="0" smtClean="0">
                <a:solidFill>
                  <a:srgbClr val="FF0000"/>
                </a:solidFill>
              </a:rPr>
              <a:t>Raising taxes </a:t>
            </a:r>
            <a:r>
              <a:rPr lang="en-US" dirty="0" smtClean="0"/>
              <a:t>and </a:t>
            </a:r>
            <a:r>
              <a:rPr lang="en-US" dirty="0" smtClean="0">
                <a:solidFill>
                  <a:srgbClr val="FF0000"/>
                </a:solidFill>
              </a:rPr>
              <a:t>increasing welfare payments </a:t>
            </a:r>
            <a:r>
              <a:rPr lang="en-US" dirty="0" smtClean="0"/>
              <a:t>______________________.</a:t>
            </a:r>
            <a:br>
              <a:rPr lang="en-US" dirty="0" smtClean="0"/>
            </a:br>
            <a:endParaRPr lang="en-US" dirty="0"/>
          </a:p>
        </p:txBody>
      </p:sp>
      <p:sp>
        <p:nvSpPr>
          <p:cNvPr id="3" name="Content Placeholder 2"/>
          <p:cNvSpPr>
            <a:spLocks noGrp="1"/>
          </p:cNvSpPr>
          <p:nvPr>
            <p:ph sz="quarter" idx="1"/>
          </p:nvPr>
        </p:nvSpPr>
        <p:spPr>
          <a:xfrm>
            <a:off x="457200" y="1600200"/>
            <a:ext cx="8229600" cy="4873752"/>
          </a:xfrm>
        </p:spPr>
        <p:txBody>
          <a:bodyPr>
            <a:normAutofit fontScale="85000" lnSpcReduction="10000"/>
          </a:bodyPr>
          <a:lstStyle/>
          <a:p>
            <a:pPr lvl="0" latinLnBrk="1"/>
            <a:r>
              <a:rPr lang="en-US" sz="5400" dirty="0" smtClean="0"/>
              <a:t>A. Reduce </a:t>
            </a:r>
            <a:r>
              <a:rPr lang="en-US" sz="5400" dirty="0" smtClean="0"/>
              <a:t>market power</a:t>
            </a:r>
          </a:p>
          <a:p>
            <a:pPr lvl="0" latinLnBrk="1"/>
            <a:r>
              <a:rPr lang="en-US" sz="5400" dirty="0" smtClean="0"/>
              <a:t>B. Prove </a:t>
            </a:r>
            <a:r>
              <a:rPr lang="en-US" sz="5400" dirty="0" smtClean="0"/>
              <a:t>that there is such a thing as a free lunch</a:t>
            </a:r>
          </a:p>
          <a:p>
            <a:pPr lvl="0" latinLnBrk="1"/>
            <a:r>
              <a:rPr lang="en-US" sz="5400" dirty="0" smtClean="0"/>
              <a:t>C. Improve </a:t>
            </a:r>
            <a:r>
              <a:rPr lang="en-US" sz="5400" dirty="0" smtClean="0"/>
              <a:t>efficiency at the expense of equity</a:t>
            </a:r>
          </a:p>
          <a:p>
            <a:pPr lvl="0" latinLnBrk="1"/>
            <a:r>
              <a:rPr lang="en-US" sz="5400" b="1" dirty="0" smtClean="0"/>
              <a:t>D. Improve </a:t>
            </a:r>
            <a:r>
              <a:rPr lang="en-US" sz="5400" b="1" dirty="0" smtClean="0"/>
              <a:t>equity at the expense of efficiency</a:t>
            </a:r>
            <a:endParaRPr lang="en-US" sz="5400" dirty="0" smtClean="0"/>
          </a:p>
          <a:p>
            <a:pPr>
              <a:buNone/>
            </a:pPr>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93. </a:t>
            </a:r>
            <a:r>
              <a:rPr lang="en-US" dirty="0" smtClean="0"/>
              <a:t>The </a:t>
            </a:r>
            <a:r>
              <a:rPr lang="en-US" dirty="0" smtClean="0">
                <a:solidFill>
                  <a:srgbClr val="FF0000"/>
                </a:solidFill>
              </a:rPr>
              <a:t>burden of a tax falls more heavily on the sellers</a:t>
            </a:r>
            <a:r>
              <a:rPr lang="en-US" dirty="0" smtClean="0"/>
              <a:t> in a market </a:t>
            </a:r>
            <a:r>
              <a:rPr lang="en-US" b="1" dirty="0" smtClean="0">
                <a:solidFill>
                  <a:srgbClr val="FF0000"/>
                </a:solidFill>
              </a:rPr>
              <a:t>when</a:t>
            </a:r>
            <a:r>
              <a:rPr lang="en-US" dirty="0" smtClean="0"/>
              <a:t> ______________.</a:t>
            </a:r>
            <a:br>
              <a:rPr lang="en-US" dirty="0" smtClean="0"/>
            </a:br>
            <a:endParaRPr lang="en-US" dirty="0"/>
          </a:p>
        </p:txBody>
      </p:sp>
      <p:sp>
        <p:nvSpPr>
          <p:cNvPr id="3" name="Content Placeholder 2"/>
          <p:cNvSpPr>
            <a:spLocks noGrp="1"/>
          </p:cNvSpPr>
          <p:nvPr>
            <p:ph sz="quarter" idx="1"/>
          </p:nvPr>
        </p:nvSpPr>
        <p:spPr>
          <a:xfrm>
            <a:off x="457200" y="1600200"/>
            <a:ext cx="8229600" cy="4873752"/>
          </a:xfrm>
        </p:spPr>
        <p:txBody>
          <a:bodyPr>
            <a:normAutofit fontScale="85000" lnSpcReduction="20000"/>
          </a:bodyPr>
          <a:lstStyle/>
          <a:p>
            <a:pPr lvl="0" latinLnBrk="1"/>
            <a:r>
              <a:rPr lang="en-US" sz="4800" dirty="0" smtClean="0"/>
              <a:t>A. Both </a:t>
            </a:r>
            <a:r>
              <a:rPr lang="en-US" sz="4800" dirty="0" smtClean="0"/>
              <a:t>supply and demand </a:t>
            </a:r>
            <a:endParaRPr lang="en-US" sz="4800" dirty="0" smtClean="0"/>
          </a:p>
          <a:p>
            <a:pPr lvl="0" latinLnBrk="1">
              <a:buNone/>
            </a:pPr>
            <a:r>
              <a:rPr lang="en-US" sz="4800" dirty="0" smtClean="0"/>
              <a:t> </a:t>
            </a:r>
            <a:r>
              <a:rPr lang="en-US" sz="4800" dirty="0" smtClean="0"/>
              <a:t> are </a:t>
            </a:r>
            <a:r>
              <a:rPr lang="en-US" sz="4800" dirty="0" smtClean="0"/>
              <a:t>elastic</a:t>
            </a:r>
          </a:p>
          <a:p>
            <a:pPr lvl="0" latinLnBrk="1"/>
            <a:r>
              <a:rPr lang="en-US" sz="4800" dirty="0" smtClean="0"/>
              <a:t>B. Both </a:t>
            </a:r>
            <a:r>
              <a:rPr lang="en-US" sz="4800" dirty="0" smtClean="0"/>
              <a:t>supply and demand </a:t>
            </a:r>
            <a:endParaRPr lang="en-US" sz="4800" dirty="0" smtClean="0"/>
          </a:p>
          <a:p>
            <a:pPr lvl="0" latinLnBrk="1">
              <a:buNone/>
            </a:pPr>
            <a:r>
              <a:rPr lang="en-US" sz="4800" dirty="0" smtClean="0"/>
              <a:t> </a:t>
            </a:r>
            <a:r>
              <a:rPr lang="en-US" sz="4800" dirty="0" smtClean="0"/>
              <a:t> are </a:t>
            </a:r>
            <a:r>
              <a:rPr lang="en-US" sz="4800" dirty="0" smtClean="0"/>
              <a:t>inelastic</a:t>
            </a:r>
          </a:p>
          <a:p>
            <a:pPr lvl="0" latinLnBrk="1"/>
            <a:r>
              <a:rPr lang="en-US" sz="4800" dirty="0" smtClean="0"/>
              <a:t>C. Demand </a:t>
            </a:r>
            <a:r>
              <a:rPr lang="en-US" sz="4800" dirty="0" smtClean="0"/>
              <a:t>is inelastic and </a:t>
            </a:r>
            <a:endParaRPr lang="en-US" sz="4800" dirty="0" smtClean="0"/>
          </a:p>
          <a:p>
            <a:pPr lvl="0" latinLnBrk="1">
              <a:buNone/>
            </a:pPr>
            <a:r>
              <a:rPr lang="en-US" sz="4800" dirty="0" smtClean="0"/>
              <a:t> </a:t>
            </a:r>
            <a:r>
              <a:rPr lang="en-US" sz="4800" dirty="0" smtClean="0"/>
              <a:t>supply </a:t>
            </a:r>
            <a:r>
              <a:rPr lang="en-US" sz="4800" dirty="0" smtClean="0"/>
              <a:t>is elastic</a:t>
            </a:r>
          </a:p>
          <a:p>
            <a:pPr lvl="0" latinLnBrk="1"/>
            <a:r>
              <a:rPr lang="en-US" sz="4800" b="1" dirty="0" smtClean="0"/>
              <a:t>D. Demand </a:t>
            </a:r>
            <a:r>
              <a:rPr lang="en-US" sz="4800" b="1" dirty="0" smtClean="0"/>
              <a:t>is elastic and </a:t>
            </a:r>
            <a:endParaRPr lang="en-US" sz="4800" b="1" dirty="0" smtClean="0"/>
          </a:p>
          <a:p>
            <a:pPr lvl="0" latinLnBrk="1">
              <a:buNone/>
            </a:pPr>
            <a:r>
              <a:rPr lang="en-US" sz="4800" b="1" dirty="0" smtClean="0"/>
              <a:t>supply </a:t>
            </a:r>
            <a:r>
              <a:rPr lang="en-US" sz="4800" b="1" dirty="0" smtClean="0"/>
              <a:t>is inelastic</a:t>
            </a:r>
            <a:endParaRPr lang="en-US" sz="4800" dirty="0" smtClean="0"/>
          </a:p>
          <a:p>
            <a:pPr>
              <a:buNone/>
            </a:pPr>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pPr algn="ctr">
              <a:buNone/>
            </a:pPr>
            <a:r>
              <a:rPr lang="en-US" sz="9600" dirty="0" smtClean="0">
                <a:solidFill>
                  <a:srgbClr val="FF0000"/>
                </a:solidFill>
                <a:effectLst>
                  <a:outerShdw blurRad="38100" dist="38100" dir="2700000" algn="tl">
                    <a:srgbClr val="000000">
                      <a:alpha val="43137"/>
                    </a:srgbClr>
                  </a:outerShdw>
                </a:effectLst>
              </a:rPr>
              <a:t>Society </a:t>
            </a:r>
          </a:p>
          <a:p>
            <a:pPr algn="ctr">
              <a:buNone/>
            </a:pPr>
            <a:r>
              <a:rPr lang="en-US" sz="9600" dirty="0" smtClean="0"/>
              <a:t>and </a:t>
            </a:r>
          </a:p>
          <a:p>
            <a:pPr algn="ctr">
              <a:buNone/>
            </a:pPr>
            <a:r>
              <a:rPr lang="en-US" sz="9600" dirty="0" smtClean="0">
                <a:solidFill>
                  <a:srgbClr val="FFFF00"/>
                </a:solidFill>
                <a:effectLst>
                  <a:outerShdw blurRad="38100" dist="38100" dir="2700000" algn="tl">
                    <a:srgbClr val="000000">
                      <a:alpha val="43137"/>
                    </a:srgbClr>
                  </a:outerShdw>
                </a:effectLst>
              </a:rPr>
              <a:t>Culture</a:t>
            </a:r>
            <a:endParaRPr lang="en-US" sz="9600" dirty="0">
              <a:solidFill>
                <a:srgbClr val="FFFF00"/>
              </a:solidFill>
              <a:effectLst>
                <a:outerShdw blurRad="38100" dist="38100" dir="2700000" algn="tl">
                  <a:srgbClr val="000000">
                    <a:alpha val="43137"/>
                  </a:srgbClr>
                </a:outerShdw>
              </a:effectLst>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1000" cy="1143000"/>
          </a:xfrm>
        </p:spPr>
        <p:txBody>
          <a:bodyPr/>
          <a:lstStyle/>
          <a:p>
            <a:r>
              <a:rPr lang="en-US" dirty="0" smtClean="0"/>
              <a:t>94. </a:t>
            </a:r>
            <a:r>
              <a:rPr lang="en-US" dirty="0" smtClean="0"/>
              <a:t>Which situation is the </a:t>
            </a:r>
            <a:r>
              <a:rPr lang="en-US" b="1" dirty="0" smtClean="0">
                <a:solidFill>
                  <a:srgbClr val="FF0000"/>
                </a:solidFill>
              </a:rPr>
              <a:t>best example of a culture shock</a:t>
            </a:r>
            <a:r>
              <a:rPr lang="en-US" dirty="0" smtClean="0"/>
              <a:t>?</a:t>
            </a:r>
            <a:endParaRPr lang="en-US" dirty="0"/>
          </a:p>
        </p:txBody>
      </p:sp>
      <p:sp>
        <p:nvSpPr>
          <p:cNvPr id="3" name="Content Placeholder 2"/>
          <p:cNvSpPr>
            <a:spLocks noGrp="1"/>
          </p:cNvSpPr>
          <p:nvPr>
            <p:ph sz="quarter" idx="1"/>
          </p:nvPr>
        </p:nvSpPr>
        <p:spPr>
          <a:xfrm>
            <a:off x="152400" y="1600200"/>
            <a:ext cx="8763000" cy="4873752"/>
          </a:xfrm>
        </p:spPr>
        <p:txBody>
          <a:bodyPr>
            <a:normAutofit fontScale="85000" lnSpcReduction="10000"/>
          </a:bodyPr>
          <a:lstStyle/>
          <a:p>
            <a:pPr lvl="0" latinLnBrk="1"/>
            <a:r>
              <a:rPr lang="en-US" sz="3200" b="1" dirty="0" smtClean="0"/>
              <a:t>A. A </a:t>
            </a:r>
            <a:r>
              <a:rPr lang="en-US" sz="3200" b="1" dirty="0" smtClean="0"/>
              <a:t>native from New Zealand is so </a:t>
            </a:r>
            <a:endParaRPr lang="en-US" sz="3200" b="1" dirty="0" smtClean="0"/>
          </a:p>
          <a:p>
            <a:pPr lvl="0" latinLnBrk="1">
              <a:buNone/>
            </a:pPr>
            <a:r>
              <a:rPr lang="en-US" sz="3200" b="1" dirty="0" smtClean="0"/>
              <a:t> </a:t>
            </a:r>
            <a:r>
              <a:rPr lang="en-US" sz="3200" b="1" dirty="0" smtClean="0"/>
              <a:t>afraid </a:t>
            </a:r>
            <a:r>
              <a:rPr lang="en-US" sz="3200" b="1" dirty="0" smtClean="0"/>
              <a:t>of the big crowd in malls and along the </a:t>
            </a:r>
            <a:endParaRPr lang="en-US" sz="3200" b="1" dirty="0" smtClean="0"/>
          </a:p>
          <a:p>
            <a:pPr lvl="0" latinLnBrk="1">
              <a:buNone/>
            </a:pPr>
            <a:r>
              <a:rPr lang="en-US" sz="3200" b="1" dirty="0" smtClean="0"/>
              <a:t>roads </a:t>
            </a:r>
            <a:r>
              <a:rPr lang="en-US" sz="3200" b="1" dirty="0" smtClean="0"/>
              <a:t>during rush hours that he remarked “so many people!”</a:t>
            </a:r>
            <a:endParaRPr lang="en-US" sz="3200" dirty="0" smtClean="0"/>
          </a:p>
          <a:p>
            <a:pPr lvl="0" latinLnBrk="1"/>
            <a:r>
              <a:rPr lang="en-US" sz="3200" dirty="0" smtClean="0"/>
              <a:t>B. The </a:t>
            </a:r>
            <a:r>
              <a:rPr lang="en-US" sz="3200" dirty="0" smtClean="0"/>
              <a:t>Hippies’ rejected “The </a:t>
            </a:r>
            <a:endParaRPr lang="en-US" sz="3200" dirty="0" smtClean="0"/>
          </a:p>
          <a:p>
            <a:pPr lvl="0" latinLnBrk="1">
              <a:buNone/>
            </a:pPr>
            <a:r>
              <a:rPr lang="en-US" sz="3200" dirty="0" smtClean="0"/>
              <a:t>Establishment” </a:t>
            </a:r>
            <a:r>
              <a:rPr lang="en-US" sz="3200" dirty="0" smtClean="0"/>
              <a:t>in the 1960s and sported long hair.</a:t>
            </a:r>
          </a:p>
          <a:p>
            <a:pPr lvl="0" latinLnBrk="1"/>
            <a:r>
              <a:rPr lang="en-US" sz="3200" dirty="0" smtClean="0"/>
              <a:t>C. The </a:t>
            </a:r>
            <a:r>
              <a:rPr lang="en-US" sz="3200" dirty="0" smtClean="0"/>
              <a:t>Canadians use forks while the </a:t>
            </a:r>
            <a:endParaRPr lang="en-US" sz="3200" dirty="0" smtClean="0"/>
          </a:p>
          <a:p>
            <a:pPr lvl="0" latinLnBrk="1">
              <a:buNone/>
            </a:pPr>
            <a:r>
              <a:rPr lang="en-US" sz="3200" dirty="0" smtClean="0"/>
              <a:t>Filipinos </a:t>
            </a:r>
            <a:r>
              <a:rPr lang="en-US" sz="3200" dirty="0" smtClean="0"/>
              <a:t>use spoon and fork and sometimes their </a:t>
            </a:r>
          </a:p>
          <a:p>
            <a:pPr lvl="0" latinLnBrk="1">
              <a:buNone/>
            </a:pPr>
            <a:r>
              <a:rPr lang="en-US" sz="3200" dirty="0" smtClean="0"/>
              <a:t>hands </a:t>
            </a:r>
            <a:r>
              <a:rPr lang="en-US" sz="3200" dirty="0" smtClean="0"/>
              <a:t>on eating.</a:t>
            </a:r>
          </a:p>
          <a:p>
            <a:pPr lvl="0" latinLnBrk="1"/>
            <a:r>
              <a:rPr lang="en-US" sz="3200" dirty="0" smtClean="0"/>
              <a:t>D. The </a:t>
            </a:r>
            <a:r>
              <a:rPr lang="en-US" sz="3200" dirty="0" err="1" smtClean="0"/>
              <a:t>Aetas</a:t>
            </a:r>
            <a:r>
              <a:rPr lang="en-US" sz="3200" dirty="0" smtClean="0"/>
              <a:t> don’t like sardines but like sweet </a:t>
            </a:r>
            <a:endParaRPr lang="en-US" sz="3200" dirty="0" smtClean="0"/>
          </a:p>
          <a:p>
            <a:pPr lvl="0" latinLnBrk="1">
              <a:buNone/>
            </a:pPr>
            <a:r>
              <a:rPr lang="en-US" sz="3200" dirty="0" smtClean="0"/>
              <a:t> </a:t>
            </a:r>
            <a:r>
              <a:rPr lang="en-US" sz="3200" dirty="0" smtClean="0"/>
              <a:t>potatoes</a:t>
            </a:r>
            <a:r>
              <a:rPr lang="en-US" sz="3200" dirty="0" smtClean="0"/>
              <a:t>.</a:t>
            </a:r>
          </a:p>
          <a:p>
            <a:pPr>
              <a:buNone/>
            </a:pPr>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r>
              <a:rPr lang="en-US" dirty="0" smtClean="0"/>
              <a:t>95. </a:t>
            </a:r>
            <a:r>
              <a:rPr lang="en-US" dirty="0" smtClean="0"/>
              <a:t>Under </a:t>
            </a:r>
            <a:r>
              <a:rPr lang="en-US" dirty="0" smtClean="0">
                <a:solidFill>
                  <a:srgbClr val="FF0000"/>
                </a:solidFill>
              </a:rPr>
              <a:t>which group do the Sunday churchgoers </a:t>
            </a:r>
            <a:r>
              <a:rPr lang="en-US" dirty="0" smtClean="0"/>
              <a:t>in a Cathedral </a:t>
            </a:r>
            <a:r>
              <a:rPr lang="en-US" b="1" dirty="0" smtClean="0">
                <a:solidFill>
                  <a:srgbClr val="FF0000"/>
                </a:solidFill>
              </a:rPr>
              <a:t>fall</a:t>
            </a:r>
            <a:r>
              <a:rPr lang="en-US" dirty="0" smtClean="0"/>
              <a:t>?</a:t>
            </a:r>
            <a:br>
              <a:rPr lang="en-US" dirty="0" smtClean="0"/>
            </a:br>
            <a:endParaRPr lang="en-US" dirty="0"/>
          </a:p>
        </p:txBody>
      </p:sp>
      <p:sp>
        <p:nvSpPr>
          <p:cNvPr id="3" name="Content Placeholder 2"/>
          <p:cNvSpPr>
            <a:spLocks noGrp="1"/>
          </p:cNvSpPr>
          <p:nvPr>
            <p:ph sz="quarter" idx="1"/>
          </p:nvPr>
        </p:nvSpPr>
        <p:spPr>
          <a:xfrm>
            <a:off x="304800" y="1600200"/>
            <a:ext cx="8458200" cy="4873752"/>
          </a:xfrm>
        </p:spPr>
        <p:txBody>
          <a:bodyPr>
            <a:normAutofit/>
          </a:bodyPr>
          <a:lstStyle/>
          <a:p>
            <a:pPr lvl="0" latinLnBrk="1"/>
            <a:r>
              <a:rPr lang="en-US" sz="6000" b="1" dirty="0" smtClean="0"/>
              <a:t>A. Secondary </a:t>
            </a:r>
            <a:r>
              <a:rPr lang="en-US" sz="6000" b="1" dirty="0" smtClean="0"/>
              <a:t>group</a:t>
            </a:r>
            <a:endParaRPr lang="en-US" sz="6000" dirty="0" smtClean="0"/>
          </a:p>
          <a:p>
            <a:pPr lvl="0" latinLnBrk="1"/>
            <a:r>
              <a:rPr lang="en-US" sz="6000" dirty="0" smtClean="0"/>
              <a:t>B. Primary </a:t>
            </a:r>
            <a:r>
              <a:rPr lang="en-US" sz="6000" dirty="0" smtClean="0"/>
              <a:t>group</a:t>
            </a:r>
          </a:p>
          <a:p>
            <a:pPr lvl="0" latinLnBrk="1"/>
            <a:r>
              <a:rPr lang="en-US" sz="6000" dirty="0" smtClean="0"/>
              <a:t>C. Tertiary </a:t>
            </a:r>
            <a:r>
              <a:rPr lang="en-US" sz="6000" dirty="0" smtClean="0"/>
              <a:t>group</a:t>
            </a:r>
          </a:p>
          <a:p>
            <a:pPr lvl="0" latinLnBrk="1"/>
            <a:r>
              <a:rPr lang="en-US" sz="6000" dirty="0" smtClean="0"/>
              <a:t>D. Elementary </a:t>
            </a:r>
            <a:r>
              <a:rPr lang="en-US" sz="6000" dirty="0" smtClean="0"/>
              <a:t>group</a:t>
            </a:r>
          </a:p>
          <a:p>
            <a:pPr>
              <a:buNone/>
            </a:pPr>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153400" cy="1143000"/>
          </a:xfrm>
        </p:spPr>
        <p:txBody>
          <a:bodyPr>
            <a:normAutofit fontScale="90000"/>
          </a:bodyPr>
          <a:lstStyle/>
          <a:p>
            <a:pPr lvl="0"/>
            <a:r>
              <a:rPr lang="en-US" dirty="0" smtClean="0"/>
              <a:t>96. </a:t>
            </a:r>
            <a:r>
              <a:rPr lang="en-US" dirty="0" smtClean="0"/>
              <a:t>Which does one </a:t>
            </a:r>
            <a:r>
              <a:rPr lang="en-US" dirty="0" smtClean="0">
                <a:solidFill>
                  <a:srgbClr val="FF0000"/>
                </a:solidFill>
              </a:rPr>
              <a:t>portray when he thinks that what is foreign is best </a:t>
            </a:r>
            <a:r>
              <a:rPr lang="en-US" dirty="0" smtClean="0"/>
              <a:t>and that what is </a:t>
            </a:r>
            <a:r>
              <a:rPr lang="en-US" b="1" dirty="0" smtClean="0">
                <a:solidFill>
                  <a:srgbClr val="FF0000"/>
                </a:solidFill>
              </a:rPr>
              <a:t>local is inferior</a:t>
            </a:r>
            <a:r>
              <a:rPr lang="en-US" dirty="0" smtClean="0"/>
              <a:t>?</a:t>
            </a:r>
            <a:br>
              <a:rPr lang="en-US" dirty="0" smtClean="0"/>
            </a:br>
            <a:endParaRPr lang="en-US" dirty="0"/>
          </a:p>
        </p:txBody>
      </p:sp>
      <p:sp>
        <p:nvSpPr>
          <p:cNvPr id="3" name="Content Placeholder 2"/>
          <p:cNvSpPr>
            <a:spLocks noGrp="1"/>
          </p:cNvSpPr>
          <p:nvPr>
            <p:ph sz="quarter" idx="1"/>
          </p:nvPr>
        </p:nvSpPr>
        <p:spPr>
          <a:xfrm>
            <a:off x="457200" y="1600200"/>
            <a:ext cx="8077200" cy="4873752"/>
          </a:xfrm>
        </p:spPr>
        <p:txBody>
          <a:bodyPr>
            <a:normAutofit/>
          </a:bodyPr>
          <a:lstStyle/>
          <a:p>
            <a:pPr lvl="0" latinLnBrk="1"/>
            <a:r>
              <a:rPr lang="en-US" sz="6600" b="1" dirty="0" smtClean="0"/>
              <a:t>A. </a:t>
            </a:r>
            <a:r>
              <a:rPr lang="en-US" sz="6600" b="1" dirty="0" err="1" smtClean="0"/>
              <a:t>Xenocentrism</a:t>
            </a:r>
            <a:endParaRPr lang="en-US" sz="6600" dirty="0" smtClean="0"/>
          </a:p>
          <a:p>
            <a:pPr lvl="0" latinLnBrk="1"/>
            <a:r>
              <a:rPr lang="en-US" sz="6600" dirty="0" smtClean="0"/>
              <a:t>B. Relativism</a:t>
            </a:r>
            <a:endParaRPr lang="en-US" sz="6600" dirty="0" smtClean="0"/>
          </a:p>
          <a:p>
            <a:pPr lvl="0" latinLnBrk="1"/>
            <a:r>
              <a:rPr lang="en-US" sz="6600" dirty="0" smtClean="0"/>
              <a:t>C. Ethnocentrism</a:t>
            </a:r>
            <a:endParaRPr lang="en-US" sz="6600" dirty="0" smtClean="0"/>
          </a:p>
          <a:p>
            <a:pPr lvl="0" latinLnBrk="1"/>
            <a:r>
              <a:rPr lang="en-US" sz="6600" dirty="0" smtClean="0"/>
              <a:t>D. Favoritism</a:t>
            </a:r>
            <a:endParaRPr lang="en-US" sz="6600" dirty="0" smtClean="0"/>
          </a:p>
          <a:p>
            <a:pPr>
              <a:buNone/>
            </a:pPr>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077200" cy="1143000"/>
          </a:xfrm>
        </p:spPr>
        <p:txBody>
          <a:bodyPr>
            <a:normAutofit fontScale="90000"/>
          </a:bodyPr>
          <a:lstStyle/>
          <a:p>
            <a:pPr lvl="0"/>
            <a:r>
              <a:rPr lang="en-US" dirty="0" smtClean="0"/>
              <a:t>97. </a:t>
            </a:r>
            <a:r>
              <a:rPr lang="en-US" dirty="0" smtClean="0"/>
              <a:t>You will </a:t>
            </a:r>
            <a:r>
              <a:rPr lang="en-US" dirty="0" smtClean="0">
                <a:solidFill>
                  <a:srgbClr val="FF0000"/>
                </a:solidFill>
              </a:rPr>
              <a:t>be in good hands </a:t>
            </a:r>
            <a:r>
              <a:rPr lang="en-US" dirty="0" smtClean="0"/>
              <a:t>when your host is a Filipino because </a:t>
            </a:r>
            <a:r>
              <a:rPr lang="en-US" b="1" dirty="0" smtClean="0">
                <a:solidFill>
                  <a:srgbClr val="FF0000"/>
                </a:solidFill>
              </a:rPr>
              <a:t>one outstanding trait of Filipinos</a:t>
            </a:r>
            <a:r>
              <a:rPr lang="en-US" dirty="0" smtClean="0"/>
              <a:t> is _________________.</a:t>
            </a:r>
            <a:br>
              <a:rPr lang="en-US" dirty="0" smtClean="0"/>
            </a:br>
            <a:endParaRPr lang="en-US" dirty="0"/>
          </a:p>
        </p:txBody>
      </p:sp>
      <p:sp>
        <p:nvSpPr>
          <p:cNvPr id="3" name="Content Placeholder 2"/>
          <p:cNvSpPr>
            <a:spLocks noGrp="1"/>
          </p:cNvSpPr>
          <p:nvPr>
            <p:ph sz="quarter" idx="1"/>
          </p:nvPr>
        </p:nvSpPr>
        <p:spPr>
          <a:xfrm>
            <a:off x="457200" y="1600200"/>
            <a:ext cx="8153400" cy="4873752"/>
          </a:xfrm>
        </p:spPr>
        <p:txBody>
          <a:bodyPr>
            <a:normAutofit lnSpcReduction="10000"/>
          </a:bodyPr>
          <a:lstStyle/>
          <a:p>
            <a:pPr lvl="0" latinLnBrk="1"/>
            <a:r>
              <a:rPr lang="en-US" sz="8000" b="1" dirty="0" smtClean="0"/>
              <a:t>A. Hospitality</a:t>
            </a:r>
            <a:endParaRPr lang="en-US" sz="8000" dirty="0" smtClean="0"/>
          </a:p>
          <a:p>
            <a:pPr lvl="0" latinLnBrk="1"/>
            <a:r>
              <a:rPr lang="en-US" sz="8000" dirty="0" smtClean="0"/>
              <a:t>B. Thrift</a:t>
            </a:r>
            <a:endParaRPr lang="en-US" sz="8000" dirty="0" smtClean="0"/>
          </a:p>
          <a:p>
            <a:pPr lvl="0" latinLnBrk="1"/>
            <a:r>
              <a:rPr lang="en-US" sz="8000" dirty="0" smtClean="0"/>
              <a:t>C. Industry</a:t>
            </a:r>
            <a:endParaRPr lang="en-US" sz="8000" dirty="0" smtClean="0"/>
          </a:p>
          <a:p>
            <a:pPr lvl="0" latinLnBrk="1"/>
            <a:r>
              <a:rPr lang="en-US" sz="8000" dirty="0" smtClean="0"/>
              <a:t>D. Cleanliness</a:t>
            </a:r>
            <a:endParaRPr lang="en-US" sz="8000" dirty="0" smtClean="0"/>
          </a:p>
          <a:p>
            <a:pPr>
              <a:buNone/>
            </a:pPr>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66800"/>
            <a:ext cx="8534400" cy="1143000"/>
          </a:xfrm>
        </p:spPr>
        <p:txBody>
          <a:bodyPr>
            <a:normAutofit fontScale="90000"/>
          </a:bodyPr>
          <a:lstStyle/>
          <a:p>
            <a:r>
              <a:rPr lang="en-US" dirty="0" smtClean="0"/>
              <a:t>98. </a:t>
            </a:r>
            <a:r>
              <a:rPr lang="en-US" dirty="0" smtClean="0"/>
              <a:t>The </a:t>
            </a:r>
            <a:r>
              <a:rPr lang="en-US" b="1" dirty="0" smtClean="0">
                <a:solidFill>
                  <a:srgbClr val="FF0000"/>
                </a:solidFill>
              </a:rPr>
              <a:t>Philippines is dominantly a Christian country in the Orient</a:t>
            </a:r>
            <a:r>
              <a:rPr lang="en-US" dirty="0" smtClean="0"/>
              <a:t>, </a:t>
            </a:r>
            <a:r>
              <a:rPr lang="en-US" dirty="0" smtClean="0">
                <a:solidFill>
                  <a:srgbClr val="FF0000"/>
                </a:solidFill>
              </a:rPr>
              <a:t>yet</a:t>
            </a:r>
            <a:r>
              <a:rPr lang="en-US" dirty="0" smtClean="0"/>
              <a:t> according to survey it is </a:t>
            </a:r>
            <a:r>
              <a:rPr lang="en-US" dirty="0" smtClean="0">
                <a:solidFill>
                  <a:srgbClr val="FF0000"/>
                </a:solidFill>
              </a:rPr>
              <a:t>on the top 5 as the most corrupt nation in Asia</a:t>
            </a:r>
            <a:r>
              <a:rPr lang="en-US" dirty="0" smtClean="0"/>
              <a:t>. What does </a:t>
            </a:r>
            <a:r>
              <a:rPr lang="en-US" dirty="0" smtClean="0">
                <a:solidFill>
                  <a:srgbClr val="FF0000"/>
                </a:solidFill>
              </a:rPr>
              <a:t>this point to </a:t>
            </a:r>
            <a:r>
              <a:rPr lang="en-US" dirty="0" smtClean="0"/>
              <a:t>in Philippine society?</a:t>
            </a:r>
            <a:endParaRPr lang="en-US" dirty="0"/>
          </a:p>
        </p:txBody>
      </p:sp>
      <p:sp>
        <p:nvSpPr>
          <p:cNvPr id="3" name="Content Placeholder 2"/>
          <p:cNvSpPr>
            <a:spLocks noGrp="1"/>
          </p:cNvSpPr>
          <p:nvPr>
            <p:ph sz="quarter" idx="1"/>
          </p:nvPr>
        </p:nvSpPr>
        <p:spPr>
          <a:xfrm>
            <a:off x="457200" y="2209800"/>
            <a:ext cx="8229600" cy="4873752"/>
          </a:xfrm>
        </p:spPr>
        <p:txBody>
          <a:bodyPr>
            <a:normAutofit fontScale="85000" lnSpcReduction="20000"/>
          </a:bodyPr>
          <a:lstStyle/>
          <a:p>
            <a:pPr lvl="0" latinLnBrk="1"/>
            <a:r>
              <a:rPr lang="en-US" sz="4800" b="1" dirty="0" smtClean="0"/>
              <a:t>A. Lack </a:t>
            </a:r>
            <a:r>
              <a:rPr lang="en-US" sz="4800" b="1" dirty="0" smtClean="0"/>
              <a:t>of cultural </a:t>
            </a:r>
            <a:endParaRPr lang="en-US" sz="4800" b="1" dirty="0" smtClean="0"/>
          </a:p>
          <a:p>
            <a:pPr lvl="0" latinLnBrk="1">
              <a:buNone/>
            </a:pPr>
            <a:r>
              <a:rPr lang="en-US" sz="4800" b="1" dirty="0" smtClean="0"/>
              <a:t> </a:t>
            </a:r>
            <a:r>
              <a:rPr lang="en-US" sz="4800" b="1" dirty="0" smtClean="0"/>
              <a:t>   integration</a:t>
            </a:r>
            <a:endParaRPr lang="en-US" sz="4800" dirty="0" smtClean="0"/>
          </a:p>
          <a:p>
            <a:pPr lvl="0" latinLnBrk="1"/>
            <a:r>
              <a:rPr lang="en-US" sz="4800" dirty="0" smtClean="0"/>
              <a:t>B. Presence </a:t>
            </a:r>
            <a:r>
              <a:rPr lang="en-US" sz="4800" dirty="0" smtClean="0"/>
              <a:t>of cultural </a:t>
            </a:r>
            <a:endParaRPr lang="en-US" sz="4800" dirty="0" smtClean="0"/>
          </a:p>
          <a:p>
            <a:pPr lvl="0" latinLnBrk="1">
              <a:buNone/>
            </a:pPr>
            <a:r>
              <a:rPr lang="en-US" sz="4800" dirty="0" smtClean="0"/>
              <a:t> </a:t>
            </a:r>
            <a:r>
              <a:rPr lang="en-US" sz="4800" dirty="0" smtClean="0"/>
              <a:t>   differences</a:t>
            </a:r>
            <a:endParaRPr lang="en-US" sz="4800" dirty="0" smtClean="0"/>
          </a:p>
          <a:p>
            <a:pPr lvl="0" latinLnBrk="1"/>
            <a:r>
              <a:rPr lang="en-US" sz="4800" dirty="0" smtClean="0"/>
              <a:t>C. Prevalence </a:t>
            </a:r>
            <a:r>
              <a:rPr lang="en-US" sz="4800" dirty="0" smtClean="0"/>
              <a:t>of </a:t>
            </a:r>
            <a:endParaRPr lang="en-US" sz="4800" dirty="0" smtClean="0"/>
          </a:p>
          <a:p>
            <a:pPr lvl="0" latinLnBrk="1">
              <a:buNone/>
            </a:pPr>
            <a:r>
              <a:rPr lang="en-US" sz="4800" dirty="0" smtClean="0"/>
              <a:t> </a:t>
            </a:r>
            <a:r>
              <a:rPr lang="en-US" sz="4800" dirty="0" smtClean="0"/>
              <a:t>   ethnocentrism</a:t>
            </a:r>
            <a:endParaRPr lang="en-US" sz="4800" dirty="0" smtClean="0"/>
          </a:p>
          <a:p>
            <a:pPr lvl="0" latinLnBrk="1"/>
            <a:r>
              <a:rPr lang="en-US" sz="4800" dirty="0" smtClean="0"/>
              <a:t>D. Prevalence </a:t>
            </a:r>
            <a:r>
              <a:rPr lang="en-US" sz="4800" dirty="0" smtClean="0"/>
              <a:t>of </a:t>
            </a:r>
            <a:endParaRPr lang="en-US" sz="4800" dirty="0" smtClean="0"/>
          </a:p>
          <a:p>
            <a:pPr lvl="0" latinLnBrk="1">
              <a:buNone/>
            </a:pPr>
            <a:r>
              <a:rPr lang="en-US" sz="4800" dirty="0" smtClean="0"/>
              <a:t> </a:t>
            </a:r>
            <a:r>
              <a:rPr lang="en-US" sz="4800" dirty="0" smtClean="0"/>
              <a:t>     </a:t>
            </a:r>
            <a:r>
              <a:rPr lang="en-US" sz="4800" dirty="0" err="1" smtClean="0"/>
              <a:t>xenocentrism</a:t>
            </a:r>
            <a:endParaRPr lang="en-US" sz="4800" dirty="0" smtClean="0"/>
          </a:p>
          <a:p>
            <a:pPr>
              <a:buNone/>
            </a:pPr>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447800"/>
            <a:ext cx="8991600" cy="1143000"/>
          </a:xfrm>
        </p:spPr>
        <p:txBody>
          <a:bodyPr>
            <a:normAutofit fontScale="90000"/>
          </a:bodyPr>
          <a:lstStyle/>
          <a:p>
            <a:pPr lvl="0"/>
            <a:r>
              <a:rPr lang="en-US" dirty="0" smtClean="0"/>
              <a:t>99. </a:t>
            </a:r>
            <a:r>
              <a:rPr lang="en-US" dirty="0" smtClean="0"/>
              <a:t>You have to take </a:t>
            </a:r>
            <a:r>
              <a:rPr lang="en-US" dirty="0" smtClean="0">
                <a:solidFill>
                  <a:srgbClr val="FF0000"/>
                </a:solidFill>
              </a:rPr>
              <a:t>extra care when you critique the work of a Filipino</a:t>
            </a:r>
            <a:r>
              <a:rPr lang="en-US" dirty="0" smtClean="0"/>
              <a:t>. Your </a:t>
            </a:r>
            <a:r>
              <a:rPr lang="en-US" b="1" dirty="0" smtClean="0">
                <a:solidFill>
                  <a:srgbClr val="FF0000"/>
                </a:solidFill>
              </a:rPr>
              <a:t>negative comment may be mistaken to be an attack against his/her </a:t>
            </a:r>
            <a:r>
              <a:rPr lang="en-US" dirty="0" smtClean="0"/>
              <a:t>person. Upon which </a:t>
            </a:r>
            <a:r>
              <a:rPr lang="en-US" dirty="0" smtClean="0">
                <a:solidFill>
                  <a:srgbClr val="FF0000"/>
                </a:solidFill>
              </a:rPr>
              <a:t>Filipino trait </a:t>
            </a:r>
            <a:r>
              <a:rPr lang="en-US" dirty="0" smtClean="0"/>
              <a:t>is this advice based?</a:t>
            </a:r>
            <a:br>
              <a:rPr lang="en-US" dirty="0" smtClean="0"/>
            </a:br>
            <a:endParaRPr lang="en-US" dirty="0"/>
          </a:p>
        </p:txBody>
      </p:sp>
      <p:sp>
        <p:nvSpPr>
          <p:cNvPr id="3" name="Content Placeholder 2"/>
          <p:cNvSpPr>
            <a:spLocks noGrp="1"/>
          </p:cNvSpPr>
          <p:nvPr>
            <p:ph sz="quarter" idx="1"/>
          </p:nvPr>
        </p:nvSpPr>
        <p:spPr>
          <a:xfrm>
            <a:off x="685800" y="2286000"/>
            <a:ext cx="7467600" cy="4873752"/>
          </a:xfrm>
        </p:spPr>
        <p:txBody>
          <a:bodyPr/>
          <a:lstStyle/>
          <a:p>
            <a:pPr lvl="0" latinLnBrk="1"/>
            <a:r>
              <a:rPr lang="en-US" sz="4400" b="1" dirty="0" smtClean="0"/>
              <a:t>A. Extreme </a:t>
            </a:r>
            <a:r>
              <a:rPr lang="en-US" sz="4400" b="1" dirty="0" err="1" smtClean="0"/>
              <a:t>personalism</a:t>
            </a:r>
            <a:endParaRPr lang="en-US" sz="4400" dirty="0" smtClean="0"/>
          </a:p>
          <a:p>
            <a:pPr lvl="0" latinLnBrk="1"/>
            <a:r>
              <a:rPr lang="en-US" sz="4400" dirty="0" smtClean="0"/>
              <a:t>B. Adaptability</a:t>
            </a:r>
            <a:endParaRPr lang="en-US" sz="4400" dirty="0" smtClean="0"/>
          </a:p>
          <a:p>
            <a:pPr lvl="0" latinLnBrk="1"/>
            <a:r>
              <a:rPr lang="en-US" sz="4400" dirty="0" smtClean="0"/>
              <a:t>C. “</a:t>
            </a:r>
            <a:r>
              <a:rPr lang="en-US" sz="4400" dirty="0" err="1" smtClean="0"/>
              <a:t>Sakop</a:t>
            </a:r>
            <a:r>
              <a:rPr lang="en-US" sz="4400" dirty="0" smtClean="0"/>
              <a:t>” mentality</a:t>
            </a:r>
          </a:p>
          <a:p>
            <a:pPr lvl="0" latinLnBrk="1"/>
            <a:r>
              <a:rPr lang="en-US" sz="4400" dirty="0" smtClean="0"/>
              <a:t>D. “</a:t>
            </a:r>
            <a:r>
              <a:rPr lang="en-US" sz="4400" dirty="0" err="1" smtClean="0"/>
              <a:t>Bayanihan</a:t>
            </a:r>
            <a:r>
              <a:rPr lang="en-US" sz="4400" dirty="0" smtClean="0"/>
              <a:t>” spirit</a:t>
            </a:r>
          </a:p>
          <a:p>
            <a:pPr>
              <a:buNone/>
            </a:pPr>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latinLnBrk="1"/>
            <a:r>
              <a:rPr lang="en-US" dirty="0" smtClean="0"/>
              <a:t>100. </a:t>
            </a:r>
            <a:r>
              <a:rPr lang="en-US" dirty="0" smtClean="0"/>
              <a:t>The expression </a:t>
            </a:r>
            <a:r>
              <a:rPr lang="en-US" b="1" i="1" dirty="0" err="1" smtClean="0">
                <a:solidFill>
                  <a:srgbClr val="FF0000"/>
                </a:solidFill>
              </a:rPr>
              <a:t>promdi</a:t>
            </a:r>
            <a:r>
              <a:rPr lang="en-US" b="1" i="1" dirty="0" smtClean="0">
                <a:solidFill>
                  <a:srgbClr val="FF0000"/>
                </a:solidFill>
              </a:rPr>
              <a:t> </a:t>
            </a:r>
            <a:r>
              <a:rPr lang="en-US" b="1" dirty="0" smtClean="0">
                <a:solidFill>
                  <a:srgbClr val="FF0000"/>
                </a:solidFill>
              </a:rPr>
              <a:t>connotes</a:t>
            </a:r>
            <a:r>
              <a:rPr lang="en-US" dirty="0" smtClean="0"/>
              <a:t>?</a:t>
            </a:r>
            <a:br>
              <a:rPr lang="en-US" dirty="0" smtClean="0"/>
            </a:br>
            <a:r>
              <a:rPr lang="en-US" dirty="0" smtClean="0"/>
              <a:t> </a:t>
            </a:r>
            <a:br>
              <a:rPr lang="en-US" dirty="0" smtClean="0"/>
            </a:br>
            <a:endParaRPr lang="en-US" dirty="0"/>
          </a:p>
        </p:txBody>
      </p:sp>
      <p:sp>
        <p:nvSpPr>
          <p:cNvPr id="3" name="Content Placeholder 2"/>
          <p:cNvSpPr>
            <a:spLocks noGrp="1"/>
          </p:cNvSpPr>
          <p:nvPr>
            <p:ph sz="quarter" idx="1"/>
          </p:nvPr>
        </p:nvSpPr>
        <p:spPr>
          <a:xfrm>
            <a:off x="0" y="1600200"/>
            <a:ext cx="9144000" cy="4873752"/>
          </a:xfrm>
        </p:spPr>
        <p:txBody>
          <a:bodyPr>
            <a:normAutofit/>
          </a:bodyPr>
          <a:lstStyle/>
          <a:p>
            <a:pPr lvl="0" latinLnBrk="1"/>
            <a:r>
              <a:rPr lang="en-US" sz="5400" b="1" dirty="0" smtClean="0"/>
              <a:t>A. Ethnocentrism</a:t>
            </a:r>
            <a:endParaRPr lang="en-US" sz="5400" dirty="0" smtClean="0"/>
          </a:p>
          <a:p>
            <a:pPr lvl="0" latinLnBrk="1"/>
            <a:r>
              <a:rPr lang="en-US" sz="5400" dirty="0" smtClean="0"/>
              <a:t>B. </a:t>
            </a:r>
            <a:r>
              <a:rPr lang="en-US" sz="5400" dirty="0" err="1" smtClean="0"/>
              <a:t>Tenocentrism</a:t>
            </a:r>
            <a:endParaRPr lang="en-US" sz="5400" dirty="0" smtClean="0"/>
          </a:p>
          <a:p>
            <a:pPr lvl="0" latinLnBrk="1"/>
            <a:r>
              <a:rPr lang="en-US" sz="5400" dirty="0" smtClean="0"/>
              <a:t>C. Favoritism</a:t>
            </a:r>
            <a:endParaRPr lang="en-US" sz="5400" dirty="0" smtClean="0"/>
          </a:p>
          <a:p>
            <a:pPr lvl="0" latinLnBrk="1"/>
            <a:r>
              <a:rPr lang="en-US" sz="5400" dirty="0" smtClean="0"/>
              <a:t>D. Racial </a:t>
            </a:r>
            <a:r>
              <a:rPr lang="en-US" sz="5400" dirty="0" smtClean="0"/>
              <a:t>discrimination</a:t>
            </a:r>
          </a:p>
          <a:p>
            <a:pPr>
              <a:buNone/>
            </a:pP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190</TotalTime>
  <Words>4936</Words>
  <Application>Microsoft Office PowerPoint</Application>
  <PresentationFormat>On-screen Show (4:3)</PresentationFormat>
  <Paragraphs>698</Paragraphs>
  <Slides>111</Slides>
  <Notes>0</Notes>
  <HiddenSlides>0</HiddenSlides>
  <MMClips>0</MMClips>
  <ScaleCrop>false</ScaleCrop>
  <HeadingPairs>
    <vt:vector size="4" baseType="variant">
      <vt:variant>
        <vt:lpstr>Theme</vt:lpstr>
      </vt:variant>
      <vt:variant>
        <vt:i4>1</vt:i4>
      </vt:variant>
      <vt:variant>
        <vt:lpstr>Slide Titles</vt:lpstr>
      </vt:variant>
      <vt:variant>
        <vt:i4>111</vt:i4>
      </vt:variant>
    </vt:vector>
  </HeadingPairs>
  <TitlesOfParts>
    <vt:vector size="112" baseType="lpstr">
      <vt:lpstr>Oriel</vt:lpstr>
      <vt:lpstr>FINAL COACHING  GENERAL INFORMATION</vt:lpstr>
      <vt:lpstr>1. What human right is violated when one opens a letter without permission from the addressee? </vt:lpstr>
      <vt:lpstr>2. When an individual is imprisoned without proper investigation what right is violated? </vt:lpstr>
      <vt:lpstr>3. What law was passed by Philippine Congress in 1995 which affirms the total integration of persons with disabilities into the mainstream of society? </vt:lpstr>
      <vt:lpstr>4. Which of the goals of EFA 2015 aims to achieve the above mentioned constitutional mandate?</vt:lpstr>
      <vt:lpstr>5. What the best indicator of “quality education” as invoked in the Constitution? </vt:lpstr>
      <vt:lpstr>6. An individual has the right to file writ of amparo before the investigation of an administrative case field against him/her. What fundamental right is invoked by the individual? </vt:lpstr>
      <vt:lpstr>7. What is the writ of habeas data? </vt:lpstr>
      <vt:lpstr>8. Which is the overriding aim of the constitutional mandate on social justice? </vt:lpstr>
      <vt:lpstr>9. Which principle states that no man in this country is above the law and that law must be obeyed by all and applied to everyone – rich or poor, lowly or powerful- without fear or favor? </vt:lpstr>
      <vt:lpstr>10. In connection with government transactions involving public interest, which policy is adopted in the Constitution to assure the public of accountability and transparency? </vt:lpstr>
      <vt:lpstr>11. Filipino citizens have the power to participate in the establishment or administration of government such as right to vote and be voted upon as an exercise of _____________. </vt:lpstr>
      <vt:lpstr>12. Can the accused waive his right to remain silent and to have competent and independent counsel? </vt:lpstr>
      <vt:lpstr>13. Which is right violated by wiretapping? </vt:lpstr>
      <vt:lpstr>14. Which act is a deprivation of life without due process? </vt:lpstr>
      <vt:lpstr>15. Is land grabbing an act of deprivation of property without due process? </vt:lpstr>
      <vt:lpstr>16. Can you be arrested without a warrant of arrest? </vt:lpstr>
      <vt:lpstr>   17. Can religious instruction be taught  in public schools? </vt:lpstr>
      <vt:lpstr>Slide 19</vt:lpstr>
      <vt:lpstr>18. Can an accused avail of free legal assistance?  </vt:lpstr>
      <vt:lpstr>19. My right is another man’s duty. Which one correctly illustrates this? </vt:lpstr>
      <vt:lpstr>20. Every right has a built-in duty. Which of the following illustrates this correctly?</vt:lpstr>
      <vt:lpstr>21. Can a person be imprisoned for debt? </vt:lpstr>
      <vt:lpstr>22. What does “presumption of innocence” mean in so far as human right is concerned? </vt:lpstr>
      <vt:lpstr>23. No person may be elected as President of the Philippines unless he/she is a ___________. </vt:lpstr>
      <vt:lpstr>24. Who does the canvassing of votes for President and Vice President in every election? </vt:lpstr>
      <vt:lpstr>25. All appropriations, revenue of tariff bills shall originate exclusively from the ______________. </vt:lpstr>
      <vt:lpstr>26. Which department has the authority to make laws and to alter them when needed?</vt:lpstr>
      <vt:lpstr>27. A bill becomes a law even if not signed by the President after _________ days. </vt:lpstr>
      <vt:lpstr>28. Which refers to the act of the President to stay the execution of a convict?</vt:lpstr>
      <vt:lpstr>29. Who has the power to declare the existence of a state of war? </vt:lpstr>
      <vt:lpstr>30. A losing senatorial candidate may file a protest against the winner. What body will assume jurisdiction over the case? </vt:lpstr>
      <vt:lpstr>31. How is the crime of rape classified? </vt:lpstr>
      <vt:lpstr>32. All Filipino citizens have the right to vote and to be voted upon as government official. What is this constitutional right called? </vt:lpstr>
      <vt:lpstr>33. Any individual has the right to question why he is being arrested, and to summon his accusers to court so that due process may be performed. This right is embodied in which of the following?</vt:lpstr>
      <vt:lpstr>34. Which among the following represents the political process involved in amending or revising the Philippine constitution to adapt to the present Philippine situation? </vt:lpstr>
      <vt:lpstr>Slide 37</vt:lpstr>
      <vt:lpstr>35. Which is true of the historical development of the Philippines? </vt:lpstr>
      <vt:lpstr>36. Which problem is common from the presidency of Marcos, Aquino, Ramos, Estrada, Macapagal-Arroyo and Benigno Aquino III? </vt:lpstr>
      <vt:lpstr>37. Basically, the Philippine agrarian problem is a question of? </vt:lpstr>
      <vt:lpstr>38. Every elected President of the Philippines delivers SONA. What does SONA mean?</vt:lpstr>
      <vt:lpstr>39. Rizal founded the La Liga Filipina to ________________. </vt:lpstr>
      <vt:lpstr>Slide 43</vt:lpstr>
      <vt:lpstr>40. Which is true of the Philippines? </vt:lpstr>
      <vt:lpstr>41. Which is true of the Philippines? </vt:lpstr>
      <vt:lpstr>42. As a result of EDSA 1, the Philippines ___________. </vt:lpstr>
      <vt:lpstr>43. Which is true of former Corazon Aquino? </vt:lpstr>
      <vt:lpstr>Slide 48</vt:lpstr>
      <vt:lpstr>44. Years ago, “Cha-cha” and “con ass” were popular words in the Philippines. With which were the words “Cha-cha” and “con-ass” associated? </vt:lpstr>
      <vt:lpstr>45. The Philippine revolts against Spain, the Philippine-American War, the Muslim rebellion, the NPA, the MILF and Abu Sayaff movement point to the reality of _________ in the Philippines. </vt:lpstr>
      <vt:lpstr>46. Which of the following was the first to happen? </vt:lpstr>
      <vt:lpstr>47. With whom is the “Strong Republic” associated? </vt:lpstr>
      <vt:lpstr>48. Which of the four pillars of education for the 21st century is crucial in the light of conflicts between Israel and Palestine? </vt:lpstr>
      <vt:lpstr>49. Who is the general who said, “I shall return!”? A moment in his honor stands in Corregidor by the bay. </vt:lpstr>
      <vt:lpstr>50. The Philippines objected to the advisory on travels to Mindanao by the Australian government. What should the government do? </vt:lpstr>
      <vt:lpstr>51. Foreign investors are discouraged in doing business in our country. To what condition/s can this be attributed? </vt:lpstr>
      <vt:lpstr>Slide 57</vt:lpstr>
      <vt:lpstr>52. Who is the President who is known for his “Filipino First Policy” and Austerity Program? </vt:lpstr>
      <vt:lpstr>53. Pre-colonial trade in the Philippines was prosperous. What system did they use for their business transactions? </vt:lpstr>
      <vt:lpstr>54. The late President Ferdinand Marcos placed the Philippines under Martial Law through which of the following laws? </vt:lpstr>
      <vt:lpstr>55. What building was the only one left intact after the destruction of Intramuros during the Battle of Manila? </vt:lpstr>
      <vt:lpstr>Slide 62</vt:lpstr>
      <vt:lpstr>56.  The world of nations is suffering from  recession and so nations are experiencing  the following except _______________. </vt:lpstr>
      <vt:lpstr>57. When one company controls the supply of sugar, which term applies?   </vt:lpstr>
      <vt:lpstr>58. Tomatoes are off season and so price for tomatoes is up. Which law/ principle in economics explain it? </vt:lpstr>
      <vt:lpstr>59.  Which explains GNP? </vt:lpstr>
      <vt:lpstr>60. How can the Comprehensive Agrarian Reform Program bring about social equity and economic prosperity in the country? </vt:lpstr>
      <vt:lpstr>Slide 68</vt:lpstr>
      <vt:lpstr>61. While the capitalist system, “to the strongest goes the spoil”, what happens in the cooperative system? </vt:lpstr>
      <vt:lpstr>62. The Comprehensive Agrarian Reform and cooperatives are meant to ________. </vt:lpstr>
      <vt:lpstr>63. When parents decide to send their children to a private school and pay their tuition fee instead of sending them to the public school, they don’t get their share in the benefit derived from the taxes they pay. This is a case of ___________. </vt:lpstr>
      <vt:lpstr>64. Which one correctly applies to Philippine foreign trade? </vt:lpstr>
      <vt:lpstr>65. The ultimate objective of the Comprehensive Agrarian Reform is to __________. </vt:lpstr>
      <vt:lpstr>66. What is true of progressive system of taxation? </vt:lpstr>
      <vt:lpstr>67. I rent out for P10,000 per month my only building and lot to the Jesus is Lord Group which uses it exclusively for religious purposes. I am exempt from payment of ______________. </vt:lpstr>
      <vt:lpstr>68. You are a member of a cooperative which operates taxis, tricycles, and buses. Of which type of a cooperative are you a member? </vt:lpstr>
      <vt:lpstr>69. You have a property worth P500,000. The tax is 1% he pays P5000. If his property is worth P1,000,000 he pays P10,000. Which does this illustrate? </vt:lpstr>
      <vt:lpstr>70. Which is an unlawful act of escaping from payment of taxes? </vt:lpstr>
      <vt:lpstr>71. Which is required of cooperative members for the operation of their cooperative? </vt:lpstr>
      <vt:lpstr>72. The primary purpose of taxation is to ________. </vt:lpstr>
      <vt:lpstr>73. Which is/ are essential for the Comprehensive Agrarian Reform Program to truly succeed? </vt:lpstr>
      <vt:lpstr>Slide 82</vt:lpstr>
      <vt:lpstr>74. Which is/are true of cooperatives and the Comprehensive Agrarian Reform?  </vt:lpstr>
      <vt:lpstr>Slide 84</vt:lpstr>
      <vt:lpstr>75. Which assumption underlies the Comprehensive Agrarian Reform Program? </vt:lpstr>
      <vt:lpstr>76. What does “capital” in economics refer to? </vt:lpstr>
      <vt:lpstr>77. What results when the government spends more than what it collects in the form of taxes? </vt:lpstr>
      <vt:lpstr>78. What is the type of cooperative which promotes thrift among members and creates funds in order to be able to grant loans? </vt:lpstr>
      <vt:lpstr>79.  One of the major functions of taxes is to  finance real government expenditures. This  function can simply be stated as to _______________. </vt:lpstr>
      <vt:lpstr>80. Which term refers the measures undertaken by the government which would remove anything that hinders the entry of foreign products, services, and capital between countries? </vt:lpstr>
      <vt:lpstr>81. What do we call the sum of money collected for our use of a road, bridge and high-way? </vt:lpstr>
      <vt:lpstr>82. Which term refers to duties payable on goods, whether imported or exported? </vt:lpstr>
      <vt:lpstr>83. Which term refers to the social aspects of sex or to socially defined roles and expectations that are associated with sex? </vt:lpstr>
      <vt:lpstr>84. Among the developing Asian nations, which of the following is widely promoted to be the better solution to poverty and unemployment? </vt:lpstr>
      <vt:lpstr>85. Stagflation occurs when the economy experiences __________________. </vt:lpstr>
      <vt:lpstr>86. Which among the following is an example of a transfer payment? </vt:lpstr>
      <vt:lpstr>87. Which among the following best describes a recession? </vt:lpstr>
      <vt:lpstr>88. Gross Domestic Product is the sum of the market value of the ____________. </vt:lpstr>
      <vt:lpstr>89. Which of the following statements is true about a market economy? </vt:lpstr>
      <vt:lpstr>90. In a free-market economy the allocation of resources is determined by ____________. </vt:lpstr>
      <vt:lpstr>91. Trade-offs is required because wants are unlimited and resources are __________.</vt:lpstr>
      <vt:lpstr>92. Raising taxes and increasing welfare payments ______________________. </vt:lpstr>
      <vt:lpstr>93. The burden of a tax falls more heavily on the sellers in a market when ______________. </vt:lpstr>
      <vt:lpstr>Slide 104</vt:lpstr>
      <vt:lpstr>94. Which situation is the best example of a culture shock?</vt:lpstr>
      <vt:lpstr>95. Under which group do the Sunday churchgoers in a Cathedral fall? </vt:lpstr>
      <vt:lpstr>96. Which does one portray when he thinks that what is foreign is best and that what is local is inferior? </vt:lpstr>
      <vt:lpstr>97. You will be in good hands when your host is a Filipino because one outstanding trait of Filipinos is _________________. </vt:lpstr>
      <vt:lpstr>98. The Philippines is dominantly a Christian country in the Orient, yet according to survey it is on the top 5 as the most corrupt nation in Asia. What does this point to in Philippine society?</vt:lpstr>
      <vt:lpstr>99. You have to take extra care when you critique the work of a Filipino. Your negative comment may be mistaken to be an attack against his/her person. Upon which Filipino trait is this advice based? </vt:lpstr>
      <vt:lpstr>100. The expression promdi connotes?   </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COACHING  GENERAL INFORMATION</dc:title>
  <dc:creator>kipper</dc:creator>
  <cp:lastModifiedBy>kipper</cp:lastModifiedBy>
  <cp:revision>132</cp:revision>
  <dcterms:created xsi:type="dcterms:W3CDTF">2015-03-29T13:39:48Z</dcterms:created>
  <dcterms:modified xsi:type="dcterms:W3CDTF">2015-04-23T09:32:46Z</dcterms:modified>
</cp:coreProperties>
</file>