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90" r:id="rId2"/>
    <p:sldId id="384" r:id="rId3"/>
    <p:sldId id="385" r:id="rId4"/>
    <p:sldId id="383" r:id="rId5"/>
    <p:sldId id="386" r:id="rId6"/>
    <p:sldId id="256" r:id="rId7"/>
    <p:sldId id="257" r:id="rId8"/>
    <p:sldId id="422" r:id="rId9"/>
    <p:sldId id="258" r:id="rId10"/>
    <p:sldId id="259" r:id="rId11"/>
    <p:sldId id="260" r:id="rId12"/>
    <p:sldId id="423" r:id="rId13"/>
    <p:sldId id="421" r:id="rId14"/>
    <p:sldId id="262" r:id="rId15"/>
    <p:sldId id="263" r:id="rId16"/>
    <p:sldId id="264" r:id="rId17"/>
    <p:sldId id="265" r:id="rId18"/>
    <p:sldId id="312" r:id="rId19"/>
    <p:sldId id="266" r:id="rId20"/>
    <p:sldId id="313" r:id="rId21"/>
    <p:sldId id="392" r:id="rId22"/>
    <p:sldId id="393" r:id="rId23"/>
    <p:sldId id="394" r:id="rId24"/>
    <p:sldId id="267" r:id="rId25"/>
    <p:sldId id="315" r:id="rId26"/>
    <p:sldId id="314" r:id="rId27"/>
    <p:sldId id="420" r:id="rId28"/>
    <p:sldId id="419" r:id="rId29"/>
    <p:sldId id="395" r:id="rId30"/>
    <p:sldId id="268" r:id="rId31"/>
    <p:sldId id="415" r:id="rId32"/>
    <p:sldId id="417" r:id="rId33"/>
    <p:sldId id="416" r:id="rId34"/>
    <p:sldId id="269" r:id="rId35"/>
    <p:sldId id="308" r:id="rId36"/>
    <p:sldId id="317" r:id="rId37"/>
    <p:sldId id="318" r:id="rId38"/>
    <p:sldId id="396" r:id="rId39"/>
    <p:sldId id="399" r:id="rId40"/>
    <p:sldId id="410" r:id="rId41"/>
    <p:sldId id="412" r:id="rId42"/>
    <p:sldId id="414" r:id="rId43"/>
    <p:sldId id="411" r:id="rId44"/>
    <p:sldId id="397" r:id="rId45"/>
    <p:sldId id="400" r:id="rId46"/>
    <p:sldId id="401" r:id="rId47"/>
    <p:sldId id="402" r:id="rId48"/>
    <p:sldId id="403" r:id="rId49"/>
    <p:sldId id="398" r:id="rId50"/>
    <p:sldId id="270" r:id="rId51"/>
    <p:sldId id="418" r:id="rId52"/>
    <p:sldId id="391" r:id="rId53"/>
    <p:sldId id="271" r:id="rId54"/>
    <p:sldId id="310" r:id="rId55"/>
    <p:sldId id="404" r:id="rId56"/>
    <p:sldId id="405" r:id="rId57"/>
    <p:sldId id="406" r:id="rId58"/>
    <p:sldId id="407" r:id="rId59"/>
    <p:sldId id="408" r:id="rId60"/>
    <p:sldId id="273" r:id="rId61"/>
    <p:sldId id="275" r:id="rId62"/>
    <p:sldId id="274" r:id="rId63"/>
    <p:sldId id="276" r:id="rId64"/>
    <p:sldId id="388" r:id="rId65"/>
    <p:sldId id="389" r:id="rId66"/>
    <p:sldId id="277" r:id="rId67"/>
    <p:sldId id="278" r:id="rId68"/>
    <p:sldId id="279" r:id="rId69"/>
    <p:sldId id="280" r:id="rId70"/>
    <p:sldId id="281" r:id="rId71"/>
    <p:sldId id="282" r:id="rId72"/>
    <p:sldId id="283" r:id="rId73"/>
    <p:sldId id="320" r:id="rId74"/>
    <p:sldId id="284" r:id="rId75"/>
    <p:sldId id="427" r:id="rId76"/>
    <p:sldId id="409" r:id="rId77"/>
    <p:sldId id="426" r:id="rId78"/>
    <p:sldId id="425" r:id="rId79"/>
    <p:sldId id="424" r:id="rId80"/>
    <p:sldId id="285" r:id="rId81"/>
    <p:sldId id="322" r:id="rId82"/>
    <p:sldId id="324" r:id="rId83"/>
    <p:sldId id="325" r:id="rId84"/>
    <p:sldId id="326" r:id="rId85"/>
    <p:sldId id="327" r:id="rId86"/>
    <p:sldId id="328" r:id="rId87"/>
    <p:sldId id="329" r:id="rId88"/>
    <p:sldId id="330" r:id="rId89"/>
    <p:sldId id="331" r:id="rId90"/>
    <p:sldId id="332" r:id="rId91"/>
    <p:sldId id="333" r:id="rId92"/>
    <p:sldId id="334" r:id="rId93"/>
    <p:sldId id="335" r:id="rId94"/>
    <p:sldId id="336" r:id="rId95"/>
    <p:sldId id="337" r:id="rId96"/>
    <p:sldId id="338" r:id="rId97"/>
    <p:sldId id="339" r:id="rId98"/>
    <p:sldId id="340" r:id="rId99"/>
    <p:sldId id="341" r:id="rId100"/>
    <p:sldId id="342" r:id="rId101"/>
    <p:sldId id="343" r:id="rId102"/>
    <p:sldId id="344" r:id="rId103"/>
    <p:sldId id="345" r:id="rId104"/>
    <p:sldId id="346" r:id="rId105"/>
    <p:sldId id="347" r:id="rId106"/>
    <p:sldId id="348" r:id="rId107"/>
    <p:sldId id="351" r:id="rId108"/>
    <p:sldId id="352" r:id="rId109"/>
    <p:sldId id="353" r:id="rId110"/>
    <p:sldId id="354" r:id="rId111"/>
    <p:sldId id="355" r:id="rId112"/>
    <p:sldId id="356" r:id="rId113"/>
    <p:sldId id="357" r:id="rId114"/>
    <p:sldId id="358" r:id="rId115"/>
    <p:sldId id="359" r:id="rId116"/>
    <p:sldId id="360" r:id="rId117"/>
    <p:sldId id="361" r:id="rId118"/>
    <p:sldId id="362" r:id="rId119"/>
    <p:sldId id="363" r:id="rId120"/>
    <p:sldId id="364" r:id="rId121"/>
    <p:sldId id="349" r:id="rId122"/>
    <p:sldId id="365" r:id="rId123"/>
    <p:sldId id="366" r:id="rId124"/>
    <p:sldId id="367" r:id="rId125"/>
    <p:sldId id="368" r:id="rId126"/>
    <p:sldId id="369" r:id="rId127"/>
    <p:sldId id="370" r:id="rId128"/>
    <p:sldId id="371" r:id="rId129"/>
    <p:sldId id="372" r:id="rId130"/>
    <p:sldId id="373" r:id="rId131"/>
    <p:sldId id="374" r:id="rId132"/>
    <p:sldId id="375" r:id="rId133"/>
    <p:sldId id="376" r:id="rId134"/>
    <p:sldId id="377" r:id="rId135"/>
    <p:sldId id="378" r:id="rId136"/>
    <p:sldId id="379" r:id="rId137"/>
    <p:sldId id="380" r:id="rId138"/>
    <p:sldId id="381" r:id="rId139"/>
    <p:sldId id="382" r:id="rId140"/>
  </p:sldIdLst>
  <p:sldSz cx="10058400" cy="7772400"/>
  <p:notesSz cx="6858000" cy="91440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52" autoAdjust="0"/>
    <p:restoredTop sz="94671" autoAdjust="0"/>
  </p:normalViewPr>
  <p:slideViewPr>
    <p:cSldViewPr>
      <p:cViewPr varScale="1">
        <p:scale>
          <a:sx n="61" d="100"/>
          <a:sy n="61" d="100"/>
        </p:scale>
        <p:origin x="-1248" y="-78"/>
      </p:cViewPr>
      <p:guideLst>
        <p:guide orient="horz" pos="2448"/>
        <p:guide pos="3168"/>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slide" Target="slides/slide116.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slide" Target="slides/slide111.xml" /><Relationship Id="rId133" Type="http://schemas.openxmlformats.org/officeDocument/2006/relationships/slide" Target="slides/slide132.xml" /><Relationship Id="rId138" Type="http://schemas.openxmlformats.org/officeDocument/2006/relationships/slide" Target="slides/slide137.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102" Type="http://schemas.openxmlformats.org/officeDocument/2006/relationships/slide" Target="slides/slide101.xml" /><Relationship Id="rId123" Type="http://schemas.openxmlformats.org/officeDocument/2006/relationships/slide" Target="slides/slide122.xml" /><Relationship Id="rId128" Type="http://schemas.openxmlformats.org/officeDocument/2006/relationships/slide" Target="slides/slide127.xml" /><Relationship Id="rId144" Type="http://schemas.openxmlformats.org/officeDocument/2006/relationships/tableStyles" Target="tableStyles.xml" /><Relationship Id="rId5" Type="http://schemas.openxmlformats.org/officeDocument/2006/relationships/slide" Target="slides/slide4.xml" /><Relationship Id="rId90" Type="http://schemas.openxmlformats.org/officeDocument/2006/relationships/slide" Target="slides/slide89.xml" /><Relationship Id="rId95" Type="http://schemas.openxmlformats.org/officeDocument/2006/relationships/slide" Target="slides/slide94.xml" /><Relationship Id="rId22" Type="http://schemas.openxmlformats.org/officeDocument/2006/relationships/slide" Target="slides/slide21.xml" /><Relationship Id="rId27" Type="http://schemas.openxmlformats.org/officeDocument/2006/relationships/slide" Target="slides/slide26.xml" /><Relationship Id="rId43" Type="http://schemas.openxmlformats.org/officeDocument/2006/relationships/slide" Target="slides/slide42.xml" /><Relationship Id="rId48" Type="http://schemas.openxmlformats.org/officeDocument/2006/relationships/slide" Target="slides/slide47.xml" /><Relationship Id="rId64" Type="http://schemas.openxmlformats.org/officeDocument/2006/relationships/slide" Target="slides/slide63.xml" /><Relationship Id="rId69" Type="http://schemas.openxmlformats.org/officeDocument/2006/relationships/slide" Target="slides/slide68.xml" /><Relationship Id="rId113" Type="http://schemas.openxmlformats.org/officeDocument/2006/relationships/slide" Target="slides/slide112.xml" /><Relationship Id="rId118" Type="http://schemas.openxmlformats.org/officeDocument/2006/relationships/slide" Target="slides/slide117.xml" /><Relationship Id="rId134" Type="http://schemas.openxmlformats.org/officeDocument/2006/relationships/slide" Target="slides/slide133.xml" /><Relationship Id="rId139" Type="http://schemas.openxmlformats.org/officeDocument/2006/relationships/slide" Target="slides/slide138.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121" Type="http://schemas.openxmlformats.org/officeDocument/2006/relationships/slide" Target="slides/slide120.xml" /><Relationship Id="rId142" Type="http://schemas.openxmlformats.org/officeDocument/2006/relationships/viewProps" Target="viewProps.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116" Type="http://schemas.openxmlformats.org/officeDocument/2006/relationships/slide" Target="slides/slide115.xml" /><Relationship Id="rId124" Type="http://schemas.openxmlformats.org/officeDocument/2006/relationships/slide" Target="slides/slide123.xml" /><Relationship Id="rId129" Type="http://schemas.openxmlformats.org/officeDocument/2006/relationships/slide" Target="slides/slide128.xml" /><Relationship Id="rId137" Type="http://schemas.openxmlformats.org/officeDocument/2006/relationships/slide" Target="slides/slide13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slide" Target="slides/slide110.xml" /><Relationship Id="rId132" Type="http://schemas.openxmlformats.org/officeDocument/2006/relationships/slide" Target="slides/slide131.xml" /><Relationship Id="rId140" Type="http://schemas.openxmlformats.org/officeDocument/2006/relationships/slide" Target="slides/slide139.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slide" Target="slides/slide113.xml" /><Relationship Id="rId119" Type="http://schemas.openxmlformats.org/officeDocument/2006/relationships/slide" Target="slides/slide118.xml" /><Relationship Id="rId127" Type="http://schemas.openxmlformats.org/officeDocument/2006/relationships/slide" Target="slides/slide12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122" Type="http://schemas.openxmlformats.org/officeDocument/2006/relationships/slide" Target="slides/slide121.xml" /><Relationship Id="rId130" Type="http://schemas.openxmlformats.org/officeDocument/2006/relationships/slide" Target="slides/slide129.xml" /><Relationship Id="rId135" Type="http://schemas.openxmlformats.org/officeDocument/2006/relationships/slide" Target="slides/slide134.xml" /><Relationship Id="rId143"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slide" Target="slides/slide119.xml" /><Relationship Id="rId125" Type="http://schemas.openxmlformats.org/officeDocument/2006/relationships/slide" Target="slides/slide124.xml" /><Relationship Id="rId141" Type="http://schemas.openxmlformats.org/officeDocument/2006/relationships/presProps" Target="presProps.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110" Type="http://schemas.openxmlformats.org/officeDocument/2006/relationships/slide" Target="slides/slide109.xml" /><Relationship Id="rId115" Type="http://schemas.openxmlformats.org/officeDocument/2006/relationships/slide" Target="slides/slide114.xml" /><Relationship Id="rId131" Type="http://schemas.openxmlformats.org/officeDocument/2006/relationships/slide" Target="slides/slide130.xml" /><Relationship Id="rId136" Type="http://schemas.openxmlformats.org/officeDocument/2006/relationships/slide" Target="slides/slide135.xml" /><Relationship Id="rId61" Type="http://schemas.openxmlformats.org/officeDocument/2006/relationships/slide" Target="slides/slide60.xml" /><Relationship Id="rId82" Type="http://schemas.openxmlformats.org/officeDocument/2006/relationships/slide" Target="slides/slide81.xml" /><Relationship Id="rId19" Type="http://schemas.openxmlformats.org/officeDocument/2006/relationships/slide" Target="slides/slide18.xml" /><Relationship Id="rId14" Type="http://schemas.openxmlformats.org/officeDocument/2006/relationships/slide" Target="slides/slide13.xml" /><Relationship Id="rId30" Type="http://schemas.openxmlformats.org/officeDocument/2006/relationships/slide" Target="slides/slide29.xml" /><Relationship Id="rId35" Type="http://schemas.openxmlformats.org/officeDocument/2006/relationships/slide" Target="slides/slide34.xml" /><Relationship Id="rId56" Type="http://schemas.openxmlformats.org/officeDocument/2006/relationships/slide" Target="slides/slide55.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26" Type="http://schemas.openxmlformats.org/officeDocument/2006/relationships/slide" Target="slides/slide125.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p:spPr>
        <p:txBody>
          <a:bodyPr/>
          <a:lstStyle/>
          <a:p>
            <a:r>
              <a:rPr lang="en-US"/>
              <a:t>Click to edit Master title style</a:t>
            </a:r>
          </a:p>
        </p:txBody>
      </p:sp>
      <p:sp>
        <p:nvSpPr>
          <p:cNvPr id="3" name="Subtitle 2"/>
          <p:cNvSpPr>
            <a:spLocks noGrp="1"/>
          </p:cNvSpPr>
          <p:nvPr>
            <p:ph type="subTitle" idx="1"/>
          </p:nvPr>
        </p:nvSpPr>
        <p:spPr>
          <a:xfrm>
            <a:off x="1508760" y="4404360"/>
            <a:ext cx="7040880" cy="1986280"/>
          </a:xfrm>
        </p:spPr>
        <p:txBody>
          <a:bodyPr/>
          <a:lstStyle>
            <a:lvl1pPr marL="0" indent="0" algn="ctr">
              <a:buNone/>
              <a:defRPr>
                <a:solidFill>
                  <a:schemeClr val="tx1">
                    <a:tint val="75000"/>
                  </a:schemeClr>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87"/>
            <a:ext cx="8549640" cy="1543685"/>
          </a:xfrm>
        </p:spPr>
        <p:txBody>
          <a:bodyPr anchor="t"/>
          <a:lstStyle>
            <a:lvl1pPr algn="l">
              <a:defRPr sz="4500" b="1" cap="all"/>
            </a:lvl1pPr>
          </a:lstStyle>
          <a:p>
            <a:r>
              <a:rPr lang="en-US"/>
              <a:t>Click to edit Master title style</a:t>
            </a:r>
          </a:p>
        </p:txBody>
      </p:sp>
      <p:sp>
        <p:nvSpPr>
          <p:cNvPr id="3" name="Text Placeholder 2"/>
          <p:cNvSpPr>
            <a:spLocks noGrp="1"/>
          </p:cNvSpPr>
          <p:nvPr>
            <p:ph type="body" idx="1"/>
          </p:nvPr>
        </p:nvSpPr>
        <p:spPr>
          <a:xfrm>
            <a:off x="794544" y="3294275"/>
            <a:ext cx="8549640" cy="1700212"/>
          </a:xfrm>
        </p:spPr>
        <p:txBody>
          <a:bodyPr anchor="b"/>
          <a:lstStyle>
            <a:lvl1pPr marL="0" indent="0">
              <a:buNone/>
              <a:defRPr sz="2200">
                <a:solidFill>
                  <a:schemeClr val="tx1">
                    <a:tint val="75000"/>
                  </a:schemeClr>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2920" y="1813560"/>
            <a:ext cx="4442460" cy="512942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3020" y="1813560"/>
            <a:ext cx="4442460" cy="512942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2920" y="1739795"/>
            <a:ext cx="4444207" cy="725064"/>
          </a:xfrm>
        </p:spPr>
        <p:txBody>
          <a:bodyPr anchor="b"/>
          <a:lstStyle>
            <a:lvl1pPr marL="0" indent="0">
              <a:buNone/>
              <a:defRPr sz="27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a:t>Click to edit Master text styles</a:t>
            </a:r>
          </a:p>
        </p:txBody>
      </p:sp>
      <p:sp>
        <p:nvSpPr>
          <p:cNvPr id="4" name="Content Placeholder 3"/>
          <p:cNvSpPr>
            <a:spLocks noGrp="1"/>
          </p:cNvSpPr>
          <p:nvPr>
            <p:ph sz="half" idx="2"/>
          </p:nvPr>
        </p:nvSpPr>
        <p:spPr>
          <a:xfrm>
            <a:off x="502920" y="2464859"/>
            <a:ext cx="4444207"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09528" y="1739795"/>
            <a:ext cx="4445953" cy="725064"/>
          </a:xfrm>
        </p:spPr>
        <p:txBody>
          <a:bodyPr anchor="b"/>
          <a:lstStyle>
            <a:lvl1pPr marL="0" indent="0">
              <a:buNone/>
              <a:defRPr sz="27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109528" y="2464859"/>
            <a:ext cx="4445953"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2921" y="309457"/>
            <a:ext cx="3309144" cy="1316990"/>
          </a:xfrm>
        </p:spPr>
        <p:txBody>
          <a:bodyPr anchor="b"/>
          <a:lstStyle>
            <a:lvl1pPr algn="l">
              <a:defRPr sz="2200" b="1"/>
            </a:lvl1pPr>
          </a:lstStyle>
          <a:p>
            <a:r>
              <a:rPr lang="en-US"/>
              <a:t>Click to edit Master title style</a:t>
            </a:r>
          </a:p>
        </p:txBody>
      </p:sp>
      <p:sp>
        <p:nvSpPr>
          <p:cNvPr id="3" name="Content Placeholder 2"/>
          <p:cNvSpPr>
            <a:spLocks noGrp="1"/>
          </p:cNvSpPr>
          <p:nvPr>
            <p:ph idx="1"/>
          </p:nvPr>
        </p:nvSpPr>
        <p:spPr>
          <a:xfrm>
            <a:off x="3932555" y="309457"/>
            <a:ext cx="5622925" cy="663352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2921" y="1626447"/>
            <a:ext cx="3309144" cy="5316538"/>
          </a:xfrm>
        </p:spPr>
        <p:txBody>
          <a:bodyPr/>
          <a:lstStyle>
            <a:lvl1pPr marL="0" indent="0">
              <a:buNone/>
              <a:defRPr sz="1600"/>
            </a:lvl1pPr>
            <a:lvl2pPr marL="509412" indent="0">
              <a:buNone/>
              <a:defRPr sz="1300"/>
            </a:lvl2pPr>
            <a:lvl3pPr marL="1018824" indent="0">
              <a:buNone/>
              <a:defRPr sz="1100"/>
            </a:lvl3pPr>
            <a:lvl4pPr marL="1528237" indent="0">
              <a:buNone/>
              <a:defRPr sz="1000"/>
            </a:lvl4pPr>
            <a:lvl5pPr marL="2037649" indent="0">
              <a:buNone/>
              <a:defRPr sz="1000"/>
            </a:lvl5pPr>
            <a:lvl6pPr marL="2547061" indent="0">
              <a:buNone/>
              <a:defRPr sz="1000"/>
            </a:lvl6pPr>
            <a:lvl7pPr marL="3056473" indent="0">
              <a:buNone/>
              <a:defRPr sz="1000"/>
            </a:lvl7pPr>
            <a:lvl8pPr marL="3565886" indent="0">
              <a:buNone/>
              <a:defRPr sz="1000"/>
            </a:lvl8pPr>
            <a:lvl9pPr marL="407529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517" y="5440680"/>
            <a:ext cx="6035040" cy="642303"/>
          </a:xfrm>
        </p:spPr>
        <p:txBody>
          <a:bodyPr anchor="b"/>
          <a:lstStyle>
            <a:lvl1pPr algn="l">
              <a:defRPr sz="2200" b="1"/>
            </a:lvl1pPr>
          </a:lstStyle>
          <a:p>
            <a:r>
              <a:rPr lang="en-US"/>
              <a:t>Click to edit Master title style</a:t>
            </a:r>
          </a:p>
        </p:txBody>
      </p:sp>
      <p:sp>
        <p:nvSpPr>
          <p:cNvPr id="3" name="Picture Placeholder 2"/>
          <p:cNvSpPr>
            <a:spLocks noGrp="1"/>
          </p:cNvSpPr>
          <p:nvPr>
            <p:ph type="pic" idx="1"/>
          </p:nvPr>
        </p:nvSpPr>
        <p:spPr>
          <a:xfrm>
            <a:off x="1971517" y="694478"/>
            <a:ext cx="6035040" cy="4663440"/>
          </a:xfrm>
        </p:spPr>
        <p:txBody>
          <a:bodyPr/>
          <a:lstStyle>
            <a:lvl1pPr marL="0" indent="0">
              <a:buNone/>
              <a:defRPr sz="3600"/>
            </a:lvl1pPr>
            <a:lvl2pPr marL="509412" indent="0">
              <a:buNone/>
              <a:defRPr sz="3100"/>
            </a:lvl2pPr>
            <a:lvl3pPr marL="1018824" indent="0">
              <a:buNone/>
              <a:defRPr sz="2700"/>
            </a:lvl3pPr>
            <a:lvl4pPr marL="1528237" indent="0">
              <a:buNone/>
              <a:defRPr sz="2200"/>
            </a:lvl4pPr>
            <a:lvl5pPr marL="2037649" indent="0">
              <a:buNone/>
              <a:defRPr sz="2200"/>
            </a:lvl5pPr>
            <a:lvl6pPr marL="2547061" indent="0">
              <a:buNone/>
              <a:defRPr sz="2200"/>
            </a:lvl6pPr>
            <a:lvl7pPr marL="3056473" indent="0">
              <a:buNone/>
              <a:defRPr sz="2200"/>
            </a:lvl7pPr>
            <a:lvl8pPr marL="3565886" indent="0">
              <a:buNone/>
              <a:defRPr sz="2200"/>
            </a:lvl8pPr>
            <a:lvl9pPr marL="4075298" indent="0">
              <a:buNone/>
              <a:defRPr sz="2200"/>
            </a:lvl9pPr>
          </a:lstStyle>
          <a:p>
            <a:endParaRPr lang="en-US"/>
          </a:p>
        </p:txBody>
      </p:sp>
      <p:sp>
        <p:nvSpPr>
          <p:cNvPr id="4" name="Text Placeholder 3"/>
          <p:cNvSpPr>
            <a:spLocks noGrp="1"/>
          </p:cNvSpPr>
          <p:nvPr>
            <p:ph type="body" sz="half" idx="2"/>
          </p:nvPr>
        </p:nvSpPr>
        <p:spPr>
          <a:xfrm>
            <a:off x="1971517" y="6082983"/>
            <a:ext cx="6035040" cy="912177"/>
          </a:xfrm>
        </p:spPr>
        <p:txBody>
          <a:bodyPr/>
          <a:lstStyle>
            <a:lvl1pPr marL="0" indent="0">
              <a:buNone/>
              <a:defRPr sz="1600"/>
            </a:lvl1pPr>
            <a:lvl2pPr marL="509412" indent="0">
              <a:buNone/>
              <a:defRPr sz="1300"/>
            </a:lvl2pPr>
            <a:lvl3pPr marL="1018824" indent="0">
              <a:buNone/>
              <a:defRPr sz="1100"/>
            </a:lvl3pPr>
            <a:lvl4pPr marL="1528237" indent="0">
              <a:buNone/>
              <a:defRPr sz="1000"/>
            </a:lvl4pPr>
            <a:lvl5pPr marL="2037649" indent="0">
              <a:buNone/>
              <a:defRPr sz="1000"/>
            </a:lvl5pPr>
            <a:lvl6pPr marL="2547061" indent="0">
              <a:buNone/>
              <a:defRPr sz="1000"/>
            </a:lvl6pPr>
            <a:lvl7pPr marL="3056473" indent="0">
              <a:buNone/>
              <a:defRPr sz="1000"/>
            </a:lvl7pPr>
            <a:lvl8pPr marL="3565886" indent="0">
              <a:buNone/>
              <a:defRPr sz="1000"/>
            </a:lvl8pPr>
            <a:lvl9pPr marL="407529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2340" y="311257"/>
            <a:ext cx="2263140" cy="663172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2920" y="311257"/>
            <a:ext cx="6621780" cy="66317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med"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311256"/>
            <a:ext cx="9052560" cy="1295400"/>
          </a:xfrm>
          <a:prstGeom prst="rect">
            <a:avLst/>
          </a:prstGeom>
        </p:spPr>
        <p:txBody>
          <a:bodyPr vert="horz" lIns="101882" tIns="50941" rIns="101882" bIns="50941" rtlCol="0" anchor="ctr">
            <a:normAutofit/>
          </a:bodyPr>
          <a:lstStyle/>
          <a:p>
            <a:r>
              <a:rPr lang="en-US"/>
              <a:t>Click to edit Master title style</a:t>
            </a:r>
          </a:p>
        </p:txBody>
      </p:sp>
      <p:sp>
        <p:nvSpPr>
          <p:cNvPr id="3" name="Text Placeholder 2"/>
          <p:cNvSpPr>
            <a:spLocks noGrp="1"/>
          </p:cNvSpPr>
          <p:nvPr>
            <p:ph type="body" idx="1"/>
          </p:nvPr>
        </p:nvSpPr>
        <p:spPr>
          <a:xfrm>
            <a:off x="502920" y="1813560"/>
            <a:ext cx="9052560" cy="5129425"/>
          </a:xfrm>
          <a:prstGeom prst="rect">
            <a:avLst/>
          </a:prstGeom>
        </p:spPr>
        <p:txBody>
          <a:bodyPr vert="horz" lIns="101882" tIns="50941" rIns="101882" bIns="5094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2920" y="7203864"/>
            <a:ext cx="2346960" cy="413808"/>
          </a:xfrm>
          <a:prstGeom prst="rect">
            <a:avLst/>
          </a:prstGeom>
        </p:spPr>
        <p:txBody>
          <a:bodyPr vert="horz" lIns="101882" tIns="50941" rIns="101882" bIns="50941" rtlCol="0" anchor="ctr"/>
          <a:lstStyle>
            <a:lvl1pPr algn="l">
              <a:defRPr sz="1300">
                <a:solidFill>
                  <a:schemeClr val="tx1">
                    <a:tint val="75000"/>
                  </a:schemeClr>
                </a:solidFill>
              </a:defRPr>
            </a:lvl1pPr>
          </a:lstStyle>
          <a:p>
            <a:fld id="{1D8BD707-D9CF-40AE-B4C6-C98DA3205C09}" type="datetimeFigureOut">
              <a:rPr lang="en-US" smtClean="0"/>
              <a:pPr/>
              <a:t>5/23/2020</a:t>
            </a:fld>
            <a:endParaRPr lang="en-US"/>
          </a:p>
        </p:txBody>
      </p:sp>
      <p:sp>
        <p:nvSpPr>
          <p:cNvPr id="5" name="Footer Placeholder 4"/>
          <p:cNvSpPr>
            <a:spLocks noGrp="1"/>
          </p:cNvSpPr>
          <p:nvPr>
            <p:ph type="ftr" sz="quarter" idx="3"/>
          </p:nvPr>
        </p:nvSpPr>
        <p:spPr>
          <a:xfrm>
            <a:off x="3436620" y="7203864"/>
            <a:ext cx="3185160" cy="413808"/>
          </a:xfrm>
          <a:prstGeom prst="rect">
            <a:avLst/>
          </a:prstGeom>
        </p:spPr>
        <p:txBody>
          <a:bodyPr vert="horz" lIns="101882" tIns="50941" rIns="101882" bIns="50941"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08520" y="7203864"/>
            <a:ext cx="2346960" cy="413808"/>
          </a:xfrm>
          <a:prstGeom prst="rect">
            <a:avLst/>
          </a:prstGeom>
        </p:spPr>
        <p:txBody>
          <a:bodyPr vert="horz" lIns="101882" tIns="50941" rIns="101882" bIns="50941" rtlCol="0" anchor="ctr"/>
          <a:lstStyle>
            <a:lvl1pPr algn="r">
              <a:defRPr sz="13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advClick="0"/>
  <p:txStyles>
    <p:titleStyle>
      <a:lvl1pPr algn="ctr" defTabSz="1018824" rtl="0" eaLnBrk="1" latinLnBrk="0" hangingPunct="1">
        <a:spcBef>
          <a:spcPct val="0"/>
        </a:spcBef>
        <a:buNone/>
        <a:defRPr sz="4900" kern="1200">
          <a:solidFill>
            <a:schemeClr val="tx1"/>
          </a:solidFill>
          <a:latin typeface="+mj-lt"/>
          <a:ea typeface="+mj-ea"/>
          <a:cs typeface="+mj-cs"/>
        </a:defRPr>
      </a:lvl1pPr>
    </p:titleStyle>
    <p:bodyStyle>
      <a:lvl1pPr marL="382059" indent="-382059" algn="l" defTabSz="101882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1.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1.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1.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1.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2854" y="242862"/>
            <a:ext cx="9572692" cy="6357982"/>
          </a:xfrm>
        </p:spPr>
        <p:txBody>
          <a:bodyPr>
            <a:normAutofit/>
          </a:bodyPr>
          <a:lstStyle/>
          <a:p>
            <a:pPr marL="742950" indent="-742950"/>
            <a:r>
              <a:rPr lang="en-US" sz="4000" b="1" dirty="0">
                <a:solidFill>
                  <a:schemeClr val="tx1"/>
                </a:solidFill>
              </a:rPr>
              <a:t>Branches of Psychology</a:t>
            </a:r>
          </a:p>
          <a:p>
            <a:pPr marL="742950" indent="-742950" algn="l"/>
            <a:r>
              <a:rPr lang="en-US" sz="4000" b="1" dirty="0">
                <a:solidFill>
                  <a:schemeClr val="tx1"/>
                </a:solidFill>
              </a:rPr>
              <a:t>Biological- </a:t>
            </a:r>
            <a:r>
              <a:rPr lang="en-US" sz="4000" dirty="0">
                <a:solidFill>
                  <a:schemeClr val="tx1"/>
                </a:solidFill>
              </a:rPr>
              <a:t>focuses on how biological influences, specially the brain and nervous system, influence the human mind and behavior</a:t>
            </a:r>
            <a:endParaRPr lang="en-US" sz="4000" b="1" dirty="0">
              <a:solidFill>
                <a:schemeClr val="tx1"/>
              </a:solidFill>
            </a:endParaRPr>
          </a:p>
          <a:p>
            <a:pPr marL="742950" indent="-742950" algn="l"/>
            <a:r>
              <a:rPr lang="en-US" sz="4000" b="1" dirty="0">
                <a:solidFill>
                  <a:schemeClr val="tx1"/>
                </a:solidFill>
              </a:rPr>
              <a:t>Behavioral- </a:t>
            </a:r>
            <a:r>
              <a:rPr lang="en-US" sz="4000" dirty="0">
                <a:solidFill>
                  <a:schemeClr val="tx1"/>
                </a:solidFill>
              </a:rPr>
              <a:t>devoted to the study of observable behaviors and how learning takes place via conditioning process.</a:t>
            </a:r>
            <a:endParaRPr lang="en-US" sz="4000" b="1" dirty="0">
              <a:solidFill>
                <a:schemeClr val="tx1"/>
              </a:solidFill>
            </a:endParaRPr>
          </a:p>
          <a:p>
            <a:pPr marL="742950" indent="-742950" algn="l"/>
            <a:endParaRPr lang="en-US" sz="4000"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5730" y="314300"/>
            <a:ext cx="9358378" cy="6286544"/>
          </a:xfrm>
        </p:spPr>
        <p:txBody>
          <a:bodyPr>
            <a:normAutofit/>
          </a:bodyPr>
          <a:lstStyle/>
          <a:p>
            <a:pPr marL="742950" indent="-742950" algn="l"/>
            <a:r>
              <a:rPr lang="en-US" b="1" dirty="0">
                <a:solidFill>
                  <a:schemeClr val="tx1"/>
                </a:solidFill>
              </a:rPr>
              <a:t>Developmental- </a:t>
            </a:r>
            <a:r>
              <a:rPr lang="en-US" dirty="0">
                <a:solidFill>
                  <a:schemeClr val="tx1"/>
                </a:solidFill>
              </a:rPr>
              <a:t>the focus of this branch of psychology is centered on the study of development over the entire course of life.</a:t>
            </a:r>
            <a:endParaRPr lang="en-US" b="1" dirty="0">
              <a:solidFill>
                <a:schemeClr val="tx1"/>
              </a:solidFill>
            </a:endParaRPr>
          </a:p>
          <a:p>
            <a:pPr marL="742950" indent="-742950" algn="l"/>
            <a:r>
              <a:rPr lang="en-US" b="1" dirty="0">
                <a:solidFill>
                  <a:schemeClr val="tx1"/>
                </a:solidFill>
              </a:rPr>
              <a:t>Social- </a:t>
            </a:r>
            <a:r>
              <a:rPr lang="en-US" dirty="0">
                <a:solidFill>
                  <a:schemeClr val="tx1"/>
                </a:solidFill>
              </a:rPr>
              <a:t>is interested in how people’s thought, behaviors, and emotions are influenced by other people.</a:t>
            </a:r>
            <a:endParaRPr lang="en-US" b="1" dirty="0">
              <a:solidFill>
                <a:schemeClr val="tx1"/>
              </a:solidFill>
            </a:endParaRPr>
          </a:p>
          <a:p>
            <a:pPr marL="742950" indent="-742950" algn="l"/>
            <a:endParaRPr lang="en-US"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5730" y="242862"/>
            <a:ext cx="9358378" cy="6286544"/>
          </a:xfrm>
        </p:spPr>
        <p:txBody>
          <a:bodyPr>
            <a:normAutofit/>
          </a:bodyPr>
          <a:lstStyle/>
          <a:p>
            <a:pPr marL="742950" indent="-742950"/>
            <a:r>
              <a:rPr lang="en-US" sz="4300" b="1" dirty="0">
                <a:solidFill>
                  <a:schemeClr val="tx1"/>
                </a:solidFill>
              </a:rPr>
              <a:t>Developmental issues</a:t>
            </a:r>
          </a:p>
          <a:p>
            <a:pPr marL="742950" indent="-742950" algn="l">
              <a:buFont typeface="Arial" pitchFamily="34" charset="0"/>
              <a:buChar char="•"/>
            </a:pPr>
            <a:r>
              <a:rPr lang="en-US" sz="4000" b="1" dirty="0">
                <a:solidFill>
                  <a:schemeClr val="tx1"/>
                </a:solidFill>
              </a:rPr>
              <a:t> Nature and Nurture- </a:t>
            </a:r>
            <a:r>
              <a:rPr lang="en-US" sz="4000" dirty="0">
                <a:solidFill>
                  <a:schemeClr val="tx1"/>
                </a:solidFill>
              </a:rPr>
              <a:t>how development is steered by genes and experience </a:t>
            </a:r>
            <a:endParaRPr lang="en-US" sz="4000" b="1" dirty="0">
              <a:solidFill>
                <a:schemeClr val="tx1"/>
              </a:solidFill>
            </a:endParaRPr>
          </a:p>
          <a:p>
            <a:pPr marL="742950" indent="-742950" algn="l">
              <a:buFont typeface="Arial" pitchFamily="34" charset="0"/>
              <a:buChar char="•"/>
            </a:pPr>
            <a:r>
              <a:rPr lang="en-US" sz="4000" b="1" dirty="0">
                <a:solidFill>
                  <a:schemeClr val="tx1"/>
                </a:solidFill>
              </a:rPr>
              <a:t> Continuity and Stage- </a:t>
            </a:r>
            <a:r>
              <a:rPr lang="en-US" sz="4000" dirty="0">
                <a:solidFill>
                  <a:schemeClr val="tx1"/>
                </a:solidFill>
              </a:rPr>
              <a:t>whether development is gradual, continuous process or a series of discrete stages</a:t>
            </a:r>
            <a:endParaRPr lang="en-US" sz="4000" b="1" dirty="0">
              <a:solidFill>
                <a:schemeClr val="tx1"/>
              </a:solidFill>
            </a:endParaRPr>
          </a:p>
          <a:p>
            <a:pPr marL="742950" indent="-742950" algn="l">
              <a:buFont typeface="Arial" pitchFamily="34" charset="0"/>
              <a:buChar char="•"/>
            </a:pPr>
            <a:r>
              <a:rPr lang="en-US" sz="4000" b="1" dirty="0">
                <a:solidFill>
                  <a:schemeClr val="tx1"/>
                </a:solidFill>
              </a:rPr>
              <a:t> Stability and Change- </a:t>
            </a:r>
            <a:r>
              <a:rPr lang="en-US" sz="4000" dirty="0">
                <a:solidFill>
                  <a:schemeClr val="tx1"/>
                </a:solidFill>
              </a:rPr>
              <a:t>whether development is characterized more by stability over time or by change.</a:t>
            </a:r>
            <a:endParaRPr lang="en-US" sz="4000"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242862"/>
            <a:ext cx="9501254" cy="6357982"/>
          </a:xfrm>
        </p:spPr>
        <p:txBody>
          <a:bodyPr>
            <a:normAutofit/>
          </a:bodyPr>
          <a:lstStyle/>
          <a:p>
            <a:pPr marL="742950" indent="-742950"/>
            <a:r>
              <a:rPr lang="en-US" sz="4000" b="1" dirty="0">
                <a:solidFill>
                  <a:schemeClr val="tx1"/>
                </a:solidFill>
              </a:rPr>
              <a:t>The Influence of Heredity</a:t>
            </a:r>
          </a:p>
          <a:p>
            <a:pPr marL="742950" indent="-742950"/>
            <a:r>
              <a:rPr lang="en-US" sz="4000" b="1" dirty="0">
                <a:solidFill>
                  <a:schemeClr val="tx1"/>
                </a:solidFill>
              </a:rPr>
              <a:t> on Development</a:t>
            </a:r>
          </a:p>
          <a:p>
            <a:pPr marL="742950" indent="-742950" algn="l">
              <a:buFont typeface="Arial" pitchFamily="34" charset="0"/>
              <a:buChar char="•"/>
            </a:pPr>
            <a:r>
              <a:rPr lang="en-US" sz="4000" b="1" dirty="0">
                <a:solidFill>
                  <a:schemeClr val="tx1"/>
                </a:solidFill>
              </a:rPr>
              <a:t> </a:t>
            </a:r>
            <a:r>
              <a:rPr lang="en-US" sz="4000" dirty="0">
                <a:solidFill>
                  <a:schemeClr val="tx1"/>
                </a:solidFill>
              </a:rPr>
              <a:t>Heredity defines our nature.</a:t>
            </a:r>
          </a:p>
          <a:p>
            <a:pPr marL="742950" indent="-742950" algn="l">
              <a:buFont typeface="Arial" pitchFamily="34" charset="0"/>
              <a:buChar char="•"/>
            </a:pPr>
            <a:r>
              <a:rPr lang="en-US" sz="4000" dirty="0">
                <a:solidFill>
                  <a:schemeClr val="tx1"/>
                </a:solidFill>
              </a:rPr>
              <a:t> The field of biology that studies heredity is called </a:t>
            </a:r>
            <a:r>
              <a:rPr lang="en-US" sz="4000" b="1" dirty="0">
                <a:solidFill>
                  <a:schemeClr val="tx1"/>
                </a:solidFill>
              </a:rPr>
              <a:t>GENETICS.</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457308"/>
            <a:ext cx="8549640" cy="2123136"/>
          </a:xfrm>
        </p:spPr>
        <p:txBody>
          <a:bodyPr>
            <a:noAutofit/>
          </a:bodyPr>
          <a:lstStyle/>
          <a:p>
            <a:r>
              <a:rPr lang="en-US" sz="6600" dirty="0">
                <a:latin typeface="Bernard MT Condensed" pitchFamily="18" charset="0"/>
              </a:rPr>
              <a:t>I. Concept on Growth and Development</a:t>
            </a:r>
          </a:p>
        </p:txBody>
      </p:sp>
      <p:sp>
        <p:nvSpPr>
          <p:cNvPr id="3" name="Subtitle 2"/>
          <p:cNvSpPr>
            <a:spLocks noGrp="1"/>
          </p:cNvSpPr>
          <p:nvPr>
            <p:ph type="subTitle" idx="1"/>
          </p:nvPr>
        </p:nvSpPr>
        <p:spPr>
          <a:xfrm>
            <a:off x="3008958" y="3600448"/>
            <a:ext cx="4877762" cy="1986280"/>
          </a:xfrm>
        </p:spPr>
        <p:txBody>
          <a:bodyPr/>
          <a:lstStyle/>
          <a:p>
            <a:pPr marL="742950" indent="-742950" algn="just">
              <a:buAutoNum type="alphaLcPeriod"/>
            </a:pPr>
            <a:r>
              <a:rPr lang="en-US" dirty="0">
                <a:solidFill>
                  <a:schemeClr val="tx1"/>
                </a:solidFill>
              </a:rPr>
              <a:t>Growth</a:t>
            </a:r>
          </a:p>
          <a:p>
            <a:pPr marL="742950" indent="-742950" algn="just">
              <a:buAutoNum type="alphaLcPeriod"/>
            </a:pPr>
            <a:r>
              <a:rPr lang="en-US" dirty="0">
                <a:solidFill>
                  <a:schemeClr val="tx1"/>
                </a:solidFill>
              </a:rPr>
              <a:t> Maturation</a:t>
            </a:r>
          </a:p>
          <a:p>
            <a:pPr marL="742950" indent="-742950" algn="just">
              <a:buAutoNum type="alphaLcPeriod"/>
            </a:pPr>
            <a:r>
              <a:rPr lang="en-US" dirty="0">
                <a:solidFill>
                  <a:schemeClr val="tx1"/>
                </a:solidFill>
              </a:rPr>
              <a:t>  Development</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168" y="385738"/>
            <a:ext cx="9215502" cy="6143668"/>
          </a:xfrm>
        </p:spPr>
        <p:txBody>
          <a:bodyPr/>
          <a:lstStyle/>
          <a:p>
            <a:pPr marL="742950" indent="-742950" algn="just">
              <a:buAutoNum type="alphaUcPeriod"/>
            </a:pPr>
            <a:r>
              <a:rPr lang="en-US" b="1" dirty="0">
                <a:solidFill>
                  <a:schemeClr val="tx1"/>
                </a:solidFill>
              </a:rPr>
              <a:t>Growth-</a:t>
            </a:r>
            <a:r>
              <a:rPr lang="en-US" dirty="0">
                <a:solidFill>
                  <a:schemeClr val="tx1"/>
                </a:solidFill>
              </a:rPr>
              <a:t> is the process of development particularly of becoming  </a:t>
            </a:r>
            <a:r>
              <a:rPr lang="en-US" dirty="0">
                <a:solidFill>
                  <a:srgbClr val="C00000"/>
                </a:solidFill>
              </a:rPr>
              <a:t>physically larger.</a:t>
            </a:r>
          </a:p>
          <a:p>
            <a:pPr marL="742950" indent="-742950" algn="just">
              <a:buAutoNum type="alphaUcPeriod"/>
            </a:pPr>
            <a:r>
              <a:rPr lang="en-US" b="1" dirty="0">
                <a:solidFill>
                  <a:schemeClr val="tx1"/>
                </a:solidFill>
              </a:rPr>
              <a:t> Development- </a:t>
            </a:r>
            <a:r>
              <a:rPr lang="en-US" dirty="0">
                <a:solidFill>
                  <a:srgbClr val="C00000"/>
                </a:solidFill>
              </a:rPr>
              <a:t>way </a:t>
            </a:r>
            <a:r>
              <a:rPr lang="en-US" dirty="0">
                <a:solidFill>
                  <a:schemeClr val="tx1"/>
                </a:solidFill>
              </a:rPr>
              <a:t>that people grow and change </a:t>
            </a:r>
            <a:r>
              <a:rPr lang="en-US" dirty="0">
                <a:solidFill>
                  <a:srgbClr val="C00000"/>
                </a:solidFill>
              </a:rPr>
              <a:t>as they age.</a:t>
            </a:r>
          </a:p>
          <a:p>
            <a:pPr marL="742950" indent="-742950" algn="just">
              <a:buAutoNum type="alphaUcPeriod"/>
            </a:pPr>
            <a:r>
              <a:rPr lang="en-US" b="1" dirty="0">
                <a:solidFill>
                  <a:schemeClr val="tx1"/>
                </a:solidFill>
              </a:rPr>
              <a:t> Maturation- </a:t>
            </a:r>
            <a:r>
              <a:rPr lang="en-US" dirty="0">
                <a:solidFill>
                  <a:schemeClr val="tx1"/>
                </a:solidFill>
              </a:rPr>
              <a:t>is the physical, intellectual, emotional process  of development.</a:t>
            </a:r>
          </a:p>
          <a:p>
            <a:pPr marL="742950" indent="-742950" algn="just"/>
            <a:r>
              <a:rPr lang="en-US" dirty="0">
                <a:solidFill>
                  <a:schemeClr val="tx1"/>
                </a:solidFill>
              </a:rPr>
              <a:t>			- means the ordinary development  of growth and </a:t>
            </a:r>
            <a:r>
              <a:rPr lang="en-US" dirty="0">
                <a:solidFill>
                  <a:srgbClr val="C00000"/>
                </a:solidFill>
              </a:rPr>
              <a:t>aging.</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4529142"/>
            <a:ext cx="928694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700123"/>
          </a:xfrm>
        </p:spPr>
        <p:txBody>
          <a:bodyPr>
            <a:normAutofit lnSpcReduction="10000"/>
          </a:bodyPr>
          <a:lstStyle/>
          <a:p>
            <a:pPr>
              <a:buNone/>
            </a:pPr>
            <a:r>
              <a:rPr lang="en-PH" b="1" dirty="0"/>
              <a:t>Question: </a:t>
            </a:r>
            <a:r>
              <a:rPr lang="en-PH" dirty="0"/>
              <a:t>Maturation should precede certain in types of learning. How is this applied in the classroom?</a:t>
            </a:r>
          </a:p>
          <a:p>
            <a:pPr marL="742950" indent="-742950">
              <a:buAutoNum type="alphaUcPeriod"/>
            </a:pPr>
            <a:r>
              <a:rPr lang="en-PH" dirty="0"/>
              <a:t>Follow the interest of students in assigning tasks.</a:t>
            </a:r>
          </a:p>
          <a:p>
            <a:pPr marL="742950" indent="-742950">
              <a:buAutoNum type="alphaUcPeriod"/>
            </a:pPr>
            <a:r>
              <a:rPr lang="en-PH" dirty="0"/>
              <a:t> Mrs. Navarro wants to increase the abilities of her students to solve more concepts should be taught from simple to complex</a:t>
            </a:r>
          </a:p>
          <a:p>
            <a:pPr marL="742950" indent="-742950">
              <a:buAutoNum type="alphaUcPeriod"/>
            </a:pPr>
            <a:r>
              <a:rPr lang="en-PH" dirty="0"/>
              <a:t> Consider age level of students in teaching certain concepts</a:t>
            </a:r>
          </a:p>
          <a:p>
            <a:pPr marL="742950" indent="-742950">
              <a:buAutoNum type="alphaUcPeriod"/>
            </a:pPr>
            <a:r>
              <a:rPr lang="en-PH" dirty="0"/>
              <a:t> Give the same task to all students in a particular grade level.</a:t>
            </a:r>
          </a:p>
          <a:p>
            <a:pPr>
              <a:buNone/>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1548" y="814366"/>
            <a:ext cx="7286676" cy="3357586"/>
          </a:xfrm>
        </p:spPr>
        <p:txBody>
          <a:bodyPr>
            <a:noAutofit/>
          </a:bodyPr>
          <a:lstStyle/>
          <a:p>
            <a:r>
              <a:rPr lang="en-US" sz="6600" dirty="0">
                <a:latin typeface="Bernard MT Condensed" pitchFamily="18" charset="0"/>
              </a:rPr>
              <a:t>II. Principles of Development</a:t>
            </a:r>
          </a:p>
        </p:txBody>
      </p:sp>
      <p:sp>
        <p:nvSpPr>
          <p:cNvPr id="4" name="Subtitle 3"/>
          <p:cNvSpPr>
            <a:spLocks noGrp="1"/>
          </p:cNvSpPr>
          <p:nvPr>
            <p:ph type="subTitle" idx="1"/>
          </p:nvPr>
        </p:nvSpPr>
        <p:spPr/>
        <p:txBody>
          <a:bodyPr/>
          <a:lstStyle/>
          <a:p>
            <a:endParaRPr lang="en-PH"/>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2862"/>
            <a:ext cx="8549640" cy="1428760"/>
          </a:xfrm>
        </p:spPr>
        <p:txBody>
          <a:bodyPr>
            <a:noAutofit/>
          </a:bodyPr>
          <a:lstStyle/>
          <a:p>
            <a:r>
              <a:rPr lang="en-US" sz="4000" b="1" dirty="0">
                <a:latin typeface="Arial" pitchFamily="34" charset="0"/>
                <a:cs typeface="Arial" pitchFamily="34" charset="0"/>
              </a:rPr>
              <a:t>Principles of Human Growth and Development</a:t>
            </a:r>
          </a:p>
        </p:txBody>
      </p:sp>
      <p:sp>
        <p:nvSpPr>
          <p:cNvPr id="3" name="Subtitle 2"/>
          <p:cNvSpPr>
            <a:spLocks noGrp="1"/>
          </p:cNvSpPr>
          <p:nvPr>
            <p:ph type="subTitle" idx="1"/>
          </p:nvPr>
        </p:nvSpPr>
        <p:spPr>
          <a:xfrm>
            <a:off x="314292" y="1600184"/>
            <a:ext cx="9429816" cy="5000660"/>
          </a:xfrm>
        </p:spPr>
        <p:txBody>
          <a:bodyPr/>
          <a:lstStyle/>
          <a:p>
            <a:pPr marL="742950" indent="-742950" algn="just">
              <a:buAutoNum type="arabicPeriod"/>
            </a:pPr>
            <a:r>
              <a:rPr lang="en-US" dirty="0">
                <a:solidFill>
                  <a:schemeClr val="tx1"/>
                </a:solidFill>
              </a:rPr>
              <a:t>Development is continuous</a:t>
            </a:r>
          </a:p>
          <a:p>
            <a:pPr marL="742950" indent="-742950" algn="just">
              <a:buAutoNum type="arabicPeriod"/>
            </a:pPr>
            <a:r>
              <a:rPr lang="en-US" dirty="0">
                <a:solidFill>
                  <a:schemeClr val="tx1"/>
                </a:solidFill>
              </a:rPr>
              <a:t> Development is gradual</a:t>
            </a:r>
          </a:p>
          <a:p>
            <a:pPr marL="742950" indent="-742950" algn="just">
              <a:buAutoNum type="arabicPeriod"/>
            </a:pPr>
            <a:r>
              <a:rPr lang="en-US" dirty="0">
                <a:solidFill>
                  <a:schemeClr val="tx1"/>
                </a:solidFill>
              </a:rPr>
              <a:t> Development is sequential</a:t>
            </a:r>
          </a:p>
          <a:p>
            <a:pPr marL="742950" indent="-742950" algn="just">
              <a:buAutoNum type="arabicPeriod"/>
            </a:pPr>
            <a:r>
              <a:rPr lang="en-US" dirty="0">
                <a:solidFill>
                  <a:schemeClr val="tx1"/>
                </a:solidFill>
              </a:rPr>
              <a:t> Rate of Development varies Person to person</a:t>
            </a:r>
          </a:p>
          <a:p>
            <a:pPr marL="742950" indent="-742950" algn="just">
              <a:buAutoNum type="arabicPeriod"/>
            </a:pPr>
            <a:r>
              <a:rPr lang="en-US" dirty="0">
                <a:solidFill>
                  <a:schemeClr val="tx1"/>
                </a:solidFill>
              </a:rPr>
              <a:t> Development proceeds from general to specific</a:t>
            </a:r>
          </a:p>
          <a:p>
            <a:pPr marL="742950" indent="-742950" algn="just">
              <a:buAutoNum type="arabicPeriod"/>
            </a:pPr>
            <a:r>
              <a:rPr lang="en-US" dirty="0">
                <a:solidFill>
                  <a:schemeClr val="tx1"/>
                </a:solidFill>
              </a:rPr>
              <a:t> Most traits are correlated in development</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168" y="385738"/>
            <a:ext cx="9215502" cy="6000792"/>
          </a:xfrm>
        </p:spPr>
        <p:txBody>
          <a:bodyPr/>
          <a:lstStyle/>
          <a:p>
            <a:pPr marL="742950" indent="-742950" algn="just"/>
            <a:r>
              <a:rPr lang="en-US" dirty="0">
                <a:solidFill>
                  <a:schemeClr val="tx1"/>
                </a:solidFill>
              </a:rPr>
              <a:t>7. Growth and development is a product of both heredity and environment</a:t>
            </a:r>
          </a:p>
          <a:p>
            <a:pPr marL="742950" indent="-742950" algn="just"/>
            <a:r>
              <a:rPr lang="en-US" dirty="0">
                <a:solidFill>
                  <a:schemeClr val="tx1"/>
                </a:solidFill>
              </a:rPr>
              <a:t>8. Development is predictable</a:t>
            </a:r>
          </a:p>
          <a:p>
            <a:pPr marL="742950" indent="-742950" algn="just"/>
            <a:r>
              <a:rPr lang="en-US" dirty="0">
                <a:solidFill>
                  <a:schemeClr val="tx1"/>
                </a:solidFill>
              </a:rPr>
              <a:t>9. Development</a:t>
            </a:r>
          </a:p>
          <a:p>
            <a:pPr marL="742950" indent="-742950" algn="just"/>
            <a:r>
              <a:rPr lang="en-US" dirty="0">
                <a:solidFill>
                  <a:schemeClr val="tx1"/>
                </a:solidFill>
              </a:rPr>
              <a:t>10. There is a constant interaction between all factors of development</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5029208"/>
            <a:ext cx="9358378"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700123"/>
          </a:xfrm>
        </p:spPr>
        <p:txBody>
          <a:bodyPr>
            <a:normAutofit lnSpcReduction="10000"/>
          </a:bodyPr>
          <a:lstStyle/>
          <a:p>
            <a:pPr>
              <a:buNone/>
            </a:pPr>
            <a:r>
              <a:rPr lang="en-PH" b="1" dirty="0"/>
              <a:t>Question: </a:t>
            </a:r>
            <a:r>
              <a:rPr lang="en-PH" dirty="0"/>
              <a:t>In terms of their emotional </a:t>
            </a:r>
            <a:r>
              <a:rPr lang="en-PH" dirty="0" err="1"/>
              <a:t>behavior</a:t>
            </a:r>
            <a:r>
              <a:rPr lang="en-PH" dirty="0"/>
              <a:t>, babies respond to strange and unusual objects with a general fear. Later, their fears become more specific and more characterized by different types of </a:t>
            </a:r>
            <a:r>
              <a:rPr lang="en-PH" dirty="0" err="1"/>
              <a:t>behavior</a:t>
            </a:r>
            <a:r>
              <a:rPr lang="en-PH" dirty="0"/>
              <a:t>. Which of the following principles is illustrated by this situation?</a:t>
            </a:r>
          </a:p>
          <a:p>
            <a:pPr>
              <a:buNone/>
            </a:pPr>
            <a:r>
              <a:rPr lang="en-PH" dirty="0"/>
              <a:t>A. Development follows a general pattern</a:t>
            </a:r>
          </a:p>
          <a:p>
            <a:pPr>
              <a:buNone/>
            </a:pPr>
            <a:r>
              <a:rPr lang="en-PH" dirty="0"/>
              <a:t>B. Development follows an orderly fashion.</a:t>
            </a:r>
          </a:p>
          <a:p>
            <a:pPr>
              <a:buNone/>
            </a:pPr>
            <a:r>
              <a:rPr lang="en-PH" dirty="0"/>
              <a:t>C. Development proceeds from general to specific responses.</a:t>
            </a:r>
          </a:p>
          <a:p>
            <a:pPr>
              <a:buNone/>
            </a:pPr>
            <a:r>
              <a:rPr lang="en-PH" dirty="0"/>
              <a:t>D. Development rate varies person to person. </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671754"/>
            <a:ext cx="528641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429420"/>
          </a:xfrm>
        </p:spPr>
        <p:txBody>
          <a:bodyPr>
            <a:normAutofit/>
          </a:bodyPr>
          <a:lstStyle/>
          <a:p>
            <a:pPr algn="just">
              <a:buNone/>
            </a:pPr>
            <a:r>
              <a:rPr lang="en-PH" dirty="0"/>
              <a:t>Question: </a:t>
            </a:r>
            <a:r>
              <a:rPr lang="en-PH" dirty="0" err="1"/>
              <a:t>Wella</a:t>
            </a:r>
            <a:r>
              <a:rPr lang="en-PH" dirty="0"/>
              <a:t> was wandering why at age 14 she has not menstruated yet while her friend </a:t>
            </a:r>
            <a:r>
              <a:rPr lang="en-PH" dirty="0" err="1"/>
              <a:t>Rina</a:t>
            </a:r>
            <a:r>
              <a:rPr lang="en-PH" dirty="0"/>
              <a:t> experienced menarche at age 12. which of the following principle is applied in the situation?</a:t>
            </a:r>
          </a:p>
          <a:p>
            <a:pPr marL="742950" indent="-742950" algn="just">
              <a:buAutoNum type="alphaUcPeriod"/>
            </a:pPr>
            <a:r>
              <a:rPr lang="en-PH" dirty="0"/>
              <a:t>Development rates vary</a:t>
            </a:r>
          </a:p>
          <a:p>
            <a:pPr marL="742950" indent="-742950" algn="just">
              <a:buAutoNum type="alphaUcPeriod"/>
            </a:pPr>
            <a:r>
              <a:rPr lang="en-PH" dirty="0"/>
              <a:t> Development is continuous</a:t>
            </a:r>
          </a:p>
          <a:p>
            <a:pPr marL="742950" indent="-742950" algn="just">
              <a:buAutoNum type="alphaUcPeriod"/>
            </a:pPr>
            <a:r>
              <a:rPr lang="en-PH" dirty="0"/>
              <a:t> Developmental pattern</a:t>
            </a:r>
          </a:p>
          <a:p>
            <a:pPr marL="742950" indent="-742950" algn="just">
              <a:buAutoNum type="alphaUcPeriod"/>
            </a:pPr>
            <a:r>
              <a:rPr lang="en-PH" dirty="0"/>
              <a:t> Development is predictable</a:t>
            </a:r>
          </a:p>
          <a:p>
            <a:pPr marL="742950" indent="-742950" algn="just">
              <a:buAutoNum type="alphaUcPeriod"/>
            </a:pPr>
            <a:endParaRPr lang="en-PH" dirty="0"/>
          </a:p>
          <a:p>
            <a:pPr marL="742950" indent="-742950" algn="just">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5796" y="2120254"/>
            <a:ext cx="8549640" cy="2123136"/>
          </a:xfrm>
        </p:spPr>
        <p:txBody>
          <a:bodyPr>
            <a:noAutofit/>
          </a:bodyPr>
          <a:lstStyle/>
          <a:p>
            <a:r>
              <a:rPr lang="en-US" sz="6600" dirty="0">
                <a:latin typeface="Bernard MT Condensed" pitchFamily="18" charset="0"/>
              </a:rPr>
              <a:t>III. Stages in Life- span Development</a:t>
            </a:r>
          </a:p>
        </p:txBody>
      </p:sp>
      <p:sp>
        <p:nvSpPr>
          <p:cNvPr id="4" name="Subtitle 3"/>
          <p:cNvSpPr>
            <a:spLocks noGrp="1"/>
          </p:cNvSpPr>
          <p:nvPr>
            <p:ph type="subTitle" idx="1"/>
          </p:nvPr>
        </p:nvSpPr>
        <p:spPr/>
        <p:txBody>
          <a:bodyPr/>
          <a:lstStyle/>
          <a:p>
            <a:endParaRPr lang="en-PH"/>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5730" y="385738"/>
            <a:ext cx="9286940" cy="6072230"/>
          </a:xfrm>
        </p:spPr>
        <p:txBody>
          <a:bodyPr/>
          <a:lstStyle/>
          <a:p>
            <a:pPr marL="742950" indent="-742950" algn="just"/>
            <a:r>
              <a:rPr lang="en-US" dirty="0">
                <a:solidFill>
                  <a:schemeClr val="tx1"/>
                </a:solidFill>
              </a:rPr>
              <a:t>Prenatal – ( conception to birth)</a:t>
            </a:r>
          </a:p>
          <a:p>
            <a:pPr marL="742950" indent="-742950" algn="just"/>
            <a:r>
              <a:rPr lang="en-US" dirty="0">
                <a:solidFill>
                  <a:schemeClr val="tx1"/>
                </a:solidFill>
              </a:rPr>
              <a:t>Infancy – (birth to 18 months)</a:t>
            </a:r>
          </a:p>
          <a:p>
            <a:pPr marL="742950" indent="-742950" algn="just"/>
            <a:r>
              <a:rPr lang="en-US" dirty="0">
                <a:solidFill>
                  <a:schemeClr val="tx1"/>
                </a:solidFill>
              </a:rPr>
              <a:t>Early Childhood- (18 months  to 6 years)</a:t>
            </a:r>
          </a:p>
          <a:p>
            <a:pPr marL="742950" indent="-742950" algn="just"/>
            <a:r>
              <a:rPr lang="en-US" dirty="0">
                <a:solidFill>
                  <a:schemeClr val="tx1"/>
                </a:solidFill>
              </a:rPr>
              <a:t>Middle Childhood – (6 to 11 years)</a:t>
            </a:r>
          </a:p>
          <a:p>
            <a:pPr marL="742950" indent="-742950" algn="just"/>
            <a:r>
              <a:rPr lang="en-US" dirty="0">
                <a:solidFill>
                  <a:schemeClr val="tx1"/>
                </a:solidFill>
              </a:rPr>
              <a:t>Adolescent – (11 to 20 years)</a:t>
            </a:r>
          </a:p>
          <a:p>
            <a:pPr marL="742950" indent="-742950" algn="just"/>
            <a:r>
              <a:rPr lang="en-US" dirty="0">
                <a:solidFill>
                  <a:schemeClr val="tx1"/>
                </a:solidFill>
              </a:rPr>
              <a:t>Early Adulthood – (20 to 40 years)</a:t>
            </a:r>
          </a:p>
          <a:p>
            <a:pPr marL="742950" indent="-742950" algn="just"/>
            <a:r>
              <a:rPr lang="en-US" dirty="0">
                <a:solidFill>
                  <a:schemeClr val="tx1"/>
                </a:solidFill>
              </a:rPr>
              <a:t>Middle Adulthood – ( 40 to 65 years)</a:t>
            </a:r>
          </a:p>
          <a:p>
            <a:pPr marL="742950" indent="-742950" algn="just"/>
            <a:r>
              <a:rPr lang="en-US" dirty="0">
                <a:solidFill>
                  <a:schemeClr val="tx1"/>
                </a:solidFill>
              </a:rPr>
              <a:t>Late adulthood – ( 65 years and older)</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457308"/>
            <a:ext cx="8549640" cy="2123136"/>
          </a:xfrm>
        </p:spPr>
        <p:txBody>
          <a:bodyPr>
            <a:noAutofit/>
          </a:bodyPr>
          <a:lstStyle/>
          <a:p>
            <a:r>
              <a:rPr lang="en-US" sz="6600" dirty="0">
                <a:latin typeface="Bernard MT Condensed" pitchFamily="18" charset="0"/>
              </a:rPr>
              <a:t>IV. Developmental Theories</a:t>
            </a:r>
          </a:p>
        </p:txBody>
      </p:sp>
      <p:sp>
        <p:nvSpPr>
          <p:cNvPr id="3" name="Subtitle 2"/>
          <p:cNvSpPr>
            <a:spLocks noGrp="1"/>
          </p:cNvSpPr>
          <p:nvPr>
            <p:ph type="subTitle" idx="1"/>
          </p:nvPr>
        </p:nvSpPr>
        <p:spPr>
          <a:xfrm>
            <a:off x="3008958" y="3600448"/>
            <a:ext cx="4877762" cy="1986280"/>
          </a:xfrm>
        </p:spPr>
        <p:txBody>
          <a:bodyPr/>
          <a:lstStyle/>
          <a:p>
            <a:pPr marL="742950" indent="-742950" algn="just"/>
            <a:endParaRPr lang="en-US"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1416" y="171424"/>
            <a:ext cx="9715568" cy="785818"/>
          </a:xfrm>
        </p:spPr>
        <p:txBody>
          <a:bodyPr>
            <a:noAutofit/>
          </a:bodyPr>
          <a:lstStyle/>
          <a:p>
            <a:r>
              <a:rPr lang="en-US" sz="4000" dirty="0">
                <a:latin typeface="Bernard MT Condensed" pitchFamily="18" charset="0"/>
              </a:rPr>
              <a:t>A. Cognitive development Theory (Jean Piaget)</a:t>
            </a:r>
          </a:p>
        </p:txBody>
      </p:sp>
      <p:sp>
        <p:nvSpPr>
          <p:cNvPr id="3" name="Subtitle 2"/>
          <p:cNvSpPr>
            <a:spLocks noGrp="1"/>
          </p:cNvSpPr>
          <p:nvPr>
            <p:ph type="subTitle" idx="1"/>
          </p:nvPr>
        </p:nvSpPr>
        <p:spPr>
          <a:xfrm>
            <a:off x="385730" y="1171556"/>
            <a:ext cx="9286940" cy="5357850"/>
          </a:xfrm>
        </p:spPr>
        <p:txBody>
          <a:bodyPr/>
          <a:lstStyle/>
          <a:p>
            <a:pPr marL="742950" indent="-742950"/>
            <a:r>
              <a:rPr lang="en-US" sz="4000" b="1" dirty="0">
                <a:solidFill>
                  <a:schemeClr val="tx1"/>
                </a:solidFill>
              </a:rPr>
              <a:t>The 4 Stages of </a:t>
            </a:r>
          </a:p>
          <a:p>
            <a:pPr marL="742950" indent="-742950"/>
            <a:r>
              <a:rPr lang="en-US" sz="4000" b="1" dirty="0">
                <a:solidFill>
                  <a:schemeClr val="tx1"/>
                </a:solidFill>
              </a:rPr>
              <a:t>Cognitive Development</a:t>
            </a:r>
          </a:p>
          <a:p>
            <a:pPr marL="742950" indent="-742950"/>
            <a:endParaRPr lang="en-US" sz="4000" b="1" dirty="0">
              <a:solidFill>
                <a:schemeClr val="tx1"/>
              </a:solidFill>
            </a:endParaRPr>
          </a:p>
          <a:p>
            <a:pPr marL="742950" indent="-742950" algn="l">
              <a:buAutoNum type="arabicPeriod"/>
            </a:pPr>
            <a:r>
              <a:rPr lang="en-US" b="1" dirty="0" err="1">
                <a:solidFill>
                  <a:schemeClr val="tx1"/>
                </a:solidFill>
              </a:rPr>
              <a:t>Sensorimotor</a:t>
            </a:r>
            <a:r>
              <a:rPr lang="en-US" b="1" dirty="0">
                <a:solidFill>
                  <a:schemeClr val="tx1"/>
                </a:solidFill>
              </a:rPr>
              <a:t> (birth to 2 years)- </a:t>
            </a:r>
            <a:r>
              <a:rPr lang="en-US" dirty="0">
                <a:solidFill>
                  <a:schemeClr val="tx1"/>
                </a:solidFill>
              </a:rPr>
              <a:t>uses senses and motor skills, items known by use.</a:t>
            </a:r>
          </a:p>
          <a:p>
            <a:pPr marL="742950" indent="-742950" algn="l"/>
            <a:r>
              <a:rPr lang="en-US" b="1" dirty="0">
                <a:solidFill>
                  <a:schemeClr val="tx1"/>
                </a:solidFill>
              </a:rPr>
              <a:t>             * Object  Permanence</a:t>
            </a:r>
          </a:p>
          <a:p>
            <a:pPr marL="742950" indent="-742950" algn="l"/>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385738"/>
            <a:ext cx="9429816" cy="6143668"/>
          </a:xfrm>
        </p:spPr>
        <p:txBody>
          <a:bodyPr/>
          <a:lstStyle/>
          <a:p>
            <a:pPr marL="742950" indent="-742950" algn="l"/>
            <a:r>
              <a:rPr lang="en-US" b="1" dirty="0">
                <a:solidFill>
                  <a:schemeClr val="tx1"/>
                </a:solidFill>
              </a:rPr>
              <a:t>2. Preoperational  (2 to 7 years)- </a:t>
            </a:r>
            <a:r>
              <a:rPr lang="en-US" dirty="0">
                <a:solidFill>
                  <a:schemeClr val="tx1"/>
                </a:solidFill>
              </a:rPr>
              <a:t>symbolic thinking, language used; egocentric thinking</a:t>
            </a:r>
          </a:p>
          <a:p>
            <a:pPr marL="742950" indent="-742950" algn="l"/>
            <a:r>
              <a:rPr lang="en-US" b="1" dirty="0">
                <a:solidFill>
                  <a:schemeClr val="tx1"/>
                </a:solidFill>
              </a:rPr>
              <a:t>		* Animism</a:t>
            </a:r>
          </a:p>
          <a:p>
            <a:pPr marL="742950" indent="-742950" algn="l"/>
            <a:r>
              <a:rPr lang="en-US" b="1" dirty="0">
                <a:solidFill>
                  <a:schemeClr val="tx1"/>
                </a:solidFill>
              </a:rPr>
              <a:t>		* </a:t>
            </a:r>
            <a:r>
              <a:rPr lang="en-US" b="1" dirty="0" err="1">
                <a:solidFill>
                  <a:schemeClr val="tx1"/>
                </a:solidFill>
              </a:rPr>
              <a:t>Artificialism</a:t>
            </a:r>
            <a:endParaRPr lang="en-US" b="1" dirty="0">
              <a:solidFill>
                <a:schemeClr val="tx1"/>
              </a:solidFill>
            </a:endParaRPr>
          </a:p>
          <a:p>
            <a:pPr marL="742950" indent="-742950" algn="l"/>
            <a:r>
              <a:rPr lang="en-US" b="1" dirty="0">
                <a:solidFill>
                  <a:schemeClr val="tx1"/>
                </a:solidFill>
              </a:rPr>
              <a:t>		* Ego Centrism</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314300"/>
            <a:ext cx="9358378" cy="6215106"/>
          </a:xfrm>
        </p:spPr>
        <p:txBody>
          <a:bodyPr/>
          <a:lstStyle/>
          <a:p>
            <a:pPr marL="742950" indent="-742950" algn="just"/>
            <a:r>
              <a:rPr lang="en-US" b="1" dirty="0">
                <a:solidFill>
                  <a:schemeClr val="tx1"/>
                </a:solidFill>
              </a:rPr>
              <a:t>3. Concrete operational ( 7 to 11)-</a:t>
            </a:r>
            <a:r>
              <a:rPr lang="en-US" dirty="0">
                <a:solidFill>
                  <a:schemeClr val="tx1"/>
                </a:solidFill>
              </a:rPr>
              <a:t> logic applied, has objective/ rational interpretations</a:t>
            </a:r>
          </a:p>
          <a:p>
            <a:pPr marL="742950" indent="-742950" algn="just"/>
            <a:r>
              <a:rPr lang="en-US" b="1" dirty="0">
                <a:solidFill>
                  <a:schemeClr val="tx1"/>
                </a:solidFill>
              </a:rPr>
              <a:t>		*</a:t>
            </a:r>
            <a:r>
              <a:rPr lang="en-US" b="1" dirty="0" err="1">
                <a:solidFill>
                  <a:schemeClr val="tx1"/>
                </a:solidFill>
              </a:rPr>
              <a:t>Seriation</a:t>
            </a:r>
            <a:endParaRPr lang="en-US" b="1" dirty="0">
              <a:solidFill>
                <a:schemeClr val="tx1"/>
              </a:solidFill>
            </a:endParaRPr>
          </a:p>
          <a:p>
            <a:pPr marL="742950" indent="-742950" algn="just"/>
            <a:r>
              <a:rPr lang="en-US" b="1" dirty="0">
                <a:solidFill>
                  <a:schemeClr val="tx1"/>
                </a:solidFill>
              </a:rPr>
              <a:t>		* Hierarchical Classification</a:t>
            </a:r>
          </a:p>
          <a:p>
            <a:pPr marL="742950" indent="-742950" algn="just"/>
            <a:r>
              <a:rPr lang="en-US" b="1" dirty="0">
                <a:solidFill>
                  <a:schemeClr val="tx1"/>
                </a:solidFill>
              </a:rPr>
              <a:t>		* Reversibility</a:t>
            </a:r>
          </a:p>
          <a:p>
            <a:pPr marL="742950" indent="-742950" algn="just"/>
            <a:r>
              <a:rPr lang="en-US" b="1" dirty="0">
                <a:solidFill>
                  <a:schemeClr val="tx1"/>
                </a:solidFill>
              </a:rPr>
              <a:t>		* </a:t>
            </a:r>
            <a:r>
              <a:rPr lang="en-US" b="1" dirty="0" err="1">
                <a:solidFill>
                  <a:schemeClr val="tx1"/>
                </a:solidFill>
              </a:rPr>
              <a:t>Decentration</a:t>
            </a:r>
            <a:endParaRPr lang="en-US" b="1" dirty="0">
              <a:solidFill>
                <a:schemeClr val="tx1"/>
              </a:solidFill>
            </a:endParaRPr>
          </a:p>
          <a:p>
            <a:pPr marL="742950" indent="-742950" algn="just"/>
            <a:r>
              <a:rPr lang="en-US" b="1" dirty="0">
                <a:solidFill>
                  <a:schemeClr val="tx1"/>
                </a:solidFill>
              </a:rPr>
              <a:t>		*  Conservation</a:t>
            </a:r>
          </a:p>
          <a:p>
            <a:pPr marL="742950" indent="-742950" algn="just"/>
            <a:endParaRPr lang="en-US" b="1" dirty="0">
              <a:solidFill>
                <a:schemeClr val="tx1"/>
              </a:solidFill>
            </a:endParaRPr>
          </a:p>
          <a:p>
            <a:pPr marL="742950" indent="-742950" algn="just"/>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314300"/>
            <a:ext cx="9358378" cy="6215106"/>
          </a:xfrm>
        </p:spPr>
        <p:txBody>
          <a:bodyPr/>
          <a:lstStyle/>
          <a:p>
            <a:pPr marL="742950" indent="-742950" algn="just"/>
            <a:r>
              <a:rPr lang="en-US" b="1" dirty="0">
                <a:solidFill>
                  <a:schemeClr val="tx1"/>
                </a:solidFill>
              </a:rPr>
              <a:t>4. Formal operational ( 12 and up)- </a:t>
            </a:r>
            <a:r>
              <a:rPr lang="en-US" dirty="0">
                <a:solidFill>
                  <a:schemeClr val="tx1"/>
                </a:solidFill>
              </a:rPr>
              <a:t>thinks abstractly, hypothetical ideas </a:t>
            </a:r>
          </a:p>
          <a:p>
            <a:pPr marL="742950" indent="-742950" algn="just"/>
            <a:r>
              <a:rPr lang="en-US" b="1" dirty="0">
                <a:solidFill>
                  <a:schemeClr val="tx1"/>
                </a:solidFill>
              </a:rPr>
              <a:t>		* Deductive reasoning-</a:t>
            </a:r>
          </a:p>
          <a:p>
            <a:pPr marL="742950" indent="-742950" algn="just"/>
            <a:r>
              <a:rPr lang="en-US" b="1" dirty="0">
                <a:solidFill>
                  <a:schemeClr val="tx1"/>
                </a:solidFill>
              </a:rPr>
              <a:t>		* Abstract thinking-</a:t>
            </a:r>
          </a:p>
          <a:p>
            <a:pPr marL="742950" indent="-742950" algn="just"/>
            <a:r>
              <a:rPr lang="en-US" b="1" dirty="0">
                <a:solidFill>
                  <a:schemeClr val="tx1"/>
                </a:solidFill>
              </a:rPr>
              <a:t>		* Making and Testing hypothesis</a:t>
            </a:r>
          </a:p>
          <a:p>
            <a:pPr marL="742950" indent="-742950" algn="just"/>
            <a:r>
              <a:rPr lang="en-US" b="1" dirty="0">
                <a:solidFill>
                  <a:schemeClr val="tx1"/>
                </a:solidFill>
              </a:rPr>
              <a:t>		* </a:t>
            </a:r>
            <a:r>
              <a:rPr lang="en-US" b="1" dirty="0" err="1">
                <a:solidFill>
                  <a:schemeClr val="tx1"/>
                </a:solidFill>
              </a:rPr>
              <a:t>Metacognition</a:t>
            </a:r>
            <a:r>
              <a:rPr lang="en-US" b="1" dirty="0">
                <a:solidFill>
                  <a:schemeClr val="tx1"/>
                </a:solidFill>
              </a:rPr>
              <a:t>-</a:t>
            </a:r>
          </a:p>
          <a:p>
            <a:pPr marL="742950" indent="-742950" algn="just"/>
            <a:r>
              <a:rPr lang="en-US" b="1" dirty="0">
                <a:solidFill>
                  <a:schemeClr val="tx1"/>
                </a:solidFill>
              </a:rPr>
              <a:t>		* Judgment-</a:t>
            </a:r>
          </a:p>
          <a:p>
            <a:pPr marL="742950" indent="-742950" algn="just"/>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2854" y="6100778"/>
            <a:ext cx="421484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171416" y="171424"/>
            <a:ext cx="9644130" cy="6572296"/>
          </a:xfrm>
        </p:spPr>
        <p:txBody>
          <a:bodyPr>
            <a:noAutofit/>
          </a:bodyPr>
          <a:lstStyle/>
          <a:p>
            <a:pPr algn="just">
              <a:buNone/>
            </a:pPr>
            <a:r>
              <a:rPr lang="en-PH" sz="3400" dirty="0"/>
              <a:t>Question: A fourth-grade teacher takes his students on a field trip to a nature </a:t>
            </a:r>
            <a:r>
              <a:rPr lang="en-PH" sz="3400" dirty="0" err="1"/>
              <a:t>center</a:t>
            </a:r>
            <a:r>
              <a:rPr lang="en-PH" sz="3400" dirty="0"/>
              <a:t> where they learn about plants and animals that live in riparian areas. The following week, he notices that his students are able to answer questions that require them to recall information from their field trip experience. However, they struggle to answer questions that require them to think abstractly about it. Which developmental stage describes these students, according to Piaget?</a:t>
            </a:r>
          </a:p>
          <a:p>
            <a:pPr marL="514350" indent="-514350" algn="just">
              <a:buAutoNum type="alphaUcPeriod"/>
            </a:pPr>
            <a:r>
              <a:rPr lang="en-PH" sz="3400" dirty="0"/>
              <a:t>Formal operational		B. </a:t>
            </a:r>
            <a:r>
              <a:rPr lang="en-PH" sz="3400" dirty="0" err="1"/>
              <a:t>Sensorimotor</a:t>
            </a:r>
            <a:endParaRPr lang="en-PH" sz="3400" dirty="0"/>
          </a:p>
          <a:p>
            <a:pPr marL="514350" indent="-514350" algn="just">
              <a:buNone/>
            </a:pPr>
            <a:r>
              <a:rPr lang="en-PH" sz="3400" dirty="0"/>
              <a:t>C. Concrete operational	D. Pre-operational</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876" y="6457968"/>
            <a:ext cx="4171944"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8540" y="99986"/>
            <a:ext cx="9886984" cy="6715172"/>
          </a:xfrm>
        </p:spPr>
        <p:txBody>
          <a:bodyPr>
            <a:noAutofit/>
          </a:bodyPr>
          <a:lstStyle/>
          <a:p>
            <a:pPr algn="just">
              <a:buNone/>
            </a:pPr>
            <a:r>
              <a:rPr lang="en-PH" sz="3300" dirty="0"/>
              <a:t>Question:  A teacher shows students  two glasses: one short and wide, and one tall and thin. Then, using a measuring cup, the teacher pours the same amount of water into  both glasses. Most of these students, who were shown the same demonstration three years before, previously thought the tall glass contained more water. Now that they are three years older, nearly everyone in the class agrees the two glasses hold the same amount of water. Which developmental stage describes these students, based on Piaget’s development theory?</a:t>
            </a:r>
          </a:p>
          <a:p>
            <a:pPr algn="just">
              <a:buNone/>
            </a:pPr>
            <a:r>
              <a:rPr lang="en-PH" sz="3300" dirty="0"/>
              <a:t>A. Formal operational		B. Pre-operational</a:t>
            </a:r>
          </a:p>
          <a:p>
            <a:pPr algn="just">
              <a:buNone/>
            </a:pPr>
            <a:r>
              <a:rPr lang="en-PH" sz="3300" dirty="0"/>
              <a:t>C. Concrete operational		D. </a:t>
            </a:r>
            <a:r>
              <a:rPr lang="en-PH" sz="3300" dirty="0" err="1"/>
              <a:t>Sensorimotor</a:t>
            </a:r>
            <a:r>
              <a:rPr lang="en-PH" sz="3300" dirty="0"/>
              <a:t>		</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86390" y="5457836"/>
            <a:ext cx="350046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01254" cy="6429420"/>
          </a:xfrm>
        </p:spPr>
        <p:txBody>
          <a:bodyPr/>
          <a:lstStyle/>
          <a:p>
            <a:pPr>
              <a:buNone/>
            </a:pPr>
            <a:r>
              <a:rPr lang="en-PH" dirty="0"/>
              <a:t>Question: A child is sitting at a table with three friends, and they all have juice in identical, tall cups. The child observes, “ all of our juice is the same!”. The child’s cup is cracked, so the teacher pours that juice into a new cup that is short and round. The child gets angry and yells at the friends that they have more juice in their cups. Which stage is this child demonstrating, according to Piaget?</a:t>
            </a:r>
          </a:p>
          <a:p>
            <a:pPr marL="742950" indent="-742950">
              <a:buAutoNum type="alphaUcPeriod"/>
            </a:pPr>
            <a:r>
              <a:rPr lang="en-PH" dirty="0" err="1"/>
              <a:t>Sensorimotor</a:t>
            </a:r>
            <a:r>
              <a:rPr lang="en-PH" dirty="0"/>
              <a:t>		B. Preoperational</a:t>
            </a:r>
          </a:p>
          <a:p>
            <a:pPr marL="742950" indent="-742950">
              <a:buNone/>
            </a:pPr>
            <a:r>
              <a:rPr lang="en-PH" dirty="0"/>
              <a:t>C. Concrete operational	D. Formal operational</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54" y="171424"/>
            <a:ext cx="9429816" cy="785818"/>
          </a:xfrm>
        </p:spPr>
        <p:txBody>
          <a:bodyPr>
            <a:noAutofit/>
          </a:bodyPr>
          <a:lstStyle/>
          <a:p>
            <a:pPr algn="l"/>
            <a:r>
              <a:rPr lang="en-US" sz="4000" dirty="0">
                <a:latin typeface="Bernard MT Condensed" pitchFamily="18" charset="0"/>
              </a:rPr>
              <a:t>B. Moral Development Theory ( L Kohlberg)</a:t>
            </a:r>
          </a:p>
        </p:txBody>
      </p:sp>
      <p:sp>
        <p:nvSpPr>
          <p:cNvPr id="3" name="Subtitle 2"/>
          <p:cNvSpPr>
            <a:spLocks noGrp="1"/>
          </p:cNvSpPr>
          <p:nvPr>
            <p:ph type="subTitle" idx="1"/>
          </p:nvPr>
        </p:nvSpPr>
        <p:spPr>
          <a:xfrm>
            <a:off x="314292" y="957242"/>
            <a:ext cx="9429816" cy="5643602"/>
          </a:xfrm>
        </p:spPr>
        <p:txBody>
          <a:bodyPr numCol="1"/>
          <a:lstStyle/>
          <a:p>
            <a:pPr marL="742950" indent="-742950"/>
            <a:r>
              <a:rPr lang="en-US" sz="4000" b="1" dirty="0">
                <a:solidFill>
                  <a:schemeClr val="tx1"/>
                </a:solidFill>
              </a:rPr>
              <a:t>Levels and Stages </a:t>
            </a:r>
          </a:p>
          <a:p>
            <a:pPr marL="742950" indent="-742950"/>
            <a:r>
              <a:rPr lang="en-US" sz="4000" b="1" dirty="0">
                <a:solidFill>
                  <a:schemeClr val="tx1"/>
                </a:solidFill>
              </a:rPr>
              <a:t>of </a:t>
            </a:r>
          </a:p>
          <a:p>
            <a:pPr marL="742950" indent="-742950"/>
            <a:r>
              <a:rPr lang="en-US" sz="4000" b="1" dirty="0">
                <a:solidFill>
                  <a:schemeClr val="tx1"/>
                </a:solidFill>
              </a:rPr>
              <a:t>Moral development</a:t>
            </a:r>
          </a:p>
          <a:p>
            <a:pPr marL="742950" indent="-742950" algn="just">
              <a:buAutoNum type="arabicPeriod"/>
            </a:pPr>
            <a:r>
              <a:rPr lang="en-US" b="1" dirty="0">
                <a:solidFill>
                  <a:schemeClr val="tx1"/>
                </a:solidFill>
              </a:rPr>
              <a:t>Pre conventional- </a:t>
            </a:r>
            <a:r>
              <a:rPr lang="en-US" dirty="0">
                <a:solidFill>
                  <a:schemeClr val="tx1"/>
                </a:solidFill>
              </a:rPr>
              <a:t>values in external events</a:t>
            </a:r>
          </a:p>
          <a:p>
            <a:pPr marL="742950" indent="-742950" algn="just"/>
            <a:r>
              <a:rPr lang="en-US" b="1" dirty="0">
                <a:solidFill>
                  <a:schemeClr val="tx1"/>
                </a:solidFill>
              </a:rPr>
              <a:t>		&gt; Obedience vs. Punishment – </a:t>
            </a:r>
            <a:r>
              <a:rPr lang="en-US" dirty="0">
                <a:solidFill>
                  <a:schemeClr val="tx1"/>
                </a:solidFill>
              </a:rPr>
              <a:t>acting to avoid punishment</a:t>
            </a:r>
            <a:endParaRPr lang="en-US" b="1" dirty="0">
              <a:solidFill>
                <a:schemeClr val="tx1"/>
              </a:solidFill>
            </a:endParaRPr>
          </a:p>
          <a:p>
            <a:pPr marL="742950" indent="-742950" algn="just"/>
            <a:r>
              <a:rPr lang="en-US" b="1" dirty="0">
                <a:solidFill>
                  <a:schemeClr val="tx1"/>
                </a:solidFill>
              </a:rPr>
              <a:t>		&gt; individualism vs. Exchange- </a:t>
            </a:r>
            <a:r>
              <a:rPr lang="en-US" dirty="0">
                <a:solidFill>
                  <a:schemeClr val="tx1"/>
                </a:solidFill>
              </a:rPr>
              <a:t>acting to further one’s own self interest.</a:t>
            </a:r>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5730" y="314300"/>
            <a:ext cx="9215502" cy="6215106"/>
          </a:xfrm>
        </p:spPr>
        <p:txBody>
          <a:bodyPr/>
          <a:lstStyle/>
          <a:p>
            <a:pPr marL="742950" indent="-742950" algn="just"/>
            <a:r>
              <a:rPr lang="en-US" b="1" dirty="0">
                <a:solidFill>
                  <a:schemeClr val="tx1"/>
                </a:solidFill>
              </a:rPr>
              <a:t>2. Conventional- </a:t>
            </a:r>
            <a:r>
              <a:rPr lang="en-US" dirty="0">
                <a:solidFill>
                  <a:schemeClr val="tx1"/>
                </a:solidFill>
              </a:rPr>
              <a:t>performing right roles</a:t>
            </a:r>
            <a:endParaRPr lang="en-US" b="1" dirty="0">
              <a:solidFill>
                <a:schemeClr val="tx1"/>
              </a:solidFill>
            </a:endParaRPr>
          </a:p>
          <a:p>
            <a:pPr marL="742950" indent="-742950" algn="just"/>
            <a:r>
              <a:rPr lang="en-US" b="1" dirty="0">
                <a:solidFill>
                  <a:schemeClr val="tx1"/>
                </a:solidFill>
              </a:rPr>
              <a:t>		&gt; Good boy, good girl orientation- </a:t>
            </a:r>
            <a:r>
              <a:rPr lang="en-US" dirty="0">
                <a:solidFill>
                  <a:schemeClr val="tx1"/>
                </a:solidFill>
              </a:rPr>
              <a:t>meeting the expectations of others.</a:t>
            </a:r>
            <a:endParaRPr lang="en-US" b="1" dirty="0">
              <a:solidFill>
                <a:schemeClr val="tx1"/>
              </a:solidFill>
            </a:endParaRPr>
          </a:p>
          <a:p>
            <a:pPr marL="742950" indent="-742950" algn="just"/>
            <a:r>
              <a:rPr lang="en-US" b="1" dirty="0">
                <a:solidFill>
                  <a:schemeClr val="tx1"/>
                </a:solidFill>
              </a:rPr>
              <a:t>		&gt; Law and order- </a:t>
            </a:r>
            <a:r>
              <a:rPr lang="en-US" dirty="0">
                <a:solidFill>
                  <a:schemeClr val="tx1"/>
                </a:solidFill>
              </a:rPr>
              <a:t>upholding laws to meet societal expectation</a:t>
            </a:r>
            <a:endParaRPr lang="en-US" b="1" dirty="0">
              <a:solidFill>
                <a:schemeClr val="tx1"/>
              </a:solidFill>
            </a:endParaRPr>
          </a:p>
          <a:p>
            <a:pPr marL="742950" indent="-742950" algn="just"/>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5730" y="385738"/>
            <a:ext cx="9215502" cy="6000792"/>
          </a:xfrm>
        </p:spPr>
        <p:txBody>
          <a:bodyPr/>
          <a:lstStyle/>
          <a:p>
            <a:pPr marL="742950" indent="-742950" algn="just"/>
            <a:r>
              <a:rPr lang="en-US" b="1" dirty="0">
                <a:solidFill>
                  <a:schemeClr val="tx1"/>
                </a:solidFill>
              </a:rPr>
              <a:t>3. Post conventional- </a:t>
            </a:r>
            <a:r>
              <a:rPr lang="en-US" dirty="0">
                <a:solidFill>
                  <a:schemeClr val="tx1"/>
                </a:solidFill>
              </a:rPr>
              <a:t>shared standards, rights, duties and principle</a:t>
            </a:r>
            <a:endParaRPr lang="en-US" b="1" dirty="0">
              <a:solidFill>
                <a:schemeClr val="tx1"/>
              </a:solidFill>
            </a:endParaRPr>
          </a:p>
          <a:p>
            <a:pPr marL="742950" indent="-742950" algn="just"/>
            <a:r>
              <a:rPr lang="en-US" b="1" dirty="0">
                <a:solidFill>
                  <a:schemeClr val="tx1"/>
                </a:solidFill>
              </a:rPr>
              <a:t>		&gt; Social contract-  </a:t>
            </a:r>
            <a:r>
              <a:rPr lang="en-US" dirty="0">
                <a:solidFill>
                  <a:schemeClr val="tx1"/>
                </a:solidFill>
              </a:rPr>
              <a:t>personal values to achieve social conscious</a:t>
            </a:r>
            <a:endParaRPr lang="en-US" b="1" dirty="0">
              <a:solidFill>
                <a:schemeClr val="tx1"/>
              </a:solidFill>
            </a:endParaRPr>
          </a:p>
          <a:p>
            <a:pPr marL="742950" indent="-742950" algn="just"/>
            <a:r>
              <a:rPr lang="en-US" b="1" dirty="0">
                <a:solidFill>
                  <a:schemeClr val="tx1"/>
                </a:solidFill>
              </a:rPr>
              <a:t>		&gt; Universal, Ethical  principle- </a:t>
            </a:r>
            <a:r>
              <a:rPr lang="en-US" dirty="0">
                <a:solidFill>
                  <a:schemeClr val="tx1"/>
                </a:solidFill>
              </a:rPr>
              <a:t>self selection of universal moral principles</a:t>
            </a:r>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2854" y="3814762"/>
            <a:ext cx="3571900"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429420"/>
          </a:xfrm>
        </p:spPr>
        <p:txBody>
          <a:bodyPr>
            <a:normAutofit/>
          </a:bodyPr>
          <a:lstStyle/>
          <a:p>
            <a:pPr algn="just">
              <a:buNone/>
            </a:pPr>
            <a:r>
              <a:rPr lang="en-PH" dirty="0"/>
              <a:t>Question: Ana comes to school on time because it is one of school’s rules and regulations. Besides, she does not like to disrupt their class by coming late. Which level of  Kohlberg’s morally does Ana belong?</a:t>
            </a:r>
          </a:p>
          <a:p>
            <a:pPr marL="742950" indent="-742950" algn="just">
              <a:buAutoNum type="alphaUcPeriod"/>
            </a:pPr>
            <a:r>
              <a:rPr lang="en-PH" dirty="0"/>
              <a:t>Universal</a:t>
            </a:r>
          </a:p>
          <a:p>
            <a:pPr marL="742950" indent="-742950" algn="just">
              <a:buAutoNum type="alphaUcPeriod"/>
            </a:pPr>
            <a:r>
              <a:rPr lang="en-PH" dirty="0"/>
              <a:t> Conventional</a:t>
            </a:r>
          </a:p>
          <a:p>
            <a:pPr marL="742950" indent="-742950" algn="just">
              <a:buAutoNum type="alphaUcPeriod"/>
            </a:pPr>
            <a:r>
              <a:rPr lang="en-PH" dirty="0"/>
              <a:t> Pre conventional</a:t>
            </a:r>
          </a:p>
          <a:p>
            <a:pPr marL="742950" indent="-742950" algn="just">
              <a:buAutoNum type="alphaUcPeriod"/>
            </a:pPr>
            <a:r>
              <a:rPr lang="en-PH" dirty="0"/>
              <a:t>Post conventional</a:t>
            </a:r>
          </a:p>
          <a:p>
            <a:pPr marL="742950" indent="-742950" algn="just">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4457704"/>
            <a:ext cx="442915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429420"/>
          </a:xfrm>
        </p:spPr>
        <p:txBody>
          <a:bodyPr>
            <a:normAutofit/>
          </a:bodyPr>
          <a:lstStyle/>
          <a:p>
            <a:pPr algn="just">
              <a:buNone/>
            </a:pPr>
            <a:r>
              <a:rPr lang="en-PH" dirty="0"/>
              <a:t>Question: While Grace was cleaning the room she found a wallet near the teacher’s table. Grace decided to give the wallet to the teacher. In Kohlberg’s theory, what stage did she exemplify?</a:t>
            </a:r>
          </a:p>
          <a:p>
            <a:pPr marL="742950" indent="-742950" algn="just">
              <a:buAutoNum type="alphaUcPeriod"/>
            </a:pPr>
            <a:r>
              <a:rPr lang="en-PH" dirty="0"/>
              <a:t>Law and order orientation</a:t>
            </a:r>
          </a:p>
          <a:p>
            <a:pPr marL="742950" indent="-742950" algn="just">
              <a:buAutoNum type="alphaUcPeriod"/>
            </a:pPr>
            <a:r>
              <a:rPr lang="en-PH" dirty="0"/>
              <a:t> Social contract </a:t>
            </a:r>
          </a:p>
          <a:p>
            <a:pPr marL="742950" indent="-742950" algn="just">
              <a:buAutoNum type="alphaUcPeriod"/>
            </a:pPr>
            <a:r>
              <a:rPr lang="en-PH" dirty="0"/>
              <a:t> Good boy-nice girl</a:t>
            </a:r>
          </a:p>
          <a:p>
            <a:pPr marL="742950" indent="-742950" algn="just">
              <a:buAutoNum type="alphaUcPeriod"/>
            </a:pPr>
            <a:r>
              <a:rPr lang="en-PH" dirty="0"/>
              <a:t> Universal Ethical principle</a:t>
            </a:r>
          </a:p>
          <a:p>
            <a:pPr marL="742950" indent="-742950" algn="just">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5672150"/>
            <a:ext cx="335758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429420"/>
          </a:xfrm>
        </p:spPr>
        <p:txBody>
          <a:bodyPr>
            <a:normAutofit lnSpcReduction="10000"/>
          </a:bodyPr>
          <a:lstStyle/>
          <a:p>
            <a:pPr algn="just">
              <a:buNone/>
            </a:pPr>
            <a:r>
              <a:rPr lang="en-PH" dirty="0"/>
              <a:t>Question: A twelfth –grade student asks a ninth- grade student in her English class to write a persuasive essay for her. The younger student says, “ No, that’s against school policy.” Which orientation of moral reasoning does the ninth-grade student exhibit, according to Kohlberg’s theory of moral development?</a:t>
            </a:r>
          </a:p>
          <a:p>
            <a:pPr marL="742950" indent="-742950" algn="just">
              <a:buAutoNum type="alphaUcPeriod"/>
            </a:pPr>
            <a:r>
              <a:rPr lang="en-PH" dirty="0"/>
              <a:t>Pre-conventional</a:t>
            </a:r>
          </a:p>
          <a:p>
            <a:pPr marL="742950" indent="-742950" algn="just">
              <a:buAutoNum type="alphaUcPeriod"/>
            </a:pPr>
            <a:r>
              <a:rPr lang="en-PH" dirty="0"/>
              <a:t> Post conventional</a:t>
            </a:r>
          </a:p>
          <a:p>
            <a:pPr marL="742950" indent="-742950" algn="just">
              <a:buAutoNum type="alphaUcPeriod"/>
            </a:pPr>
            <a:r>
              <a:rPr lang="en-PH" dirty="0"/>
              <a:t> Unconventional</a:t>
            </a:r>
          </a:p>
          <a:p>
            <a:pPr marL="742950" indent="-742950" algn="just">
              <a:buAutoNum type="alphaUcPeriod"/>
            </a:pPr>
            <a:r>
              <a:rPr lang="en-PH" dirty="0"/>
              <a:t> Conventional</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1416" y="171424"/>
            <a:ext cx="8549640" cy="785818"/>
          </a:xfrm>
        </p:spPr>
        <p:txBody>
          <a:bodyPr>
            <a:noAutofit/>
          </a:bodyPr>
          <a:lstStyle/>
          <a:p>
            <a:pPr algn="l"/>
            <a:r>
              <a:rPr lang="en-US" sz="4000" dirty="0">
                <a:latin typeface="Bernard MT Condensed" pitchFamily="18" charset="0"/>
              </a:rPr>
              <a:t>C. Psychoanalytical ( Sigmund Freud)</a:t>
            </a:r>
          </a:p>
        </p:txBody>
      </p:sp>
      <p:sp>
        <p:nvSpPr>
          <p:cNvPr id="3" name="Subtitle 2"/>
          <p:cNvSpPr>
            <a:spLocks noGrp="1"/>
          </p:cNvSpPr>
          <p:nvPr>
            <p:ph type="subTitle" idx="1"/>
          </p:nvPr>
        </p:nvSpPr>
        <p:spPr>
          <a:xfrm>
            <a:off x="242854" y="957242"/>
            <a:ext cx="9501254" cy="5643602"/>
          </a:xfrm>
        </p:spPr>
        <p:txBody>
          <a:bodyPr/>
          <a:lstStyle/>
          <a:p>
            <a:pPr marL="742950" indent="-742950" algn="just"/>
            <a:endParaRPr lang="en-US" dirty="0">
              <a:solidFill>
                <a:schemeClr val="tx1"/>
              </a:solidFill>
            </a:endParaRPr>
          </a:p>
        </p:txBody>
      </p:sp>
      <p:pic>
        <p:nvPicPr>
          <p:cNvPr id="1026" name="Picture 2" descr="C:\Users\lizel\Documents\Desktop\psychoanalytic-theory.jpg"/>
          <p:cNvPicPr>
            <a:picLocks noChangeAspect="1" noChangeArrowheads="1"/>
          </p:cNvPicPr>
          <p:nvPr/>
        </p:nvPicPr>
        <p:blipFill>
          <a:blip r:embed="rId2"/>
          <a:srcRect/>
          <a:stretch>
            <a:fillRect/>
          </a:stretch>
        </p:blipFill>
        <p:spPr bwMode="auto">
          <a:xfrm>
            <a:off x="242854" y="957242"/>
            <a:ext cx="9501254" cy="5643602"/>
          </a:xfrm>
          <a:prstGeom prst="rect">
            <a:avLst/>
          </a:prstGeom>
          <a:noFill/>
        </p:spPr>
      </p:pic>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ppt_x"/>
                                          </p:val>
                                        </p:tav>
                                        <p:tav tm="100000">
                                          <p:val>
                                            <p:strVal val="#ppt_x"/>
                                          </p:val>
                                        </p:tav>
                                      </p:tavLst>
                                    </p:anim>
                                    <p:anim calcmode="lin" valueType="num">
                                      <p:cBhvr additive="base">
                                        <p:cTn id="1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386134"/>
            <a:ext cx="9358378"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572692" cy="6215106"/>
          </a:xfrm>
        </p:spPr>
        <p:txBody>
          <a:bodyPr/>
          <a:lstStyle/>
          <a:p>
            <a:pPr algn="just">
              <a:buNone/>
            </a:pPr>
            <a:r>
              <a:rPr lang="en-PH" dirty="0"/>
              <a:t>Question: According to Freud, what is the function of the “ego”</a:t>
            </a:r>
          </a:p>
          <a:p>
            <a:pPr marL="742950" indent="-742950" algn="just">
              <a:buAutoNum type="alphaUcPeriod"/>
            </a:pPr>
            <a:r>
              <a:rPr lang="en-PH" dirty="0"/>
              <a:t>To boost a person’s self confidence.</a:t>
            </a:r>
          </a:p>
          <a:p>
            <a:pPr marL="742950" indent="-742950" algn="just">
              <a:buAutoNum type="alphaUcPeriod"/>
            </a:pPr>
            <a:r>
              <a:rPr lang="en-PH" dirty="0"/>
              <a:t> To push for the fulfilment of one’s self-interest</a:t>
            </a:r>
          </a:p>
          <a:p>
            <a:pPr marL="742950" indent="-742950" algn="just">
              <a:buAutoNum type="alphaUcPeriod"/>
            </a:pPr>
            <a:r>
              <a:rPr lang="en-PH" dirty="0"/>
              <a:t> To mediate between impulsive drives and moral conscience.</a:t>
            </a:r>
          </a:p>
          <a:p>
            <a:pPr marL="742950" indent="-742950" algn="just">
              <a:buAutoNum type="alphaUcPeriod"/>
            </a:pPr>
            <a:r>
              <a:rPr lang="en-PH" dirty="0"/>
              <a:t> To represent instinctive desires and impulses</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457572"/>
            <a:ext cx="9358378" cy="1143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572692" cy="6215106"/>
          </a:xfrm>
        </p:spPr>
        <p:txBody>
          <a:bodyPr/>
          <a:lstStyle/>
          <a:p>
            <a:pPr algn="just">
              <a:buNone/>
            </a:pPr>
            <a:r>
              <a:rPr lang="en-PH" dirty="0"/>
              <a:t>Question: What is the role of the “super ego”?</a:t>
            </a:r>
          </a:p>
          <a:p>
            <a:pPr marL="742950" indent="-742950" algn="just">
              <a:buAutoNum type="alphaUcPeriod"/>
            </a:pPr>
            <a:r>
              <a:rPr lang="en-PH" dirty="0"/>
              <a:t>To represent instinctive desires and impulses</a:t>
            </a:r>
          </a:p>
          <a:p>
            <a:pPr marL="742950" indent="-742950" algn="just">
              <a:buAutoNum type="alphaUcPeriod"/>
            </a:pPr>
            <a:r>
              <a:rPr lang="en-PH" dirty="0"/>
              <a:t> To inflate a person’s ego and provide a self confidence boost.</a:t>
            </a:r>
          </a:p>
          <a:p>
            <a:pPr marL="742950" indent="-742950" algn="just">
              <a:buAutoNum type="alphaUcPeriod"/>
            </a:pPr>
            <a:r>
              <a:rPr lang="en-PH" dirty="0"/>
              <a:t> To reveal a person’s repressed desires</a:t>
            </a:r>
          </a:p>
          <a:p>
            <a:pPr marL="742950" indent="-742950" algn="just">
              <a:buAutoNum type="alphaUcPeriod"/>
            </a:pPr>
            <a:r>
              <a:rPr lang="en-PH" dirty="0"/>
              <a:t> To provide a conscience and awareness of others through feelings such as guilt.</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3886200"/>
            <a:ext cx="9358378" cy="1214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572692" cy="6215106"/>
          </a:xfrm>
        </p:spPr>
        <p:txBody>
          <a:bodyPr/>
          <a:lstStyle/>
          <a:p>
            <a:pPr algn="just">
              <a:buNone/>
            </a:pPr>
            <a:r>
              <a:rPr lang="en-PH" dirty="0" err="1"/>
              <a:t>Question:What</a:t>
            </a:r>
            <a:r>
              <a:rPr lang="en-PH" dirty="0"/>
              <a:t> did Freud consider to be the role of the “id”?</a:t>
            </a:r>
          </a:p>
          <a:p>
            <a:pPr marL="742950" indent="-742950" algn="just">
              <a:buAutoNum type="alphaUcPeriod"/>
            </a:pPr>
            <a:r>
              <a:rPr lang="en-PH" dirty="0"/>
              <a:t>To be aware of the needs and feelings of those around us.</a:t>
            </a:r>
          </a:p>
          <a:p>
            <a:pPr marL="742950" indent="-742950" algn="just">
              <a:buAutoNum type="alphaUcPeriod"/>
            </a:pPr>
            <a:r>
              <a:rPr lang="en-PH" dirty="0"/>
              <a:t> To moderate our impulses, acting as the moral conscience of the mind</a:t>
            </a:r>
          </a:p>
          <a:p>
            <a:pPr marL="742950" indent="-742950" algn="just">
              <a:buAutoNum type="alphaUcPeriod"/>
            </a:pPr>
            <a:r>
              <a:rPr lang="en-PH" dirty="0"/>
              <a:t> To represent innate, instinctive desires and impulses</a:t>
            </a:r>
          </a:p>
          <a:p>
            <a:pPr marL="742950" indent="-742950" algn="just">
              <a:buAutoNum type="alphaUcPeriod"/>
            </a:pPr>
            <a:r>
              <a:rPr lang="en-PH" dirty="0"/>
              <a:t> To mediate between impulsive drives and moral conscience.</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2920" y="99986"/>
            <a:ext cx="8418224" cy="642942"/>
          </a:xfrm>
        </p:spPr>
        <p:txBody>
          <a:bodyPr>
            <a:noAutofit/>
          </a:bodyPr>
          <a:lstStyle/>
          <a:p>
            <a:r>
              <a:rPr lang="en-US" sz="4000" dirty="0">
                <a:latin typeface="Bernard MT Condensed" pitchFamily="18" charset="0"/>
              </a:rPr>
              <a:t>Psychosexual (Freud)</a:t>
            </a:r>
          </a:p>
        </p:txBody>
      </p:sp>
      <p:sp>
        <p:nvSpPr>
          <p:cNvPr id="3" name="Subtitle 2"/>
          <p:cNvSpPr>
            <a:spLocks noGrp="1"/>
          </p:cNvSpPr>
          <p:nvPr>
            <p:ph type="subTitle" idx="1"/>
          </p:nvPr>
        </p:nvSpPr>
        <p:spPr>
          <a:xfrm>
            <a:off x="314292" y="671490"/>
            <a:ext cx="9501254" cy="6072230"/>
          </a:xfrm>
        </p:spPr>
        <p:txBody>
          <a:bodyPr>
            <a:normAutofit lnSpcReduction="10000"/>
          </a:bodyPr>
          <a:lstStyle/>
          <a:p>
            <a:pPr marL="742950" indent="-742950"/>
            <a:r>
              <a:rPr lang="en-US" b="1" dirty="0">
                <a:solidFill>
                  <a:schemeClr val="tx1"/>
                </a:solidFill>
              </a:rPr>
              <a:t>Stages of Psychosexual Theory</a:t>
            </a:r>
          </a:p>
          <a:p>
            <a:pPr marL="742950" indent="-742950" algn="l">
              <a:buAutoNum type="arabicPeriod"/>
            </a:pPr>
            <a:r>
              <a:rPr lang="en-US" b="1" dirty="0">
                <a:solidFill>
                  <a:schemeClr val="tx1"/>
                </a:solidFill>
              </a:rPr>
              <a:t>Oral  (birth to 18 </a:t>
            </a:r>
            <a:r>
              <a:rPr lang="en-US" b="1" dirty="0" err="1">
                <a:solidFill>
                  <a:schemeClr val="tx1"/>
                </a:solidFill>
              </a:rPr>
              <a:t>mons</a:t>
            </a:r>
            <a:r>
              <a:rPr lang="en-US" b="1" dirty="0">
                <a:solidFill>
                  <a:schemeClr val="tx1"/>
                </a:solidFill>
              </a:rPr>
              <a:t>.)– </a:t>
            </a:r>
            <a:r>
              <a:rPr lang="en-US" dirty="0">
                <a:solidFill>
                  <a:schemeClr val="tx1"/>
                </a:solidFill>
              </a:rPr>
              <a:t>infant achieves gratification through oral activities such as feeding, thumb sucking and babbling</a:t>
            </a:r>
          </a:p>
          <a:p>
            <a:pPr marL="742950" indent="-742950" algn="l"/>
            <a:r>
              <a:rPr lang="en-US" b="1" dirty="0">
                <a:solidFill>
                  <a:schemeClr val="tx1"/>
                </a:solidFill>
              </a:rPr>
              <a:t>			erogenous zone: </a:t>
            </a:r>
            <a:r>
              <a:rPr lang="en-US" dirty="0">
                <a:solidFill>
                  <a:schemeClr val="tx1"/>
                </a:solidFill>
              </a:rPr>
              <a:t>mouth</a:t>
            </a:r>
          </a:p>
          <a:p>
            <a:pPr marL="742950" indent="-742950" algn="l"/>
            <a:r>
              <a:rPr lang="en-US" b="1" dirty="0">
                <a:solidFill>
                  <a:schemeClr val="tx1"/>
                </a:solidFill>
              </a:rPr>
              <a:t>		Fixation</a:t>
            </a:r>
          </a:p>
          <a:p>
            <a:pPr marL="742950" indent="-742950" algn="l">
              <a:buFont typeface="Arial" pitchFamily="34" charset="0"/>
              <a:buChar char="•"/>
            </a:pPr>
            <a:r>
              <a:rPr lang="en-US" b="1" dirty="0">
                <a:solidFill>
                  <a:schemeClr val="tx1"/>
                </a:solidFill>
              </a:rPr>
              <a:t> Oral receptive- </a:t>
            </a:r>
            <a:r>
              <a:rPr lang="en-US" dirty="0">
                <a:solidFill>
                  <a:schemeClr val="tx1"/>
                </a:solidFill>
              </a:rPr>
              <a:t>preoccupied with eating/drinking</a:t>
            </a:r>
            <a:endParaRPr lang="en-US" b="1" dirty="0">
              <a:solidFill>
                <a:schemeClr val="tx1"/>
              </a:solidFill>
            </a:endParaRPr>
          </a:p>
          <a:p>
            <a:pPr marL="742950" indent="-742950" algn="l">
              <a:buFont typeface="Arial" pitchFamily="34" charset="0"/>
              <a:buChar char="•"/>
            </a:pPr>
            <a:r>
              <a:rPr lang="en-US" b="1" dirty="0">
                <a:solidFill>
                  <a:schemeClr val="tx1"/>
                </a:solidFill>
              </a:rPr>
              <a:t> Oral aggressive- </a:t>
            </a:r>
            <a:r>
              <a:rPr lang="en-US" dirty="0">
                <a:solidFill>
                  <a:schemeClr val="tx1"/>
                </a:solidFill>
              </a:rPr>
              <a:t>hostile and verbally abusive to others</a:t>
            </a:r>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314300"/>
            <a:ext cx="9358378" cy="6215106"/>
          </a:xfrm>
        </p:spPr>
        <p:txBody>
          <a:bodyPr/>
          <a:lstStyle/>
          <a:p>
            <a:pPr marL="742950" indent="-742950" algn="just">
              <a:buAutoNum type="arabicPeriod" startAt="2"/>
            </a:pPr>
            <a:r>
              <a:rPr lang="en-US" b="1" dirty="0">
                <a:solidFill>
                  <a:schemeClr val="tx1"/>
                </a:solidFill>
              </a:rPr>
              <a:t>Anal ( 18 m0ns. To 3 yrs.) - </a:t>
            </a:r>
            <a:r>
              <a:rPr lang="en-US" dirty="0">
                <a:solidFill>
                  <a:schemeClr val="tx1"/>
                </a:solidFill>
              </a:rPr>
              <a:t>the child learns to respond to some  of the demands of society ( such as bowel and bladder control)</a:t>
            </a:r>
          </a:p>
          <a:p>
            <a:pPr marL="742950" indent="-742950" algn="just"/>
            <a:r>
              <a:rPr lang="en-US" b="1" dirty="0">
                <a:solidFill>
                  <a:schemeClr val="tx1"/>
                </a:solidFill>
              </a:rPr>
              <a:t>			erogenous zone: </a:t>
            </a:r>
            <a:r>
              <a:rPr lang="en-US" dirty="0">
                <a:solidFill>
                  <a:schemeClr val="tx1"/>
                </a:solidFill>
              </a:rPr>
              <a:t>anus</a:t>
            </a:r>
          </a:p>
          <a:p>
            <a:pPr marL="742950" indent="-742950" algn="just"/>
            <a:r>
              <a:rPr lang="en-US" b="1" dirty="0">
                <a:solidFill>
                  <a:schemeClr val="tx1"/>
                </a:solidFill>
              </a:rPr>
              <a:t>	Fixation</a:t>
            </a:r>
          </a:p>
          <a:p>
            <a:pPr marL="742950" indent="-742950" algn="just">
              <a:buFont typeface="Arial" pitchFamily="34" charset="0"/>
              <a:buChar char="•"/>
            </a:pPr>
            <a:r>
              <a:rPr lang="en-US" b="1" dirty="0">
                <a:solidFill>
                  <a:schemeClr val="tx1"/>
                </a:solidFill>
              </a:rPr>
              <a:t> Anal retentive- </a:t>
            </a:r>
            <a:r>
              <a:rPr lang="en-US" dirty="0">
                <a:solidFill>
                  <a:schemeClr val="tx1"/>
                </a:solidFill>
              </a:rPr>
              <a:t>obsessively organized, or excessively neat</a:t>
            </a:r>
            <a:endParaRPr lang="en-US" b="1" dirty="0">
              <a:solidFill>
                <a:schemeClr val="tx1"/>
              </a:solidFill>
            </a:endParaRPr>
          </a:p>
          <a:p>
            <a:pPr marL="742950" indent="-742950" algn="just">
              <a:buFont typeface="Arial" pitchFamily="34" charset="0"/>
              <a:buChar char="•"/>
            </a:pPr>
            <a:r>
              <a:rPr lang="en-US" b="1" dirty="0">
                <a:solidFill>
                  <a:schemeClr val="tx1"/>
                </a:solidFill>
              </a:rPr>
              <a:t> Anal expulsive- </a:t>
            </a:r>
            <a:r>
              <a:rPr lang="en-US" dirty="0">
                <a:solidFill>
                  <a:schemeClr val="tx1"/>
                </a:solidFill>
              </a:rPr>
              <a:t>reckless, careless, defiant, disorganized</a:t>
            </a:r>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314300"/>
            <a:ext cx="9358378" cy="6215106"/>
          </a:xfrm>
        </p:spPr>
        <p:txBody>
          <a:bodyPr/>
          <a:lstStyle/>
          <a:p>
            <a:pPr marL="742950" indent="-742950" algn="just"/>
            <a:r>
              <a:rPr lang="en-US" b="1" dirty="0">
                <a:solidFill>
                  <a:schemeClr val="tx1"/>
                </a:solidFill>
              </a:rPr>
              <a:t>3. Phallic ( 3 to 6 yrs.)- </a:t>
            </a:r>
            <a:r>
              <a:rPr lang="en-US" dirty="0">
                <a:solidFill>
                  <a:schemeClr val="tx1"/>
                </a:solidFill>
              </a:rPr>
              <a:t>the child learn to realize the differences between males and females and becomes aware of sexuality.</a:t>
            </a:r>
          </a:p>
          <a:p>
            <a:pPr marL="742950" indent="-742950" algn="just"/>
            <a:r>
              <a:rPr lang="en-US" b="1" dirty="0">
                <a:solidFill>
                  <a:schemeClr val="tx1"/>
                </a:solidFill>
              </a:rPr>
              <a:t>		&gt; Oedipus complex- </a:t>
            </a:r>
            <a:r>
              <a:rPr lang="en-US" dirty="0">
                <a:solidFill>
                  <a:schemeClr val="tx1"/>
                </a:solidFill>
              </a:rPr>
              <a:t>male children sexually desire their mothers- possessive love</a:t>
            </a:r>
          </a:p>
          <a:p>
            <a:pPr marL="742950" indent="-742950" algn="just"/>
            <a:r>
              <a:rPr lang="en-US" b="1" dirty="0">
                <a:solidFill>
                  <a:schemeClr val="tx1"/>
                </a:solidFill>
              </a:rPr>
              <a:t>		&gt; Electra complex-  </a:t>
            </a:r>
            <a:r>
              <a:rPr lang="en-US" dirty="0">
                <a:solidFill>
                  <a:schemeClr val="tx1"/>
                </a:solidFill>
              </a:rPr>
              <a:t>female children sexually desire their father</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314300"/>
            <a:ext cx="9358378" cy="6215106"/>
          </a:xfrm>
        </p:spPr>
        <p:txBody>
          <a:bodyPr/>
          <a:lstStyle/>
          <a:p>
            <a:pPr marL="742950" indent="-742950" algn="just"/>
            <a:r>
              <a:rPr lang="en-US" b="1" dirty="0">
                <a:solidFill>
                  <a:schemeClr val="tx1"/>
                </a:solidFill>
              </a:rPr>
              <a:t>4. Latency (6 to 12 yrs.)- </a:t>
            </a:r>
            <a:r>
              <a:rPr lang="en-US" dirty="0">
                <a:solidFill>
                  <a:schemeClr val="tx1"/>
                </a:solidFill>
              </a:rPr>
              <a:t>the child continues his or her development but sexual urges are relatively quiet.</a:t>
            </a:r>
          </a:p>
          <a:p>
            <a:pPr marL="742950" indent="-742950" algn="just"/>
            <a:endParaRPr lang="en-US" dirty="0">
              <a:solidFill>
                <a:schemeClr val="tx1"/>
              </a:solidFill>
            </a:endParaRPr>
          </a:p>
          <a:p>
            <a:pPr marL="742950" indent="-742950" algn="just"/>
            <a:r>
              <a:rPr lang="en-US" b="1" dirty="0">
                <a:solidFill>
                  <a:schemeClr val="tx1"/>
                </a:solidFill>
              </a:rPr>
              <a:t>5. Genital ( 13 onwards)-</a:t>
            </a:r>
            <a:r>
              <a:rPr lang="en-US" dirty="0">
                <a:solidFill>
                  <a:schemeClr val="tx1"/>
                </a:solidFill>
              </a:rPr>
              <a:t> the growing adolescent shakes off old dependencies and learns to deal maturely with the opposite sex.</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600316"/>
            <a:ext cx="900118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357982"/>
          </a:xfrm>
        </p:spPr>
        <p:txBody>
          <a:bodyPr/>
          <a:lstStyle/>
          <a:p>
            <a:pPr algn="just">
              <a:buNone/>
            </a:pPr>
            <a:r>
              <a:rPr lang="en-PH" dirty="0"/>
              <a:t>Question: According to Freud, someone who compulsively bites their nails might have experienced which of the following as a young  child?</a:t>
            </a:r>
          </a:p>
          <a:p>
            <a:pPr marL="742950" indent="-742950" algn="just">
              <a:buAutoNum type="alphaUcPeriod"/>
            </a:pPr>
            <a:r>
              <a:rPr lang="en-PH" dirty="0"/>
              <a:t>An overly restrictive breastfeeding schedule</a:t>
            </a:r>
          </a:p>
          <a:p>
            <a:pPr marL="742950" indent="-742950" algn="just">
              <a:buAutoNum type="alphaUcPeriod"/>
            </a:pPr>
            <a:r>
              <a:rPr lang="en-PH" dirty="0"/>
              <a:t> Forced toilet training at a developmentally inappropriate age</a:t>
            </a:r>
          </a:p>
          <a:p>
            <a:pPr marL="742950" indent="-742950" algn="just">
              <a:buAutoNum type="alphaUcPeriod"/>
            </a:pPr>
            <a:r>
              <a:rPr lang="en-PH" dirty="0"/>
              <a:t> Poor bonding between mother and child</a:t>
            </a:r>
          </a:p>
          <a:p>
            <a:pPr marL="742950" indent="-742950" algn="just">
              <a:buAutoNum type="alphaUcPeriod"/>
            </a:pPr>
            <a:r>
              <a:rPr lang="en-PH" dirty="0"/>
              <a:t> </a:t>
            </a:r>
            <a:r>
              <a:rPr lang="en-PH" dirty="0" err="1"/>
              <a:t>Unstimulating</a:t>
            </a:r>
            <a:r>
              <a:rPr lang="en-PH" dirty="0"/>
              <a:t> activities during key phases of development</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4029076"/>
            <a:ext cx="292895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314300"/>
            <a:ext cx="9052560" cy="5129425"/>
          </a:xfrm>
        </p:spPr>
        <p:txBody>
          <a:bodyPr/>
          <a:lstStyle/>
          <a:p>
            <a:pPr>
              <a:buNone/>
            </a:pPr>
            <a:r>
              <a:rPr lang="en-PH" dirty="0"/>
              <a:t>Question: Around this age the child begins to toilet train which brings about the child’s fascination in the erogenous zone of the anus.</a:t>
            </a:r>
          </a:p>
          <a:p>
            <a:pPr marL="742950" indent="-742950">
              <a:buAutoNum type="alphaUcPeriod"/>
            </a:pPr>
            <a:r>
              <a:rPr lang="en-PH" dirty="0"/>
              <a:t>Latency stage</a:t>
            </a:r>
          </a:p>
          <a:p>
            <a:pPr marL="742950" indent="-742950">
              <a:buAutoNum type="alphaUcPeriod"/>
            </a:pPr>
            <a:r>
              <a:rPr lang="en-PH" dirty="0"/>
              <a:t> Genital stage</a:t>
            </a:r>
          </a:p>
          <a:p>
            <a:pPr marL="742950" indent="-742950">
              <a:buAutoNum type="alphaUcPeriod"/>
            </a:pPr>
            <a:r>
              <a:rPr lang="en-PH" dirty="0"/>
              <a:t> Anal stage</a:t>
            </a:r>
          </a:p>
          <a:p>
            <a:pPr marL="742950" indent="-742950" algn="just">
              <a:buAutoNum type="alphaUcPeriod"/>
            </a:pPr>
            <a:r>
              <a:rPr lang="en-PH" dirty="0"/>
              <a:t> Phallic stage</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600316"/>
            <a:ext cx="6286544"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242862"/>
            <a:ext cx="9052560" cy="5129425"/>
          </a:xfrm>
        </p:spPr>
        <p:txBody>
          <a:bodyPr/>
          <a:lstStyle/>
          <a:p>
            <a:pPr algn="just">
              <a:buNone/>
            </a:pPr>
            <a:r>
              <a:rPr lang="en-PH" dirty="0"/>
              <a:t>Question: Teacher  Joy noticed that one of her students is fund of biting the tip of the </a:t>
            </a:r>
            <a:r>
              <a:rPr lang="en-PH" dirty="0" err="1"/>
              <a:t>ballpen</a:t>
            </a:r>
            <a:r>
              <a:rPr lang="en-PH" dirty="0"/>
              <a:t>. Which theory will best explain her student’s </a:t>
            </a:r>
            <a:r>
              <a:rPr lang="en-PH" dirty="0" err="1"/>
              <a:t>behavior</a:t>
            </a:r>
            <a:r>
              <a:rPr lang="en-PH" dirty="0"/>
              <a:t>?</a:t>
            </a:r>
          </a:p>
          <a:p>
            <a:pPr marL="742950" indent="-742950" algn="just">
              <a:buAutoNum type="alphaUcPeriod"/>
            </a:pPr>
            <a:r>
              <a:rPr lang="en-PH" dirty="0"/>
              <a:t>Freud’s Psychosexual Theory</a:t>
            </a:r>
          </a:p>
          <a:p>
            <a:pPr marL="742950" indent="-742950" algn="just">
              <a:buAutoNum type="alphaUcPeriod"/>
            </a:pPr>
            <a:r>
              <a:rPr lang="en-PH" dirty="0"/>
              <a:t> Piaget’s Cognitive Theory</a:t>
            </a:r>
          </a:p>
          <a:p>
            <a:pPr marL="742950" indent="-742950" algn="just">
              <a:buAutoNum type="alphaUcPeriod"/>
            </a:pPr>
            <a:r>
              <a:rPr lang="en-PH" dirty="0"/>
              <a:t> Pavlov’s </a:t>
            </a:r>
            <a:r>
              <a:rPr lang="en-PH" dirty="0" err="1"/>
              <a:t>Classsical</a:t>
            </a:r>
            <a:r>
              <a:rPr lang="en-PH" dirty="0"/>
              <a:t> Conditioning</a:t>
            </a:r>
          </a:p>
          <a:p>
            <a:pPr marL="742950" indent="-742950" algn="just">
              <a:buAutoNum type="alphaUcPeriod"/>
            </a:pPr>
            <a:r>
              <a:rPr lang="en-PH" dirty="0"/>
              <a:t> Skinner’s Operant Conditioning</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4171952"/>
            <a:ext cx="9072626"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242862"/>
            <a:ext cx="9052560" cy="5129425"/>
          </a:xfrm>
        </p:spPr>
        <p:txBody>
          <a:bodyPr>
            <a:normAutofit lnSpcReduction="10000"/>
          </a:bodyPr>
          <a:lstStyle/>
          <a:p>
            <a:pPr algn="just">
              <a:buNone/>
            </a:pPr>
            <a:r>
              <a:rPr lang="en-PH" dirty="0"/>
              <a:t>Question: Latency stage is considered as the “calm” stage of psychosexual  development. Which explains this condition?</a:t>
            </a:r>
          </a:p>
          <a:p>
            <a:pPr marL="742950" indent="-742950" algn="just">
              <a:buAutoNum type="alphaUcPeriod"/>
            </a:pPr>
            <a:r>
              <a:rPr lang="en-PH" dirty="0"/>
              <a:t>Children have less energy on this stage</a:t>
            </a:r>
          </a:p>
          <a:p>
            <a:pPr marL="742950" indent="-742950" algn="just">
              <a:buAutoNum type="alphaUcPeriod"/>
            </a:pPr>
            <a:r>
              <a:rPr lang="en-PH" dirty="0"/>
              <a:t> Children are not interested about their sex organs</a:t>
            </a:r>
          </a:p>
          <a:p>
            <a:pPr marL="742950" indent="-742950" algn="just">
              <a:buAutoNum type="alphaUcPeriod"/>
            </a:pPr>
            <a:r>
              <a:rPr lang="en-PH" dirty="0"/>
              <a:t> the libido is blocked temporarily</a:t>
            </a:r>
          </a:p>
          <a:p>
            <a:pPr marL="742950" indent="-742950" algn="just">
              <a:buAutoNum type="alphaUcPeriod"/>
            </a:pPr>
            <a:r>
              <a:rPr lang="en-PH" dirty="0"/>
              <a:t> Sexual  energy is diverted to school and peer activities</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4029076"/>
            <a:ext cx="9144064"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052560" cy="6000792"/>
          </a:xfrm>
        </p:spPr>
        <p:txBody>
          <a:bodyPr>
            <a:normAutofit/>
          </a:bodyPr>
          <a:lstStyle/>
          <a:p>
            <a:pPr algn="just">
              <a:buNone/>
            </a:pPr>
            <a:r>
              <a:rPr lang="en-PH" dirty="0"/>
              <a:t>Question:  Which will probably happen if a child failed to resolve the crisis of the anal stage?</a:t>
            </a:r>
          </a:p>
          <a:p>
            <a:pPr marL="742950" indent="-742950" algn="just">
              <a:buAutoNum type="alphaUcPeriod"/>
            </a:pPr>
            <a:r>
              <a:rPr lang="en-PH" dirty="0"/>
              <a:t>The child may become sexually promiscuous</a:t>
            </a:r>
          </a:p>
          <a:p>
            <a:pPr marL="742950" indent="-742950" algn="just">
              <a:buAutoNum type="alphaUcPeriod"/>
            </a:pPr>
            <a:r>
              <a:rPr lang="en-PH" dirty="0"/>
              <a:t>  The child may have problems with trust</a:t>
            </a:r>
          </a:p>
          <a:p>
            <a:pPr marL="742950" indent="-742950" algn="just">
              <a:buAutoNum type="alphaUcPeriod"/>
            </a:pPr>
            <a:r>
              <a:rPr lang="en-PH" dirty="0"/>
              <a:t> The child may become obsessed  with cleanliness</a:t>
            </a:r>
          </a:p>
          <a:p>
            <a:pPr marL="742950" indent="-742950" algn="just">
              <a:buAutoNum type="alphaUcPeriod"/>
            </a:pPr>
            <a:r>
              <a:rPr lang="en-PH" dirty="0"/>
              <a:t>The child may become smoker </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671754"/>
            <a:ext cx="3357586"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242862"/>
            <a:ext cx="9052560" cy="5129425"/>
          </a:xfrm>
        </p:spPr>
        <p:txBody>
          <a:bodyPr/>
          <a:lstStyle/>
          <a:p>
            <a:pPr algn="just">
              <a:buNone/>
            </a:pPr>
            <a:r>
              <a:rPr lang="en-PH" dirty="0"/>
              <a:t>Question:  Mark, who is 5- year old, is fund playing with his penis when he urinates. In which stage of Freud’s theory can Mark be considered?</a:t>
            </a:r>
          </a:p>
          <a:p>
            <a:pPr marL="742950" indent="-742950" algn="just">
              <a:buAutoNum type="alphaUcPeriod"/>
            </a:pPr>
            <a:r>
              <a:rPr lang="en-PH" dirty="0"/>
              <a:t>Phallic</a:t>
            </a:r>
          </a:p>
          <a:p>
            <a:pPr marL="742950" indent="-742950" algn="just">
              <a:buAutoNum type="alphaUcPeriod"/>
            </a:pPr>
            <a:r>
              <a:rPr lang="en-PH" dirty="0"/>
              <a:t> Genital</a:t>
            </a:r>
          </a:p>
          <a:p>
            <a:pPr marL="742950" indent="-742950" algn="just">
              <a:buAutoNum type="alphaUcPeriod"/>
            </a:pPr>
            <a:r>
              <a:rPr lang="en-PH" dirty="0"/>
              <a:t> Anal</a:t>
            </a:r>
          </a:p>
          <a:p>
            <a:pPr marL="742950" indent="-742950" algn="just">
              <a:buAutoNum type="alphaUcPeriod"/>
            </a:pPr>
            <a:r>
              <a:rPr lang="en-PH" dirty="0"/>
              <a:t> Latency</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671754"/>
            <a:ext cx="3357586"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242862"/>
            <a:ext cx="9052560" cy="5129425"/>
          </a:xfrm>
        </p:spPr>
        <p:txBody>
          <a:bodyPr/>
          <a:lstStyle/>
          <a:p>
            <a:pPr algn="just">
              <a:buNone/>
            </a:pPr>
            <a:r>
              <a:rPr lang="en-PH" dirty="0"/>
              <a:t>Question: A fixation in oral stage of development manifested by an obsession with stimulating the mouth.</a:t>
            </a:r>
          </a:p>
          <a:p>
            <a:pPr marL="742950" indent="-742950" algn="just">
              <a:buAutoNum type="alphaUcPeriod"/>
            </a:pPr>
            <a:r>
              <a:rPr lang="en-PH" dirty="0"/>
              <a:t>Mouth fixation</a:t>
            </a:r>
          </a:p>
          <a:p>
            <a:pPr marL="742950" indent="-742950" algn="just">
              <a:buAutoNum type="alphaUcPeriod"/>
            </a:pPr>
            <a:r>
              <a:rPr lang="en-PH" dirty="0"/>
              <a:t> Oral fixation</a:t>
            </a:r>
          </a:p>
          <a:p>
            <a:pPr marL="742950" indent="-742950" algn="just">
              <a:buAutoNum type="alphaUcPeriod"/>
            </a:pPr>
            <a:r>
              <a:rPr lang="en-PH" dirty="0"/>
              <a:t> Anal fixation</a:t>
            </a:r>
          </a:p>
          <a:p>
            <a:pPr marL="742950" indent="-742950" algn="just">
              <a:buAutoNum type="alphaUcPeriod"/>
            </a:pPr>
            <a:r>
              <a:rPr lang="en-PH" dirty="0"/>
              <a:t> Anal expulsive</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5730" y="2100250"/>
            <a:ext cx="314327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Title 1"/>
          <p:cNvSpPr>
            <a:spLocks noGrp="1"/>
          </p:cNvSpPr>
          <p:nvPr>
            <p:ph idx="1"/>
          </p:nvPr>
        </p:nvSpPr>
        <p:spPr>
          <a:xfrm>
            <a:off x="314325" y="242888"/>
            <a:ext cx="9429750" cy="6357937"/>
          </a:xfrm>
        </p:spPr>
        <p:txBody>
          <a:bodyPr/>
          <a:lstStyle/>
          <a:p>
            <a:pPr>
              <a:buNone/>
            </a:pPr>
            <a:r>
              <a:rPr lang="en-PH" dirty="0"/>
              <a:t>Question: Psychosexual development that occurs between  the ages of 3 and 6. the source of pleasure at this stage is the genitals.</a:t>
            </a:r>
          </a:p>
          <a:p>
            <a:pPr marL="742950" indent="-742950">
              <a:buAutoNum type="alphaUcPeriod"/>
            </a:pPr>
            <a:r>
              <a:rPr lang="en-PH" dirty="0"/>
              <a:t>Phallic stage</a:t>
            </a:r>
          </a:p>
          <a:p>
            <a:pPr marL="742950" indent="-742950">
              <a:buAutoNum type="alphaUcPeriod"/>
            </a:pPr>
            <a:r>
              <a:rPr lang="en-PH" dirty="0"/>
              <a:t> Genital stage</a:t>
            </a:r>
          </a:p>
          <a:p>
            <a:pPr marL="742950" indent="-742950">
              <a:buAutoNum type="alphaUcPeriod"/>
            </a:pPr>
            <a:r>
              <a:rPr lang="en-PH" dirty="0"/>
              <a:t> Latency stage</a:t>
            </a:r>
          </a:p>
          <a:p>
            <a:pPr marL="742950" indent="-742950">
              <a:buAutoNum type="alphaUcPeriod"/>
            </a:pPr>
            <a:r>
              <a:rPr lang="en-PH" dirty="0"/>
              <a:t> Anal stage</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3957638"/>
            <a:ext cx="3500462"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242862"/>
            <a:ext cx="9501254" cy="6429420"/>
          </a:xfrm>
        </p:spPr>
        <p:txBody>
          <a:bodyPr/>
          <a:lstStyle/>
          <a:p>
            <a:pPr>
              <a:buNone/>
            </a:pPr>
            <a:r>
              <a:rPr lang="en-PH" dirty="0"/>
              <a:t>Question: Described as the final stage of human psychosexual development. According to Freud’s theories, this stage begins at puberty and constitutes mature adult sexuality.</a:t>
            </a:r>
          </a:p>
          <a:p>
            <a:pPr marL="742950" indent="-742950">
              <a:buAutoNum type="alphaUcPeriod"/>
            </a:pPr>
            <a:r>
              <a:rPr lang="en-PH" dirty="0"/>
              <a:t>Anal stage</a:t>
            </a:r>
          </a:p>
          <a:p>
            <a:pPr marL="742950" indent="-742950">
              <a:buAutoNum type="alphaUcPeriod"/>
            </a:pPr>
            <a:r>
              <a:rPr lang="en-PH" dirty="0"/>
              <a:t> Latency stage</a:t>
            </a:r>
          </a:p>
          <a:p>
            <a:pPr marL="742950" indent="-742950">
              <a:buAutoNum type="alphaUcPeriod"/>
            </a:pPr>
            <a:r>
              <a:rPr lang="en-PH" dirty="0"/>
              <a:t> Genital stage</a:t>
            </a:r>
          </a:p>
          <a:p>
            <a:pPr marL="742950" indent="-742950">
              <a:buAutoNum type="alphaUcPeriod"/>
            </a:pPr>
            <a:r>
              <a:rPr lang="en-PH" dirty="0"/>
              <a:t> Phallic stage</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0044" y="3814762"/>
            <a:ext cx="4143404"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457168" y="600052"/>
            <a:ext cx="9052560" cy="5129425"/>
          </a:xfrm>
        </p:spPr>
        <p:txBody>
          <a:bodyPr/>
          <a:lstStyle/>
          <a:p>
            <a:pPr>
              <a:buNone/>
            </a:pPr>
            <a:r>
              <a:rPr lang="en-PH" dirty="0"/>
              <a:t>Question: According to Freud, the unconscious love and sexual desire of male children for their mother is called:</a:t>
            </a:r>
          </a:p>
          <a:p>
            <a:pPr marL="742950" indent="-742950">
              <a:buAutoNum type="alphaUcPeriod"/>
            </a:pPr>
            <a:r>
              <a:rPr lang="en-PH" dirty="0"/>
              <a:t>Psychosexual theory</a:t>
            </a:r>
          </a:p>
          <a:p>
            <a:pPr marL="742950" indent="-742950">
              <a:buAutoNum type="alphaUcPeriod"/>
            </a:pPr>
            <a:r>
              <a:rPr lang="en-PH" dirty="0"/>
              <a:t> Electra complex</a:t>
            </a:r>
          </a:p>
          <a:p>
            <a:pPr marL="742950" indent="-742950">
              <a:buAutoNum type="alphaUcPeriod"/>
            </a:pPr>
            <a:r>
              <a:rPr lang="en-PH" dirty="0"/>
              <a:t> Oedipal complex</a:t>
            </a:r>
          </a:p>
          <a:p>
            <a:pPr marL="742950" indent="-742950">
              <a:buAutoNum type="alphaUcPeriod"/>
            </a:pPr>
            <a:r>
              <a:rPr lang="en-PH" dirty="0"/>
              <a:t> Pleasure principle</a:t>
            </a:r>
          </a:p>
          <a:p>
            <a:pPr>
              <a:buNone/>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100382"/>
            <a:ext cx="364333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457168" y="600052"/>
            <a:ext cx="9052560" cy="5129425"/>
          </a:xfrm>
        </p:spPr>
        <p:txBody>
          <a:bodyPr/>
          <a:lstStyle/>
          <a:p>
            <a:pPr>
              <a:buNone/>
            </a:pPr>
            <a:r>
              <a:rPr lang="en-PH" dirty="0"/>
              <a:t>Question: Which stage of Freud’s psychosexual theory involves repressing sexual urges and devoting the time to other activities?</a:t>
            </a:r>
          </a:p>
          <a:p>
            <a:pPr marL="742950" indent="-742950">
              <a:buAutoNum type="alphaUcPeriod"/>
            </a:pPr>
            <a:r>
              <a:rPr lang="en-PH" dirty="0"/>
              <a:t>Phallic stage</a:t>
            </a:r>
          </a:p>
          <a:p>
            <a:pPr marL="742950" indent="-742950">
              <a:buAutoNum type="alphaUcPeriod"/>
            </a:pPr>
            <a:r>
              <a:rPr lang="en-PH" dirty="0"/>
              <a:t> Latency stage</a:t>
            </a:r>
          </a:p>
          <a:p>
            <a:pPr marL="742950" indent="-742950">
              <a:buAutoNum type="alphaUcPeriod"/>
            </a:pPr>
            <a:r>
              <a:rPr lang="en-PH" dirty="0"/>
              <a:t> Genital stage</a:t>
            </a:r>
          </a:p>
          <a:p>
            <a:pPr marL="742950" indent="-742950">
              <a:buAutoNum type="alphaUcPeriod"/>
            </a:pPr>
            <a:r>
              <a:rPr lang="en-PH" dirty="0"/>
              <a:t> Oral stage</a:t>
            </a:r>
          </a:p>
          <a:p>
            <a:pPr marL="742950" indent="-742950">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671754"/>
            <a:ext cx="278608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314300"/>
            <a:ext cx="9501254" cy="6286544"/>
          </a:xfrm>
        </p:spPr>
        <p:txBody>
          <a:bodyPr/>
          <a:lstStyle/>
          <a:p>
            <a:pPr>
              <a:buNone/>
            </a:pPr>
            <a:r>
              <a:rPr lang="en-PH" dirty="0"/>
              <a:t>Question: Term used to describe his theory of child development during the first 21 months of life, in which an infant’s pleasure </a:t>
            </a:r>
            <a:r>
              <a:rPr lang="en-PH" dirty="0" err="1"/>
              <a:t>centers</a:t>
            </a:r>
            <a:r>
              <a:rPr lang="en-PH" dirty="0"/>
              <a:t> are in the mouth.</a:t>
            </a:r>
          </a:p>
          <a:p>
            <a:pPr marL="742950" indent="-742950">
              <a:buAutoNum type="alphaUcPeriod"/>
            </a:pPr>
            <a:r>
              <a:rPr lang="en-PH" dirty="0"/>
              <a:t>Oral stage</a:t>
            </a:r>
          </a:p>
          <a:p>
            <a:pPr marL="742950" indent="-742950">
              <a:buAutoNum type="alphaUcPeriod"/>
            </a:pPr>
            <a:r>
              <a:rPr lang="en-PH" dirty="0"/>
              <a:t> Phallic stage</a:t>
            </a:r>
          </a:p>
          <a:p>
            <a:pPr marL="742950" indent="-742950">
              <a:buAutoNum type="alphaUcPeriod"/>
            </a:pPr>
            <a:r>
              <a:rPr lang="en-PH" dirty="0"/>
              <a:t> Anal stage</a:t>
            </a:r>
          </a:p>
          <a:p>
            <a:pPr marL="742950" indent="-742950">
              <a:buAutoNum type="alphaUcPeriod"/>
            </a:pPr>
            <a:r>
              <a:rPr lang="en-PH" dirty="0"/>
              <a:t> Genital stage</a:t>
            </a:r>
          </a:p>
          <a:p>
            <a:pPr marL="742950" indent="-742950">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54" y="171424"/>
            <a:ext cx="8549640" cy="714380"/>
          </a:xfrm>
        </p:spPr>
        <p:txBody>
          <a:bodyPr>
            <a:noAutofit/>
          </a:bodyPr>
          <a:lstStyle/>
          <a:p>
            <a:pPr algn="l"/>
            <a:r>
              <a:rPr lang="en-US" sz="4000" dirty="0">
                <a:latin typeface="Bernard MT Condensed" pitchFamily="18" charset="0"/>
              </a:rPr>
              <a:t>D. Psychosocial ( Erik Erickson)</a:t>
            </a:r>
          </a:p>
        </p:txBody>
      </p:sp>
      <p:sp>
        <p:nvSpPr>
          <p:cNvPr id="3" name="Subtitle 2"/>
          <p:cNvSpPr>
            <a:spLocks noGrp="1"/>
          </p:cNvSpPr>
          <p:nvPr>
            <p:ph type="subTitle" idx="1"/>
          </p:nvPr>
        </p:nvSpPr>
        <p:spPr>
          <a:xfrm>
            <a:off x="314292" y="885804"/>
            <a:ext cx="9429816" cy="5643602"/>
          </a:xfrm>
        </p:spPr>
        <p:txBody>
          <a:bodyPr/>
          <a:lstStyle/>
          <a:p>
            <a:pPr marL="742950" indent="-742950" algn="just"/>
            <a:endParaRPr lang="en-US" dirty="0">
              <a:solidFill>
                <a:schemeClr val="tx1"/>
              </a:solidFill>
            </a:endParaRPr>
          </a:p>
        </p:txBody>
      </p:sp>
      <p:pic>
        <p:nvPicPr>
          <p:cNvPr id="2050" name="Picture 2" descr="C:\Users\lizel\Documents\Desktop\erikerikson-01.jpg"/>
          <p:cNvPicPr>
            <a:picLocks noChangeAspect="1" noChangeArrowheads="1"/>
          </p:cNvPicPr>
          <p:nvPr/>
        </p:nvPicPr>
        <p:blipFill>
          <a:blip r:embed="rId2"/>
          <a:srcRect l="6629" r="7196" b="5637"/>
          <a:stretch>
            <a:fillRect/>
          </a:stretch>
        </p:blipFill>
        <p:spPr bwMode="auto">
          <a:xfrm>
            <a:off x="242854" y="814366"/>
            <a:ext cx="9572692" cy="5918364"/>
          </a:xfrm>
          <a:prstGeom prst="rect">
            <a:avLst/>
          </a:prstGeom>
          <a:noFill/>
        </p:spPr>
      </p:pic>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 calcmode="lin" valueType="num">
                                      <p:cBhvr additive="base">
                                        <p:cTn id="13" dur="500" fill="hold"/>
                                        <p:tgtEl>
                                          <p:spTgt spid="2050"/>
                                        </p:tgtEl>
                                        <p:attrNameLst>
                                          <p:attrName>ppt_x</p:attrName>
                                        </p:attrNameLst>
                                      </p:cBhvr>
                                      <p:tavLst>
                                        <p:tav tm="0">
                                          <p:val>
                                            <p:strVal val="#ppt_x"/>
                                          </p:val>
                                        </p:tav>
                                        <p:tav tm="100000">
                                          <p:val>
                                            <p:strVal val="#ppt_x"/>
                                          </p:val>
                                        </p:tav>
                                      </p:tavLst>
                                    </p:anim>
                                    <p:anim calcmode="lin" valueType="num">
                                      <p:cBhvr additive="base">
                                        <p:cTn id="14"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1528746"/>
            <a:ext cx="5929354"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572692" cy="6215106"/>
          </a:xfrm>
        </p:spPr>
        <p:txBody>
          <a:bodyPr/>
          <a:lstStyle/>
          <a:p>
            <a:pPr algn="just">
              <a:buNone/>
            </a:pPr>
            <a:r>
              <a:rPr lang="en-PH" dirty="0"/>
              <a:t>Question: Which of the following is Erickson’s stage for middle adulthood ?</a:t>
            </a:r>
          </a:p>
          <a:p>
            <a:pPr marL="742950" indent="-742950" algn="just">
              <a:buAutoNum type="alphaUcPeriod"/>
            </a:pPr>
            <a:r>
              <a:rPr lang="en-PH" dirty="0" err="1"/>
              <a:t>Generativity</a:t>
            </a:r>
            <a:r>
              <a:rPr lang="en-PH" dirty="0"/>
              <a:t> vs. stagnation</a:t>
            </a:r>
          </a:p>
          <a:p>
            <a:pPr marL="742950" indent="-742950" algn="just">
              <a:buAutoNum type="alphaUcPeriod"/>
            </a:pPr>
            <a:r>
              <a:rPr lang="en-PH" dirty="0"/>
              <a:t> Intimacy  vs. isolation</a:t>
            </a:r>
          </a:p>
          <a:p>
            <a:pPr marL="742950" indent="-742950" algn="just">
              <a:buAutoNum type="alphaUcPeriod"/>
            </a:pPr>
            <a:r>
              <a:rPr lang="en-PH" dirty="0"/>
              <a:t> Autonomy vs. shame</a:t>
            </a:r>
          </a:p>
          <a:p>
            <a:pPr marL="742950" indent="-742950" algn="just">
              <a:buAutoNum type="alphaUcPeriod"/>
            </a:pPr>
            <a:r>
              <a:rPr lang="en-PH" dirty="0"/>
              <a:t> Integrity  vs. despair</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4171952"/>
            <a:ext cx="714380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429816" cy="6286544"/>
          </a:xfrm>
        </p:spPr>
        <p:txBody>
          <a:bodyPr/>
          <a:lstStyle/>
          <a:p>
            <a:pPr>
              <a:buNone/>
            </a:pPr>
            <a:r>
              <a:rPr lang="en-PH" dirty="0"/>
              <a:t>Question: Which theory discusses a developmental stage when children learn to do things well and are praised for their efforts?</a:t>
            </a:r>
          </a:p>
          <a:p>
            <a:pPr marL="742950" indent="-742950">
              <a:buAutoNum type="alphaUcPeriod"/>
            </a:pPr>
            <a:r>
              <a:rPr lang="en-PH" dirty="0" err="1"/>
              <a:t>Giligan’s</a:t>
            </a:r>
            <a:r>
              <a:rPr lang="en-PH" dirty="0"/>
              <a:t> theory of psychosocial development</a:t>
            </a:r>
          </a:p>
          <a:p>
            <a:pPr marL="742950" indent="-742950">
              <a:buAutoNum type="alphaUcPeriod"/>
            </a:pPr>
            <a:r>
              <a:rPr lang="en-PH" dirty="0"/>
              <a:t> </a:t>
            </a:r>
            <a:r>
              <a:rPr lang="en-PH" dirty="0" err="1"/>
              <a:t>Vygotsky’s</a:t>
            </a:r>
            <a:r>
              <a:rPr lang="en-PH" dirty="0"/>
              <a:t> theory of cognitive development</a:t>
            </a:r>
          </a:p>
          <a:p>
            <a:pPr marL="742950" indent="-742950">
              <a:buAutoNum type="alphaUcPeriod"/>
            </a:pPr>
            <a:r>
              <a:rPr lang="en-PH" dirty="0"/>
              <a:t> Piaget’s theory of cognitive development</a:t>
            </a:r>
          </a:p>
          <a:p>
            <a:pPr marL="742950" indent="-742950">
              <a:buAutoNum type="alphaUcPeriod"/>
            </a:pPr>
            <a:r>
              <a:rPr lang="en-PH" dirty="0"/>
              <a:t> Erickson’s theory of psychosocial</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54" y="171424"/>
            <a:ext cx="9429816" cy="785818"/>
          </a:xfrm>
        </p:spPr>
        <p:txBody>
          <a:bodyPr>
            <a:noAutofit/>
          </a:bodyPr>
          <a:lstStyle/>
          <a:p>
            <a:pPr algn="l"/>
            <a:r>
              <a:rPr lang="en-US" sz="4000" dirty="0">
                <a:latin typeface="Bernard MT Condensed" pitchFamily="18" charset="0"/>
              </a:rPr>
              <a:t>E. Ecological System ( </a:t>
            </a:r>
            <a:r>
              <a:rPr lang="en-US" sz="4000" dirty="0" err="1">
                <a:latin typeface="Bernard MT Condensed" pitchFamily="18" charset="0"/>
              </a:rPr>
              <a:t>Urie</a:t>
            </a:r>
            <a:r>
              <a:rPr lang="en-US" sz="4000" dirty="0">
                <a:latin typeface="Bernard MT Condensed" pitchFamily="18" charset="0"/>
              </a:rPr>
              <a:t> </a:t>
            </a:r>
            <a:r>
              <a:rPr lang="en-US" sz="4000" dirty="0" err="1">
                <a:latin typeface="Bernard MT Condensed" pitchFamily="18" charset="0"/>
              </a:rPr>
              <a:t>Brofenbrenner</a:t>
            </a:r>
            <a:r>
              <a:rPr lang="en-US" sz="4000" dirty="0">
                <a:latin typeface="Bernard MT Condensed" pitchFamily="18" charset="0"/>
              </a:rPr>
              <a:t>)</a:t>
            </a:r>
          </a:p>
        </p:txBody>
      </p:sp>
      <p:sp>
        <p:nvSpPr>
          <p:cNvPr id="3" name="Subtitle 2"/>
          <p:cNvSpPr>
            <a:spLocks noGrp="1"/>
          </p:cNvSpPr>
          <p:nvPr>
            <p:ph type="subTitle" idx="1"/>
          </p:nvPr>
        </p:nvSpPr>
        <p:spPr>
          <a:xfrm>
            <a:off x="314292" y="885804"/>
            <a:ext cx="9429816" cy="5715040"/>
          </a:xfrm>
        </p:spPr>
        <p:txBody>
          <a:bodyPr/>
          <a:lstStyle/>
          <a:p>
            <a:pPr marL="742950" indent="-742950" algn="just"/>
            <a:r>
              <a:rPr lang="en-US" b="1" dirty="0" err="1">
                <a:solidFill>
                  <a:schemeClr val="tx1"/>
                </a:solidFill>
              </a:rPr>
              <a:t>Microsystem</a:t>
            </a:r>
            <a:r>
              <a:rPr lang="en-US" b="1" dirty="0">
                <a:solidFill>
                  <a:schemeClr val="tx1"/>
                </a:solidFill>
              </a:rPr>
              <a:t>- </a:t>
            </a:r>
            <a:r>
              <a:rPr lang="en-US" dirty="0">
                <a:solidFill>
                  <a:schemeClr val="tx1"/>
                </a:solidFill>
              </a:rPr>
              <a:t>system </a:t>
            </a:r>
            <a:r>
              <a:rPr lang="en-US" dirty="0">
                <a:solidFill>
                  <a:srgbClr val="FF0000"/>
                </a:solidFill>
              </a:rPr>
              <a:t>closest to the person </a:t>
            </a:r>
            <a:r>
              <a:rPr lang="en-US" dirty="0">
                <a:solidFill>
                  <a:schemeClr val="tx1"/>
                </a:solidFill>
              </a:rPr>
              <a:t>and the one in which they have </a:t>
            </a:r>
            <a:r>
              <a:rPr lang="en-US" dirty="0">
                <a:solidFill>
                  <a:srgbClr val="FF0000"/>
                </a:solidFill>
              </a:rPr>
              <a:t>direct contact.</a:t>
            </a:r>
          </a:p>
          <a:p>
            <a:pPr marL="742950" indent="-742950" algn="just"/>
            <a:r>
              <a:rPr lang="en-US" b="1" dirty="0" err="1">
                <a:solidFill>
                  <a:schemeClr val="tx1"/>
                </a:solidFill>
              </a:rPr>
              <a:t>Mesosystem</a:t>
            </a:r>
            <a:r>
              <a:rPr lang="en-US" b="1" dirty="0">
                <a:solidFill>
                  <a:schemeClr val="tx1"/>
                </a:solidFill>
              </a:rPr>
              <a:t>- </a:t>
            </a:r>
            <a:r>
              <a:rPr lang="en-US" dirty="0">
                <a:solidFill>
                  <a:srgbClr val="FF0000"/>
                </a:solidFill>
              </a:rPr>
              <a:t>interactions</a:t>
            </a:r>
            <a:r>
              <a:rPr lang="en-US" dirty="0">
                <a:solidFill>
                  <a:schemeClr val="tx1"/>
                </a:solidFill>
              </a:rPr>
              <a:t> between the different parts of a person’s </a:t>
            </a:r>
            <a:r>
              <a:rPr lang="en-US" dirty="0" err="1">
                <a:solidFill>
                  <a:schemeClr val="tx1"/>
                </a:solidFill>
              </a:rPr>
              <a:t>microsystem</a:t>
            </a:r>
            <a:endParaRPr lang="en-US" dirty="0">
              <a:solidFill>
                <a:schemeClr val="tx1"/>
              </a:solidFill>
            </a:endParaRPr>
          </a:p>
          <a:p>
            <a:pPr marL="742950" indent="-742950" algn="just"/>
            <a:r>
              <a:rPr lang="en-US" b="1" dirty="0" err="1">
                <a:solidFill>
                  <a:schemeClr val="tx1"/>
                </a:solidFill>
              </a:rPr>
              <a:t>Exosystem</a:t>
            </a:r>
            <a:r>
              <a:rPr lang="en-US" b="1" dirty="0">
                <a:solidFill>
                  <a:schemeClr val="tx1"/>
                </a:solidFill>
              </a:rPr>
              <a:t>- </a:t>
            </a:r>
            <a:r>
              <a:rPr lang="en-US" dirty="0">
                <a:solidFill>
                  <a:schemeClr val="tx1"/>
                </a:solidFill>
              </a:rPr>
              <a:t> does not involve the person as an active participant, but still affects them.</a:t>
            </a:r>
          </a:p>
          <a:p>
            <a:pPr marL="742950" indent="-742950" algn="just"/>
            <a:r>
              <a:rPr lang="en-US" b="1" dirty="0" err="1">
                <a:solidFill>
                  <a:schemeClr val="tx1"/>
                </a:solidFill>
              </a:rPr>
              <a:t>Macrosystem</a:t>
            </a:r>
            <a:r>
              <a:rPr lang="en-US" b="1" dirty="0">
                <a:solidFill>
                  <a:schemeClr val="tx1"/>
                </a:solidFill>
              </a:rPr>
              <a:t>-</a:t>
            </a:r>
            <a:r>
              <a:rPr lang="en-US" dirty="0">
                <a:solidFill>
                  <a:schemeClr val="tx1"/>
                </a:solidFill>
              </a:rPr>
              <a:t> actual </a:t>
            </a:r>
            <a:r>
              <a:rPr lang="en-US" dirty="0">
                <a:solidFill>
                  <a:srgbClr val="FF0000"/>
                </a:solidFill>
              </a:rPr>
              <a:t>culture </a:t>
            </a:r>
            <a:r>
              <a:rPr lang="en-US" dirty="0">
                <a:solidFill>
                  <a:schemeClr val="tx1"/>
                </a:solidFill>
              </a:rPr>
              <a:t>of an individual</a:t>
            </a:r>
          </a:p>
          <a:p>
            <a:pPr marL="742950" indent="-742950" algn="just"/>
            <a:r>
              <a:rPr lang="en-US" b="1" dirty="0" err="1">
                <a:solidFill>
                  <a:schemeClr val="tx1"/>
                </a:solidFill>
              </a:rPr>
              <a:t>Chronosystem</a:t>
            </a:r>
            <a:r>
              <a:rPr lang="en-US" b="1" dirty="0">
                <a:solidFill>
                  <a:schemeClr val="tx1"/>
                </a:solidFill>
              </a:rPr>
              <a:t>- </a:t>
            </a:r>
            <a:r>
              <a:rPr lang="en-US" dirty="0">
                <a:solidFill>
                  <a:schemeClr val="tx1"/>
                </a:solidFill>
              </a:rPr>
              <a:t>includes the </a:t>
            </a:r>
            <a:r>
              <a:rPr lang="en-US" dirty="0">
                <a:solidFill>
                  <a:srgbClr val="FF0000"/>
                </a:solidFill>
              </a:rPr>
              <a:t>transitions</a:t>
            </a:r>
            <a:r>
              <a:rPr lang="en-US" dirty="0">
                <a:solidFill>
                  <a:schemeClr val="tx1"/>
                </a:solidFill>
              </a:rPr>
              <a:t> and shifts in one’s lifespan.</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292" y="314300"/>
            <a:ext cx="9358378" cy="6215106"/>
          </a:xfrm>
        </p:spPr>
        <p:txBody>
          <a:bodyPr/>
          <a:lstStyle/>
          <a:p>
            <a:pPr marL="742950" indent="-742950" algn="just"/>
            <a:endParaRPr lang="en-US" dirty="0">
              <a:solidFill>
                <a:schemeClr val="tx1"/>
              </a:solidFill>
            </a:endParaRPr>
          </a:p>
        </p:txBody>
      </p:sp>
      <p:pic>
        <p:nvPicPr>
          <p:cNvPr id="3074" name="Picture 2" descr="C:\Users\lizel\Documents\Desktop\bronfenbrenner1-550x492.jpg"/>
          <p:cNvPicPr>
            <a:picLocks noChangeAspect="1" noChangeArrowheads="1"/>
          </p:cNvPicPr>
          <p:nvPr/>
        </p:nvPicPr>
        <p:blipFill>
          <a:blip r:embed="rId2"/>
          <a:srcRect/>
          <a:stretch>
            <a:fillRect/>
          </a:stretch>
        </p:blipFill>
        <p:spPr bwMode="auto">
          <a:xfrm>
            <a:off x="242854" y="171424"/>
            <a:ext cx="9572692" cy="6572296"/>
          </a:xfrm>
          <a:prstGeom prst="rect">
            <a:avLst/>
          </a:prstGeom>
          <a:noFill/>
        </p:spPr>
      </p:pic>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4100514"/>
            <a:ext cx="3357586"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314300"/>
            <a:ext cx="9501254" cy="6286544"/>
          </a:xfrm>
        </p:spPr>
        <p:txBody>
          <a:bodyPr/>
          <a:lstStyle/>
          <a:p>
            <a:pPr>
              <a:buNone/>
            </a:pPr>
            <a:r>
              <a:rPr lang="en-PH" dirty="0"/>
              <a:t>Question: Environmental system that includes the student’s family, peers, teacher, and </a:t>
            </a:r>
            <a:r>
              <a:rPr lang="en-PH" dirty="0" err="1"/>
              <a:t>neighborhood</a:t>
            </a:r>
            <a:r>
              <a:rPr lang="en-PH" dirty="0"/>
              <a:t>?</a:t>
            </a:r>
          </a:p>
          <a:p>
            <a:pPr marL="742950" indent="-742950">
              <a:buAutoNum type="alphaUcPeriod"/>
            </a:pPr>
            <a:r>
              <a:rPr lang="en-PH" dirty="0" err="1"/>
              <a:t>Exosystem</a:t>
            </a:r>
            <a:endParaRPr lang="en-PH" dirty="0"/>
          </a:p>
          <a:p>
            <a:pPr marL="742950" indent="-742950">
              <a:buAutoNum type="alphaUcPeriod"/>
            </a:pPr>
            <a:r>
              <a:rPr lang="en-PH" dirty="0"/>
              <a:t> </a:t>
            </a:r>
            <a:r>
              <a:rPr lang="en-PH" dirty="0" err="1"/>
              <a:t>Macrosystem</a:t>
            </a:r>
            <a:endParaRPr lang="en-PH" dirty="0"/>
          </a:p>
          <a:p>
            <a:pPr marL="742950" indent="-742950">
              <a:buAutoNum type="alphaUcPeriod"/>
            </a:pPr>
            <a:r>
              <a:rPr lang="en-PH" dirty="0"/>
              <a:t> </a:t>
            </a:r>
            <a:r>
              <a:rPr lang="en-PH" dirty="0" err="1"/>
              <a:t>Mesosystem</a:t>
            </a:r>
            <a:endParaRPr lang="en-PH" dirty="0"/>
          </a:p>
          <a:p>
            <a:pPr marL="742950" indent="-742950">
              <a:buAutoNum type="alphaUcPeriod"/>
            </a:pPr>
            <a:r>
              <a:rPr lang="en-PH" dirty="0"/>
              <a:t> </a:t>
            </a:r>
            <a:r>
              <a:rPr lang="en-PH" dirty="0" err="1"/>
              <a:t>Microsystem</a:t>
            </a: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4600580"/>
            <a:ext cx="742955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429816" cy="6286544"/>
          </a:xfrm>
        </p:spPr>
        <p:txBody>
          <a:bodyPr/>
          <a:lstStyle/>
          <a:p>
            <a:pPr>
              <a:buNone/>
            </a:pPr>
            <a:r>
              <a:rPr lang="en-PH" dirty="0"/>
              <a:t>Question: theory that focuses on social contexts in which students live and the people who influence their development within five environmental systems?</a:t>
            </a:r>
          </a:p>
          <a:p>
            <a:pPr marL="742950" indent="-742950">
              <a:buAutoNum type="alphaUcPeriod"/>
            </a:pPr>
            <a:r>
              <a:rPr lang="en-PH" dirty="0"/>
              <a:t>Psychoanalytic</a:t>
            </a:r>
          </a:p>
          <a:p>
            <a:pPr marL="742950" indent="-742950">
              <a:buAutoNum type="alphaUcPeriod"/>
            </a:pPr>
            <a:r>
              <a:rPr lang="en-PH" dirty="0"/>
              <a:t> Psychosexual</a:t>
            </a:r>
          </a:p>
          <a:p>
            <a:pPr marL="742950" indent="-742950">
              <a:buAutoNum type="alphaUcPeriod"/>
            </a:pPr>
            <a:r>
              <a:rPr lang="en-PH" dirty="0"/>
              <a:t> Moral development</a:t>
            </a:r>
          </a:p>
          <a:p>
            <a:pPr marL="742950" indent="-742950">
              <a:buAutoNum type="alphaUcPeriod"/>
            </a:pPr>
            <a:r>
              <a:rPr lang="en-PH" dirty="0"/>
              <a:t> </a:t>
            </a:r>
            <a:r>
              <a:rPr lang="en-PH" dirty="0" err="1"/>
              <a:t>Brofenbrenner’s</a:t>
            </a:r>
            <a:r>
              <a:rPr lang="en-PH" dirty="0"/>
              <a:t> Ecological Theory</a:t>
            </a:r>
          </a:p>
          <a:p>
            <a:pPr marL="742950" indent="-742950">
              <a:buNone/>
            </a:pPr>
            <a:endParaRPr lang="en-PH" dirty="0"/>
          </a:p>
          <a:p>
            <a:pPr marL="742950" indent="-742950">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600316"/>
            <a:ext cx="9358378" cy="16430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171424"/>
            <a:ext cx="9501254" cy="6429420"/>
          </a:xfrm>
        </p:spPr>
        <p:txBody>
          <a:bodyPr>
            <a:noAutofit/>
          </a:bodyPr>
          <a:lstStyle/>
          <a:p>
            <a:pPr algn="just">
              <a:buNone/>
            </a:pPr>
            <a:r>
              <a:rPr lang="en-PH" sz="3400" dirty="0"/>
              <a:t>Question: </a:t>
            </a:r>
            <a:r>
              <a:rPr lang="en-PH" sz="3400" dirty="0" err="1"/>
              <a:t>Exosystem</a:t>
            </a:r>
            <a:endParaRPr lang="en-PH" sz="3400" dirty="0"/>
          </a:p>
          <a:p>
            <a:pPr marL="742950" indent="-742950" algn="just">
              <a:buAutoNum type="alphaUcPeriod"/>
            </a:pPr>
            <a:r>
              <a:rPr lang="en-PH" sz="3400" dirty="0"/>
              <a:t>Environmental system that links </a:t>
            </a:r>
            <a:r>
              <a:rPr lang="en-PH" sz="3400" dirty="0" err="1"/>
              <a:t>microsystem</a:t>
            </a:r>
            <a:endParaRPr lang="en-PH" sz="3400" dirty="0"/>
          </a:p>
          <a:p>
            <a:pPr marL="742950" indent="-742950" algn="just">
              <a:buAutoNum type="alphaUcPeriod"/>
            </a:pPr>
            <a:r>
              <a:rPr lang="en-PH" sz="3400" dirty="0"/>
              <a:t> Environmental system that involves the broader culture in which students and teachers live.</a:t>
            </a:r>
          </a:p>
          <a:p>
            <a:pPr marL="742950" indent="-742950" algn="just">
              <a:buAutoNum type="alphaUcPeriod"/>
            </a:pPr>
            <a:r>
              <a:rPr lang="en-PH" sz="3400" dirty="0"/>
              <a:t> Environmental system that involves experiences in another setting that influences what students and teachers experience</a:t>
            </a:r>
          </a:p>
          <a:p>
            <a:pPr marL="742950" indent="-742950" algn="just">
              <a:buAutoNum type="alphaUcPeriod"/>
            </a:pPr>
            <a:r>
              <a:rPr lang="en-PH" sz="3400" dirty="0"/>
              <a:t> Theory that focuses  on social contexts in which students live and the people who influence  their development within  five environmental systems?</a:t>
            </a:r>
          </a:p>
          <a:p>
            <a:pPr marL="742950" indent="-742950" algn="just">
              <a:buAutoNum type="alphaUcPeriod"/>
            </a:pPr>
            <a:endParaRPr lang="en-PH" sz="3400"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743192"/>
            <a:ext cx="9072626"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171416" y="314300"/>
            <a:ext cx="9715568" cy="6286544"/>
          </a:xfrm>
        </p:spPr>
        <p:txBody>
          <a:bodyPr>
            <a:normAutofit/>
          </a:bodyPr>
          <a:lstStyle/>
          <a:p>
            <a:pPr>
              <a:buNone/>
            </a:pPr>
            <a:r>
              <a:rPr lang="en-PH" dirty="0" err="1"/>
              <a:t>Question:Mesosystem</a:t>
            </a:r>
            <a:endParaRPr lang="en-PH" dirty="0"/>
          </a:p>
          <a:p>
            <a:pPr>
              <a:buNone/>
            </a:pPr>
            <a:r>
              <a:rPr lang="en-PH" dirty="0"/>
              <a:t>A. Environmental system that refers to </a:t>
            </a:r>
            <a:r>
              <a:rPr lang="en-PH" dirty="0" err="1"/>
              <a:t>sociohistorical</a:t>
            </a:r>
            <a:r>
              <a:rPr lang="en-PH" dirty="0"/>
              <a:t> conditions of students’ development</a:t>
            </a:r>
          </a:p>
          <a:p>
            <a:pPr>
              <a:buNone/>
            </a:pPr>
            <a:r>
              <a:rPr lang="en-PH" dirty="0"/>
              <a:t>B. Environmental system that links </a:t>
            </a:r>
            <a:r>
              <a:rPr lang="en-PH" dirty="0" err="1"/>
              <a:t>microsystem</a:t>
            </a:r>
            <a:endParaRPr lang="en-PH" dirty="0"/>
          </a:p>
          <a:p>
            <a:pPr>
              <a:buNone/>
            </a:pPr>
            <a:r>
              <a:rPr lang="en-PH" dirty="0"/>
              <a:t>C. Environmental system that involves the broader culture in which students and teachers live.</a:t>
            </a:r>
          </a:p>
          <a:p>
            <a:pPr>
              <a:buNone/>
            </a:pPr>
            <a:r>
              <a:rPr lang="en-PH" dirty="0"/>
              <a:t>D. Theory that focuses on social contexts in which students live and the people who influence their development within five environmental systems.</a:t>
            </a:r>
          </a:p>
          <a:p>
            <a:pPr>
              <a:buNone/>
            </a:pPr>
            <a:endParaRPr lang="en-PH" dirty="0"/>
          </a:p>
          <a:p>
            <a:pPr marL="742950" indent="-742950">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3171820"/>
            <a:ext cx="9429816"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572692" cy="6286544"/>
          </a:xfrm>
        </p:spPr>
        <p:txBody>
          <a:bodyPr>
            <a:normAutofit lnSpcReduction="10000"/>
          </a:bodyPr>
          <a:lstStyle/>
          <a:p>
            <a:pPr>
              <a:buNone/>
            </a:pPr>
            <a:r>
              <a:rPr lang="en-PH" dirty="0" err="1"/>
              <a:t>Question:Macrosystem</a:t>
            </a:r>
            <a:endParaRPr lang="en-PH" dirty="0"/>
          </a:p>
          <a:p>
            <a:pPr>
              <a:buNone/>
            </a:pPr>
            <a:r>
              <a:rPr lang="en-PH" dirty="0"/>
              <a:t>A. Environmental system that involves experiences in another setting that influences what students and teachers experience.</a:t>
            </a:r>
          </a:p>
          <a:p>
            <a:pPr>
              <a:buNone/>
            </a:pPr>
            <a:r>
              <a:rPr lang="en-PH" dirty="0"/>
              <a:t>B. Environmental system that links </a:t>
            </a:r>
            <a:r>
              <a:rPr lang="en-PH" dirty="0" err="1"/>
              <a:t>microsystem</a:t>
            </a:r>
            <a:endParaRPr lang="en-PH" dirty="0"/>
          </a:p>
          <a:p>
            <a:pPr>
              <a:buNone/>
            </a:pPr>
            <a:r>
              <a:rPr lang="en-PH" dirty="0"/>
              <a:t>C. Environmental system that involves the broader culture in which students and teachers live.</a:t>
            </a:r>
          </a:p>
          <a:p>
            <a:pPr>
              <a:buNone/>
            </a:pPr>
            <a:r>
              <a:rPr lang="en-PH" dirty="0"/>
              <a:t>D. Theory that focuses on social contexts in which students live and the people who influence their development within five environmental systems.</a:t>
            </a:r>
          </a:p>
          <a:p>
            <a:pPr>
              <a:buNone/>
            </a:pPr>
            <a:endParaRPr lang="en-PH" dirty="0"/>
          </a:p>
          <a:p>
            <a:pPr marL="742950" indent="-742950">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54" y="242862"/>
            <a:ext cx="8549640" cy="714380"/>
          </a:xfrm>
        </p:spPr>
        <p:txBody>
          <a:bodyPr>
            <a:noAutofit/>
          </a:bodyPr>
          <a:lstStyle/>
          <a:p>
            <a:pPr algn="l"/>
            <a:r>
              <a:rPr lang="en-US" sz="4000" dirty="0">
                <a:latin typeface="Bernard MT Condensed" pitchFamily="18" charset="0"/>
              </a:rPr>
              <a:t>f. Emotional Quotient (Daniel </a:t>
            </a:r>
            <a:r>
              <a:rPr lang="en-US" sz="4000" dirty="0" err="1">
                <a:latin typeface="Bernard MT Condensed" pitchFamily="18" charset="0"/>
              </a:rPr>
              <a:t>Goleman</a:t>
            </a:r>
            <a:r>
              <a:rPr lang="en-US" sz="4000" dirty="0">
                <a:latin typeface="Bernard MT Condensed" pitchFamily="18" charset="0"/>
              </a:rPr>
              <a:t>)</a:t>
            </a:r>
          </a:p>
        </p:txBody>
      </p:sp>
      <p:sp>
        <p:nvSpPr>
          <p:cNvPr id="3" name="Subtitle 2"/>
          <p:cNvSpPr>
            <a:spLocks noGrp="1"/>
          </p:cNvSpPr>
          <p:nvPr>
            <p:ph type="subTitle" idx="1"/>
          </p:nvPr>
        </p:nvSpPr>
        <p:spPr>
          <a:xfrm>
            <a:off x="242854" y="957242"/>
            <a:ext cx="9358378" cy="5429288"/>
          </a:xfrm>
        </p:spPr>
        <p:txBody>
          <a:bodyPr/>
          <a:lstStyle/>
          <a:p>
            <a:pPr marL="742950" indent="-742950" algn="just"/>
            <a:r>
              <a:rPr lang="en-US" dirty="0">
                <a:solidFill>
                  <a:schemeClr val="tx1"/>
                </a:solidFill>
              </a:rPr>
              <a:t>	      Be </a:t>
            </a:r>
            <a:r>
              <a:rPr lang="en-US" dirty="0">
                <a:solidFill>
                  <a:srgbClr val="FF0000"/>
                </a:solidFill>
              </a:rPr>
              <a:t>aware</a:t>
            </a:r>
            <a:r>
              <a:rPr lang="en-US" dirty="0">
                <a:solidFill>
                  <a:schemeClr val="tx1"/>
                </a:solidFill>
              </a:rPr>
              <a:t>  and be </a:t>
            </a:r>
            <a:r>
              <a:rPr lang="en-US" dirty="0">
                <a:solidFill>
                  <a:srgbClr val="FF0000"/>
                </a:solidFill>
              </a:rPr>
              <a:t>in control </a:t>
            </a:r>
            <a:r>
              <a:rPr lang="en-US" dirty="0">
                <a:solidFill>
                  <a:schemeClr val="tx1"/>
                </a:solidFill>
              </a:rPr>
              <a:t>of the emotions of  oneself and others.</a:t>
            </a:r>
          </a:p>
          <a:p>
            <a:pPr marL="742950" indent="-742950" algn="just"/>
            <a:r>
              <a:rPr lang="en-US" dirty="0">
                <a:solidFill>
                  <a:schemeClr val="tx1"/>
                </a:solidFill>
              </a:rPr>
              <a:t>			</a:t>
            </a:r>
            <a:r>
              <a:rPr lang="en-US" b="1" dirty="0">
                <a:solidFill>
                  <a:schemeClr val="tx1"/>
                </a:solidFill>
              </a:rPr>
              <a:t>2 aspects of EQ</a:t>
            </a:r>
          </a:p>
          <a:p>
            <a:pPr marL="742950" indent="-742950" algn="just"/>
            <a:r>
              <a:rPr lang="en-US" b="1" dirty="0">
                <a:solidFill>
                  <a:schemeClr val="tx1"/>
                </a:solidFill>
              </a:rPr>
              <a:t>	1. </a:t>
            </a:r>
            <a:r>
              <a:rPr lang="en-US" dirty="0">
                <a:solidFill>
                  <a:schemeClr val="tx1"/>
                </a:solidFill>
              </a:rPr>
              <a:t>understanding </a:t>
            </a:r>
            <a:r>
              <a:rPr lang="en-US" dirty="0">
                <a:solidFill>
                  <a:srgbClr val="FF0000"/>
                </a:solidFill>
              </a:rPr>
              <a:t>oneself.</a:t>
            </a:r>
          </a:p>
          <a:p>
            <a:pPr marL="742950" indent="-742950" algn="just"/>
            <a:r>
              <a:rPr lang="en-US" b="1" dirty="0">
                <a:solidFill>
                  <a:schemeClr val="tx1"/>
                </a:solidFill>
              </a:rPr>
              <a:t>	2. </a:t>
            </a:r>
            <a:r>
              <a:rPr lang="en-US" dirty="0">
                <a:solidFill>
                  <a:schemeClr val="tx1"/>
                </a:solidFill>
              </a:rPr>
              <a:t>understanding </a:t>
            </a:r>
            <a:r>
              <a:rPr lang="en-US" dirty="0">
                <a:solidFill>
                  <a:srgbClr val="FF0000"/>
                </a:solidFill>
              </a:rPr>
              <a:t>others</a:t>
            </a:r>
            <a:r>
              <a:rPr lang="en-US" dirty="0">
                <a:solidFill>
                  <a:schemeClr val="tx1"/>
                </a:solidFill>
              </a:rPr>
              <a:t> and their feelings.</a:t>
            </a:r>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54" y="242862"/>
            <a:ext cx="9286940" cy="714380"/>
          </a:xfrm>
        </p:spPr>
        <p:txBody>
          <a:bodyPr>
            <a:noAutofit/>
          </a:bodyPr>
          <a:lstStyle/>
          <a:p>
            <a:pPr algn="l"/>
            <a:r>
              <a:rPr lang="en-US" sz="4000" dirty="0">
                <a:latin typeface="Bernard MT Condensed" pitchFamily="18" charset="0"/>
              </a:rPr>
              <a:t>h. Hierarchy of Needs ( Abraham Maslow)</a:t>
            </a:r>
          </a:p>
        </p:txBody>
      </p:sp>
      <p:sp>
        <p:nvSpPr>
          <p:cNvPr id="3" name="Subtitle 2"/>
          <p:cNvSpPr>
            <a:spLocks noGrp="1"/>
          </p:cNvSpPr>
          <p:nvPr>
            <p:ph type="subTitle" idx="1"/>
          </p:nvPr>
        </p:nvSpPr>
        <p:spPr>
          <a:xfrm>
            <a:off x="314292" y="885804"/>
            <a:ext cx="9429816" cy="5572164"/>
          </a:xfrm>
        </p:spPr>
        <p:txBody>
          <a:bodyPr/>
          <a:lstStyle/>
          <a:p>
            <a:pPr marL="742950" indent="-742950" algn="just"/>
            <a:endParaRPr lang="en-US" dirty="0">
              <a:solidFill>
                <a:schemeClr val="tx1"/>
              </a:solidFill>
            </a:endParaRPr>
          </a:p>
        </p:txBody>
      </p:sp>
      <p:pic>
        <p:nvPicPr>
          <p:cNvPr id="4098" name="Picture 2" descr="C:\Users\lizel\Documents\Desktop\self-actualization.jpg"/>
          <p:cNvPicPr>
            <a:picLocks noChangeAspect="1" noChangeArrowheads="1"/>
          </p:cNvPicPr>
          <p:nvPr/>
        </p:nvPicPr>
        <p:blipFill>
          <a:blip r:embed="rId2"/>
          <a:srcRect/>
          <a:stretch>
            <a:fillRect/>
          </a:stretch>
        </p:blipFill>
        <p:spPr bwMode="auto">
          <a:xfrm>
            <a:off x="242854" y="885804"/>
            <a:ext cx="9572692" cy="5929354"/>
          </a:xfrm>
          <a:prstGeom prst="rect">
            <a:avLst/>
          </a:prstGeom>
          <a:noFill/>
        </p:spPr>
      </p:pic>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 calcmode="lin" valueType="num">
                                      <p:cBhvr additive="base">
                                        <p:cTn id="13" dur="500" fill="hold"/>
                                        <p:tgtEl>
                                          <p:spTgt spid="4098"/>
                                        </p:tgtEl>
                                        <p:attrNameLst>
                                          <p:attrName>ppt_x</p:attrName>
                                        </p:attrNameLst>
                                      </p:cBhvr>
                                      <p:tavLst>
                                        <p:tav tm="0">
                                          <p:val>
                                            <p:strVal val="#ppt_x"/>
                                          </p:val>
                                        </p:tav>
                                        <p:tav tm="100000">
                                          <p:val>
                                            <p:strVal val="#ppt_x"/>
                                          </p:val>
                                        </p:tav>
                                      </p:tavLst>
                                    </p:anim>
                                    <p:anim calcmode="lin" valueType="num">
                                      <p:cBhvr additive="base">
                                        <p:cTn id="14"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5774" y="242862"/>
            <a:ext cx="8549640" cy="642942"/>
          </a:xfrm>
        </p:spPr>
        <p:txBody>
          <a:bodyPr>
            <a:noAutofit/>
          </a:bodyPr>
          <a:lstStyle/>
          <a:p>
            <a:pPr algn="l"/>
            <a:r>
              <a:rPr lang="en-US" sz="4000" dirty="0">
                <a:latin typeface="Bernard MT Condensed" pitchFamily="18" charset="0"/>
              </a:rPr>
              <a:t>g. LAD ( Noam Chomsky)</a:t>
            </a:r>
          </a:p>
        </p:txBody>
      </p:sp>
      <p:sp>
        <p:nvSpPr>
          <p:cNvPr id="3" name="Subtitle 2"/>
          <p:cNvSpPr>
            <a:spLocks noGrp="1"/>
          </p:cNvSpPr>
          <p:nvPr>
            <p:ph type="subTitle" idx="1"/>
          </p:nvPr>
        </p:nvSpPr>
        <p:spPr>
          <a:xfrm>
            <a:off x="314292" y="885804"/>
            <a:ext cx="9358378" cy="5643602"/>
          </a:xfrm>
        </p:spPr>
        <p:txBody>
          <a:bodyPr/>
          <a:lstStyle/>
          <a:p>
            <a:pPr marL="742950" indent="-742950" algn="just"/>
            <a:r>
              <a:rPr lang="en-US" dirty="0">
                <a:solidFill>
                  <a:schemeClr val="tx1"/>
                </a:solidFill>
              </a:rPr>
              <a:t>		- is a hypothetical module of the human mind posited to account for children’ s innate predisposition for language acquisition.</a:t>
            </a:r>
          </a:p>
          <a:p>
            <a:pPr marL="742950" indent="-742950" algn="just"/>
            <a:r>
              <a:rPr lang="en-US" dirty="0">
                <a:solidFill>
                  <a:schemeClr val="tx1"/>
                </a:solidFill>
              </a:rPr>
              <a:t>		- the LAD concept is an instinctive  mental capacity  which enables an infant to acquire  and produce language.</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5774" y="242862"/>
            <a:ext cx="8549640" cy="714380"/>
          </a:xfrm>
        </p:spPr>
        <p:txBody>
          <a:bodyPr>
            <a:noAutofit/>
          </a:bodyPr>
          <a:lstStyle/>
          <a:p>
            <a:pPr algn="l"/>
            <a:r>
              <a:rPr lang="en-US" sz="4000" dirty="0" err="1">
                <a:latin typeface="Bernard MT Condensed" pitchFamily="18" charset="0"/>
              </a:rPr>
              <a:t>i</a:t>
            </a:r>
            <a:r>
              <a:rPr lang="en-US" sz="4000" dirty="0">
                <a:latin typeface="Bernard MT Condensed" pitchFamily="18" charset="0"/>
              </a:rPr>
              <a:t>. Parenting Styles (Diana </a:t>
            </a:r>
            <a:r>
              <a:rPr lang="en-US" sz="4000" dirty="0" err="1">
                <a:latin typeface="Bernard MT Condensed" pitchFamily="18" charset="0"/>
              </a:rPr>
              <a:t>Baumrind</a:t>
            </a:r>
            <a:r>
              <a:rPr lang="en-US" sz="4000" dirty="0">
                <a:latin typeface="Bernard MT Condensed" pitchFamily="18" charset="0"/>
              </a:rPr>
              <a:t>)</a:t>
            </a:r>
          </a:p>
        </p:txBody>
      </p:sp>
      <p:sp>
        <p:nvSpPr>
          <p:cNvPr id="3" name="Subtitle 2"/>
          <p:cNvSpPr>
            <a:spLocks noGrp="1"/>
          </p:cNvSpPr>
          <p:nvPr>
            <p:ph type="subTitle" idx="1"/>
          </p:nvPr>
        </p:nvSpPr>
        <p:spPr>
          <a:xfrm>
            <a:off x="385730" y="957242"/>
            <a:ext cx="9358378" cy="5572164"/>
          </a:xfrm>
        </p:spPr>
        <p:txBody>
          <a:bodyPr/>
          <a:lstStyle/>
          <a:p>
            <a:pPr marL="742950" indent="-742950"/>
            <a:r>
              <a:rPr lang="en-US" b="1" dirty="0">
                <a:solidFill>
                  <a:schemeClr val="tx1"/>
                </a:solidFill>
              </a:rPr>
              <a:t>Dimensions of parenting behavior</a:t>
            </a:r>
          </a:p>
          <a:p>
            <a:pPr marL="742950" indent="-742950" algn="l">
              <a:buFont typeface="Wingdings" pitchFamily="2" charset="2"/>
              <a:buChar char="Ø"/>
            </a:pPr>
            <a:r>
              <a:rPr lang="en-US" b="1" dirty="0">
                <a:solidFill>
                  <a:schemeClr val="tx1"/>
                </a:solidFill>
              </a:rPr>
              <a:t> Demanding- </a:t>
            </a:r>
            <a:r>
              <a:rPr lang="en-US" dirty="0">
                <a:solidFill>
                  <a:schemeClr val="tx1"/>
                </a:solidFill>
              </a:rPr>
              <a:t>refers to the extend parents </a:t>
            </a:r>
            <a:r>
              <a:rPr lang="en-US" dirty="0">
                <a:solidFill>
                  <a:srgbClr val="FF0000"/>
                </a:solidFill>
              </a:rPr>
              <a:t>control</a:t>
            </a:r>
            <a:r>
              <a:rPr lang="en-US" dirty="0">
                <a:solidFill>
                  <a:schemeClr val="tx1"/>
                </a:solidFill>
              </a:rPr>
              <a:t> their  children’s behavior or demand their maturity.</a:t>
            </a:r>
          </a:p>
          <a:p>
            <a:pPr marL="742950" indent="-742950" algn="l">
              <a:buFont typeface="Wingdings" pitchFamily="2" charset="2"/>
              <a:buChar char="Ø"/>
            </a:pPr>
            <a:r>
              <a:rPr lang="en-US" b="1" dirty="0">
                <a:solidFill>
                  <a:schemeClr val="tx1"/>
                </a:solidFill>
              </a:rPr>
              <a:t> Responsiveness- </a:t>
            </a:r>
            <a:r>
              <a:rPr lang="en-US" dirty="0">
                <a:solidFill>
                  <a:schemeClr val="tx1"/>
                </a:solidFill>
              </a:rPr>
              <a:t>refers to the degree parents are </a:t>
            </a:r>
            <a:r>
              <a:rPr lang="en-US" dirty="0">
                <a:solidFill>
                  <a:srgbClr val="FF0000"/>
                </a:solidFill>
              </a:rPr>
              <a:t>accepting and sensitive </a:t>
            </a:r>
            <a:r>
              <a:rPr lang="en-US" dirty="0">
                <a:solidFill>
                  <a:schemeClr val="tx1"/>
                </a:solidFill>
              </a:rPr>
              <a:t>to their children’s emotional and developmental needs.</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243126"/>
            <a:ext cx="3500462"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429816" cy="6628685"/>
          </a:xfrm>
        </p:spPr>
        <p:txBody>
          <a:bodyPr/>
          <a:lstStyle/>
          <a:p>
            <a:pPr>
              <a:buNone/>
            </a:pPr>
            <a:r>
              <a:rPr lang="en-PH" b="1" dirty="0"/>
              <a:t>Question: </a:t>
            </a:r>
            <a:r>
              <a:rPr lang="en-PH" dirty="0"/>
              <a:t>What parenting styles when parents impose rules and expect obedience?</a:t>
            </a:r>
          </a:p>
          <a:p>
            <a:pPr marL="742950" indent="-742950">
              <a:buAutoNum type="alphaUcPeriod"/>
            </a:pPr>
            <a:r>
              <a:rPr lang="en-PH" dirty="0"/>
              <a:t>Permissive</a:t>
            </a:r>
          </a:p>
          <a:p>
            <a:pPr marL="742950" indent="-742950">
              <a:buAutoNum type="alphaUcPeriod"/>
            </a:pPr>
            <a:r>
              <a:rPr lang="en-PH" dirty="0"/>
              <a:t> Authoritarian</a:t>
            </a:r>
          </a:p>
          <a:p>
            <a:pPr marL="742950" indent="-742950">
              <a:buAutoNum type="alphaUcPeriod"/>
            </a:pPr>
            <a:r>
              <a:rPr lang="en-PH" dirty="0"/>
              <a:t> Authoritative</a:t>
            </a:r>
          </a:p>
          <a:p>
            <a:pPr marL="742950" indent="-742950">
              <a:buAutoNum type="alphaUcPeriod"/>
            </a:pPr>
            <a:r>
              <a:rPr lang="en-PH" dirty="0"/>
              <a:t> </a:t>
            </a:r>
            <a:r>
              <a:rPr lang="en-PH" dirty="0" err="1"/>
              <a:t>Neglecful</a:t>
            </a:r>
            <a:endParaRPr lang="en-PH" dirty="0"/>
          </a:p>
          <a:p>
            <a:pPr>
              <a:buNone/>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5730" y="3957638"/>
            <a:ext cx="3143272"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429816" cy="6628685"/>
          </a:xfrm>
        </p:spPr>
        <p:txBody>
          <a:bodyPr/>
          <a:lstStyle/>
          <a:p>
            <a:pPr>
              <a:buNone/>
            </a:pPr>
            <a:r>
              <a:rPr lang="en-PH" b="1" dirty="0"/>
              <a:t>Question:  </a:t>
            </a:r>
            <a:r>
              <a:rPr lang="en-PH" dirty="0"/>
              <a:t>Parents submit to their child’s desires. They make few demands and use little punishment. In which parenting styles does this item fall?</a:t>
            </a:r>
          </a:p>
          <a:p>
            <a:pPr marL="742950" indent="-742950">
              <a:buAutoNum type="alphaUcPeriod"/>
            </a:pPr>
            <a:r>
              <a:rPr lang="en-PH" dirty="0"/>
              <a:t>Authoritarian</a:t>
            </a:r>
          </a:p>
          <a:p>
            <a:pPr marL="742950" indent="-742950">
              <a:buAutoNum type="alphaUcPeriod"/>
            </a:pPr>
            <a:r>
              <a:rPr lang="en-PH" dirty="0"/>
              <a:t> Neglectful</a:t>
            </a:r>
          </a:p>
          <a:p>
            <a:pPr marL="742950" indent="-742950">
              <a:buAutoNum type="alphaUcPeriod"/>
            </a:pPr>
            <a:r>
              <a:rPr lang="en-PH" dirty="0"/>
              <a:t> Permissive</a:t>
            </a:r>
          </a:p>
          <a:p>
            <a:pPr marL="742950" indent="-742950">
              <a:buAutoNum type="alphaUcPeriod"/>
            </a:pPr>
            <a:r>
              <a:rPr lang="en-PH" dirty="0"/>
              <a:t> Authoritative</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457308"/>
            <a:ext cx="8549640" cy="2123136"/>
          </a:xfrm>
        </p:spPr>
        <p:txBody>
          <a:bodyPr>
            <a:noAutofit/>
          </a:bodyPr>
          <a:lstStyle/>
          <a:p>
            <a:r>
              <a:rPr lang="en-US" sz="6600" dirty="0">
                <a:latin typeface="Bernard MT Condensed" pitchFamily="18" charset="0"/>
              </a:rPr>
              <a:t>V. Special Education</a:t>
            </a:r>
          </a:p>
        </p:txBody>
      </p:sp>
      <p:sp>
        <p:nvSpPr>
          <p:cNvPr id="4" name="Subtitle 3"/>
          <p:cNvSpPr>
            <a:spLocks noGrp="1"/>
          </p:cNvSpPr>
          <p:nvPr>
            <p:ph type="subTitle" idx="1"/>
          </p:nvPr>
        </p:nvSpPr>
        <p:spPr/>
        <p:txBody>
          <a:bodyPr/>
          <a:lstStyle/>
          <a:p>
            <a:endParaRPr lang="en-PH"/>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5730" y="242862"/>
            <a:ext cx="9358378" cy="785818"/>
          </a:xfrm>
        </p:spPr>
        <p:txBody>
          <a:bodyPr>
            <a:noAutofit/>
          </a:bodyPr>
          <a:lstStyle/>
          <a:p>
            <a:r>
              <a:rPr lang="en-US" sz="4000" dirty="0">
                <a:latin typeface="Bernard MT Condensed" pitchFamily="18" charset="0"/>
              </a:rPr>
              <a:t>a. ADHD</a:t>
            </a:r>
          </a:p>
        </p:txBody>
      </p:sp>
      <p:sp>
        <p:nvSpPr>
          <p:cNvPr id="3" name="Subtitle 2"/>
          <p:cNvSpPr>
            <a:spLocks noGrp="1"/>
          </p:cNvSpPr>
          <p:nvPr>
            <p:ph type="subTitle" idx="1"/>
          </p:nvPr>
        </p:nvSpPr>
        <p:spPr>
          <a:xfrm>
            <a:off x="385730" y="957242"/>
            <a:ext cx="9358378" cy="5500726"/>
          </a:xfrm>
        </p:spPr>
        <p:txBody>
          <a:bodyPr/>
          <a:lstStyle/>
          <a:p>
            <a:pPr marL="742950" indent="-742950" algn="just">
              <a:buFont typeface="Wingdings" pitchFamily="2" charset="2"/>
              <a:buChar char="ü"/>
            </a:pPr>
            <a:r>
              <a:rPr lang="en-US" dirty="0">
                <a:solidFill>
                  <a:schemeClr val="tx1"/>
                </a:solidFill>
              </a:rPr>
              <a:t> difficulty sustaining attention</a:t>
            </a:r>
          </a:p>
          <a:p>
            <a:pPr marL="742950" indent="-742950" algn="just">
              <a:buFont typeface="Wingdings" pitchFamily="2" charset="2"/>
              <a:buChar char="ü"/>
            </a:pPr>
            <a:r>
              <a:rPr lang="en-US" dirty="0">
                <a:solidFill>
                  <a:schemeClr val="tx1"/>
                </a:solidFill>
              </a:rPr>
              <a:t> struggling to follow instruction</a:t>
            </a:r>
          </a:p>
          <a:p>
            <a:pPr marL="742950" indent="-742950" algn="just">
              <a:buFont typeface="Wingdings" pitchFamily="2" charset="2"/>
              <a:buChar char="ü"/>
            </a:pPr>
            <a:r>
              <a:rPr lang="en-US" dirty="0">
                <a:solidFill>
                  <a:schemeClr val="tx1"/>
                </a:solidFill>
              </a:rPr>
              <a:t> difficulty with organization</a:t>
            </a:r>
          </a:p>
          <a:p>
            <a:pPr marL="742950" indent="-742950" algn="just">
              <a:buFont typeface="Wingdings" pitchFamily="2" charset="2"/>
              <a:buChar char="ü"/>
            </a:pPr>
            <a:r>
              <a:rPr lang="en-US" dirty="0">
                <a:solidFill>
                  <a:schemeClr val="tx1"/>
                </a:solidFill>
              </a:rPr>
              <a:t>difficulty waiting or taking turns</a:t>
            </a:r>
          </a:p>
          <a:p>
            <a:pPr marL="742950" indent="-742950" algn="just">
              <a:buFont typeface="Wingdings" pitchFamily="2" charset="2"/>
              <a:buChar char="ü"/>
            </a:pPr>
            <a:r>
              <a:rPr lang="en-US" dirty="0">
                <a:solidFill>
                  <a:schemeClr val="tx1"/>
                </a:solidFill>
              </a:rPr>
              <a:t> talking excessively</a:t>
            </a:r>
          </a:p>
          <a:p>
            <a:pPr marL="742950" indent="-742950" algn="just">
              <a:buFont typeface="Wingdings" pitchFamily="2" charset="2"/>
              <a:buChar char="ü"/>
            </a:pPr>
            <a:r>
              <a:rPr lang="en-US" dirty="0">
                <a:solidFill>
                  <a:schemeClr val="tx1"/>
                </a:solidFill>
              </a:rPr>
              <a:t>Losing things necessary for tasks or activities</a:t>
            </a:r>
          </a:p>
          <a:p>
            <a:pPr marL="742950" indent="-742950" algn="just">
              <a:buFont typeface="Wingdings" pitchFamily="2" charset="2"/>
              <a:buChar char="ü"/>
            </a:pPr>
            <a:r>
              <a:rPr lang="en-US" dirty="0">
                <a:solidFill>
                  <a:schemeClr val="tx1"/>
                </a:solidFill>
              </a:rPr>
              <a:t> interrupting or intruding upon others</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71424"/>
            <a:ext cx="8549640" cy="785818"/>
          </a:xfrm>
        </p:spPr>
        <p:txBody>
          <a:bodyPr>
            <a:noAutofit/>
          </a:bodyPr>
          <a:lstStyle/>
          <a:p>
            <a:r>
              <a:rPr lang="en-US" sz="4000" dirty="0">
                <a:latin typeface="Bernard MT Condensed" pitchFamily="18" charset="0"/>
              </a:rPr>
              <a:t>b. Learning Disabilities </a:t>
            </a:r>
          </a:p>
        </p:txBody>
      </p:sp>
      <p:sp>
        <p:nvSpPr>
          <p:cNvPr id="3" name="Subtitle 2"/>
          <p:cNvSpPr>
            <a:spLocks noGrp="1"/>
          </p:cNvSpPr>
          <p:nvPr>
            <p:ph type="subTitle" idx="1"/>
          </p:nvPr>
        </p:nvSpPr>
        <p:spPr>
          <a:xfrm>
            <a:off x="385730" y="957242"/>
            <a:ext cx="9286940" cy="5500726"/>
          </a:xfrm>
        </p:spPr>
        <p:txBody>
          <a:bodyPr/>
          <a:lstStyle/>
          <a:p>
            <a:pPr marL="742950" indent="-742950" algn="just"/>
            <a:r>
              <a:rPr lang="en-US" b="1" dirty="0">
                <a:solidFill>
                  <a:schemeClr val="tx1"/>
                </a:solidFill>
              </a:rPr>
              <a:t>Dyslexia-  </a:t>
            </a:r>
            <a:r>
              <a:rPr lang="en-US" dirty="0">
                <a:solidFill>
                  <a:schemeClr val="tx1"/>
                </a:solidFill>
              </a:rPr>
              <a:t>a language and reading disability</a:t>
            </a:r>
            <a:endParaRPr lang="en-US" b="1" dirty="0">
              <a:solidFill>
                <a:schemeClr val="tx1"/>
              </a:solidFill>
            </a:endParaRPr>
          </a:p>
          <a:p>
            <a:pPr marL="742950" indent="-742950" algn="just"/>
            <a:r>
              <a:rPr lang="en-US" b="1" dirty="0">
                <a:solidFill>
                  <a:schemeClr val="tx1"/>
                </a:solidFill>
              </a:rPr>
              <a:t>Dyscalculia-  </a:t>
            </a:r>
            <a:r>
              <a:rPr lang="en-US" dirty="0">
                <a:solidFill>
                  <a:schemeClr val="tx1"/>
                </a:solidFill>
              </a:rPr>
              <a:t>problems with arithmetic and math concepts</a:t>
            </a:r>
            <a:endParaRPr lang="en-US" b="1" dirty="0">
              <a:solidFill>
                <a:schemeClr val="tx1"/>
              </a:solidFill>
            </a:endParaRPr>
          </a:p>
          <a:p>
            <a:pPr marL="742950" indent="-742950" algn="just"/>
            <a:r>
              <a:rPr lang="en-US" b="1" dirty="0" err="1">
                <a:solidFill>
                  <a:schemeClr val="tx1"/>
                </a:solidFill>
              </a:rPr>
              <a:t>Dysgraphia</a:t>
            </a:r>
            <a:r>
              <a:rPr lang="en-US" b="1" dirty="0">
                <a:solidFill>
                  <a:schemeClr val="tx1"/>
                </a:solidFill>
              </a:rPr>
              <a:t>- </a:t>
            </a:r>
            <a:r>
              <a:rPr lang="en-US" dirty="0">
                <a:solidFill>
                  <a:schemeClr val="tx1"/>
                </a:solidFill>
              </a:rPr>
              <a:t>a writing disorder resulting in illegibility</a:t>
            </a:r>
            <a:endParaRPr lang="en-US" b="1"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2862"/>
            <a:ext cx="8549640" cy="785818"/>
          </a:xfrm>
        </p:spPr>
        <p:txBody>
          <a:bodyPr>
            <a:noAutofit/>
          </a:bodyPr>
          <a:lstStyle/>
          <a:p>
            <a:r>
              <a:rPr lang="en-US" sz="4000" dirty="0">
                <a:latin typeface="Bernard MT Condensed" pitchFamily="18" charset="0"/>
              </a:rPr>
              <a:t>c. Autism Spectrum Disorder</a:t>
            </a:r>
          </a:p>
        </p:txBody>
      </p:sp>
      <p:sp>
        <p:nvSpPr>
          <p:cNvPr id="3" name="Subtitle 2"/>
          <p:cNvSpPr>
            <a:spLocks noGrp="1"/>
          </p:cNvSpPr>
          <p:nvPr>
            <p:ph type="subTitle" idx="1"/>
          </p:nvPr>
        </p:nvSpPr>
        <p:spPr>
          <a:xfrm>
            <a:off x="385730" y="1028680"/>
            <a:ext cx="9286940" cy="5357850"/>
          </a:xfrm>
        </p:spPr>
        <p:txBody>
          <a:bodyPr>
            <a:normAutofit lnSpcReduction="10000"/>
          </a:bodyPr>
          <a:lstStyle/>
          <a:p>
            <a:pPr marL="742950" indent="-742950" algn="just"/>
            <a:r>
              <a:rPr lang="en-US" dirty="0">
                <a:solidFill>
                  <a:schemeClr val="tx1"/>
                </a:solidFill>
              </a:rPr>
              <a:t>		- is a developmental disorder that affects communication and behavior.</a:t>
            </a:r>
          </a:p>
          <a:p>
            <a:pPr marL="742950" indent="-742950" algn="just"/>
            <a:r>
              <a:rPr lang="en-US" dirty="0">
                <a:solidFill>
                  <a:schemeClr val="tx1"/>
                </a:solidFill>
              </a:rPr>
              <a:t>			</a:t>
            </a:r>
            <a:r>
              <a:rPr lang="en-US" b="1" dirty="0">
                <a:solidFill>
                  <a:schemeClr val="tx1"/>
                </a:solidFill>
              </a:rPr>
              <a:t>People with ASD have;</a:t>
            </a:r>
          </a:p>
          <a:p>
            <a:pPr marL="742950" indent="-742950" algn="just">
              <a:buFont typeface="Arial" pitchFamily="34" charset="0"/>
              <a:buChar char="•"/>
            </a:pPr>
            <a:r>
              <a:rPr lang="en-US" dirty="0">
                <a:solidFill>
                  <a:schemeClr val="tx1"/>
                </a:solidFill>
              </a:rPr>
              <a:t> Difficulty with communication and interaction with other people</a:t>
            </a:r>
          </a:p>
          <a:p>
            <a:pPr marL="742950" indent="-742950" algn="just">
              <a:buFont typeface="Arial" pitchFamily="34" charset="0"/>
              <a:buChar char="•"/>
            </a:pPr>
            <a:r>
              <a:rPr lang="en-US" dirty="0">
                <a:solidFill>
                  <a:schemeClr val="tx1"/>
                </a:solidFill>
              </a:rPr>
              <a:t> Restricted interests and repetitive behaviors</a:t>
            </a:r>
          </a:p>
          <a:p>
            <a:pPr marL="742950" indent="-742950" algn="just">
              <a:buFont typeface="Arial" pitchFamily="34" charset="0"/>
              <a:buChar char="•"/>
            </a:pPr>
            <a:r>
              <a:rPr lang="en-US" dirty="0">
                <a:solidFill>
                  <a:schemeClr val="tx1"/>
                </a:solidFill>
              </a:rPr>
              <a:t> Symptoms that hurt the person’s ability to function properly in school, work, and other areas of life</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71424"/>
            <a:ext cx="8549640" cy="642942"/>
          </a:xfrm>
        </p:spPr>
        <p:txBody>
          <a:bodyPr>
            <a:noAutofit/>
          </a:bodyPr>
          <a:lstStyle/>
          <a:p>
            <a:r>
              <a:rPr lang="en-US" sz="4000" dirty="0">
                <a:latin typeface="Bernard MT Condensed" pitchFamily="18" charset="0"/>
              </a:rPr>
              <a:t>d. Intellectual Disability</a:t>
            </a:r>
          </a:p>
        </p:txBody>
      </p:sp>
      <p:sp>
        <p:nvSpPr>
          <p:cNvPr id="3" name="Subtitle 2"/>
          <p:cNvSpPr>
            <a:spLocks noGrp="1"/>
          </p:cNvSpPr>
          <p:nvPr>
            <p:ph type="subTitle" idx="1"/>
          </p:nvPr>
        </p:nvSpPr>
        <p:spPr>
          <a:xfrm>
            <a:off x="528606" y="957242"/>
            <a:ext cx="8929750" cy="5500726"/>
          </a:xfrm>
        </p:spPr>
        <p:txBody>
          <a:bodyPr/>
          <a:lstStyle/>
          <a:p>
            <a:pPr marL="742950" indent="-742950" algn="just">
              <a:buFontTx/>
              <a:buChar char="-"/>
            </a:pPr>
            <a:r>
              <a:rPr lang="en-US" dirty="0">
                <a:solidFill>
                  <a:schemeClr val="tx1"/>
                </a:solidFill>
              </a:rPr>
              <a:t>Is a disability characterized by significant </a:t>
            </a:r>
            <a:r>
              <a:rPr lang="en-US" dirty="0">
                <a:solidFill>
                  <a:srgbClr val="C00000"/>
                </a:solidFill>
              </a:rPr>
              <a:t>limitations</a:t>
            </a:r>
            <a:r>
              <a:rPr lang="en-US" dirty="0">
                <a:solidFill>
                  <a:schemeClr val="tx1"/>
                </a:solidFill>
              </a:rPr>
              <a:t> both in </a:t>
            </a:r>
            <a:r>
              <a:rPr lang="en-US" dirty="0">
                <a:solidFill>
                  <a:srgbClr val="C00000"/>
                </a:solidFill>
              </a:rPr>
              <a:t>intellectual functioning </a:t>
            </a:r>
            <a:r>
              <a:rPr lang="en-US" dirty="0">
                <a:solidFill>
                  <a:schemeClr val="tx1"/>
                </a:solidFill>
              </a:rPr>
              <a:t>( reasoning, learning, problem solving) and in </a:t>
            </a:r>
            <a:r>
              <a:rPr lang="en-US" dirty="0">
                <a:solidFill>
                  <a:srgbClr val="C00000"/>
                </a:solidFill>
              </a:rPr>
              <a:t>adaptive behavior</a:t>
            </a:r>
            <a:r>
              <a:rPr lang="en-US" dirty="0">
                <a:solidFill>
                  <a:schemeClr val="tx1"/>
                </a:solidFill>
              </a:rPr>
              <a:t>, which covers a range of everyday social and practical skills.</a:t>
            </a:r>
          </a:p>
          <a:p>
            <a:pPr marL="742950" indent="-742950" algn="just">
              <a:buFontTx/>
              <a:buChar char="-"/>
            </a:pPr>
            <a:r>
              <a:rPr lang="en-US" dirty="0">
                <a:solidFill>
                  <a:schemeClr val="tx1"/>
                </a:solidFill>
              </a:rPr>
              <a:t>This disability originates before the age of 18. </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8716" y="171424"/>
            <a:ext cx="8549640" cy="785818"/>
          </a:xfrm>
        </p:spPr>
        <p:txBody>
          <a:bodyPr>
            <a:noAutofit/>
          </a:bodyPr>
          <a:lstStyle/>
          <a:p>
            <a:r>
              <a:rPr lang="en-US" sz="4000" dirty="0">
                <a:latin typeface="Bernard MT Condensed" pitchFamily="18" charset="0"/>
              </a:rPr>
              <a:t>e. Down Syndrome ( </a:t>
            </a:r>
            <a:r>
              <a:rPr lang="en-US" sz="4000" dirty="0" err="1">
                <a:latin typeface="Bernard MT Condensed" pitchFamily="18" charset="0"/>
              </a:rPr>
              <a:t>Trisomy</a:t>
            </a:r>
            <a:r>
              <a:rPr lang="en-US" sz="4000" dirty="0">
                <a:latin typeface="Bernard MT Condensed" pitchFamily="18" charset="0"/>
              </a:rPr>
              <a:t> 21)</a:t>
            </a:r>
          </a:p>
        </p:txBody>
      </p:sp>
      <p:sp>
        <p:nvSpPr>
          <p:cNvPr id="3" name="Subtitle 2"/>
          <p:cNvSpPr>
            <a:spLocks noGrp="1"/>
          </p:cNvSpPr>
          <p:nvPr>
            <p:ph type="subTitle" idx="1"/>
          </p:nvPr>
        </p:nvSpPr>
        <p:spPr>
          <a:xfrm>
            <a:off x="385730" y="957242"/>
            <a:ext cx="9358378" cy="5572164"/>
          </a:xfrm>
        </p:spPr>
        <p:txBody>
          <a:bodyPr/>
          <a:lstStyle/>
          <a:p>
            <a:pPr marL="742950" indent="-742950" algn="just"/>
            <a:r>
              <a:rPr lang="en-US" dirty="0">
                <a:solidFill>
                  <a:schemeClr val="tx1"/>
                </a:solidFill>
              </a:rPr>
              <a:t>	- is a condition in which a person is born with an extra chromosomes.</a:t>
            </a:r>
          </a:p>
          <a:p>
            <a:pPr marL="742950" indent="-742950" algn="just"/>
            <a:r>
              <a:rPr lang="en-US" dirty="0">
                <a:solidFill>
                  <a:schemeClr val="tx1"/>
                </a:solidFill>
              </a:rPr>
              <a:t>	- is a genetic disorder that involves birth defects, intellectual disabilities, characteristic facial features. </a:t>
            </a:r>
          </a:p>
          <a:p>
            <a:pPr marL="742950" indent="-742950" algn="just"/>
            <a:r>
              <a:rPr lang="en-US" dirty="0">
                <a:solidFill>
                  <a:schemeClr val="tx1"/>
                </a:solidFill>
              </a:rPr>
              <a:t>	- it often involves heart defects, visual and hearing impairments, and other health problems.</a:t>
            </a:r>
          </a:p>
        </p:txBody>
      </p:sp>
    </p:spTree>
    <p:extLst>
      <p:ext uri="{BB962C8B-B14F-4D97-AF65-F5344CB8AC3E}">
        <p14:creationId xmlns:p14="http://schemas.microsoft.com/office/powerpoint/2010/main" val="2306496721"/>
      </p:ext>
    </p:extLst>
  </p:cSld>
  <p:clrMapOvr>
    <a:masterClrMapping/>
  </p:clrMapOvr>
  <p:transition spd="med" advClick="0"/>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71424"/>
            <a:ext cx="8549640" cy="785818"/>
          </a:xfrm>
        </p:spPr>
        <p:txBody>
          <a:bodyPr>
            <a:noAutofit/>
          </a:bodyPr>
          <a:lstStyle/>
          <a:p>
            <a:r>
              <a:rPr lang="en-US" sz="4000" dirty="0">
                <a:latin typeface="Bernard MT Condensed" pitchFamily="18" charset="0"/>
              </a:rPr>
              <a:t>f. Gifted and Talented Children</a:t>
            </a:r>
          </a:p>
        </p:txBody>
      </p:sp>
      <p:sp>
        <p:nvSpPr>
          <p:cNvPr id="3" name="Subtitle 2"/>
          <p:cNvSpPr>
            <a:spLocks noGrp="1"/>
          </p:cNvSpPr>
          <p:nvPr>
            <p:ph type="subTitle" idx="1"/>
          </p:nvPr>
        </p:nvSpPr>
        <p:spPr>
          <a:xfrm>
            <a:off x="242854" y="885804"/>
            <a:ext cx="9501254" cy="5786478"/>
          </a:xfrm>
        </p:spPr>
        <p:txBody>
          <a:bodyPr/>
          <a:lstStyle/>
          <a:p>
            <a:pPr marL="742950" indent="-742950" algn="just"/>
            <a:r>
              <a:rPr lang="en-US" dirty="0">
                <a:solidFill>
                  <a:schemeClr val="tx1"/>
                </a:solidFill>
              </a:rPr>
              <a:t> 	- means those persons between the ages of four and twenty-one whose abilities, talents, and potential for accomplishment are so </a:t>
            </a:r>
            <a:r>
              <a:rPr lang="en-US" dirty="0">
                <a:solidFill>
                  <a:srgbClr val="C00000"/>
                </a:solidFill>
              </a:rPr>
              <a:t>exceptional</a:t>
            </a:r>
            <a:r>
              <a:rPr lang="en-US" dirty="0">
                <a:solidFill>
                  <a:schemeClr val="tx1"/>
                </a:solidFill>
              </a:rPr>
              <a:t> or developmentally </a:t>
            </a:r>
            <a:r>
              <a:rPr lang="en-US" dirty="0">
                <a:solidFill>
                  <a:srgbClr val="C00000"/>
                </a:solidFill>
              </a:rPr>
              <a:t>advanced</a:t>
            </a:r>
            <a:r>
              <a:rPr lang="en-US" dirty="0">
                <a:solidFill>
                  <a:schemeClr val="tx1"/>
                </a:solidFill>
              </a:rPr>
              <a:t> that they require special provisions to meet their educational needs. </a:t>
            </a:r>
          </a:p>
        </p:txBody>
      </p:sp>
    </p:spTree>
    <p:extLst>
      <p:ext uri="{BB962C8B-B14F-4D97-AF65-F5344CB8AC3E}">
        <p14:creationId xmlns:p14="http://schemas.microsoft.com/office/powerpoint/2010/main" val="2306496721"/>
      </p:ext>
    </p:extLst>
  </p:cSld>
  <p:clrMapOvr>
    <a:masterClrMapping/>
  </p:clrMapOvr>
  <p:transition spd="med" advClick="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2854" y="242862"/>
            <a:ext cx="9572692" cy="6429420"/>
          </a:xfrm>
        </p:spPr>
        <p:txBody>
          <a:bodyPr>
            <a:normAutofit lnSpcReduction="10000"/>
          </a:bodyPr>
          <a:lstStyle/>
          <a:p>
            <a:pPr marL="742950" indent="-742950" algn="just"/>
            <a:r>
              <a:rPr lang="en-US" dirty="0">
                <a:solidFill>
                  <a:schemeClr val="tx1"/>
                </a:solidFill>
              </a:rPr>
              <a:t> </a:t>
            </a:r>
            <a:r>
              <a:rPr lang="en-US" b="1" dirty="0">
                <a:solidFill>
                  <a:schemeClr val="tx1"/>
                </a:solidFill>
              </a:rPr>
              <a:t>Gifted: </a:t>
            </a:r>
            <a:r>
              <a:rPr lang="en-US" dirty="0">
                <a:solidFill>
                  <a:schemeClr val="tx1"/>
                </a:solidFill>
              </a:rPr>
              <a:t>having extraordinary intellectual ability and creativity.</a:t>
            </a:r>
          </a:p>
          <a:p>
            <a:pPr marL="742950" indent="-742950" algn="just"/>
            <a:r>
              <a:rPr lang="en-US" dirty="0">
                <a:solidFill>
                  <a:schemeClr val="tx1"/>
                </a:solidFill>
              </a:rPr>
              <a:t>			Specific Academic Aptitude</a:t>
            </a:r>
          </a:p>
          <a:p>
            <a:pPr marL="742950" indent="-742950" algn="just"/>
            <a:r>
              <a:rPr lang="en-US" dirty="0">
                <a:solidFill>
                  <a:schemeClr val="tx1"/>
                </a:solidFill>
              </a:rPr>
              <a:t>		* reading 			* writing</a:t>
            </a:r>
          </a:p>
          <a:p>
            <a:pPr marL="742950" indent="-742950" algn="just"/>
            <a:r>
              <a:rPr lang="en-US" dirty="0">
                <a:solidFill>
                  <a:schemeClr val="tx1"/>
                </a:solidFill>
              </a:rPr>
              <a:t>		* math			* science</a:t>
            </a:r>
          </a:p>
          <a:p>
            <a:pPr marL="742950" indent="-742950" algn="just"/>
            <a:r>
              <a:rPr lang="en-US" dirty="0">
                <a:solidFill>
                  <a:schemeClr val="tx1"/>
                </a:solidFill>
              </a:rPr>
              <a:t>		* social studies		* world languages</a:t>
            </a:r>
          </a:p>
          <a:p>
            <a:pPr marL="742950" indent="-742950" algn="just"/>
            <a:r>
              <a:rPr lang="en-US" b="1" dirty="0">
                <a:solidFill>
                  <a:schemeClr val="tx1"/>
                </a:solidFill>
              </a:rPr>
              <a:t>Talented: </a:t>
            </a:r>
            <a:r>
              <a:rPr lang="en-US" dirty="0">
                <a:solidFill>
                  <a:schemeClr val="tx1"/>
                </a:solidFill>
              </a:rPr>
              <a:t>having exceptional skills and ability in a specific area.</a:t>
            </a:r>
          </a:p>
          <a:p>
            <a:pPr marL="742950" indent="-742950" algn="just"/>
            <a:r>
              <a:rPr lang="en-US" dirty="0">
                <a:solidFill>
                  <a:schemeClr val="tx1"/>
                </a:solidFill>
              </a:rPr>
              <a:t>		* arts	     * Musical Abilities      *dance	</a:t>
            </a:r>
          </a:p>
          <a:p>
            <a:pPr marL="742950" indent="-742950" algn="just"/>
            <a:r>
              <a:rPr lang="en-US" dirty="0">
                <a:solidFill>
                  <a:schemeClr val="tx1"/>
                </a:solidFill>
              </a:rPr>
              <a:t>			*Leadership abilities</a:t>
            </a:r>
          </a:p>
          <a:p>
            <a:pPr marL="742950" indent="-742950" algn="just"/>
            <a:r>
              <a:rPr lang="en-US" dirty="0">
                <a:solidFill>
                  <a:schemeClr val="tx1"/>
                </a:solidFill>
              </a:rPr>
              <a:t>			* Creative or Productive thinking</a:t>
            </a:r>
          </a:p>
        </p:txBody>
      </p:sp>
    </p:spTree>
    <p:extLst>
      <p:ext uri="{BB962C8B-B14F-4D97-AF65-F5344CB8AC3E}">
        <p14:creationId xmlns:p14="http://schemas.microsoft.com/office/powerpoint/2010/main" val="2306496721"/>
      </p:ext>
    </p:extLst>
  </p:cSld>
  <p:clrMapOvr>
    <a:masterClrMapping/>
  </p:clrMapOvr>
  <p:transition spd="med" advClick="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71424"/>
            <a:ext cx="8549640" cy="785818"/>
          </a:xfrm>
        </p:spPr>
        <p:txBody>
          <a:bodyPr>
            <a:noAutofit/>
          </a:bodyPr>
          <a:lstStyle/>
          <a:p>
            <a:r>
              <a:rPr lang="en-US" sz="4000" dirty="0">
                <a:latin typeface="Bernard MT Condensed" pitchFamily="18" charset="0"/>
              </a:rPr>
              <a:t>g. Placement</a:t>
            </a:r>
          </a:p>
        </p:txBody>
      </p:sp>
      <p:sp>
        <p:nvSpPr>
          <p:cNvPr id="3" name="Subtitle 2"/>
          <p:cNvSpPr>
            <a:spLocks noGrp="1"/>
          </p:cNvSpPr>
          <p:nvPr>
            <p:ph type="subTitle" idx="1"/>
          </p:nvPr>
        </p:nvSpPr>
        <p:spPr>
          <a:xfrm>
            <a:off x="457168" y="885804"/>
            <a:ext cx="9215502" cy="5572164"/>
          </a:xfrm>
        </p:spPr>
        <p:txBody>
          <a:bodyPr/>
          <a:lstStyle/>
          <a:p>
            <a:pPr marL="742950" indent="-742950" algn="just"/>
            <a:r>
              <a:rPr lang="en-US" b="1" dirty="0">
                <a:solidFill>
                  <a:schemeClr val="tx1"/>
                </a:solidFill>
              </a:rPr>
              <a:t>	- </a:t>
            </a:r>
            <a:r>
              <a:rPr lang="en-US" dirty="0">
                <a:solidFill>
                  <a:schemeClr val="tx1"/>
                </a:solidFill>
              </a:rPr>
              <a:t>refers to the amount of time in each school day that a student spends in the resource or in a general education classroom.</a:t>
            </a:r>
            <a:endParaRPr lang="en-US" b="1" dirty="0">
              <a:solidFill>
                <a:schemeClr val="tx1"/>
              </a:solidFill>
            </a:endParaRPr>
          </a:p>
          <a:p>
            <a:pPr marL="742950" indent="-742950" algn="just"/>
            <a:r>
              <a:rPr lang="en-US" b="1" dirty="0">
                <a:solidFill>
                  <a:schemeClr val="tx1"/>
                </a:solidFill>
              </a:rPr>
              <a:t>Inclusion- </a:t>
            </a:r>
            <a:r>
              <a:rPr lang="en-US" dirty="0">
                <a:solidFill>
                  <a:schemeClr val="tx1"/>
                </a:solidFill>
              </a:rPr>
              <a:t>is about </a:t>
            </a:r>
            <a:r>
              <a:rPr lang="en-US" dirty="0">
                <a:solidFill>
                  <a:srgbClr val="FF0000"/>
                </a:solidFill>
              </a:rPr>
              <a:t>recognizing  and respecting the differences</a:t>
            </a:r>
            <a:r>
              <a:rPr lang="en-US" dirty="0">
                <a:solidFill>
                  <a:schemeClr val="tx1"/>
                </a:solidFill>
              </a:rPr>
              <a:t> among all learners and building on the similarities</a:t>
            </a:r>
            <a:endParaRPr lang="en-US" b="1" dirty="0">
              <a:solidFill>
                <a:schemeClr val="tx1"/>
              </a:solidFill>
            </a:endParaRPr>
          </a:p>
          <a:p>
            <a:pPr marL="742950" indent="-742950" algn="just"/>
            <a:r>
              <a:rPr lang="en-US" b="1" dirty="0">
                <a:solidFill>
                  <a:schemeClr val="tx1"/>
                </a:solidFill>
              </a:rPr>
              <a:t>Mainstream- </a:t>
            </a:r>
            <a:r>
              <a:rPr lang="en-US" dirty="0">
                <a:solidFill>
                  <a:schemeClr val="tx1"/>
                </a:solidFill>
              </a:rPr>
              <a:t>is about getting learners to </a:t>
            </a:r>
            <a:r>
              <a:rPr lang="en-US" dirty="0">
                <a:solidFill>
                  <a:srgbClr val="FF0000"/>
                </a:solidFill>
              </a:rPr>
              <a:t>‘fit into’ </a:t>
            </a:r>
            <a:r>
              <a:rPr lang="en-US" dirty="0">
                <a:solidFill>
                  <a:schemeClr val="tx1"/>
                </a:solidFill>
              </a:rPr>
              <a:t>a particular kind of system or integrating them into this existing system.</a:t>
            </a:r>
          </a:p>
        </p:txBody>
      </p:sp>
    </p:spTree>
    <p:extLst>
      <p:ext uri="{BB962C8B-B14F-4D97-AF65-F5344CB8AC3E}">
        <p14:creationId xmlns:p14="http://schemas.microsoft.com/office/powerpoint/2010/main" val="2306496721"/>
      </p:ext>
    </p:extLst>
  </p:cSld>
  <p:clrMapOvr>
    <a:masterClrMapping/>
  </p:clrMapOvr>
  <p:transition spd="med" advClick="0"/>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9676" y="5170847"/>
            <a:ext cx="3935143"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052560" cy="5857916"/>
          </a:xfrm>
        </p:spPr>
        <p:txBody>
          <a:bodyPr>
            <a:normAutofit/>
          </a:bodyPr>
          <a:lstStyle/>
          <a:p>
            <a:pPr algn="just">
              <a:buNone/>
            </a:pPr>
            <a:r>
              <a:rPr lang="en-PH" dirty="0"/>
              <a:t>Question: Which of the following criteria can be used to define intellectual </a:t>
            </a:r>
            <a:r>
              <a:rPr lang="en-PH" dirty="0" err="1"/>
              <a:t>disabities</a:t>
            </a:r>
            <a:r>
              <a:rPr lang="en-PH" dirty="0"/>
              <a:t>?</a:t>
            </a:r>
          </a:p>
          <a:p>
            <a:pPr marL="742950" indent="-742950" algn="just">
              <a:buAutoNum type="alphaUcPeriod"/>
            </a:pPr>
            <a:r>
              <a:rPr lang="en-PH" dirty="0"/>
              <a:t>Significantly below average intellectual functioning</a:t>
            </a:r>
          </a:p>
          <a:p>
            <a:pPr marL="742950" indent="-742950" algn="just">
              <a:buAutoNum type="alphaUcPeriod"/>
            </a:pPr>
            <a:r>
              <a:rPr lang="en-PH" dirty="0"/>
              <a:t> Impairments in adaptive functioning generally</a:t>
            </a:r>
          </a:p>
          <a:p>
            <a:pPr marL="742950" indent="-742950" algn="just">
              <a:buAutoNum type="alphaUcPeriod"/>
            </a:pPr>
            <a:r>
              <a:rPr lang="en-PH" dirty="0"/>
              <a:t> These deficits should be manifest before the age of 18 years</a:t>
            </a:r>
          </a:p>
          <a:p>
            <a:pPr marL="742950" indent="-742950" algn="just">
              <a:buAutoNum type="alphaUcPeriod"/>
            </a:pPr>
            <a:r>
              <a:rPr lang="en-PH" dirty="0"/>
              <a:t> All of the above</a:t>
            </a:r>
          </a:p>
          <a:p>
            <a:pPr marL="742950" indent="-742950" algn="just">
              <a:buAutoNum type="alphaUcPeriod"/>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1528746"/>
            <a:ext cx="3429024"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052560" cy="5129425"/>
          </a:xfrm>
        </p:spPr>
        <p:txBody>
          <a:bodyPr/>
          <a:lstStyle/>
          <a:p>
            <a:pPr algn="just">
              <a:buNone/>
            </a:pPr>
            <a:r>
              <a:rPr lang="en-PH" dirty="0"/>
              <a:t>Question: Down’s syndrome is a ___________ disorder.</a:t>
            </a:r>
          </a:p>
          <a:p>
            <a:pPr marL="742950" indent="-742950" algn="just">
              <a:buAutoNum type="alphaUcPeriod"/>
            </a:pPr>
            <a:r>
              <a:rPr lang="en-PH" dirty="0"/>
              <a:t>Chromosomal</a:t>
            </a:r>
          </a:p>
          <a:p>
            <a:pPr marL="742950" indent="-742950" algn="just">
              <a:buAutoNum type="alphaUcPeriod"/>
            </a:pPr>
            <a:r>
              <a:rPr lang="en-PH" dirty="0"/>
              <a:t> Sex-linked</a:t>
            </a:r>
          </a:p>
          <a:p>
            <a:pPr marL="742950" indent="-742950" algn="just">
              <a:buAutoNum type="alphaUcPeriod"/>
            </a:pPr>
            <a:r>
              <a:rPr lang="en-PH" dirty="0"/>
              <a:t> Incomplete dominance</a:t>
            </a:r>
          </a:p>
          <a:p>
            <a:pPr marL="742950" indent="-742950" algn="just">
              <a:buAutoNum type="alphaUcPeriod"/>
            </a:pPr>
            <a:r>
              <a:rPr lang="en-PH" dirty="0"/>
              <a:t> Single- gene</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886068"/>
            <a:ext cx="3429024"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052560" cy="5129425"/>
          </a:xfrm>
        </p:spPr>
        <p:txBody>
          <a:bodyPr/>
          <a:lstStyle/>
          <a:p>
            <a:pPr algn="just">
              <a:buNone/>
            </a:pPr>
            <a:r>
              <a:rPr lang="en-PH" dirty="0"/>
              <a:t>Question: In learning disabilities, the name for mathematical disorder is:</a:t>
            </a:r>
          </a:p>
          <a:p>
            <a:pPr marL="742950" indent="-742950" algn="just">
              <a:buAutoNum type="alphaUcPeriod"/>
            </a:pPr>
            <a:r>
              <a:rPr lang="en-PH" dirty="0"/>
              <a:t>Dyspraxia</a:t>
            </a:r>
          </a:p>
          <a:p>
            <a:pPr marL="742950" indent="-742950" algn="just">
              <a:buAutoNum type="alphaUcPeriod"/>
            </a:pPr>
            <a:r>
              <a:rPr lang="en-PH" dirty="0"/>
              <a:t> Dyslexia</a:t>
            </a:r>
          </a:p>
          <a:p>
            <a:pPr marL="742950" indent="-742950" algn="just">
              <a:buAutoNum type="alphaUcPeriod"/>
            </a:pPr>
            <a:r>
              <a:rPr lang="en-PH" dirty="0"/>
              <a:t> Dyscalculia</a:t>
            </a:r>
          </a:p>
          <a:p>
            <a:pPr marL="742950" indent="-742950" algn="just">
              <a:buAutoNum type="alphaUcPeriod"/>
            </a:pPr>
            <a:r>
              <a:rPr lang="en-PH" dirty="0"/>
              <a:t> </a:t>
            </a:r>
            <a:r>
              <a:rPr lang="en-PH" dirty="0" err="1"/>
              <a:t>Dysgraphia</a:t>
            </a: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886068"/>
            <a:ext cx="464347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314292" y="314300"/>
            <a:ext cx="9052560" cy="5129425"/>
          </a:xfrm>
        </p:spPr>
        <p:txBody>
          <a:bodyPr/>
          <a:lstStyle/>
          <a:p>
            <a:pPr algn="just">
              <a:buNone/>
            </a:pPr>
            <a:r>
              <a:rPr lang="en-PH" dirty="0"/>
              <a:t>Question: Which of the following is an example of an intellectual disability?</a:t>
            </a:r>
          </a:p>
          <a:p>
            <a:pPr marL="742950" indent="-742950" algn="just">
              <a:buAutoNum type="alphaUcPeriod"/>
            </a:pPr>
            <a:r>
              <a:rPr lang="en-PH" dirty="0"/>
              <a:t>Dyslexia</a:t>
            </a:r>
          </a:p>
          <a:p>
            <a:pPr marL="742950" indent="-742950" algn="just">
              <a:buAutoNum type="alphaUcPeriod"/>
            </a:pPr>
            <a:r>
              <a:rPr lang="en-PH" dirty="0"/>
              <a:t>ADHD</a:t>
            </a:r>
          </a:p>
          <a:p>
            <a:pPr marL="742950" indent="-742950" algn="just">
              <a:buAutoNum type="alphaUcPeriod"/>
            </a:pPr>
            <a:r>
              <a:rPr lang="en-PH" dirty="0"/>
              <a:t> Mental Retardation</a:t>
            </a:r>
          </a:p>
          <a:p>
            <a:pPr marL="742950" indent="-742950" algn="just">
              <a:buAutoNum type="alphaUcPeriod"/>
            </a:pPr>
            <a:r>
              <a:rPr lang="en-PH" dirty="0"/>
              <a:t> Autistic Spectrum Disorders</a:t>
            </a:r>
          </a:p>
          <a:p>
            <a:pPr marL="742950" indent="-742950" algn="just">
              <a:buNone/>
            </a:pPr>
            <a:endParaRPr lang="en-PH" dirty="0"/>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2854" y="2171688"/>
            <a:ext cx="3286148"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242854" y="242862"/>
            <a:ext cx="9572692" cy="6700123"/>
          </a:xfrm>
        </p:spPr>
        <p:txBody>
          <a:bodyPr/>
          <a:lstStyle/>
          <a:p>
            <a:pPr>
              <a:buNone/>
            </a:pPr>
            <a:r>
              <a:rPr lang="en-PH" b="1" dirty="0"/>
              <a:t>Question: </a:t>
            </a:r>
            <a:r>
              <a:rPr lang="en-PH" dirty="0"/>
              <a:t>Which of the following is an example of a Specific Learning </a:t>
            </a:r>
            <a:r>
              <a:rPr lang="en-PH" dirty="0" err="1"/>
              <a:t>Diisability</a:t>
            </a:r>
            <a:r>
              <a:rPr lang="en-PH" dirty="0"/>
              <a:t>?</a:t>
            </a:r>
          </a:p>
          <a:p>
            <a:pPr marL="742950" indent="-742950">
              <a:buAutoNum type="alphaUcPeriod"/>
            </a:pPr>
            <a:r>
              <a:rPr lang="en-PH" dirty="0"/>
              <a:t>Mental Retardation</a:t>
            </a:r>
          </a:p>
          <a:p>
            <a:pPr marL="742950" indent="-742950">
              <a:buAutoNum type="alphaUcPeriod"/>
            </a:pPr>
            <a:r>
              <a:rPr lang="en-PH" dirty="0"/>
              <a:t> Dyslexia</a:t>
            </a:r>
          </a:p>
          <a:p>
            <a:pPr marL="742950" indent="-742950">
              <a:buAutoNum type="alphaUcPeriod"/>
            </a:pPr>
            <a:r>
              <a:rPr lang="en-PH" dirty="0"/>
              <a:t> ADHD</a:t>
            </a:r>
          </a:p>
          <a:p>
            <a:pPr marL="742950" indent="-742950">
              <a:buAutoNum type="alphaUcPeriod"/>
            </a:pPr>
            <a:r>
              <a:rPr lang="en-PH" dirty="0"/>
              <a:t> Autistic spectrum disorders</a:t>
            </a:r>
          </a:p>
        </p:txBody>
      </p:sp>
    </p:spTree>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5730" y="3600448"/>
            <a:ext cx="5500726"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lvl="0" algn="l"/>
            <a:r>
              <a:rPr lang="en-US" dirty="0">
                <a:solidFill>
                  <a:schemeClr val="tx1"/>
                </a:solidFill>
              </a:rPr>
              <a:t>1.   A branch of Psychology that studies how people </a:t>
            </a:r>
            <a:r>
              <a:rPr lang="en-US" i="1" dirty="0">
                <a:solidFill>
                  <a:srgbClr val="C00000"/>
                </a:solidFill>
              </a:rPr>
              <a:t>grow and change</a:t>
            </a:r>
            <a:r>
              <a:rPr lang="en-US" dirty="0">
                <a:solidFill>
                  <a:srgbClr val="C00000"/>
                </a:solidFill>
              </a:rPr>
              <a:t> </a:t>
            </a:r>
            <a:r>
              <a:rPr lang="en-US" dirty="0">
                <a:solidFill>
                  <a:schemeClr val="tx1"/>
                </a:solidFill>
              </a:rPr>
              <a:t>throughout the course of their lives is _______________.</a:t>
            </a:r>
            <a:endParaRPr lang="en-PH" dirty="0">
              <a:solidFill>
                <a:schemeClr val="tx1"/>
              </a:solidFill>
            </a:endParaRPr>
          </a:p>
          <a:p>
            <a:pPr lvl="0" algn="l"/>
            <a:r>
              <a:rPr lang="en-US" dirty="0">
                <a:solidFill>
                  <a:schemeClr val="tx1"/>
                </a:solidFill>
              </a:rPr>
              <a:t>a. Social psychology</a:t>
            </a:r>
            <a:endParaRPr lang="en-PH" dirty="0">
              <a:solidFill>
                <a:schemeClr val="tx1"/>
              </a:solidFill>
            </a:endParaRPr>
          </a:p>
          <a:p>
            <a:pPr lvl="0" algn="l"/>
            <a:r>
              <a:rPr lang="en-US" dirty="0">
                <a:solidFill>
                  <a:schemeClr val="tx1"/>
                </a:solidFill>
              </a:rPr>
              <a:t>b. Biological Psychology</a:t>
            </a:r>
            <a:endParaRPr lang="en-PH" dirty="0">
              <a:solidFill>
                <a:schemeClr val="tx1"/>
              </a:solidFill>
            </a:endParaRPr>
          </a:p>
          <a:p>
            <a:pPr lvl="0" algn="l"/>
            <a:r>
              <a:rPr lang="en-US" dirty="0">
                <a:solidFill>
                  <a:schemeClr val="tx1"/>
                </a:solidFill>
              </a:rPr>
              <a:t>c. Developmental Psychology</a:t>
            </a:r>
            <a:endParaRPr lang="en-PH" dirty="0">
              <a:solidFill>
                <a:schemeClr val="tx1"/>
              </a:solidFill>
            </a:endParaRPr>
          </a:p>
          <a:p>
            <a:pPr lvl="0" algn="l"/>
            <a:r>
              <a:rPr lang="en-US" dirty="0">
                <a:solidFill>
                  <a:schemeClr val="tx1"/>
                </a:solidFill>
              </a:rPr>
              <a:t>d. Behavioral Psychology</a:t>
            </a:r>
            <a:endParaRPr lang="en-PH" dirty="0">
              <a:solidFill>
                <a:schemeClr val="tx1"/>
              </a:solidFill>
            </a:endParaRPr>
          </a:p>
          <a:p>
            <a:pPr marL="742950" indent="-742950" algn="l"/>
            <a:endParaRPr lang="en-US"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5730" y="3529010"/>
            <a:ext cx="3714776"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lvl="0" algn="just"/>
            <a:r>
              <a:rPr lang="en-US" dirty="0">
                <a:solidFill>
                  <a:schemeClr val="tx1"/>
                </a:solidFill>
                <a:latin typeface="Arial Narrow" pitchFamily="34" charset="0"/>
              </a:rPr>
              <a:t>2. A developmental issue concerned with whether an individual is a </a:t>
            </a:r>
            <a:r>
              <a:rPr lang="en-US" dirty="0">
                <a:solidFill>
                  <a:srgbClr val="C00000"/>
                </a:solidFill>
                <a:latin typeface="Arial Narrow" pitchFamily="34" charset="0"/>
              </a:rPr>
              <a:t>product of his/her genes or of his/her culture</a:t>
            </a:r>
            <a:endParaRPr lang="en-PH" dirty="0">
              <a:solidFill>
                <a:srgbClr val="C00000"/>
              </a:solidFill>
              <a:latin typeface="Arial Narrow" pitchFamily="34" charset="0"/>
            </a:endParaRPr>
          </a:p>
          <a:p>
            <a:pPr lvl="0" algn="just"/>
            <a:r>
              <a:rPr lang="en-US" dirty="0">
                <a:solidFill>
                  <a:schemeClr val="tx1"/>
                </a:solidFill>
                <a:latin typeface="Arial Narrow" pitchFamily="34" charset="0"/>
              </a:rPr>
              <a:t>A. Prenatal and postnatal 	C.   Continuity and stage</a:t>
            </a:r>
            <a:endParaRPr lang="en-PH" dirty="0">
              <a:solidFill>
                <a:schemeClr val="tx1"/>
              </a:solidFill>
              <a:latin typeface="Arial Narrow" pitchFamily="34" charset="0"/>
            </a:endParaRPr>
          </a:p>
          <a:p>
            <a:pPr lvl="0" algn="just"/>
            <a:r>
              <a:rPr lang="en-US" dirty="0">
                <a:solidFill>
                  <a:schemeClr val="tx1"/>
                </a:solidFill>
                <a:latin typeface="Arial Narrow" pitchFamily="34" charset="0"/>
              </a:rPr>
              <a:t>B. Nature and nurture		D.   Stability and change</a:t>
            </a:r>
            <a:endParaRPr lang="en-PH" dirty="0">
              <a:solidFill>
                <a:schemeClr val="tx1"/>
              </a:solidFill>
              <a:latin typeface="Arial Narrow" pitchFamily="34" charset="0"/>
            </a:endParaRPr>
          </a:p>
          <a:p>
            <a:pPr marL="742950" indent="-742950" algn="just"/>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85730" y="2528878"/>
            <a:ext cx="2428892" cy="64294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715040"/>
          </a:xfrm>
          <a:noFill/>
        </p:spPr>
        <p:txBody>
          <a:bodyPr>
            <a:noAutofit/>
          </a:bodyPr>
          <a:lstStyle/>
          <a:p>
            <a:pPr marL="342900" lvl="0" indent="-342900" algn="just">
              <a:lnSpc>
                <a:spcPct val="115000"/>
              </a:lnSpc>
              <a:spcAft>
                <a:spcPts val="0"/>
              </a:spcAft>
            </a:pPr>
            <a:r>
              <a:rPr lang="en-US" dirty="0">
                <a:solidFill>
                  <a:schemeClr val="tx1"/>
                </a:solidFill>
                <a:latin typeface="Arial Narrow"/>
                <a:ea typeface="Cambria"/>
                <a:cs typeface="Arial"/>
              </a:rPr>
              <a:t>3.The process by which certain potentials are </a:t>
            </a:r>
            <a:r>
              <a:rPr lang="en-US" dirty="0">
                <a:solidFill>
                  <a:srgbClr val="C00000"/>
                </a:solidFill>
                <a:latin typeface="Arial Narrow"/>
                <a:ea typeface="Cambria"/>
                <a:cs typeface="Arial"/>
              </a:rPr>
              <a:t>inherited from the parents</a:t>
            </a:r>
            <a:r>
              <a:rPr lang="en-US" dirty="0">
                <a:solidFill>
                  <a:schemeClr val="tx1"/>
                </a:solidFill>
                <a:latin typeface="Arial Narrow"/>
                <a:ea typeface="Cambria"/>
                <a:cs typeface="Arial"/>
              </a:rPr>
              <a:t> for his development is called _________________.</a:t>
            </a:r>
          </a:p>
          <a:p>
            <a:pPr marL="742950" lvl="0" indent="-742950" algn="just">
              <a:lnSpc>
                <a:spcPct val="115000"/>
              </a:lnSpc>
              <a:spcAft>
                <a:spcPts val="0"/>
              </a:spcAft>
              <a:buAutoNum type="alphaUcPeriod"/>
            </a:pPr>
            <a:r>
              <a:rPr lang="en-US" dirty="0">
                <a:solidFill>
                  <a:schemeClr val="tx1"/>
                </a:solidFill>
                <a:latin typeface="Arial Narrow"/>
                <a:ea typeface="Cambria"/>
                <a:cs typeface="Arial"/>
              </a:rPr>
              <a:t>Heredity</a:t>
            </a:r>
          </a:p>
          <a:p>
            <a:pPr marL="742950" lvl="0" indent="-742950" algn="just">
              <a:lnSpc>
                <a:spcPct val="115000"/>
              </a:lnSpc>
              <a:spcAft>
                <a:spcPts val="0"/>
              </a:spcAft>
              <a:buAutoNum type="alphaUcPeriod"/>
            </a:pPr>
            <a:r>
              <a:rPr lang="en-US" dirty="0">
                <a:solidFill>
                  <a:schemeClr val="tx1"/>
                </a:solidFill>
                <a:latin typeface="Arial Narrow"/>
                <a:ea typeface="Cambria"/>
                <a:cs typeface="Arial"/>
              </a:rPr>
              <a:t>Life</a:t>
            </a:r>
            <a:endParaRPr lang="en-PH" dirty="0">
              <a:solidFill>
                <a:schemeClr val="tx1"/>
              </a:solidFill>
              <a:latin typeface="Cambria"/>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a:ea typeface="Cambria"/>
                <a:cs typeface="Arial"/>
              </a:rPr>
              <a:t>    Character</a:t>
            </a:r>
            <a:endParaRPr lang="en-PH" dirty="0">
              <a:solidFill>
                <a:schemeClr val="tx1"/>
              </a:solidFill>
              <a:latin typeface="Cambria"/>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a:ea typeface="Cambria"/>
                <a:cs typeface="Arial"/>
              </a:rPr>
              <a:t>    Birth</a:t>
            </a:r>
            <a:endParaRPr lang="en-PH" dirty="0">
              <a:solidFill>
                <a:schemeClr val="tx1"/>
              </a:solidFill>
              <a:latin typeface="Cambria"/>
              <a:ea typeface="Cambria"/>
              <a:cs typeface="Times New Roman"/>
            </a:endParaRPr>
          </a:p>
          <a:p>
            <a:pPr marL="742950" indent="-742950" algn="l"/>
            <a:endParaRPr lang="en-US" dirty="0">
              <a:solidFill>
                <a:schemeClr val="tx1"/>
              </a:solidFill>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57696" y="2100250"/>
            <a:ext cx="2071702"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PH" sz="4800" dirty="0">
                <a:solidFill>
                  <a:schemeClr val="tx1"/>
                </a:solidFill>
                <a:latin typeface="Arial Narrow" pitchFamily="34" charset="0"/>
                <a:ea typeface="Cambria"/>
                <a:cs typeface="Arial" pitchFamily="34" charset="0"/>
              </a:rPr>
              <a:t>4. </a:t>
            </a:r>
            <a:r>
              <a:rPr lang="en-US" dirty="0">
                <a:solidFill>
                  <a:schemeClr val="tx1"/>
                </a:solidFill>
                <a:latin typeface="Arial Narrow" pitchFamily="34" charset="0"/>
                <a:ea typeface="Cambria"/>
                <a:cs typeface="Arial" pitchFamily="34" charset="0"/>
              </a:rPr>
              <a:t>The conflicts faced by an individual at every stage of psychological development are called</a:t>
            </a:r>
            <a:endParaRPr lang="en-PH" sz="4800" dirty="0">
              <a:solidFill>
                <a:schemeClr val="tx1"/>
              </a:solidFill>
              <a:latin typeface="Arial Narrow" pitchFamily="34" charset="0"/>
              <a:ea typeface="Cambria"/>
              <a:cs typeface="Arial"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cs typeface="Arial" pitchFamily="34" charset="0"/>
              </a:rPr>
              <a:t>Equilibrium 		C.   Crises</a:t>
            </a:r>
            <a:endParaRPr lang="en-PH" dirty="0">
              <a:solidFill>
                <a:schemeClr val="tx1"/>
              </a:solidFill>
              <a:latin typeface="Arial Narrow" pitchFamily="34" charset="0"/>
              <a:cs typeface="Arial"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cs typeface="Arial" pitchFamily="34" charset="0"/>
              </a:rPr>
              <a:t>Changes 			D.   Confusion </a:t>
            </a:r>
            <a:endParaRPr lang="en-PH" dirty="0">
              <a:solidFill>
                <a:schemeClr val="tx1"/>
              </a:solidFill>
              <a:latin typeface="Arial Narrow" pitchFamily="34" charset="0"/>
              <a:cs typeface="Arial" pitchFamily="34" charset="0"/>
            </a:endParaRPr>
          </a:p>
          <a:p>
            <a:pPr marL="742950" indent="-742950" algn="l"/>
            <a:endParaRPr lang="en-US" dirty="0">
              <a:solidFill>
                <a:schemeClr val="tx1"/>
              </a:solidFill>
              <a:latin typeface="Arial Narrow" pitchFamily="34" charset="0"/>
              <a:cs typeface="Arial"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743192"/>
            <a:ext cx="9286940" cy="100013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429816" cy="5786478"/>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ea typeface="Cambria"/>
                <a:cs typeface="Arial" pitchFamily="34" charset="0"/>
              </a:rPr>
              <a:t>5. In which way does </a:t>
            </a:r>
            <a:r>
              <a:rPr lang="en-US" dirty="0">
                <a:solidFill>
                  <a:srgbClr val="C00000"/>
                </a:solidFill>
                <a:latin typeface="Arial Narrow" pitchFamily="34" charset="0"/>
                <a:ea typeface="Cambria"/>
                <a:cs typeface="Arial" pitchFamily="34" charset="0"/>
              </a:rPr>
              <a:t>heredity </a:t>
            </a:r>
            <a:r>
              <a:rPr lang="en-US" dirty="0">
                <a:solidFill>
                  <a:schemeClr val="tx1"/>
                </a:solidFill>
                <a:latin typeface="Arial Narrow" pitchFamily="34" charset="0"/>
                <a:ea typeface="Cambria"/>
                <a:cs typeface="Arial" pitchFamily="34" charset="0"/>
              </a:rPr>
              <a:t>affect the development of the learner? </a:t>
            </a:r>
            <a:endParaRPr lang="en-PH" sz="4800" dirty="0">
              <a:solidFill>
                <a:schemeClr val="tx1"/>
              </a:solidFill>
              <a:latin typeface="Arial Narrow" pitchFamily="34" charset="0"/>
              <a:ea typeface="Cambria"/>
              <a:cs typeface="Arial"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pitchFamily="34" charset="0"/>
              </a:rPr>
              <a:t>By providing equal potential to all </a:t>
            </a:r>
            <a:endParaRPr lang="en-PH" sz="4800" dirty="0">
              <a:solidFill>
                <a:schemeClr val="tx1"/>
              </a:solidFill>
              <a:latin typeface="Arial Narrow" pitchFamily="34" charset="0"/>
              <a:ea typeface="Cambria"/>
              <a:cs typeface="Arial"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cs typeface="Arial" pitchFamily="34" charset="0"/>
              </a:rPr>
              <a:t>By placing limits beyond which the learner cannot develop </a:t>
            </a:r>
            <a:endParaRPr lang="en-PH" dirty="0">
              <a:solidFill>
                <a:schemeClr val="tx1"/>
              </a:solidFill>
              <a:latin typeface="Arial Narrow" pitchFamily="34" charset="0"/>
              <a:cs typeface="Arial"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pitchFamily="34" charset="0"/>
              </a:rPr>
              <a:t>By compensating for what environment fails to develop </a:t>
            </a:r>
            <a:endParaRPr lang="en-PH" sz="4800" dirty="0">
              <a:solidFill>
                <a:schemeClr val="tx1"/>
              </a:solidFill>
              <a:latin typeface="Arial Narrow" pitchFamily="34" charset="0"/>
              <a:ea typeface="Cambria"/>
              <a:cs typeface="Arial"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pitchFamily="34" charset="0"/>
              </a:rPr>
              <a:t>By making acquired traits hereditary </a:t>
            </a:r>
            <a:endParaRPr lang="en-PH" sz="4800" dirty="0">
              <a:solidFill>
                <a:schemeClr val="tx1"/>
              </a:solidFill>
              <a:latin typeface="Arial Narrow" pitchFamily="34" charset="0"/>
              <a:ea typeface="Cambria"/>
              <a:cs typeface="Arial" pitchFamily="34" charset="0"/>
            </a:endParaRPr>
          </a:p>
          <a:p>
            <a:pPr marL="742950" indent="-742950" algn="l"/>
            <a:endParaRPr lang="en-US" dirty="0">
              <a:solidFill>
                <a:schemeClr val="tx1"/>
              </a:solidFill>
              <a:latin typeface="Arial Narrow" pitchFamily="34" charset="0"/>
              <a:cs typeface="Arial"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4957770"/>
            <a:ext cx="2857520" cy="64294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857916"/>
          </a:xfrm>
        </p:spPr>
        <p:txBody>
          <a:bodyPr>
            <a:normAutofit lnSpcReduction="10000"/>
          </a:bodyPr>
          <a:lstStyle/>
          <a:p>
            <a:pPr marL="342900" lvl="0" indent="-342900" algn="just">
              <a:lnSpc>
                <a:spcPct val="115000"/>
              </a:lnSpc>
              <a:spcAft>
                <a:spcPts val="0"/>
              </a:spcAft>
            </a:pPr>
            <a:r>
              <a:rPr lang="en-US" dirty="0">
                <a:solidFill>
                  <a:schemeClr val="tx1"/>
                </a:solidFill>
                <a:latin typeface="Arial Narrow" pitchFamily="34" charset="0"/>
              </a:rPr>
              <a:t>6. </a:t>
            </a:r>
            <a:r>
              <a:rPr lang="en-US" dirty="0">
                <a:solidFill>
                  <a:schemeClr val="tx1"/>
                </a:solidFill>
                <a:latin typeface="Arial Narrow" pitchFamily="34" charset="0"/>
                <a:ea typeface="Cambria"/>
                <a:cs typeface="Arial"/>
              </a:rPr>
              <a:t>This is the transition period </a:t>
            </a:r>
            <a:r>
              <a:rPr lang="en-US" dirty="0">
                <a:solidFill>
                  <a:srgbClr val="C00000"/>
                </a:solidFill>
                <a:latin typeface="Arial Narrow" pitchFamily="34" charset="0"/>
                <a:ea typeface="Cambria"/>
                <a:cs typeface="Arial"/>
              </a:rPr>
              <a:t>between childhood to adulthood </a:t>
            </a:r>
            <a:r>
              <a:rPr lang="en-US" dirty="0">
                <a:solidFill>
                  <a:schemeClr val="tx1"/>
                </a:solidFill>
                <a:latin typeface="Arial Narrow" pitchFamily="34" charset="0"/>
                <a:ea typeface="Cambria"/>
                <a:cs typeface="Arial"/>
              </a:rPr>
              <a:t>where rapid physical changes and sexual maturity occur resulting in changes in ways of feeling, thinking, and acting.</a:t>
            </a:r>
            <a:endParaRPr lang="en-PH" sz="4800"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Early adulthood</a:t>
            </a:r>
            <a:endParaRPr lang="en-PH" sz="4800"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Puberty</a:t>
            </a:r>
            <a:endParaRPr lang="en-PH" sz="4800"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Middle adulthood</a:t>
            </a:r>
            <a:endParaRPr lang="en-PH" sz="4800"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Adolescence</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ea typeface="Cambria"/>
                <a:cs typeface="Arial"/>
              </a:rPr>
              <a:t> </a:t>
            </a:r>
            <a:endParaRPr lang="en-PH" sz="4800" dirty="0">
              <a:solidFill>
                <a:schemeClr val="tx1"/>
              </a:solidFill>
              <a:latin typeface="Arial Narrow" pitchFamily="34" charset="0"/>
              <a:ea typeface="Cambria"/>
              <a:cs typeface="Times New Roman"/>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43382" y="1957374"/>
            <a:ext cx="2357454"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7. </a:t>
            </a:r>
            <a:r>
              <a:rPr lang="en-US" dirty="0">
                <a:solidFill>
                  <a:schemeClr val="tx1"/>
                </a:solidFill>
                <a:latin typeface="Arial Narrow" pitchFamily="34" charset="0"/>
                <a:ea typeface="Cambria"/>
                <a:cs typeface="Arial"/>
              </a:rPr>
              <a:t>It refers to an individual’s bodily </a:t>
            </a:r>
            <a:r>
              <a:rPr lang="en-US" dirty="0">
                <a:solidFill>
                  <a:srgbClr val="C00000"/>
                </a:solidFill>
                <a:latin typeface="Arial Narrow" pitchFamily="34" charset="0"/>
                <a:ea typeface="Cambria"/>
                <a:cs typeface="Arial"/>
              </a:rPr>
              <a:t>change in size and structure</a:t>
            </a:r>
            <a:endParaRPr lang="en-PH" sz="4800" dirty="0">
              <a:solidFill>
                <a:srgbClr val="C00000"/>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Maturation 		</a:t>
            </a:r>
            <a:r>
              <a:rPr lang="en-US" dirty="0">
                <a:solidFill>
                  <a:schemeClr val="tx1"/>
                </a:solidFill>
                <a:latin typeface="Arial Narrow" pitchFamily="34" charset="0"/>
              </a:rPr>
              <a:t>C.   Growth</a:t>
            </a:r>
            <a:endParaRPr lang="en-PH" sz="4800"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Learning 			D.   Development</a:t>
            </a:r>
            <a:endParaRPr lang="en-PH" sz="4800" dirty="0">
              <a:solidFill>
                <a:schemeClr val="tx1"/>
              </a:solidFill>
              <a:latin typeface="Arial Narrow" pitchFamily="34" charset="0"/>
              <a:ea typeface="Cambria"/>
              <a:cs typeface="Times New Roman"/>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5672150"/>
            <a:ext cx="9358378" cy="100013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242854" y="28548"/>
            <a:ext cx="9644130" cy="6715172"/>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8. </a:t>
            </a:r>
            <a:r>
              <a:rPr lang="en-US" dirty="0">
                <a:solidFill>
                  <a:schemeClr val="tx1"/>
                </a:solidFill>
                <a:latin typeface="Arial Narrow" pitchFamily="34" charset="0"/>
                <a:ea typeface="Cambria"/>
                <a:cs typeface="Arial"/>
              </a:rPr>
              <a:t>Which of the following situations best illustrates the concept of </a:t>
            </a:r>
            <a:r>
              <a:rPr lang="en-US" dirty="0">
                <a:solidFill>
                  <a:srgbClr val="C00000"/>
                </a:solidFill>
                <a:latin typeface="Arial Narrow" pitchFamily="34" charset="0"/>
                <a:ea typeface="Cambria"/>
                <a:cs typeface="Arial"/>
              </a:rPr>
              <a:t>growth</a:t>
            </a:r>
            <a:r>
              <a:rPr lang="en-US" dirty="0">
                <a:solidFill>
                  <a:schemeClr val="tx1"/>
                </a:solidFill>
                <a:latin typeface="Arial Narrow" pitchFamily="34" charset="0"/>
                <a:ea typeface="Cambria"/>
                <a:cs typeface="Arial"/>
              </a:rPr>
              <a:t>?</a:t>
            </a:r>
            <a:endParaRPr lang="en-PH"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A high school student gets a score of 85 in mental ability test.</a:t>
            </a:r>
            <a:endParaRPr lang="en-PH"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An education student has gained knowledge on approaches and strategies in teaching different subjects.</a:t>
            </a:r>
            <a:endParaRPr lang="en-PH"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ea typeface="Cambria"/>
                <a:cs typeface="Arial"/>
              </a:rPr>
              <a:t>A elementary grader has learned to play the piano.</a:t>
            </a:r>
            <a:endParaRPr lang="en-PH" dirty="0">
              <a:solidFill>
                <a:schemeClr val="tx1"/>
              </a:solidFill>
              <a:latin typeface="Arial Narrow" pitchFamily="34" charset="0"/>
              <a:ea typeface="Cambria"/>
              <a:cs typeface="Times New Roman"/>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A high school students’ height increased from 5’2’’ to 5’4’’</a:t>
            </a:r>
            <a:endParaRPr lang="en-PH" dirty="0">
              <a:solidFill>
                <a:schemeClr val="tx1"/>
              </a:solidFill>
              <a:latin typeface="Arial Narrow" pitchFamily="34" charset="0"/>
              <a:ea typeface="Cambria"/>
              <a:cs typeface="Times New Roman"/>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1814498"/>
            <a:ext cx="2286016" cy="71438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9. Developmental changes due to </a:t>
            </a:r>
            <a:r>
              <a:rPr lang="en-US" dirty="0">
                <a:solidFill>
                  <a:srgbClr val="C00000"/>
                </a:solidFill>
                <a:latin typeface="Arial Narrow" pitchFamily="34" charset="0"/>
              </a:rPr>
              <a:t>aging</a:t>
            </a:r>
            <a:r>
              <a:rPr lang="en-US" dirty="0">
                <a:solidFill>
                  <a:schemeClr val="tx1"/>
                </a:solidFill>
                <a:latin typeface="Arial Narrow" pitchFamily="34" charset="0"/>
              </a:rPr>
              <a:t> is called _______________</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Maturation		C.   Growth</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Learning 			D.   Development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00506" y="2886068"/>
            <a:ext cx="2857520" cy="50006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10. What concept can best describe Rey’s ability to walk without a support at the age of 12 months because of the </a:t>
            </a:r>
            <a:r>
              <a:rPr lang="en-US" dirty="0">
                <a:solidFill>
                  <a:srgbClr val="C00000"/>
                </a:solidFill>
                <a:latin typeface="Arial Narrow" pitchFamily="34" charset="0"/>
              </a:rPr>
              <a:t>“internal ripening” </a:t>
            </a:r>
            <a:r>
              <a:rPr lang="en-US" dirty="0">
                <a:solidFill>
                  <a:schemeClr val="tx1"/>
                </a:solidFill>
                <a:latin typeface="Arial Narrow" pitchFamily="34" charset="0"/>
              </a:rPr>
              <a:t>that occurred in his muscles, bones, and nervous system development?</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C. Maturation</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Learning			D. Growth</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2854" y="2314564"/>
            <a:ext cx="2571768" cy="642942"/>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11. Any </a:t>
            </a:r>
            <a:r>
              <a:rPr lang="en-US" dirty="0">
                <a:solidFill>
                  <a:srgbClr val="C00000"/>
                </a:solidFill>
                <a:latin typeface="Arial Narrow" pitchFamily="34" charset="0"/>
              </a:rPr>
              <a:t>change in the behavior </a:t>
            </a:r>
            <a:r>
              <a:rPr lang="en-US" dirty="0">
                <a:solidFill>
                  <a:schemeClr val="tx1"/>
                </a:solidFill>
                <a:latin typeface="Arial Narrow" pitchFamily="34" charset="0"/>
              </a:rPr>
              <a:t>of an individual is called _____________.</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C. Maturation</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Learning			D. Growth</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71944" y="2028812"/>
            <a:ext cx="2714644"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12. It is the brain’s </a:t>
            </a:r>
            <a:r>
              <a:rPr lang="en-US" dirty="0">
                <a:solidFill>
                  <a:srgbClr val="C00000"/>
                </a:solidFill>
                <a:latin typeface="Arial Narrow" pitchFamily="34" charset="0"/>
              </a:rPr>
              <a:t>ability to change </a:t>
            </a:r>
            <a:r>
              <a:rPr lang="en-US" dirty="0">
                <a:solidFill>
                  <a:schemeClr val="tx1"/>
                </a:solidFill>
                <a:latin typeface="Arial Narrow" pitchFamily="34" charset="0"/>
              </a:rPr>
              <a:t>from experience: </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Learning 			C.   Tabula rasa</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Growth 			D.   Plasticity</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600316"/>
            <a:ext cx="1785950"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13. The degradation of synapses and </a:t>
            </a:r>
            <a:r>
              <a:rPr lang="en-US" dirty="0">
                <a:solidFill>
                  <a:srgbClr val="C00000"/>
                </a:solidFill>
                <a:latin typeface="Arial Narrow" pitchFamily="34" charset="0"/>
              </a:rPr>
              <a:t>dying off of neurons </a:t>
            </a:r>
            <a:r>
              <a:rPr lang="en-US" dirty="0">
                <a:solidFill>
                  <a:schemeClr val="tx1"/>
                </a:solidFill>
                <a:latin typeface="Arial Narrow" pitchFamily="34" charset="0"/>
              </a:rPr>
              <a:t>that are not strengthened  by experience</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Retardation 		C.   Forgetting</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Pruning 			D.   Aging</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3671886"/>
            <a:ext cx="5929354"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786478"/>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14. Studies in the area of neurosciences disclosed that the human brain has limitless capacity. What does this imply?</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Pupils can possibly reach a point where they have learned everything.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Every child is a potential genius.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Some pupils are admittedly not capable of learning</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Every pupil has his own native ability and his learning is limited to this native ability</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4243390"/>
            <a:ext cx="9286940" cy="107157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6000792"/>
          </a:xfrm>
        </p:spPr>
        <p:txBody>
          <a:bodyPr>
            <a:normAutofit/>
          </a:bodyPr>
          <a:lstStyle/>
          <a:p>
            <a:pPr marL="342900" lvl="0" indent="-342900" algn="just">
              <a:spcAft>
                <a:spcPts val="0"/>
              </a:spcAft>
            </a:pPr>
            <a:r>
              <a:rPr lang="en-US" dirty="0">
                <a:solidFill>
                  <a:schemeClr val="tx1"/>
                </a:solidFill>
                <a:latin typeface="Arial Narrow" pitchFamily="34" charset="0"/>
              </a:rPr>
              <a:t>15. Train a child the way he should be so that when he grows, he will not depart from it. Which of the following principles supports this?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Early development is less critical than later development.</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is determined by the environment.</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Early development is more critical than later development.</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is determined by his heredity.</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3028944"/>
            <a:ext cx="8429684"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572164"/>
          </a:xfrm>
        </p:spPr>
        <p:txBody>
          <a:bodyPr>
            <a:normAutofit/>
          </a:bodyPr>
          <a:lstStyle/>
          <a:p>
            <a:pPr algn="just">
              <a:spcAft>
                <a:spcPts val="0"/>
              </a:spcAft>
            </a:pPr>
            <a:r>
              <a:rPr lang="en-US" dirty="0">
                <a:solidFill>
                  <a:schemeClr val="tx1"/>
                </a:solidFill>
                <a:latin typeface="Arial Narrow" pitchFamily="34" charset="0"/>
              </a:rPr>
              <a:t>16.  A newborn baby can move her whole body at one time instead of moving a part of it. Which of the following principles is illustrated by his behavior?</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follows a general pattern.</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proceeds from general to specific.</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follows an orderly pattern.</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Development proceeds from specific to general.</a:t>
            </a:r>
            <a:endParaRPr lang="en-PH" dirty="0">
              <a:solidFill>
                <a:schemeClr val="tx1"/>
              </a:solidFill>
              <a:latin typeface="Arial Narrow" pitchFamily="34" charset="0"/>
            </a:endParaRPr>
          </a:p>
          <a:p>
            <a:pPr marL="74295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457572"/>
            <a:ext cx="8643998" cy="57150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algn="just">
              <a:spcAft>
                <a:spcPts val="0"/>
              </a:spcAft>
            </a:pPr>
            <a:r>
              <a:rPr lang="en-US" dirty="0">
                <a:solidFill>
                  <a:schemeClr val="tx1"/>
                </a:solidFill>
                <a:latin typeface="Arial Narrow" pitchFamily="34" charset="0"/>
              </a:rPr>
              <a:t>17.  Which principle is NOT TRUE?</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Development is a function of nature and nurture</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Development occurs at different rates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Development occurs in a predictable manner</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Development occurs in an unpredictable manner</a:t>
            </a:r>
            <a:endParaRPr lang="en-PH" dirty="0">
              <a:solidFill>
                <a:schemeClr val="tx1"/>
              </a:solidFill>
              <a:latin typeface="Arial Narrow" pitchFamily="34" charset="0"/>
            </a:endParaRPr>
          </a:p>
          <a:p>
            <a:pPr marL="74295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814630"/>
            <a:ext cx="8929750" cy="64294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6000792"/>
          </a:xfrm>
        </p:spPr>
        <p:txBody>
          <a:bodyPr>
            <a:noAutofit/>
          </a:bodyPr>
          <a:lstStyle/>
          <a:p>
            <a:pPr algn="just">
              <a:spcAft>
                <a:spcPts val="0"/>
              </a:spcAft>
            </a:pPr>
            <a:r>
              <a:rPr lang="en-US" dirty="0">
                <a:solidFill>
                  <a:schemeClr val="tx1"/>
                </a:solidFill>
                <a:latin typeface="Arial Narrow" pitchFamily="34" charset="0"/>
              </a:rPr>
              <a:t>18.  One research-based principle of child development is that “Early experiences have strong effects on children’s development and learning”. What is an implication of this to teaching-learning?</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Enrich early childhood with favorable experiences.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Assist their development by bringing them to tutorial centers.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Enroll them in preschool.</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Teach them academic lessons early.</a:t>
            </a:r>
            <a:endParaRPr lang="en-PH" dirty="0">
              <a:solidFill>
                <a:schemeClr val="tx1"/>
              </a:solidFill>
              <a:latin typeface="Arial Narrow" pitchFamily="34" charset="0"/>
            </a:endParaRPr>
          </a:p>
          <a:p>
            <a:pPr marL="457200" algn="just">
              <a:lnSpc>
                <a:spcPct val="115000"/>
              </a:lnSpc>
              <a:spcAft>
                <a:spcPts val="0"/>
              </a:spcAft>
            </a:pPr>
            <a:r>
              <a:rPr lang="en-US" dirty="0">
                <a:solidFill>
                  <a:schemeClr val="tx1"/>
                </a:solidFill>
                <a:latin typeface="Arial Narrow" pitchFamily="34" charset="0"/>
              </a:rPr>
              <a:t> </a:t>
            </a:r>
            <a:endParaRPr lang="en-PH" dirty="0">
              <a:solidFill>
                <a:schemeClr val="tx1"/>
              </a:solidFill>
              <a:latin typeface="Arial Narrow" pitchFamily="34" charset="0"/>
            </a:endParaRPr>
          </a:p>
          <a:p>
            <a:pPr marL="74295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4386266"/>
            <a:ext cx="9429816" cy="114300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242854" y="171424"/>
            <a:ext cx="9572692" cy="6715172"/>
          </a:xfrm>
        </p:spPr>
        <p:txBody>
          <a:bodyPr>
            <a:noAutofit/>
          </a:bodyPr>
          <a:lstStyle/>
          <a:p>
            <a:pPr marL="457200" algn="just">
              <a:lnSpc>
                <a:spcPct val="115000"/>
              </a:lnSpc>
              <a:spcAft>
                <a:spcPts val="0"/>
              </a:spcAft>
            </a:pPr>
            <a:r>
              <a:rPr lang="en-US" dirty="0">
                <a:solidFill>
                  <a:schemeClr val="tx1"/>
                </a:solidFill>
                <a:latin typeface="Arial Narrow" pitchFamily="34" charset="0"/>
              </a:rPr>
              <a:t>19. Which of the following condition most likely brings about a classroom climate that is </a:t>
            </a:r>
            <a:r>
              <a:rPr lang="en-US" dirty="0">
                <a:solidFill>
                  <a:srgbClr val="C00000"/>
                </a:solidFill>
                <a:latin typeface="Arial Narrow" pitchFamily="34" charset="0"/>
              </a:rPr>
              <a:t>business-like yet non-threatening?</a:t>
            </a:r>
            <a:endParaRPr lang="en-PH" dirty="0">
              <a:solidFill>
                <a:srgbClr val="C00000"/>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The authoritarian teacher is in full control of the classroom.</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Students leaders list the names of noisy classmates.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Rules, limits, and expectations are made clear during the first day of classes.</a:t>
            </a:r>
            <a:endParaRPr lang="en-PH" dirty="0">
              <a:solidFill>
                <a:schemeClr val="tx1"/>
              </a:solidFill>
              <a:latin typeface="Arial Narrow" pitchFamily="34" charset="0"/>
            </a:endParaRPr>
          </a:p>
          <a:p>
            <a:pPr marL="342900" lvl="0" indent="-342900" algn="just">
              <a:lnSpc>
                <a:spcPct val="115000"/>
              </a:lnSpc>
              <a:spcAft>
                <a:spcPts val="1000"/>
              </a:spcAft>
              <a:buFont typeface="+mj-lt"/>
              <a:buAutoNum type="alphaUcPeriod"/>
            </a:pPr>
            <a:r>
              <a:rPr lang="en-US" dirty="0">
                <a:solidFill>
                  <a:schemeClr val="tx1"/>
                </a:solidFill>
                <a:latin typeface="Arial Narrow" pitchFamily="34" charset="0"/>
              </a:rPr>
              <a:t>The teacher assigns student leaders who will check class attendance.</a:t>
            </a:r>
            <a:endParaRPr lang="en-PH" dirty="0">
              <a:solidFill>
                <a:schemeClr val="tx1"/>
              </a:solidFill>
              <a:latin typeface="Arial Narrow" pitchFamily="34" charset="0"/>
            </a:endParaRPr>
          </a:p>
          <a:p>
            <a:pPr marL="742950" indent="-742950" algn="just"/>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57828" y="5386398"/>
            <a:ext cx="1928826"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171424"/>
            <a:ext cx="9501254" cy="6500858"/>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20. To build strong and healthy relationship in class, which should be </a:t>
            </a:r>
            <a:r>
              <a:rPr lang="en-US" dirty="0">
                <a:solidFill>
                  <a:srgbClr val="C00000"/>
                </a:solidFill>
                <a:latin typeface="Arial Narrow" pitchFamily="34" charset="0"/>
              </a:rPr>
              <a:t>out</a:t>
            </a:r>
            <a:r>
              <a:rPr lang="en-US" dirty="0">
                <a:solidFill>
                  <a:schemeClr val="tx1"/>
                </a:solidFill>
                <a:latin typeface="Arial Narrow" pitchFamily="34" charset="0"/>
              </a:rPr>
              <a:t> of the picture?</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Criticizing</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Befriending</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Blaming</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Listening</a:t>
            </a:r>
            <a:endParaRPr lang="en-PH" dirty="0">
              <a:solidFill>
                <a:schemeClr val="tx1"/>
              </a:solidFill>
              <a:latin typeface="Arial Narrow" pitchFamily="34" charset="0"/>
            </a:endParaRPr>
          </a:p>
          <a:p>
            <a:pPr marL="1871137" lvl="3" indent="-342900" algn="just">
              <a:lnSpc>
                <a:spcPct val="115000"/>
              </a:lnSpc>
              <a:buFont typeface="+mj-lt"/>
              <a:buAutoNum type="alphaUcPeriod"/>
            </a:pPr>
            <a:r>
              <a:rPr lang="en-US" sz="3600" dirty="0">
                <a:solidFill>
                  <a:schemeClr val="tx1"/>
                </a:solidFill>
                <a:latin typeface="Arial Narrow" pitchFamily="34" charset="0"/>
              </a:rPr>
              <a:t>I and II			C. II and III</a:t>
            </a:r>
            <a:endParaRPr lang="en-PH" sz="3600" dirty="0">
              <a:solidFill>
                <a:schemeClr val="tx1"/>
              </a:solidFill>
              <a:latin typeface="Arial Narrow" pitchFamily="34" charset="0"/>
            </a:endParaRPr>
          </a:p>
          <a:p>
            <a:pPr marL="1871137" lvl="3" indent="-342900" algn="just">
              <a:lnSpc>
                <a:spcPct val="115000"/>
              </a:lnSpc>
              <a:spcAft>
                <a:spcPts val="1000"/>
              </a:spcAft>
              <a:buFont typeface="+mj-lt"/>
              <a:buAutoNum type="alphaUcPeriod"/>
            </a:pPr>
            <a:r>
              <a:rPr lang="en-US" sz="3600" dirty="0">
                <a:solidFill>
                  <a:schemeClr val="tx1"/>
                </a:solidFill>
                <a:latin typeface="Arial Narrow" pitchFamily="34" charset="0"/>
              </a:rPr>
              <a:t>I and IV		D. I and III</a:t>
            </a:r>
            <a:endParaRPr lang="en-PH" sz="3600"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additive="base">
                                        <p:cTn id="45" dur="500" fill="hold"/>
                                        <p:tgtEl>
                                          <p:spTgt spid="4"/>
                                        </p:tgtEl>
                                        <p:attrNameLst>
                                          <p:attrName>ppt_x</p:attrName>
                                        </p:attrNameLst>
                                      </p:cBhvr>
                                      <p:tavLst>
                                        <p:tav tm="0">
                                          <p:val>
                                            <p:strVal val="#ppt_x"/>
                                          </p:val>
                                        </p:tav>
                                        <p:tav tm="100000">
                                          <p:val>
                                            <p:strVal val="#ppt_x"/>
                                          </p:val>
                                        </p:tav>
                                      </p:tavLst>
                                    </p:anim>
                                    <p:anim calcmode="lin" valueType="num">
                                      <p:cBhvr additive="base">
                                        <p:cTn id="4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4886332"/>
            <a:ext cx="9429816" cy="114300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242854" y="171424"/>
            <a:ext cx="9572692" cy="6500858"/>
          </a:xfrm>
        </p:spPr>
        <p:txBody>
          <a:bodyPr>
            <a:noAutofit/>
          </a:bodyPr>
          <a:lstStyle/>
          <a:p>
            <a:pPr marL="342900" lvl="0" indent="-342900" algn="just">
              <a:lnSpc>
                <a:spcPct val="115000"/>
              </a:lnSpc>
              <a:spcAft>
                <a:spcPts val="0"/>
              </a:spcAft>
            </a:pPr>
            <a:r>
              <a:rPr lang="en-US" sz="3500" dirty="0">
                <a:solidFill>
                  <a:schemeClr val="tx1"/>
                </a:solidFill>
                <a:latin typeface="Arial Narrow" pitchFamily="34" charset="0"/>
              </a:rPr>
              <a:t>21. Which teaching practice gives </a:t>
            </a:r>
            <a:r>
              <a:rPr lang="en-US" sz="3500" dirty="0">
                <a:solidFill>
                  <a:srgbClr val="C00000"/>
                </a:solidFill>
                <a:latin typeface="Arial Narrow" pitchFamily="34" charset="0"/>
              </a:rPr>
              <a:t>primary consideration to individual differences</a:t>
            </a:r>
            <a:r>
              <a:rPr lang="en-US" sz="3500" dirty="0">
                <a:solidFill>
                  <a:schemeClr val="tx1"/>
                </a:solidFill>
                <a:latin typeface="Arial Narrow" pitchFamily="34" charset="0"/>
              </a:rPr>
              <a:t>?</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500" dirty="0">
                <a:solidFill>
                  <a:schemeClr val="tx1"/>
                </a:solidFill>
                <a:latin typeface="Arial Narrow" pitchFamily="34" charset="0"/>
              </a:rPr>
              <a:t>Preparing two different sets of examination, one for the fast learners and another for the slow learners.</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500" dirty="0">
                <a:solidFill>
                  <a:schemeClr val="tx1"/>
                </a:solidFill>
                <a:latin typeface="Arial Narrow" pitchFamily="34" charset="0"/>
              </a:rPr>
              <a:t>Allowing children to show that they learned the stages of mitosis in away where they feel most comfortable except by lecturing.</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500" dirty="0">
                <a:solidFill>
                  <a:schemeClr val="tx1"/>
                </a:solidFill>
                <a:latin typeface="Arial Narrow" pitchFamily="34" charset="0"/>
              </a:rPr>
              <a:t>Allowing children to show that they learned the stages of mitosis in a way where they feel most comfortable.</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500" dirty="0">
                <a:solidFill>
                  <a:schemeClr val="tx1"/>
                </a:solidFill>
                <a:latin typeface="Arial Narrow" pitchFamily="34" charset="0"/>
              </a:rPr>
              <a:t>Applying two sets of different standards.</a:t>
            </a:r>
            <a:endParaRPr lang="en-PH" sz="3500" dirty="0">
              <a:solidFill>
                <a:schemeClr val="tx1"/>
              </a:solidFill>
              <a:latin typeface="Arial Narrow" pitchFamily="34" charset="0"/>
            </a:endParaRPr>
          </a:p>
          <a:p>
            <a:pPr marL="742950" lvl="0" indent="-742950" algn="l"/>
            <a:endParaRPr lang="en-US" sz="3500"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6172216"/>
            <a:ext cx="3429024"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171424"/>
            <a:ext cx="9358378" cy="6572296"/>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22. </a:t>
            </a:r>
            <a:r>
              <a:rPr lang="en-US" dirty="0" err="1">
                <a:solidFill>
                  <a:schemeClr val="tx1"/>
                </a:solidFill>
                <a:latin typeface="Arial Narrow" pitchFamily="34" charset="0"/>
              </a:rPr>
              <a:t>Lito</a:t>
            </a:r>
            <a:r>
              <a:rPr lang="en-US" dirty="0">
                <a:solidFill>
                  <a:schemeClr val="tx1"/>
                </a:solidFill>
                <a:latin typeface="Arial Narrow" pitchFamily="34" charset="0"/>
              </a:rPr>
              <a:t>, twelve-years old who is in grade six comes from a dysfunctional family and has been </a:t>
            </a:r>
            <a:r>
              <a:rPr lang="en-US" dirty="0">
                <a:solidFill>
                  <a:srgbClr val="C00000"/>
                </a:solidFill>
                <a:latin typeface="Arial Narrow" pitchFamily="34" charset="0"/>
              </a:rPr>
              <a:t>abused and neglected</a:t>
            </a:r>
            <a:r>
              <a:rPr lang="en-US" dirty="0">
                <a:solidFill>
                  <a:schemeClr val="tx1"/>
                </a:solidFill>
                <a:latin typeface="Arial Narrow" pitchFamily="34" charset="0"/>
              </a:rPr>
              <a:t>. He has been to orphanages and three different elementary schools. He can decode at the second grade level, but he can comprehend orally materials at the fourth or fifth grade level. The most probable cause(s) of this student’s reading problem is/are: </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Immaturity 		C.   Neurological factors</a:t>
            </a: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Emotional factors	D.   Poor teaching </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5743588"/>
            <a:ext cx="7358114"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6143668"/>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23. Which statement on student diversity is CORRECT?</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Teacher must do his/her best to reduce student diversity in class.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The less the diversity of students in class, the better for teachers and students.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Student diversity is purely due to students’ varied cultures.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Teacher should accept the value diversity.</a:t>
            </a:r>
            <a:endParaRPr lang="en-PH" dirty="0">
              <a:solidFill>
                <a:schemeClr val="tx1"/>
              </a:solidFill>
              <a:latin typeface="Arial Narrow" pitchFamily="34" charset="0"/>
            </a:endParaRPr>
          </a:p>
          <a:p>
            <a:pPr marL="742950" lvl="0" indent="-742950" algn="l"/>
            <a:r>
              <a:rPr lang="en-US" dirty="0">
                <a:solidFill>
                  <a:schemeClr val="tx1"/>
                </a:solidFill>
                <a:latin typeface="Arial Narrow" pitchFamily="34" charset="0"/>
              </a:rPr>
              <a:t> </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5529274"/>
            <a:ext cx="9358378" cy="114300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171424"/>
            <a:ext cx="9501254" cy="6500858"/>
          </a:xfrm>
        </p:spPr>
        <p:txBody>
          <a:bodyPr>
            <a:noAutofit/>
          </a:bodyPr>
          <a:lstStyle/>
          <a:p>
            <a:pPr algn="just">
              <a:lnSpc>
                <a:spcPct val="115000"/>
              </a:lnSpc>
              <a:spcAft>
                <a:spcPts val="0"/>
              </a:spcAft>
            </a:pPr>
            <a:r>
              <a:rPr lang="en-US" dirty="0">
                <a:solidFill>
                  <a:schemeClr val="tx1"/>
                </a:solidFill>
                <a:latin typeface="Arial Narrow" pitchFamily="34" charset="0"/>
              </a:rPr>
              <a:t>24.  Which student thinking/behavior indicates that he/she values diversity?</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err="1">
                <a:solidFill>
                  <a:schemeClr val="tx1"/>
                </a:solidFill>
                <a:latin typeface="Arial Narrow" pitchFamily="34" charset="0"/>
              </a:rPr>
              <a:t>He/She</a:t>
            </a:r>
            <a:r>
              <a:rPr lang="en-US" dirty="0">
                <a:solidFill>
                  <a:schemeClr val="tx1"/>
                </a:solidFill>
                <a:latin typeface="Arial Narrow" pitchFamily="34" charset="0"/>
              </a:rPr>
              <a:t> emphasizes on the differences among people and disregards their commonalities.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err="1">
                <a:solidFill>
                  <a:schemeClr val="tx1"/>
                </a:solidFill>
                <a:latin typeface="Arial Narrow" pitchFamily="34" charset="0"/>
              </a:rPr>
              <a:t>He/She</a:t>
            </a:r>
            <a:r>
              <a:rPr lang="en-US" dirty="0">
                <a:solidFill>
                  <a:schemeClr val="tx1"/>
                </a:solidFill>
                <a:latin typeface="Arial Narrow" pitchFamily="34" charset="0"/>
              </a:rPr>
              <a:t> regards his culture as inferior to other’s cultures.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err="1">
                <a:solidFill>
                  <a:schemeClr val="tx1"/>
                </a:solidFill>
                <a:latin typeface="Arial Narrow" pitchFamily="34" charset="0"/>
              </a:rPr>
              <a:t>He/She</a:t>
            </a:r>
            <a:r>
              <a:rPr lang="en-US" dirty="0">
                <a:solidFill>
                  <a:schemeClr val="tx1"/>
                </a:solidFill>
                <a:latin typeface="Arial Narrow" pitchFamily="34" charset="0"/>
              </a:rPr>
              <a:t> regards his culture as superior to other’s cultures.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err="1">
                <a:solidFill>
                  <a:schemeClr val="tx1"/>
                </a:solidFill>
                <a:latin typeface="Arial Narrow" pitchFamily="34" charset="0"/>
              </a:rPr>
              <a:t>He/She</a:t>
            </a:r>
            <a:r>
              <a:rPr lang="en-US" dirty="0">
                <a:solidFill>
                  <a:schemeClr val="tx1"/>
                </a:solidFill>
                <a:latin typeface="Arial Narrow" pitchFamily="34" charset="0"/>
              </a:rPr>
              <a:t> accepts the fact that all people are unique in their own way.</a:t>
            </a:r>
            <a:endParaRPr lang="en-PH" dirty="0">
              <a:solidFill>
                <a:schemeClr val="tx1"/>
              </a:solidFill>
              <a:latin typeface="Arial Narrow" pitchFamily="34" charset="0"/>
            </a:endParaRPr>
          </a:p>
          <a:p>
            <a:pPr marL="74295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14820" y="1885936"/>
            <a:ext cx="2286016"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25. The term for the developing organism from 2 weeks to 8 weeks of conception</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Zygote 			C.   Embryo</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Fetus 			D.   Chromosomes</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6029340"/>
            <a:ext cx="2857520"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242854" y="171424"/>
            <a:ext cx="9429816" cy="7215238"/>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26. Sequence the steps of zygote becoming an embryo. </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Life support of the cell develop for the embryo</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Cell differentiation intensify</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Layers develop into organ systems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Organs appear </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 </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I, III, II and IV</a:t>
            </a:r>
            <a:r>
              <a:rPr lang="en-PH" dirty="0">
                <a:solidFill>
                  <a:schemeClr val="tx1"/>
                </a:solidFill>
                <a:latin typeface="Arial Narrow" pitchFamily="34" charset="0"/>
              </a:rPr>
              <a:t>		B. </a:t>
            </a:r>
            <a:r>
              <a:rPr lang="en-US" dirty="0">
                <a:solidFill>
                  <a:schemeClr val="tx1"/>
                </a:solidFill>
                <a:latin typeface="Arial Narrow" pitchFamily="34" charset="0"/>
              </a:rPr>
              <a:t>IV, III, I and II</a:t>
            </a:r>
            <a:endParaRPr lang="en-PH" dirty="0">
              <a:solidFill>
                <a:schemeClr val="tx1"/>
              </a:solidFill>
              <a:latin typeface="Arial Narrow" pitchFamily="34" charset="0"/>
            </a:endParaRPr>
          </a:p>
          <a:p>
            <a:pPr marL="342900" lvl="0" indent="-342900" algn="just">
              <a:lnSpc>
                <a:spcPct val="115000"/>
              </a:lnSpc>
              <a:spcAft>
                <a:spcPts val="0"/>
              </a:spcAft>
            </a:pPr>
            <a:r>
              <a:rPr lang="en-US" dirty="0">
                <a:solidFill>
                  <a:schemeClr val="tx1"/>
                </a:solidFill>
                <a:latin typeface="Arial Narrow" pitchFamily="34" charset="0"/>
              </a:rPr>
              <a:t>C. II, I, IV and III</a:t>
            </a:r>
            <a:r>
              <a:rPr lang="en-PH" dirty="0">
                <a:solidFill>
                  <a:schemeClr val="tx1"/>
                </a:solidFill>
                <a:latin typeface="Arial Narrow" pitchFamily="34" charset="0"/>
              </a:rPr>
              <a:t>		D. </a:t>
            </a:r>
            <a:r>
              <a:rPr lang="en-US" dirty="0">
                <a:solidFill>
                  <a:schemeClr val="tx1"/>
                </a:solidFill>
                <a:latin typeface="Arial Narrow" pitchFamily="34" charset="0"/>
              </a:rPr>
              <a:t>I, II, III and IV</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ppt_x"/>
                                          </p:val>
                                        </p:tav>
                                        <p:tav tm="100000">
                                          <p:val>
                                            <p:strVal val="#ppt_x"/>
                                          </p:val>
                                        </p:tav>
                                      </p:tavLst>
                                    </p:anim>
                                    <p:anim calcmode="lin" valueType="num">
                                      <p:cBhvr additive="base">
                                        <p:cTn id="5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600316"/>
            <a:ext cx="3357586" cy="78581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27. Medical science favored pregnant women talking or singing to their fetus is a part of  __________.</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Natal synchrony learning</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Prenatal learning </a:t>
            </a:r>
            <a:endParaRPr lang="en-PH" dirty="0">
              <a:solidFill>
                <a:schemeClr val="tx1"/>
              </a:solidFill>
              <a:latin typeface="Arial Narrow" pitchFamily="34" charset="0"/>
            </a:endParaRPr>
          </a:p>
          <a:p>
            <a:pPr marL="342900" lvl="0" indent="-342900" algn="just">
              <a:lnSpc>
                <a:spcPct val="115000"/>
              </a:lnSpc>
              <a:spcAft>
                <a:spcPts val="1000"/>
              </a:spcAft>
              <a:buFont typeface="+mj-lt"/>
              <a:buAutoNum type="alphaUcPeriod"/>
            </a:pPr>
            <a:r>
              <a:rPr lang="en-US" dirty="0" err="1">
                <a:solidFill>
                  <a:schemeClr val="tx1"/>
                </a:solidFill>
                <a:latin typeface="Arial Narrow" pitchFamily="34" charset="0"/>
              </a:rPr>
              <a:t>Midnatal</a:t>
            </a:r>
            <a:r>
              <a:rPr lang="en-US" dirty="0">
                <a:solidFill>
                  <a:schemeClr val="tx1"/>
                </a:solidFill>
                <a:latin typeface="Arial Narrow" pitchFamily="34" charset="0"/>
              </a:rPr>
              <a:t> learning </a:t>
            </a:r>
            <a:endParaRPr lang="en-PH" dirty="0">
              <a:solidFill>
                <a:schemeClr val="tx1"/>
              </a:solidFill>
              <a:latin typeface="Arial Narrow" pitchFamily="34" charset="0"/>
            </a:endParaRPr>
          </a:p>
          <a:p>
            <a:pPr marL="342900" lvl="0" indent="-342900" algn="just">
              <a:lnSpc>
                <a:spcPct val="115000"/>
              </a:lnSpc>
              <a:spcAft>
                <a:spcPts val="1000"/>
              </a:spcAft>
              <a:buFont typeface="+mj-lt"/>
              <a:buAutoNum type="alphaUcPeriod"/>
            </a:pPr>
            <a:r>
              <a:rPr lang="en-US" dirty="0">
                <a:solidFill>
                  <a:schemeClr val="tx1"/>
                </a:solidFill>
                <a:latin typeface="Arial Narrow" pitchFamily="34" charset="0"/>
              </a:rPr>
              <a:t>Postnatal learning </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957638"/>
            <a:ext cx="3929090" cy="42862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28. It is advisable to promote </a:t>
            </a:r>
            <a:r>
              <a:rPr lang="en-US" dirty="0">
                <a:solidFill>
                  <a:srgbClr val="C00000"/>
                </a:solidFill>
                <a:latin typeface="Arial Narrow" pitchFamily="34" charset="0"/>
              </a:rPr>
              <a:t>manipulative materials</a:t>
            </a:r>
            <a:r>
              <a:rPr lang="en-US" dirty="0">
                <a:solidFill>
                  <a:schemeClr val="tx1"/>
                </a:solidFill>
                <a:latin typeface="Arial Narrow" pitchFamily="34" charset="0"/>
              </a:rPr>
              <a:t> to a child in his </a:t>
            </a:r>
            <a:r>
              <a:rPr lang="en-US" dirty="0">
                <a:solidFill>
                  <a:srgbClr val="C00000"/>
                </a:solidFill>
                <a:latin typeface="Arial Narrow" pitchFamily="34" charset="0"/>
              </a:rPr>
              <a:t>early childhood</a:t>
            </a:r>
            <a:r>
              <a:rPr lang="en-US" dirty="0">
                <a:solidFill>
                  <a:schemeClr val="tx1"/>
                </a:solidFill>
                <a:latin typeface="Arial Narrow" pitchFamily="34" charset="0"/>
              </a:rPr>
              <a:t> to develop: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Numerical skills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Social skills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Reading readiness skills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Pre-handwriting skills </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743324"/>
            <a:ext cx="8358246"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857916"/>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29. Which </a:t>
            </a:r>
            <a:r>
              <a:rPr lang="en-US" dirty="0">
                <a:solidFill>
                  <a:srgbClr val="C00000"/>
                </a:solidFill>
                <a:latin typeface="Arial Narrow" pitchFamily="34" charset="0"/>
              </a:rPr>
              <a:t>characteristic behavior </a:t>
            </a:r>
            <a:r>
              <a:rPr lang="en-US" dirty="0">
                <a:solidFill>
                  <a:schemeClr val="tx1"/>
                </a:solidFill>
                <a:latin typeface="Arial Narrow" pitchFamily="34" charset="0"/>
              </a:rPr>
              <a:t>of a Grade IV pupil makes you conclude he is </a:t>
            </a:r>
            <a:r>
              <a:rPr lang="en-US" dirty="0">
                <a:solidFill>
                  <a:srgbClr val="C00000"/>
                </a:solidFill>
                <a:latin typeface="Arial Narrow" pitchFamily="34" charset="0"/>
              </a:rPr>
              <a:t>behind in his development </a:t>
            </a:r>
            <a:r>
              <a:rPr lang="en-US" dirty="0">
                <a:solidFill>
                  <a:schemeClr val="tx1"/>
                </a:solidFill>
                <a:latin typeface="Arial Narrow" pitchFamily="34" charset="0"/>
              </a:rPr>
              <a:t>in comparison with the average Grade IV pupil?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Has not achieved emotional independence from parents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Has not learned to get along with his age mates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Has not achieved socially responsible behavior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Has not achieved a feminine and masculine social role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3243258"/>
            <a:ext cx="9286940" cy="114300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30. Why is early childhood regarded as teachable stage for the teaching of skills?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Children at this stage are attracted to games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Children at this stage are growing fast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Children at this stage are excited with whatever they undertake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Children at this stage are adventurous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2386002"/>
            <a:ext cx="6929486"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lnSpcReduction="10000"/>
          </a:bodyPr>
          <a:lstStyle/>
          <a:p>
            <a:pPr marL="342900" lvl="0" indent="-342900" algn="just">
              <a:lnSpc>
                <a:spcPct val="115000"/>
              </a:lnSpc>
              <a:spcAft>
                <a:spcPts val="0"/>
              </a:spcAft>
            </a:pPr>
            <a:r>
              <a:rPr lang="en-US" dirty="0">
                <a:solidFill>
                  <a:schemeClr val="tx1"/>
                </a:solidFill>
                <a:latin typeface="Arial Narrow" pitchFamily="34" charset="0"/>
              </a:rPr>
              <a:t>31. Study shows that this is NOT among the appropriate practices of cognitive development among preschoolers?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One year old develop creative interest</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Three year old speak as often as possible</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Four year old say nursery rhymes</a:t>
            </a:r>
            <a:endParaRPr lang="en-PH" dirty="0">
              <a:solidFill>
                <a:schemeClr val="tx1"/>
              </a:solidFill>
              <a:latin typeface="Arial Narrow" pitchFamily="34" charset="0"/>
            </a:endParaRPr>
          </a:p>
          <a:p>
            <a:pPr marL="342900" lvl="0" indent="-342900" algn="just">
              <a:lnSpc>
                <a:spcPct val="115000"/>
              </a:lnSpc>
              <a:spcAft>
                <a:spcPts val="1000"/>
              </a:spcAft>
              <a:buFont typeface="+mj-lt"/>
              <a:buAutoNum type="alphaUcPeriod"/>
            </a:pPr>
            <a:r>
              <a:rPr lang="en-US" dirty="0">
                <a:solidFill>
                  <a:schemeClr val="tx1"/>
                </a:solidFill>
                <a:latin typeface="Arial Narrow" pitchFamily="34" charset="0"/>
              </a:rPr>
              <a:t>Five year old add drama to reading situations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2600316"/>
            <a:ext cx="9215502" cy="114300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32. The </a:t>
            </a:r>
            <a:r>
              <a:rPr lang="en-US" dirty="0">
                <a:solidFill>
                  <a:srgbClr val="C00000"/>
                </a:solidFill>
                <a:latin typeface="Arial Narrow" pitchFamily="34" charset="0"/>
              </a:rPr>
              <a:t>role of play </a:t>
            </a:r>
            <a:r>
              <a:rPr lang="en-US" dirty="0">
                <a:solidFill>
                  <a:schemeClr val="tx1"/>
                </a:solidFill>
                <a:latin typeface="Arial Narrow" pitchFamily="34" charset="0"/>
              </a:rPr>
              <a:t>in the preschool and early childhood years is that is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Develops the upper and lower limbs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Increases imagination due to expanding knowledge and emotional range</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Develops competitive spirit</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Separates reality from fantasy</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71482" y="3886200"/>
            <a:ext cx="6643734"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572164"/>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33. Laughing at a two-year old child who uttered a bad word is not a proper thing to do because in this stage of the child’s life, the child is 	____________.</a:t>
            </a:r>
            <a:endParaRPr lang="en-PH"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Socializing</a:t>
            </a:r>
            <a:endParaRPr lang="en-PH" sz="3600"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Considering the views of other		</a:t>
            </a:r>
            <a:endParaRPr lang="en-PH" sz="3600"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Distinguishing right from wrong</a:t>
            </a:r>
            <a:endParaRPr lang="en-PH" sz="3600"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Distinguishing sex differences	</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600316"/>
            <a:ext cx="3500462" cy="71438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34. How can we </a:t>
            </a:r>
            <a:r>
              <a:rPr lang="en-US" dirty="0">
                <a:solidFill>
                  <a:srgbClr val="C00000"/>
                </a:solidFill>
                <a:latin typeface="Arial Narrow" pitchFamily="34" charset="0"/>
              </a:rPr>
              <a:t>optimize learning </a:t>
            </a:r>
            <a:r>
              <a:rPr lang="en-US" dirty="0">
                <a:solidFill>
                  <a:schemeClr val="tx1"/>
                </a:solidFill>
                <a:latin typeface="Arial Narrow" pitchFamily="34" charset="0"/>
              </a:rPr>
              <a:t>for pre-school children?</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Employ technology </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Make learning fun</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Construct well-furnished classrooms</a:t>
            </a:r>
            <a:endParaRPr lang="en-PH" dirty="0">
              <a:solidFill>
                <a:schemeClr val="tx1"/>
              </a:solidFill>
              <a:latin typeface="Arial Narrow" pitchFamily="34" charset="0"/>
            </a:endParaRPr>
          </a:p>
          <a:p>
            <a:pPr marL="342900" lvl="0" indent="-342900" algn="just">
              <a:lnSpc>
                <a:spcPct val="115000"/>
              </a:lnSpc>
              <a:spcAft>
                <a:spcPts val="1000"/>
              </a:spcAft>
              <a:buFont typeface="+mj-lt"/>
              <a:buAutoNum type="alphaUcPeriod"/>
            </a:pPr>
            <a:r>
              <a:rPr lang="en-US" dirty="0">
                <a:solidFill>
                  <a:schemeClr val="tx1"/>
                </a:solidFill>
                <a:latin typeface="Arial Narrow" pitchFamily="34" charset="0"/>
              </a:rPr>
              <a:t>Use visual media always</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3314696"/>
            <a:ext cx="8501122"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786478"/>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35. A pre-school teacher is thinking about how to better develop her pupils’ fine-motor skills. Which of the following should the teacher consider?</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Encourage children to act independently</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Conduct a variety of fun and enjoyable activities </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Provide daily coloring book activities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Ask the children to do repeated writing drill activity every day</a:t>
            </a:r>
            <a:endParaRPr lang="en-PH" dirty="0">
              <a:solidFill>
                <a:schemeClr val="tx1"/>
              </a:solidFill>
              <a:latin typeface="Arial Narrow" pitchFamily="34" charset="0"/>
            </a:endParaRPr>
          </a:p>
          <a:p>
            <a:pPr marL="228600" algn="just">
              <a:lnSpc>
                <a:spcPct val="115000"/>
              </a:lnSpc>
              <a:spcAft>
                <a:spcPts val="1000"/>
              </a:spcAft>
            </a:pPr>
            <a:r>
              <a:rPr lang="en-US" dirty="0">
                <a:solidFill>
                  <a:schemeClr val="tx1"/>
                </a:solidFill>
                <a:latin typeface="Arial Narrow" pitchFamily="34" charset="0"/>
              </a:rPr>
              <a:t>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86258" y="2600316"/>
            <a:ext cx="3500462"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36. This stage of development is known as the questioning age or exploratory because the child is constantly asking so many questions.</a:t>
            </a:r>
            <a:endParaRPr lang="en-PH"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Babyhood		C.   Early childhood</a:t>
            </a:r>
            <a:endParaRPr lang="en-PH" sz="3600"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Infancy			D.   Late childhood</a:t>
            </a:r>
            <a:endParaRPr lang="en-PH" sz="3600"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886200"/>
            <a:ext cx="3500462"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37. During the first day of school, crying children are a common sight especially in the pre-school department. What explains this?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Object permanence</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Stranger shyness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Separation anxiety</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Temper tantrums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2386002"/>
            <a:ext cx="7358114"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38. What development task best displays 	adolescence 13 to 18 years?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    Learning social modesty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   Achieving masculine and feminine roles </a:t>
            </a:r>
            <a:endParaRPr lang="en-PH" dirty="0">
              <a:solidFill>
                <a:schemeClr val="tx1"/>
              </a:solidFill>
              <a:latin typeface="Arial Narrow" pitchFamily="34" charset="0"/>
            </a:endParaRPr>
          </a:p>
          <a:p>
            <a:pPr marL="342900" lvl="0" indent="-342900" algn="just">
              <a:spcAft>
                <a:spcPts val="0"/>
              </a:spcAft>
            </a:pPr>
            <a:r>
              <a:rPr lang="en-US" dirty="0">
                <a:solidFill>
                  <a:schemeClr val="tx1"/>
                </a:solidFill>
                <a:latin typeface="Arial Narrow" pitchFamily="34" charset="0"/>
              </a:rPr>
              <a:t>C. 	Assuming civic responsibility</a:t>
            </a:r>
            <a:endParaRPr lang="en-PH" dirty="0">
              <a:solidFill>
                <a:schemeClr val="tx1"/>
              </a:solidFill>
              <a:latin typeface="Arial Narrow" pitchFamily="34" charset="0"/>
            </a:endParaRPr>
          </a:p>
          <a:p>
            <a:pPr algn="just"/>
            <a:r>
              <a:rPr lang="en-US" dirty="0">
                <a:solidFill>
                  <a:schemeClr val="tx1"/>
                </a:solidFill>
                <a:latin typeface="Arial Narrow" pitchFamily="34" charset="0"/>
              </a:rPr>
              <a:t>D. 	Learning to get along well with </a:t>
            </a:r>
            <a:r>
              <a:rPr lang="en-US" dirty="0" err="1">
                <a:solidFill>
                  <a:schemeClr val="tx1"/>
                </a:solidFill>
                <a:latin typeface="Arial Narrow" pitchFamily="34" charset="0"/>
              </a:rPr>
              <a:t>agemates</a:t>
            </a:r>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2920" y="2600316"/>
            <a:ext cx="8858312" cy="100013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39. An </a:t>
            </a:r>
            <a:r>
              <a:rPr lang="en-US" dirty="0">
                <a:solidFill>
                  <a:srgbClr val="C00000"/>
                </a:solidFill>
                <a:latin typeface="Arial Narrow" pitchFamily="34" charset="0"/>
              </a:rPr>
              <a:t>adolescent</a:t>
            </a:r>
            <a:r>
              <a:rPr lang="en-US" dirty="0">
                <a:solidFill>
                  <a:schemeClr val="tx1"/>
                </a:solidFill>
                <a:latin typeface="Arial Narrow" pitchFamily="34" charset="0"/>
              </a:rPr>
              <a:t> exhibits what common </a:t>
            </a:r>
            <a:r>
              <a:rPr lang="en-US" dirty="0">
                <a:solidFill>
                  <a:srgbClr val="C00000"/>
                </a:solidFill>
                <a:latin typeface="Arial Narrow" pitchFamily="34" charset="0"/>
              </a:rPr>
              <a:t>characteristics</a:t>
            </a:r>
            <a:r>
              <a:rPr lang="en-US" dirty="0">
                <a:solidFill>
                  <a:schemeClr val="tx1"/>
                </a:solidFill>
                <a:latin typeface="Arial Narrow" pitchFamily="34" charset="0"/>
              </a:rPr>
              <a:t>?</a:t>
            </a:r>
            <a:endParaRPr lang="en-PH"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Reasonable and secure			</a:t>
            </a:r>
            <a:endParaRPr lang="en-PH" sz="3600"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Feels intense emotions and sense of disequilibrium</a:t>
            </a:r>
            <a:endParaRPr lang="en-PH" sz="3600"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Slow but steady physical growth</a:t>
            </a:r>
            <a:endParaRPr lang="en-PH" sz="3600" dirty="0">
              <a:solidFill>
                <a:schemeClr val="tx1"/>
              </a:solidFill>
              <a:latin typeface="Arial Narrow" pitchFamily="34" charset="0"/>
            </a:endParaRPr>
          </a:p>
          <a:p>
            <a:pPr marL="742950" lvl="1" indent="-285750" algn="just">
              <a:spcAft>
                <a:spcPts val="0"/>
              </a:spcAft>
              <a:buFont typeface="+mj-lt"/>
              <a:buAutoNum type="alphaUcPeriod"/>
            </a:pPr>
            <a:r>
              <a:rPr lang="en-US" sz="3600" dirty="0">
                <a:solidFill>
                  <a:schemeClr val="tx1"/>
                </a:solidFill>
                <a:latin typeface="Arial Narrow" pitchFamily="34" charset="0"/>
              </a:rPr>
              <a:t>Passive and obedient</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14688" y="4386266"/>
            <a:ext cx="2500330"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40. In the </a:t>
            </a:r>
            <a:r>
              <a:rPr lang="en-US" dirty="0">
                <a:solidFill>
                  <a:srgbClr val="C00000"/>
                </a:solidFill>
                <a:latin typeface="Arial Narrow" pitchFamily="34" charset="0"/>
              </a:rPr>
              <a:t>formal operational stage</a:t>
            </a:r>
            <a:r>
              <a:rPr lang="en-US" dirty="0">
                <a:solidFill>
                  <a:schemeClr val="tx1"/>
                </a:solidFill>
                <a:latin typeface="Arial Narrow" pitchFamily="34" charset="0"/>
              </a:rPr>
              <a:t>, which is/are adolescents capable of doing to solve a problem?</a:t>
            </a:r>
            <a:endParaRPr lang="en-PH" dirty="0">
              <a:solidFill>
                <a:schemeClr val="tx1"/>
              </a:solidFill>
              <a:latin typeface="Arial Narrow" pitchFamily="34" charset="0"/>
            </a:endParaRPr>
          </a:p>
          <a:p>
            <a:pPr marL="342900" lvl="0" indent="-342900" algn="just">
              <a:spcAft>
                <a:spcPts val="0"/>
              </a:spcAft>
              <a:buFont typeface="+mj-lt"/>
              <a:buAutoNum type="romanUcPeriod"/>
            </a:pPr>
            <a:r>
              <a:rPr lang="en-US" dirty="0">
                <a:solidFill>
                  <a:schemeClr val="tx1"/>
                </a:solidFill>
                <a:latin typeface="Arial Narrow" pitchFamily="34" charset="0"/>
              </a:rPr>
              <a:t>Formulate hypothesis</a:t>
            </a:r>
            <a:endParaRPr lang="en-PH" dirty="0">
              <a:solidFill>
                <a:schemeClr val="tx1"/>
              </a:solidFill>
              <a:latin typeface="Arial Narrow" pitchFamily="34" charset="0"/>
            </a:endParaRPr>
          </a:p>
          <a:p>
            <a:pPr marL="342900" lvl="0" indent="-342900" algn="just">
              <a:spcAft>
                <a:spcPts val="0"/>
              </a:spcAft>
              <a:buFont typeface="+mj-lt"/>
              <a:buAutoNum type="romanUcPeriod"/>
            </a:pPr>
            <a:r>
              <a:rPr lang="en-US" dirty="0">
                <a:solidFill>
                  <a:schemeClr val="tx1"/>
                </a:solidFill>
                <a:latin typeface="Arial Narrow" pitchFamily="34" charset="0"/>
              </a:rPr>
              <a:t>Systematically test hypothesis</a:t>
            </a:r>
            <a:endParaRPr lang="en-PH" dirty="0">
              <a:solidFill>
                <a:schemeClr val="tx1"/>
              </a:solidFill>
              <a:latin typeface="Arial Narrow" pitchFamily="34" charset="0"/>
            </a:endParaRPr>
          </a:p>
          <a:p>
            <a:pPr marL="342900" lvl="0" indent="-342900" algn="just">
              <a:spcAft>
                <a:spcPts val="0"/>
              </a:spcAft>
              <a:buFont typeface="+mj-lt"/>
              <a:buAutoNum type="romanUcPeriod"/>
            </a:pPr>
            <a:r>
              <a:rPr lang="en-US" dirty="0">
                <a:solidFill>
                  <a:schemeClr val="tx1"/>
                </a:solidFill>
                <a:latin typeface="Arial Narrow" pitchFamily="34" charset="0"/>
              </a:rPr>
              <a:t>Reason out</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II only		C. I and II</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III only		D. I, II, and III</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5730" y="3529010"/>
            <a:ext cx="2786082"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41. Based on Kohlberg’s theory, what is the level of moral development shown when children generally do what is right in order to come up with their parents’ and teacher’s expectations of a </a:t>
            </a:r>
            <a:r>
              <a:rPr lang="en-US" dirty="0">
                <a:solidFill>
                  <a:srgbClr val="C00000"/>
                </a:solidFill>
                <a:latin typeface="Arial Narrow" pitchFamily="34" charset="0"/>
              </a:rPr>
              <a:t>good child</a:t>
            </a:r>
            <a:r>
              <a:rPr lang="en-US" dirty="0">
                <a:solidFill>
                  <a:schemeClr val="tx1"/>
                </a:solidFill>
                <a:latin typeface="Arial Narrow" pitchFamily="34" charset="0"/>
              </a:rPr>
              <a:t>?</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Pre-conventional	C. Post-conventional</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Conventional		D. Formal</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14820" y="2314564"/>
            <a:ext cx="2286016"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42. When a child says that the sun is sleeping at night, the child is in the pre-operational stage, particularly _____________.</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err="1">
                <a:solidFill>
                  <a:schemeClr val="tx1"/>
                </a:solidFill>
                <a:latin typeface="Arial Narrow" pitchFamily="34" charset="0"/>
              </a:rPr>
              <a:t>Centration</a:t>
            </a:r>
            <a:r>
              <a:rPr lang="en-US" dirty="0">
                <a:solidFill>
                  <a:schemeClr val="tx1"/>
                </a:solidFill>
                <a:latin typeface="Arial Narrow" pitchFamily="34" charset="0"/>
              </a:rPr>
              <a:t>		C. Animism</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Egocentrism		D. Reversibility</a:t>
            </a:r>
            <a:endParaRPr lang="en-PH" dirty="0">
              <a:solidFill>
                <a:schemeClr val="tx1"/>
              </a:solidFill>
              <a:latin typeface="Arial Narrow" pitchFamily="34" charset="0"/>
            </a:endParaRPr>
          </a:p>
          <a:p>
            <a:pPr algn="just">
              <a:spcAft>
                <a:spcPts val="0"/>
              </a:spcAft>
            </a:pPr>
            <a:r>
              <a:rPr lang="en-US" dirty="0">
                <a:solidFill>
                  <a:schemeClr val="tx1"/>
                </a:solidFill>
                <a:latin typeface="Arial Narrow" pitchFamily="34" charset="0"/>
              </a:rPr>
              <a:t>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243258"/>
            <a:ext cx="3357586"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lnSpcReduction="10000"/>
          </a:bodyPr>
          <a:lstStyle/>
          <a:p>
            <a:pPr marL="342900" lvl="0" indent="-342900" algn="just">
              <a:spcAft>
                <a:spcPts val="0"/>
              </a:spcAft>
            </a:pPr>
            <a:r>
              <a:rPr lang="en-US" dirty="0">
                <a:solidFill>
                  <a:schemeClr val="tx1"/>
                </a:solidFill>
                <a:latin typeface="Arial Narrow" pitchFamily="34" charset="0"/>
              </a:rPr>
              <a:t>43. In Piaget’s stages of cognitive development, which is the tendency of the </a:t>
            </a:r>
            <a:r>
              <a:rPr lang="en-US" dirty="0">
                <a:solidFill>
                  <a:srgbClr val="C00000"/>
                </a:solidFill>
                <a:latin typeface="Arial Narrow" pitchFamily="34" charset="0"/>
              </a:rPr>
              <a:t>child</a:t>
            </a:r>
            <a:r>
              <a:rPr lang="en-US" dirty="0">
                <a:solidFill>
                  <a:schemeClr val="tx1"/>
                </a:solidFill>
                <a:latin typeface="Arial Narrow" pitchFamily="34" charset="0"/>
              </a:rPr>
              <a:t> to </a:t>
            </a:r>
            <a:r>
              <a:rPr lang="en-US" dirty="0">
                <a:solidFill>
                  <a:srgbClr val="C00000"/>
                </a:solidFill>
                <a:latin typeface="Arial Narrow" pitchFamily="34" charset="0"/>
              </a:rPr>
              <a:t>only see his point of view</a:t>
            </a:r>
            <a:r>
              <a:rPr lang="en-US" dirty="0">
                <a:solidFill>
                  <a:schemeClr val="tx1"/>
                </a:solidFill>
                <a:latin typeface="Arial Narrow" pitchFamily="34" charset="0"/>
              </a:rPr>
              <a:t> and to assume that everyone has the same point of view?</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A. 	Reversibility</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B. 	Egocentrism</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C. 	Symbolic function</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D. 	</a:t>
            </a:r>
            <a:r>
              <a:rPr lang="en-US" dirty="0" err="1">
                <a:solidFill>
                  <a:schemeClr val="tx1"/>
                </a:solidFill>
                <a:latin typeface="Arial Narrow" pitchFamily="34" charset="0"/>
              </a:rPr>
              <a:t>Centration</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1743060"/>
            <a:ext cx="3214710"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44. Which is the </a:t>
            </a:r>
            <a:r>
              <a:rPr lang="en-US" dirty="0">
                <a:solidFill>
                  <a:srgbClr val="C00000"/>
                </a:solidFill>
                <a:latin typeface="Arial Narrow" pitchFamily="34" charset="0"/>
              </a:rPr>
              <a:t>most basic </a:t>
            </a:r>
            <a:r>
              <a:rPr lang="en-US" dirty="0">
                <a:solidFill>
                  <a:schemeClr val="tx1"/>
                </a:solidFill>
                <a:latin typeface="Arial Narrow" pitchFamily="34" charset="0"/>
              </a:rPr>
              <a:t>in Maslow’s hierarchy of needs?</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A. 	Socialization</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B. 	Actualization </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C. 	Self-esteem</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D. 	Altruism</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0044" y="3243258"/>
            <a:ext cx="2428892" cy="42862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lnSpcReduction="10000"/>
          </a:bodyPr>
          <a:lstStyle/>
          <a:p>
            <a:pPr marL="342900" lvl="0" indent="-342900" algn="just">
              <a:spcAft>
                <a:spcPts val="0"/>
              </a:spcAft>
            </a:pPr>
            <a:r>
              <a:rPr lang="en-US" dirty="0">
                <a:solidFill>
                  <a:schemeClr val="tx1"/>
                </a:solidFill>
                <a:latin typeface="Arial Narrow" pitchFamily="34" charset="0"/>
              </a:rPr>
              <a:t>45. Who asserted that children must be given the opportunity to explore and work on different materials so that they will develop the sense of </a:t>
            </a:r>
            <a:r>
              <a:rPr lang="en-US" dirty="0">
                <a:solidFill>
                  <a:srgbClr val="C00000"/>
                </a:solidFill>
                <a:latin typeface="Arial Narrow" pitchFamily="34" charset="0"/>
              </a:rPr>
              <a:t>initiative instead of guilt?</a:t>
            </a:r>
            <a:endParaRPr lang="en-PH" dirty="0">
              <a:solidFill>
                <a:srgbClr val="C00000"/>
              </a:solidFill>
              <a:latin typeface="Arial Narrow" pitchFamily="34" charset="0"/>
            </a:endParaRPr>
          </a:p>
          <a:p>
            <a:pPr marL="228600" algn="just">
              <a:spcAft>
                <a:spcPts val="0"/>
              </a:spcAft>
            </a:pPr>
            <a:r>
              <a:rPr lang="en-US" dirty="0">
                <a:solidFill>
                  <a:schemeClr val="tx1"/>
                </a:solidFill>
                <a:latin typeface="Arial Narrow" pitchFamily="34" charset="0"/>
              </a:rPr>
              <a:t>A. 	Kohlberg</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B. 	Erickson</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C. 	Maslow</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D. 	Gardner</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14820" y="3171820"/>
            <a:ext cx="2357454"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46. The Freudian stages when the child isn’t aware of or concern with sexual impulses, instead he is more interested in developing friendship with other children of the same sex.</a:t>
            </a:r>
            <a:endParaRPr lang="en-PH" dirty="0">
              <a:solidFill>
                <a:schemeClr val="tx1"/>
              </a:solidFill>
              <a:latin typeface="Arial Narrow" pitchFamily="34" charset="0"/>
            </a:endParaRPr>
          </a:p>
          <a:p>
            <a:pPr marL="742950" lvl="1" indent="-285750" algn="just">
              <a:lnSpc>
                <a:spcPct val="115000"/>
              </a:lnSpc>
              <a:spcAft>
                <a:spcPts val="0"/>
              </a:spcAft>
              <a:buFont typeface="+mj-lt"/>
              <a:buAutoNum type="alphaUcPeriod"/>
            </a:pPr>
            <a:r>
              <a:rPr lang="en-US" sz="3600" dirty="0">
                <a:solidFill>
                  <a:schemeClr val="tx1"/>
                </a:solidFill>
                <a:latin typeface="Arial Narrow" pitchFamily="34" charset="0"/>
              </a:rPr>
              <a:t>Anal			C.   Latency</a:t>
            </a:r>
            <a:endParaRPr lang="en-PH" sz="3600" dirty="0">
              <a:solidFill>
                <a:schemeClr val="tx1"/>
              </a:solidFill>
              <a:latin typeface="Arial Narrow" pitchFamily="34" charset="0"/>
            </a:endParaRPr>
          </a:p>
          <a:p>
            <a:pPr marL="742950" lvl="1" indent="-285750" algn="just">
              <a:lnSpc>
                <a:spcPct val="115000"/>
              </a:lnSpc>
              <a:spcAft>
                <a:spcPts val="0"/>
              </a:spcAft>
              <a:buFont typeface="+mj-lt"/>
              <a:buAutoNum type="alphaUcPeriod"/>
            </a:pPr>
            <a:r>
              <a:rPr lang="en-US" sz="3600" dirty="0">
                <a:solidFill>
                  <a:schemeClr val="tx1"/>
                </a:solidFill>
                <a:latin typeface="Arial Narrow" pitchFamily="34" charset="0"/>
              </a:rPr>
              <a:t>Phallic			D.   Genital</a:t>
            </a:r>
            <a:endParaRPr lang="en-PH" sz="3600"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71482" y="3671886"/>
            <a:ext cx="1857388"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47. For Sigmund Freud, which is the </a:t>
            </a:r>
            <a:r>
              <a:rPr lang="en-US" dirty="0">
                <a:solidFill>
                  <a:srgbClr val="C00000"/>
                </a:solidFill>
                <a:latin typeface="Arial Narrow" pitchFamily="34" charset="0"/>
              </a:rPr>
              <a:t>deciding agent </a:t>
            </a:r>
            <a:r>
              <a:rPr lang="en-US" dirty="0">
                <a:solidFill>
                  <a:schemeClr val="tx1"/>
                </a:solidFill>
                <a:latin typeface="Arial Narrow" pitchFamily="34" charset="0"/>
              </a:rPr>
              <a:t>of human personality by which we reason out and consider the best response to situations?</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A. 	Id </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B. 	Superego </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C. 	Ego</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D. 	Unconscious</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8606" y="2171688"/>
            <a:ext cx="2786082"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48. What explains the tendency of preschool children to </a:t>
            </a:r>
            <a:r>
              <a:rPr lang="en-US" dirty="0">
                <a:solidFill>
                  <a:srgbClr val="C00000"/>
                </a:solidFill>
                <a:latin typeface="Arial Narrow" pitchFamily="34" charset="0"/>
              </a:rPr>
              <a:t>focus on one aspect </a:t>
            </a:r>
            <a:r>
              <a:rPr lang="en-US" dirty="0">
                <a:solidFill>
                  <a:schemeClr val="tx1"/>
                </a:solidFill>
                <a:latin typeface="Arial Narrow" pitchFamily="34" charset="0"/>
              </a:rPr>
              <a:t>of an object while excluding other aspects?</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A. 	</a:t>
            </a:r>
            <a:r>
              <a:rPr lang="en-US" dirty="0" err="1">
                <a:solidFill>
                  <a:schemeClr val="tx1"/>
                </a:solidFill>
                <a:latin typeface="Arial Narrow" pitchFamily="34" charset="0"/>
              </a:rPr>
              <a:t>Centration</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B. 	Translation </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C. 	Intuition</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D. 	Ego-</a:t>
            </a:r>
            <a:r>
              <a:rPr lang="en-US" dirty="0" err="1">
                <a:solidFill>
                  <a:schemeClr val="tx1"/>
                </a:solidFill>
                <a:latin typeface="Arial Narrow" pitchFamily="34" charset="0"/>
              </a:rPr>
              <a:t>centration</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71944" y="3100382"/>
            <a:ext cx="3286148"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lnSpcReduction="10000"/>
          </a:bodyPr>
          <a:lstStyle/>
          <a:p>
            <a:pPr marL="342900" lvl="0" indent="-342900" algn="just">
              <a:spcAft>
                <a:spcPts val="0"/>
              </a:spcAft>
            </a:pPr>
            <a:r>
              <a:rPr lang="en-US" dirty="0">
                <a:solidFill>
                  <a:schemeClr val="tx1"/>
                </a:solidFill>
                <a:latin typeface="Arial Narrow" pitchFamily="34" charset="0"/>
              </a:rPr>
              <a:t>49. To what does Piaget’s cognitive development theory that the ability to determine that a certain quantity will remain the same shape despite adjustment of the container shape or apparent size refer?</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Conversion		C. Conservation</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Accommodation		D. Assimilation</a:t>
            </a:r>
            <a:endParaRPr lang="en-PH" dirty="0">
              <a:solidFill>
                <a:schemeClr val="tx1"/>
              </a:solidFill>
              <a:latin typeface="Arial Narrow" pitchFamily="34" charset="0"/>
            </a:endParaRPr>
          </a:p>
          <a:p>
            <a:pPr marL="457200" algn="just">
              <a:spcAft>
                <a:spcPts val="0"/>
              </a:spcAft>
            </a:pPr>
            <a:r>
              <a:rPr lang="en-US" dirty="0">
                <a:solidFill>
                  <a:schemeClr val="tx1"/>
                </a:solidFill>
                <a:latin typeface="Arial Narrow" pitchFamily="34" charset="0"/>
              </a:rPr>
              <a:t> </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8606" y="2314564"/>
            <a:ext cx="2714644" cy="571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50. Of Piaget’s Cognitive Concepts, which refer to the process of </a:t>
            </a:r>
            <a:r>
              <a:rPr lang="en-US" dirty="0">
                <a:solidFill>
                  <a:srgbClr val="C00000"/>
                </a:solidFill>
                <a:latin typeface="Arial Narrow" pitchFamily="34" charset="0"/>
              </a:rPr>
              <a:t>fitting</a:t>
            </a:r>
            <a:r>
              <a:rPr lang="en-US" dirty="0">
                <a:solidFill>
                  <a:schemeClr val="tx1"/>
                </a:solidFill>
                <a:latin typeface="Arial Narrow" pitchFamily="34" charset="0"/>
              </a:rPr>
              <a:t> a new experience to a previously created cognitive structure or schema?</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A. Assimilation</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B. Schema </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C. Accommodation</a:t>
            </a:r>
            <a:endParaRPr lang="en-PH" dirty="0">
              <a:solidFill>
                <a:schemeClr val="tx1"/>
              </a:solidFill>
              <a:latin typeface="Arial Narrow" pitchFamily="34" charset="0"/>
            </a:endParaRPr>
          </a:p>
          <a:p>
            <a:pPr marL="228600" algn="just">
              <a:spcAft>
                <a:spcPts val="0"/>
              </a:spcAft>
            </a:pPr>
            <a:r>
              <a:rPr lang="en-US" dirty="0">
                <a:solidFill>
                  <a:schemeClr val="tx1"/>
                </a:solidFill>
                <a:latin typeface="Arial Narrow" pitchFamily="34" charset="0"/>
              </a:rPr>
              <a:t>D. Equilibrium</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671886"/>
            <a:ext cx="4500594"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spcAft>
                <a:spcPts val="0"/>
              </a:spcAft>
            </a:pPr>
            <a:r>
              <a:rPr lang="en-US" dirty="0">
                <a:solidFill>
                  <a:schemeClr val="tx1"/>
                </a:solidFill>
                <a:latin typeface="Arial Narrow" pitchFamily="34" charset="0"/>
              </a:rPr>
              <a:t>51. What is Daniel </a:t>
            </a:r>
            <a:r>
              <a:rPr lang="en-US" dirty="0" err="1">
                <a:solidFill>
                  <a:schemeClr val="tx1"/>
                </a:solidFill>
                <a:latin typeface="Arial Narrow" pitchFamily="34" charset="0"/>
              </a:rPr>
              <a:t>Goleman’s</a:t>
            </a:r>
            <a:r>
              <a:rPr lang="en-US" dirty="0">
                <a:solidFill>
                  <a:schemeClr val="tx1"/>
                </a:solidFill>
                <a:latin typeface="Arial Narrow" pitchFamily="34" charset="0"/>
              </a:rPr>
              <a:t> term for interpersonal effectiveness?</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PR index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XY theory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Superior IQ </a:t>
            </a:r>
            <a:endParaRPr lang="en-PH" dirty="0">
              <a:solidFill>
                <a:schemeClr val="tx1"/>
              </a:solidFill>
              <a:latin typeface="Arial Narrow" pitchFamily="34" charset="0"/>
            </a:endParaRPr>
          </a:p>
          <a:p>
            <a:pPr marL="342900" lvl="0" indent="-342900" algn="just">
              <a:spcAft>
                <a:spcPts val="0"/>
              </a:spcAft>
              <a:buFont typeface="+mj-lt"/>
              <a:buAutoNum type="alphaUcPeriod"/>
            </a:pPr>
            <a:r>
              <a:rPr lang="en-US" dirty="0">
                <a:solidFill>
                  <a:schemeClr val="tx1"/>
                </a:solidFill>
                <a:latin typeface="Arial Narrow" pitchFamily="34" charset="0"/>
              </a:rPr>
              <a:t>Emotional quotient  (EQ)</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292" y="3886200"/>
            <a:ext cx="4357718"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52. A person who </a:t>
            </a:r>
            <a:r>
              <a:rPr lang="en-US" dirty="0">
                <a:solidFill>
                  <a:srgbClr val="C00000"/>
                </a:solidFill>
                <a:latin typeface="Arial Narrow" pitchFamily="34" charset="0"/>
              </a:rPr>
              <a:t>cannot form a healthy intimate relationship with other </a:t>
            </a:r>
            <a:r>
              <a:rPr lang="en-US" dirty="0">
                <a:solidFill>
                  <a:schemeClr val="tx1"/>
                </a:solidFill>
                <a:latin typeface="Arial Narrow" pitchFamily="34" charset="0"/>
              </a:rPr>
              <a:t>people developed a problem in his childhood particularly in which stage, according to Erik Erikson?</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Identity </a:t>
            </a:r>
            <a:r>
              <a:rPr lang="en-US" dirty="0" err="1">
                <a:solidFill>
                  <a:schemeClr val="tx1"/>
                </a:solidFill>
                <a:latin typeface="Arial Narrow" pitchFamily="34" charset="0"/>
              </a:rPr>
              <a:t>vs</a:t>
            </a:r>
            <a:r>
              <a:rPr lang="en-US" dirty="0">
                <a:solidFill>
                  <a:schemeClr val="tx1"/>
                </a:solidFill>
                <a:latin typeface="Arial Narrow" pitchFamily="34" charset="0"/>
              </a:rPr>
              <a:t> Role confusion</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Basic trust </a:t>
            </a:r>
            <a:r>
              <a:rPr lang="en-US" dirty="0" err="1">
                <a:solidFill>
                  <a:schemeClr val="tx1"/>
                </a:solidFill>
                <a:latin typeface="Arial Narrow" pitchFamily="34" charset="0"/>
              </a:rPr>
              <a:t>vs</a:t>
            </a:r>
            <a:r>
              <a:rPr lang="en-US" dirty="0">
                <a:solidFill>
                  <a:schemeClr val="tx1"/>
                </a:solidFill>
                <a:latin typeface="Arial Narrow" pitchFamily="34" charset="0"/>
              </a:rPr>
              <a:t> mistrust</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Intimacy </a:t>
            </a:r>
            <a:r>
              <a:rPr lang="en-US" dirty="0" err="1">
                <a:solidFill>
                  <a:schemeClr val="tx1"/>
                </a:solidFill>
                <a:latin typeface="Arial Narrow" pitchFamily="34" charset="0"/>
              </a:rPr>
              <a:t>vs</a:t>
            </a:r>
            <a:r>
              <a:rPr lang="en-US" dirty="0">
                <a:solidFill>
                  <a:schemeClr val="tx1"/>
                </a:solidFill>
                <a:latin typeface="Arial Narrow" pitchFamily="34" charset="0"/>
              </a:rPr>
              <a:t> isolation</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Autonomy </a:t>
            </a:r>
            <a:r>
              <a:rPr lang="en-US" dirty="0" err="1">
                <a:solidFill>
                  <a:schemeClr val="tx1"/>
                </a:solidFill>
                <a:latin typeface="Arial Narrow" pitchFamily="34" charset="0"/>
              </a:rPr>
              <a:t>vs</a:t>
            </a:r>
            <a:r>
              <a:rPr lang="en-US" dirty="0">
                <a:solidFill>
                  <a:schemeClr val="tx1"/>
                </a:solidFill>
                <a:latin typeface="Arial Narrow" pitchFamily="34" charset="0"/>
              </a:rPr>
              <a:t> shame and doubt</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14820" y="5886464"/>
            <a:ext cx="5357850"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242854" y="171424"/>
            <a:ext cx="9572692" cy="6572296"/>
          </a:xfrm>
        </p:spPr>
        <p:txBody>
          <a:bodyPr>
            <a:noAutofit/>
          </a:bodyPr>
          <a:lstStyle/>
          <a:p>
            <a:pPr marL="342900" lvl="0" indent="-342900" algn="just">
              <a:lnSpc>
                <a:spcPct val="115000"/>
              </a:lnSpc>
              <a:spcAft>
                <a:spcPts val="0"/>
              </a:spcAft>
            </a:pPr>
            <a:r>
              <a:rPr lang="en-US" sz="3400" dirty="0">
                <a:solidFill>
                  <a:schemeClr val="tx1"/>
                </a:solidFill>
                <a:latin typeface="Arial Narrow" pitchFamily="34" charset="0"/>
              </a:rPr>
              <a:t>53. Bing, a preschooler, insists on getting noodles for himself from the serving dish each time his family attends a gathering, even though he usually drops pasta on the floor. When his mother tries to assist him, he brushes his mother off and insists on </a:t>
            </a:r>
            <a:r>
              <a:rPr lang="en-US" sz="3400" dirty="0">
                <a:solidFill>
                  <a:srgbClr val="C00000"/>
                </a:solidFill>
                <a:latin typeface="Arial Narrow" pitchFamily="34" charset="0"/>
              </a:rPr>
              <a:t>doing it by himself. </a:t>
            </a:r>
            <a:r>
              <a:rPr lang="en-US" sz="3400" dirty="0">
                <a:solidFill>
                  <a:schemeClr val="tx1"/>
                </a:solidFill>
                <a:latin typeface="Arial Narrow" pitchFamily="34" charset="0"/>
              </a:rPr>
              <a:t>In the context of Erickson’s psychosocial development theory, what stage of psychosocial development best describes </a:t>
            </a:r>
            <a:r>
              <a:rPr lang="en-US" sz="3400" dirty="0" err="1">
                <a:solidFill>
                  <a:schemeClr val="tx1"/>
                </a:solidFill>
                <a:latin typeface="Arial Narrow" pitchFamily="34" charset="0"/>
              </a:rPr>
              <a:t>Bing’s</a:t>
            </a:r>
            <a:r>
              <a:rPr lang="en-US" sz="3400" dirty="0">
                <a:solidFill>
                  <a:schemeClr val="tx1"/>
                </a:solidFill>
                <a:latin typeface="Arial Narrow" pitchFamily="34" charset="0"/>
              </a:rPr>
              <a:t> behavior?</a:t>
            </a:r>
            <a:endParaRPr lang="en-PH" sz="34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400" dirty="0">
                <a:solidFill>
                  <a:schemeClr val="tx1"/>
                </a:solidFill>
                <a:latin typeface="Arial Narrow" pitchFamily="34" charset="0"/>
              </a:rPr>
              <a:t>Trust vs. Mistrust</a:t>
            </a:r>
            <a:r>
              <a:rPr lang="en-PH" sz="3400" dirty="0">
                <a:solidFill>
                  <a:schemeClr val="tx1"/>
                </a:solidFill>
                <a:latin typeface="Arial Narrow" pitchFamily="34" charset="0"/>
              </a:rPr>
              <a:t>		B. </a:t>
            </a:r>
            <a:r>
              <a:rPr lang="en-US" sz="3400" dirty="0">
                <a:solidFill>
                  <a:schemeClr val="tx1"/>
                </a:solidFill>
                <a:latin typeface="Arial Narrow" pitchFamily="34" charset="0"/>
              </a:rPr>
              <a:t>Industry vs. Inferiority</a:t>
            </a:r>
            <a:endParaRPr lang="en-PH" sz="34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400" dirty="0">
                <a:solidFill>
                  <a:schemeClr val="tx1"/>
                </a:solidFill>
                <a:latin typeface="Arial Narrow" pitchFamily="34" charset="0"/>
              </a:rPr>
              <a:t>Initiative vs. Guilt</a:t>
            </a:r>
            <a:r>
              <a:rPr lang="en-PH" sz="3400" dirty="0">
                <a:solidFill>
                  <a:schemeClr val="tx1"/>
                </a:solidFill>
                <a:latin typeface="Arial Narrow" pitchFamily="34" charset="0"/>
              </a:rPr>
              <a:t>		D. </a:t>
            </a:r>
            <a:r>
              <a:rPr lang="en-US" sz="3400" dirty="0">
                <a:solidFill>
                  <a:schemeClr val="tx1"/>
                </a:solidFill>
                <a:latin typeface="Arial Narrow" pitchFamily="34" charset="0"/>
              </a:rPr>
              <a:t>Autonomy vs. Shame &amp; Doubt</a:t>
            </a:r>
            <a:endParaRPr lang="en-PH" sz="3400" dirty="0">
              <a:solidFill>
                <a:schemeClr val="tx1"/>
              </a:solidFill>
              <a:latin typeface="Arial Narrow" pitchFamily="34" charset="0"/>
            </a:endParaRPr>
          </a:p>
          <a:p>
            <a:pPr marL="742950" lvl="0" indent="-742950" algn="l"/>
            <a:endParaRPr lang="en-US" sz="3400"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0044" y="4457704"/>
            <a:ext cx="3429024"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lnSpcReduction="10000"/>
          </a:bodyPr>
          <a:lstStyle/>
          <a:p>
            <a:pPr marL="342900" lvl="0" indent="-342900" algn="just">
              <a:lnSpc>
                <a:spcPct val="115000"/>
              </a:lnSpc>
              <a:spcAft>
                <a:spcPts val="0"/>
              </a:spcAft>
            </a:pPr>
            <a:r>
              <a:rPr lang="en-US" dirty="0">
                <a:solidFill>
                  <a:schemeClr val="tx1"/>
                </a:solidFill>
                <a:latin typeface="Arial Narrow" pitchFamily="34" charset="0"/>
              </a:rPr>
              <a:t>54. What is the </a:t>
            </a:r>
            <a:r>
              <a:rPr lang="en-US" dirty="0">
                <a:solidFill>
                  <a:srgbClr val="C00000"/>
                </a:solidFill>
                <a:latin typeface="Arial Narrow" pitchFamily="34" charset="0"/>
              </a:rPr>
              <a:t>pattern of change </a:t>
            </a:r>
            <a:r>
              <a:rPr lang="en-US" dirty="0">
                <a:solidFill>
                  <a:schemeClr val="tx1"/>
                </a:solidFill>
                <a:latin typeface="Arial Narrow" pitchFamily="34" charset="0"/>
              </a:rPr>
              <a:t>which can affect child’s development such as in </a:t>
            </a:r>
            <a:r>
              <a:rPr lang="en-US" dirty="0">
                <a:solidFill>
                  <a:srgbClr val="C00000"/>
                </a:solidFill>
                <a:latin typeface="Arial Narrow" pitchFamily="34" charset="0"/>
              </a:rPr>
              <a:t>parents going abroad for work?</a:t>
            </a:r>
            <a:endParaRPr lang="en-PH" dirty="0">
              <a:solidFill>
                <a:srgbClr val="C00000"/>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A. 	</a:t>
            </a:r>
            <a:r>
              <a:rPr lang="en-US" dirty="0" err="1">
                <a:solidFill>
                  <a:schemeClr val="tx1"/>
                </a:solidFill>
                <a:latin typeface="Arial Narrow" pitchFamily="34" charset="0"/>
              </a:rPr>
              <a:t>Microsystem</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B. 	</a:t>
            </a:r>
            <a:r>
              <a:rPr lang="en-US" dirty="0" err="1">
                <a:solidFill>
                  <a:schemeClr val="tx1"/>
                </a:solidFill>
                <a:latin typeface="Arial Narrow" pitchFamily="34" charset="0"/>
              </a:rPr>
              <a:t>Mesosystem</a:t>
            </a:r>
            <a:r>
              <a:rPr lang="en-US" dirty="0">
                <a:solidFill>
                  <a:schemeClr val="tx1"/>
                </a:solidFill>
                <a:latin typeface="Arial Narrow" pitchFamily="34" charset="0"/>
              </a:rPr>
              <a:t> </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C. 	</a:t>
            </a:r>
            <a:r>
              <a:rPr lang="en-US" dirty="0" err="1">
                <a:solidFill>
                  <a:schemeClr val="tx1"/>
                </a:solidFill>
                <a:latin typeface="Arial Narrow" pitchFamily="34" charset="0"/>
              </a:rPr>
              <a:t>Macrosystem</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D. 	</a:t>
            </a:r>
            <a:r>
              <a:rPr lang="en-US" dirty="0" err="1">
                <a:solidFill>
                  <a:schemeClr val="tx1"/>
                </a:solidFill>
                <a:latin typeface="Arial Narrow" pitchFamily="34" charset="0"/>
              </a:rPr>
              <a:t>Chronosystem</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71944" y="6315092"/>
            <a:ext cx="2571768" cy="42862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242854" y="171424"/>
            <a:ext cx="9644130" cy="6858048"/>
          </a:xfrm>
        </p:spPr>
        <p:txBody>
          <a:bodyPr>
            <a:noAutofit/>
          </a:bodyPr>
          <a:lstStyle/>
          <a:p>
            <a:pPr marL="342900" lvl="0" indent="-342900" algn="just">
              <a:lnSpc>
                <a:spcPct val="115000"/>
              </a:lnSpc>
              <a:spcAft>
                <a:spcPts val="0"/>
              </a:spcAft>
            </a:pPr>
            <a:r>
              <a:rPr lang="en-US" sz="3500" dirty="0">
                <a:solidFill>
                  <a:schemeClr val="tx1"/>
                </a:solidFill>
                <a:latin typeface="Arial Narrow" pitchFamily="34" charset="0"/>
              </a:rPr>
              <a:t>55. Which does </a:t>
            </a:r>
            <a:r>
              <a:rPr lang="en-US" sz="3500" dirty="0">
                <a:solidFill>
                  <a:srgbClr val="C00000"/>
                </a:solidFill>
                <a:latin typeface="Arial Narrow" pitchFamily="34" charset="0"/>
              </a:rPr>
              <a:t>Noam Chomsky </a:t>
            </a:r>
            <a:r>
              <a:rPr lang="en-US" sz="3500" dirty="0">
                <a:solidFill>
                  <a:schemeClr val="tx1"/>
                </a:solidFill>
                <a:latin typeface="Arial Narrow" pitchFamily="34" charset="0"/>
              </a:rPr>
              <a:t>assert about language learning for children? </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sz="3500" dirty="0">
                <a:solidFill>
                  <a:schemeClr val="tx1"/>
                </a:solidFill>
                <a:latin typeface="Arial Narrow" pitchFamily="34" charset="0"/>
              </a:rPr>
              <a:t>Young children learn and apply grammatical rules and vocabulary as they are exposed to them. </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sz="3500" dirty="0">
                <a:solidFill>
                  <a:schemeClr val="tx1"/>
                </a:solidFill>
                <a:latin typeface="Arial Narrow" pitchFamily="34" charset="0"/>
              </a:rPr>
              <a:t>Begin formal teaching and grammatical rules to children as early as possible. </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sz="3500" dirty="0">
                <a:solidFill>
                  <a:schemeClr val="tx1"/>
                </a:solidFill>
                <a:latin typeface="Arial Narrow" pitchFamily="34" charset="0"/>
              </a:rPr>
              <a:t>Do not require initial formal language teaching for children. </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500" dirty="0">
                <a:solidFill>
                  <a:schemeClr val="tx1"/>
                </a:solidFill>
                <a:latin typeface="Arial Narrow" pitchFamily="34" charset="0"/>
              </a:rPr>
              <a:t>II only 			C.   I and II </a:t>
            </a:r>
            <a:endParaRPr lang="en-PH" sz="3500"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sz="3500" dirty="0">
                <a:solidFill>
                  <a:schemeClr val="tx1"/>
                </a:solidFill>
                <a:latin typeface="Arial Narrow" pitchFamily="34" charset="0"/>
              </a:rPr>
              <a:t>I only 			D.   I and III</a:t>
            </a:r>
            <a:endParaRPr lang="en-PH" sz="3500" dirty="0">
              <a:solidFill>
                <a:schemeClr val="tx1"/>
              </a:solidFill>
              <a:latin typeface="Arial Narrow" pitchFamily="34" charset="0"/>
            </a:endParaRPr>
          </a:p>
          <a:p>
            <a:pPr marL="742950" lvl="0" indent="-742950" algn="l"/>
            <a:endParaRPr lang="en-US" sz="3500"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86258" y="2028812"/>
            <a:ext cx="2857520" cy="42862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rmAutofit/>
          </a:bodyPr>
          <a:lstStyle/>
          <a:p>
            <a:pPr marL="342900" lvl="0" indent="-342900" algn="just">
              <a:lnSpc>
                <a:spcPct val="115000"/>
              </a:lnSpc>
              <a:spcAft>
                <a:spcPts val="0"/>
              </a:spcAft>
            </a:pPr>
            <a:r>
              <a:rPr lang="en-US" dirty="0">
                <a:solidFill>
                  <a:schemeClr val="tx1"/>
                </a:solidFill>
                <a:latin typeface="Arial Narrow" pitchFamily="34" charset="0"/>
              </a:rPr>
              <a:t>56. Studies on delinquent students recommend which </a:t>
            </a:r>
            <a:r>
              <a:rPr lang="en-US" dirty="0">
                <a:solidFill>
                  <a:srgbClr val="C00000"/>
                </a:solidFill>
                <a:latin typeface="Arial Narrow" pitchFamily="34" charset="0"/>
              </a:rPr>
              <a:t>effective parenting style for adolescents?</a:t>
            </a:r>
            <a:endParaRPr lang="en-PH" dirty="0">
              <a:solidFill>
                <a:srgbClr val="C00000"/>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Authoritarian		C. Authoritative</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alphaUcPeriod"/>
            </a:pPr>
            <a:r>
              <a:rPr lang="en-US" dirty="0">
                <a:solidFill>
                  <a:schemeClr val="tx1"/>
                </a:solidFill>
                <a:latin typeface="Arial Narrow" pitchFamily="34" charset="0"/>
              </a:rPr>
              <a:t>Neglectful			D. </a:t>
            </a:r>
            <a:r>
              <a:rPr lang="en-US" dirty="0" err="1">
                <a:solidFill>
                  <a:schemeClr val="tx1"/>
                </a:solidFill>
                <a:latin typeface="Arial Narrow" pitchFamily="34" charset="0"/>
              </a:rPr>
              <a:t>Laizzes</a:t>
            </a:r>
            <a:r>
              <a:rPr lang="en-US" dirty="0">
                <a:solidFill>
                  <a:schemeClr val="tx1"/>
                </a:solidFill>
                <a:latin typeface="Arial Narrow" pitchFamily="34" charset="0"/>
              </a:rPr>
              <a:t> faire</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0044" y="2743192"/>
            <a:ext cx="4071966"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57. What field of education manages children with behavioral problems like attention-deficit disorders?</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A. 	Distance education </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B. 	Special education</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C. 	Skills and technology training</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D. 	Early childhood education</a:t>
            </a:r>
            <a:endParaRPr lang="en-PH"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85796" y="2100250"/>
            <a:ext cx="8715436" cy="1143008"/>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4786346"/>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58. A student with Attention Deficit Disorder exhibits</a:t>
            </a:r>
            <a:endParaRPr lang="en-PH" dirty="0">
              <a:solidFill>
                <a:schemeClr val="tx1"/>
              </a:solidFill>
              <a:latin typeface="Arial Narrow" pitchFamily="34" charset="0"/>
            </a:endParaRPr>
          </a:p>
          <a:p>
            <a:pPr marL="742950" lvl="1" indent="-285750" algn="just">
              <a:lnSpc>
                <a:spcPct val="115000"/>
              </a:lnSpc>
              <a:spcAft>
                <a:spcPts val="0"/>
              </a:spcAft>
              <a:buFont typeface="+mj-lt"/>
              <a:buAutoNum type="alphaUcPeriod"/>
            </a:pPr>
            <a:r>
              <a:rPr lang="en-US" sz="3600" dirty="0">
                <a:solidFill>
                  <a:schemeClr val="tx1"/>
                </a:solidFill>
                <a:latin typeface="Arial Narrow" pitchFamily="34" charset="0"/>
              </a:rPr>
              <a:t>Care for his/her personal things</a:t>
            </a:r>
            <a:endParaRPr lang="en-PH" sz="3600" dirty="0">
              <a:solidFill>
                <a:schemeClr val="tx1"/>
              </a:solidFill>
              <a:latin typeface="Arial Narrow" pitchFamily="34" charset="0"/>
            </a:endParaRPr>
          </a:p>
          <a:p>
            <a:pPr marL="742950" lvl="1" indent="-285750" algn="just">
              <a:lnSpc>
                <a:spcPct val="115000"/>
              </a:lnSpc>
              <a:spcAft>
                <a:spcPts val="0"/>
              </a:spcAft>
              <a:buFont typeface="+mj-lt"/>
              <a:buAutoNum type="alphaUcPeriod"/>
            </a:pPr>
            <a:r>
              <a:rPr lang="en-US" sz="3600" dirty="0">
                <a:solidFill>
                  <a:schemeClr val="tx1"/>
                </a:solidFill>
                <a:latin typeface="Arial Narrow" pitchFamily="34" charset="0"/>
              </a:rPr>
              <a:t>Impatient while waiting for his/her turn during games</a:t>
            </a:r>
            <a:endParaRPr lang="en-PH" sz="3600" dirty="0">
              <a:solidFill>
                <a:schemeClr val="tx1"/>
              </a:solidFill>
              <a:latin typeface="Arial Narrow" pitchFamily="34" charset="0"/>
            </a:endParaRPr>
          </a:p>
          <a:p>
            <a:pPr marL="742950" lvl="1" indent="-285750" algn="just">
              <a:lnSpc>
                <a:spcPct val="115000"/>
              </a:lnSpc>
              <a:spcAft>
                <a:spcPts val="0"/>
              </a:spcAft>
              <a:buFont typeface="+mj-lt"/>
              <a:buAutoNum type="alphaUcPeriod"/>
            </a:pPr>
            <a:r>
              <a:rPr lang="en-US" sz="3600" dirty="0">
                <a:solidFill>
                  <a:schemeClr val="tx1"/>
                </a:solidFill>
                <a:latin typeface="Arial Narrow" pitchFamily="34" charset="0"/>
              </a:rPr>
              <a:t>Completes work before shifting to another</a:t>
            </a:r>
            <a:endParaRPr lang="en-PH" sz="3600" dirty="0">
              <a:solidFill>
                <a:schemeClr val="tx1"/>
              </a:solidFill>
              <a:latin typeface="Arial Narrow" pitchFamily="34" charset="0"/>
            </a:endParaRPr>
          </a:p>
          <a:p>
            <a:pPr marL="742950" lvl="1" indent="-285750" algn="just">
              <a:lnSpc>
                <a:spcPct val="115000"/>
              </a:lnSpc>
              <a:spcAft>
                <a:spcPts val="0"/>
              </a:spcAft>
              <a:buFont typeface="+mj-lt"/>
              <a:buAutoNum type="alphaUcPeriod"/>
            </a:pPr>
            <a:r>
              <a:rPr lang="en-US" sz="3600" dirty="0">
                <a:solidFill>
                  <a:schemeClr val="tx1"/>
                </a:solidFill>
                <a:latin typeface="Arial Narrow" pitchFamily="34" charset="0"/>
              </a:rPr>
              <a:t>Excessively quiet </a:t>
            </a:r>
            <a:endParaRPr lang="en-PH" sz="3600"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14424" y="6315092"/>
            <a:ext cx="2500330" cy="50006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242862"/>
            <a:ext cx="9501254" cy="6500858"/>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59. Which characterize autistic children?</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Repetitive behaviors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Difficulty in social interactions</a:t>
            </a:r>
            <a:endParaRPr lang="en-PH" dirty="0">
              <a:solidFill>
                <a:schemeClr val="tx1"/>
              </a:solidFill>
              <a:latin typeface="Arial Narrow" pitchFamily="34" charset="0"/>
            </a:endParaRPr>
          </a:p>
          <a:p>
            <a:pPr marL="342900" lvl="0" indent="-342900" algn="just">
              <a:lnSpc>
                <a:spcPct val="115000"/>
              </a:lnSpc>
              <a:spcAft>
                <a:spcPts val="0"/>
              </a:spcAft>
              <a:buFont typeface="+mj-lt"/>
              <a:buAutoNum type="romanUcPeriod"/>
            </a:pPr>
            <a:r>
              <a:rPr lang="en-US" dirty="0">
                <a:solidFill>
                  <a:schemeClr val="tx1"/>
                </a:solidFill>
                <a:latin typeface="Arial Narrow" pitchFamily="34" charset="0"/>
              </a:rPr>
              <a:t>Showing more interest in objects than on people</a:t>
            </a:r>
            <a:endParaRPr lang="en-PH" dirty="0">
              <a:solidFill>
                <a:schemeClr val="tx1"/>
              </a:solidFill>
              <a:latin typeface="Arial Narrow" pitchFamily="34" charset="0"/>
            </a:endParaRPr>
          </a:p>
          <a:p>
            <a:pPr algn="just">
              <a:lnSpc>
                <a:spcPct val="115000"/>
              </a:lnSpc>
              <a:spcAft>
                <a:spcPts val="0"/>
              </a:spcAft>
            </a:pPr>
            <a:r>
              <a:rPr lang="en-US" dirty="0">
                <a:solidFill>
                  <a:schemeClr val="tx1"/>
                </a:solidFill>
                <a:latin typeface="Arial Narrow" pitchFamily="34" charset="0"/>
              </a:rPr>
              <a:t> </a:t>
            </a:r>
            <a:endParaRPr lang="en-PH" dirty="0">
              <a:solidFill>
                <a:schemeClr val="tx1"/>
              </a:solidFill>
              <a:latin typeface="Arial Narrow" pitchFamily="34" charset="0"/>
            </a:endParaRPr>
          </a:p>
          <a:p>
            <a:pPr marL="1361724" lvl="2" indent="-342900" algn="just">
              <a:lnSpc>
                <a:spcPct val="115000"/>
              </a:lnSpc>
              <a:buFont typeface="+mj-lt"/>
              <a:buAutoNum type="alphaUcPeriod"/>
            </a:pPr>
            <a:r>
              <a:rPr lang="en-US" sz="3600" dirty="0">
                <a:solidFill>
                  <a:schemeClr val="tx1"/>
                </a:solidFill>
                <a:latin typeface="Arial Narrow" pitchFamily="34" charset="0"/>
              </a:rPr>
              <a:t>I and II</a:t>
            </a:r>
            <a:endParaRPr lang="en-PH" sz="3600" dirty="0">
              <a:solidFill>
                <a:schemeClr val="tx1"/>
              </a:solidFill>
              <a:latin typeface="Arial Narrow" pitchFamily="34" charset="0"/>
            </a:endParaRPr>
          </a:p>
          <a:p>
            <a:pPr marL="1361724" lvl="2" indent="-342900" algn="just">
              <a:lnSpc>
                <a:spcPct val="115000"/>
              </a:lnSpc>
              <a:buFont typeface="+mj-lt"/>
              <a:buAutoNum type="alphaUcPeriod"/>
            </a:pPr>
            <a:r>
              <a:rPr lang="en-US" sz="3600" dirty="0">
                <a:solidFill>
                  <a:schemeClr val="tx1"/>
                </a:solidFill>
                <a:latin typeface="Arial Narrow" pitchFamily="34" charset="0"/>
              </a:rPr>
              <a:t>I and III</a:t>
            </a:r>
            <a:endParaRPr lang="en-PH" sz="3600" dirty="0">
              <a:solidFill>
                <a:schemeClr val="tx1"/>
              </a:solidFill>
              <a:latin typeface="Arial Narrow" pitchFamily="34" charset="0"/>
            </a:endParaRPr>
          </a:p>
          <a:p>
            <a:pPr marL="1361724" lvl="2" indent="-342900" algn="just">
              <a:lnSpc>
                <a:spcPct val="115000"/>
              </a:lnSpc>
              <a:buFont typeface="+mj-lt"/>
              <a:buAutoNum type="alphaUcPeriod"/>
            </a:pPr>
            <a:r>
              <a:rPr lang="en-US" sz="3600" dirty="0">
                <a:solidFill>
                  <a:schemeClr val="tx1"/>
                </a:solidFill>
                <a:latin typeface="Arial Narrow" pitchFamily="34" charset="0"/>
              </a:rPr>
              <a:t>II and III</a:t>
            </a:r>
            <a:endParaRPr lang="en-PH" sz="3600" dirty="0">
              <a:solidFill>
                <a:schemeClr val="tx1"/>
              </a:solidFill>
              <a:latin typeface="Arial Narrow" pitchFamily="34" charset="0"/>
            </a:endParaRPr>
          </a:p>
          <a:p>
            <a:pPr marL="1361724" lvl="2" indent="-342900" algn="just">
              <a:lnSpc>
                <a:spcPct val="115000"/>
              </a:lnSpc>
              <a:buFont typeface="+mj-lt"/>
              <a:buAutoNum type="alphaUcPeriod"/>
            </a:pPr>
            <a:r>
              <a:rPr lang="en-US" sz="3600" dirty="0">
                <a:solidFill>
                  <a:schemeClr val="tx1"/>
                </a:solidFill>
                <a:latin typeface="Arial Narrow" pitchFamily="34" charset="0"/>
              </a:rPr>
              <a:t>I, II, and III</a:t>
            </a:r>
            <a:endParaRPr lang="en-PH" sz="3600" dirty="0">
              <a:solidFill>
                <a:schemeClr val="tx1"/>
              </a:solidFill>
              <a:latin typeface="Arial Narrow" pitchFamily="34" charset="0"/>
            </a:endParaRPr>
          </a:p>
          <a:p>
            <a:pPr marL="742950" lvl="0" indent="-742950" algn="l"/>
            <a:endParaRPr lang="en-US" dirty="0">
              <a:solidFill>
                <a:schemeClr val="tx1"/>
              </a:solidFill>
              <a:latin typeface="Arial Narrow" pitchFamily="34" charset="0"/>
            </a:endParaRP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additive="base">
                                        <p:cTn id="53" dur="500" fill="hold"/>
                                        <p:tgtEl>
                                          <p:spTgt spid="4"/>
                                        </p:tgtEl>
                                        <p:attrNameLst>
                                          <p:attrName>ppt_x</p:attrName>
                                        </p:attrNameLst>
                                      </p:cBhvr>
                                      <p:tavLst>
                                        <p:tav tm="0">
                                          <p:val>
                                            <p:strVal val="#ppt_x"/>
                                          </p:val>
                                        </p:tav>
                                        <p:tav tm="100000">
                                          <p:val>
                                            <p:strVal val="#ppt_x"/>
                                          </p:val>
                                        </p:tav>
                                      </p:tavLst>
                                    </p:anim>
                                    <p:anim calcmode="lin" valueType="num">
                                      <p:cBhvr additive="base">
                                        <p:cTn id="5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168" y="3100382"/>
            <a:ext cx="2286016" cy="64294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PH"/>
          </a:p>
        </p:txBody>
      </p:sp>
      <p:sp>
        <p:nvSpPr>
          <p:cNvPr id="3" name="Subtitle 2"/>
          <p:cNvSpPr>
            <a:spLocks noGrp="1"/>
          </p:cNvSpPr>
          <p:nvPr>
            <p:ph type="subTitle" idx="1"/>
          </p:nvPr>
        </p:nvSpPr>
        <p:spPr>
          <a:xfrm>
            <a:off x="314292" y="457176"/>
            <a:ext cx="9358378" cy="5929354"/>
          </a:xfrm>
        </p:spPr>
        <p:txBody>
          <a:bodyPr>
            <a:noAutofit/>
          </a:bodyPr>
          <a:lstStyle/>
          <a:p>
            <a:pPr marL="342900" lvl="0" indent="-342900" algn="just">
              <a:lnSpc>
                <a:spcPct val="115000"/>
              </a:lnSpc>
              <a:spcAft>
                <a:spcPts val="0"/>
              </a:spcAft>
            </a:pPr>
            <a:r>
              <a:rPr lang="en-US" dirty="0">
                <a:solidFill>
                  <a:schemeClr val="tx1"/>
                </a:solidFill>
                <a:latin typeface="Arial Narrow" pitchFamily="34" charset="0"/>
              </a:rPr>
              <a:t>60. On categories of exceptionality in the young, what is difficulty in focusing and maintaining attention, and/or recurrent hyperactive and impulsive behavior?</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A. 	ADHD</a:t>
            </a:r>
            <a:endParaRPr lang="en-PH" dirty="0">
              <a:solidFill>
                <a:schemeClr val="tx1"/>
              </a:solidFill>
              <a:latin typeface="Arial Narrow" pitchFamily="34" charset="0"/>
            </a:endParaRPr>
          </a:p>
          <a:p>
            <a:pPr marL="228600" algn="just">
              <a:lnSpc>
                <a:spcPct val="115000"/>
              </a:lnSpc>
              <a:spcAft>
                <a:spcPts val="0"/>
              </a:spcAft>
            </a:pPr>
            <a:r>
              <a:rPr lang="en-US" dirty="0">
                <a:solidFill>
                  <a:schemeClr val="tx1"/>
                </a:solidFill>
                <a:latin typeface="Arial Narrow" pitchFamily="34" charset="0"/>
              </a:rPr>
              <a:t>B. 	Emotional/conduct disorders </a:t>
            </a:r>
            <a:endParaRPr lang="en-PH" dirty="0">
              <a:solidFill>
                <a:schemeClr val="tx1"/>
              </a:solidFill>
              <a:latin typeface="Arial Narrow" pitchFamily="34" charset="0"/>
            </a:endParaRPr>
          </a:p>
          <a:p>
            <a:pPr marL="971550" indent="-742950" algn="just">
              <a:lnSpc>
                <a:spcPct val="115000"/>
              </a:lnSpc>
              <a:spcAft>
                <a:spcPts val="0"/>
              </a:spcAft>
              <a:buAutoNum type="alphaUcPeriod" startAt="3"/>
            </a:pPr>
            <a:r>
              <a:rPr lang="en-US" dirty="0">
                <a:solidFill>
                  <a:schemeClr val="tx1"/>
                </a:solidFill>
                <a:latin typeface="Arial Narrow" pitchFamily="34" charset="0"/>
              </a:rPr>
              <a:t>Autism</a:t>
            </a:r>
            <a:endParaRPr lang="en-PH" dirty="0">
              <a:solidFill>
                <a:schemeClr val="tx1"/>
              </a:solidFill>
              <a:latin typeface="Arial Narrow" pitchFamily="34" charset="0"/>
            </a:endParaRPr>
          </a:p>
          <a:p>
            <a:pPr marL="971550" indent="-742950" algn="just">
              <a:lnSpc>
                <a:spcPct val="115000"/>
              </a:lnSpc>
              <a:spcAft>
                <a:spcPts val="0"/>
              </a:spcAft>
              <a:buAutoNum type="alphaUcPeriod" startAt="3"/>
            </a:pPr>
            <a:r>
              <a:rPr lang="en-US" dirty="0">
                <a:solidFill>
                  <a:schemeClr val="tx1"/>
                </a:solidFill>
                <a:latin typeface="Arial Narrow" pitchFamily="34" charset="0"/>
              </a:rPr>
              <a:t>Speech and communication disorders</a:t>
            </a:r>
          </a:p>
        </p:txBody>
      </p:sp>
    </p:spTree>
    <p:extLst>
      <p:ext uri="{BB962C8B-B14F-4D97-AF65-F5344CB8AC3E}">
        <p14:creationId xmlns:p14="http://schemas.microsoft.com/office/powerpoint/2010/main" val="2306496721"/>
      </p:ext>
    </p:extLst>
  </p:cSld>
  <p:clrMapOvr>
    <a:masterClrMapping/>
  </p:clrMapOvr>
  <p:transition spd="med"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1529</TotalTime>
  <Words>4624</Words>
  <Application>Microsoft Office PowerPoint</Application>
  <PresentationFormat>Custom</PresentationFormat>
  <Paragraphs>626</Paragraphs>
  <Slides>139</Slides>
  <Notes>0</Notes>
  <HiddenSlides>0</HiddenSlides>
  <MMClips>0</MMClips>
  <ScaleCrop>false</ScaleCrop>
  <HeadingPairs>
    <vt:vector size="4" baseType="variant">
      <vt:variant>
        <vt:lpstr>Theme</vt:lpstr>
      </vt:variant>
      <vt:variant>
        <vt:i4>1</vt:i4>
      </vt:variant>
      <vt:variant>
        <vt:lpstr>Slide Titles</vt:lpstr>
      </vt:variant>
      <vt:variant>
        <vt:i4>139</vt:i4>
      </vt:variant>
    </vt:vector>
  </HeadingPairs>
  <TitlesOfParts>
    <vt:vector size="140" baseType="lpstr">
      <vt:lpstr>Office Theme</vt:lpstr>
      <vt:lpstr>PowerPoint Presentation</vt:lpstr>
      <vt:lpstr>PowerPoint Presentation</vt:lpstr>
      <vt:lpstr>PowerPoint Presentation</vt:lpstr>
      <vt:lpstr>PowerPoint Presentation</vt:lpstr>
      <vt:lpstr>PowerPoint Presentation</vt:lpstr>
      <vt:lpstr>I. Concept on Growth and Development</vt:lpstr>
      <vt:lpstr>PowerPoint Presentation</vt:lpstr>
      <vt:lpstr>PowerPoint Presentation</vt:lpstr>
      <vt:lpstr>II. Principles of Development</vt:lpstr>
      <vt:lpstr>Principles of Human Growth and Development</vt:lpstr>
      <vt:lpstr>PowerPoint Presentation</vt:lpstr>
      <vt:lpstr>PowerPoint Presentation</vt:lpstr>
      <vt:lpstr>PowerPoint Presentation</vt:lpstr>
      <vt:lpstr>III. Stages in Life- span Development</vt:lpstr>
      <vt:lpstr>PowerPoint Presentation</vt:lpstr>
      <vt:lpstr>IV. Developmental Theories</vt:lpstr>
      <vt:lpstr>A. Cognitive development Theory (Jean Piaget)</vt:lpstr>
      <vt:lpstr>PowerPoint Presentation</vt:lpstr>
      <vt:lpstr>PowerPoint Presentation</vt:lpstr>
      <vt:lpstr>PowerPoint Presentation</vt:lpstr>
      <vt:lpstr>PowerPoint Presentation</vt:lpstr>
      <vt:lpstr>PowerPoint Presentation</vt:lpstr>
      <vt:lpstr>PowerPoint Presentation</vt:lpstr>
      <vt:lpstr>B. Moral Development Theory ( L Kohlberg)</vt:lpstr>
      <vt:lpstr>PowerPoint Presentation</vt:lpstr>
      <vt:lpstr>PowerPoint Presentation</vt:lpstr>
      <vt:lpstr>PowerPoint Presentation</vt:lpstr>
      <vt:lpstr>PowerPoint Presentation</vt:lpstr>
      <vt:lpstr>PowerPoint Presentation</vt:lpstr>
      <vt:lpstr>C. Psychoanalytical ( Sigmund Freud)</vt:lpstr>
      <vt:lpstr>PowerPoint Presentation</vt:lpstr>
      <vt:lpstr>PowerPoint Presentation</vt:lpstr>
      <vt:lpstr>PowerPoint Presentation</vt:lpstr>
      <vt:lpstr>Psychosexual (Freud)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 Psychosocial ( Erik Erickson)</vt:lpstr>
      <vt:lpstr>PowerPoint Presentation</vt:lpstr>
      <vt:lpstr>PowerPoint Presentation</vt:lpstr>
      <vt:lpstr>E. Ecological System ( Urie Brofenbrenner)</vt:lpstr>
      <vt:lpstr>PowerPoint Presentation</vt:lpstr>
      <vt:lpstr>PowerPoint Presentation</vt:lpstr>
      <vt:lpstr>PowerPoint Presentation</vt:lpstr>
      <vt:lpstr>PowerPoint Presentation</vt:lpstr>
      <vt:lpstr>PowerPoint Presentation</vt:lpstr>
      <vt:lpstr>PowerPoint Presentation</vt:lpstr>
      <vt:lpstr>f. Emotional Quotient (Daniel Goleman)</vt:lpstr>
      <vt:lpstr>h. Hierarchy of Needs ( Abraham Maslow)</vt:lpstr>
      <vt:lpstr>g. LAD ( Noam Chomsky)</vt:lpstr>
      <vt:lpstr>i. Parenting Styles (Diana Baumrind)</vt:lpstr>
      <vt:lpstr>PowerPoint Presentation</vt:lpstr>
      <vt:lpstr>PowerPoint Presentation</vt:lpstr>
      <vt:lpstr>V. Special Education</vt:lpstr>
      <vt:lpstr>a. ADHD</vt:lpstr>
      <vt:lpstr>b. Learning Disabilities </vt:lpstr>
      <vt:lpstr>c. Autism Spectrum Disorder</vt:lpstr>
      <vt:lpstr>d. Intellectual Disability</vt:lpstr>
      <vt:lpstr>e. Down Syndrome ( Trisomy 21)</vt:lpstr>
      <vt:lpstr>f. Gifted and Talented Children</vt:lpstr>
      <vt:lpstr>PowerPoint Presentation</vt:lpstr>
      <vt:lpstr>g. Placement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lesterscruz</dc:creator>
  <cp:lastModifiedBy>Unknown User</cp:lastModifiedBy>
  <cp:revision>129</cp:revision>
  <dcterms:created xsi:type="dcterms:W3CDTF">2006-08-16T00:00:00Z</dcterms:created>
  <dcterms:modified xsi:type="dcterms:W3CDTF">2020-05-23T13:23:21Z</dcterms:modified>
</cp:coreProperties>
</file>