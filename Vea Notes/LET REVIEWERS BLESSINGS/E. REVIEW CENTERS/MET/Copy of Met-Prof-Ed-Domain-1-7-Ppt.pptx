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75" r:id="rId2"/>
    <p:sldId id="276" r:id="rId3"/>
    <p:sldId id="277" r:id="rId4"/>
    <p:sldId id="27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9" r:id="rId18"/>
    <p:sldId id="280" r:id="rId19"/>
    <p:sldId id="281" r:id="rId20"/>
    <p:sldId id="258" r:id="rId21"/>
    <p:sldId id="273" r:id="rId22"/>
    <p:sldId id="274"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290" r:id="rId36"/>
    <p:sldId id="297" r:id="rId37"/>
    <p:sldId id="336" r:id="rId38"/>
    <p:sldId id="337" r:id="rId39"/>
    <p:sldId id="384" r:id="rId40"/>
    <p:sldId id="338" r:id="rId41"/>
    <p:sldId id="300" r:id="rId42"/>
    <p:sldId id="301" r:id="rId43"/>
    <p:sldId id="302" r:id="rId44"/>
    <p:sldId id="303" r:id="rId45"/>
    <p:sldId id="292" r:id="rId46"/>
    <p:sldId id="294" r:id="rId47"/>
    <p:sldId id="306" r:id="rId48"/>
    <p:sldId id="339" r:id="rId49"/>
    <p:sldId id="304" r:id="rId50"/>
    <p:sldId id="305" r:id="rId51"/>
    <p:sldId id="340" r:id="rId52"/>
    <p:sldId id="341" r:id="rId53"/>
    <p:sldId id="342" r:id="rId54"/>
    <p:sldId id="343" r:id="rId55"/>
    <p:sldId id="345" r:id="rId56"/>
    <p:sldId id="346" r:id="rId57"/>
    <p:sldId id="347" r:id="rId58"/>
    <p:sldId id="348" r:id="rId59"/>
    <p:sldId id="349" r:id="rId60"/>
    <p:sldId id="350" r:id="rId61"/>
    <p:sldId id="351" r:id="rId62"/>
    <p:sldId id="307" r:id="rId63"/>
    <p:sldId id="308" r:id="rId64"/>
    <p:sldId id="352" r:id="rId65"/>
    <p:sldId id="353" r:id="rId66"/>
    <p:sldId id="354" r:id="rId67"/>
    <p:sldId id="355" r:id="rId68"/>
    <p:sldId id="356" r:id="rId69"/>
    <p:sldId id="357" r:id="rId70"/>
    <p:sldId id="358" r:id="rId71"/>
    <p:sldId id="359" r:id="rId72"/>
    <p:sldId id="360" r:id="rId73"/>
    <p:sldId id="361" r:id="rId74"/>
    <p:sldId id="362" r:id="rId75"/>
    <p:sldId id="363" r:id="rId76"/>
    <p:sldId id="286" r:id="rId77"/>
    <p:sldId id="287" r:id="rId78"/>
    <p:sldId id="288" r:id="rId79"/>
    <p:sldId id="289" r:id="rId80"/>
    <p:sldId id="312" r:id="rId81"/>
    <p:sldId id="313" r:id="rId82"/>
    <p:sldId id="314" r:id="rId83"/>
    <p:sldId id="315" r:id="rId84"/>
    <p:sldId id="272" r:id="rId85"/>
    <p:sldId id="309" r:id="rId86"/>
    <p:sldId id="283" r:id="rId87"/>
    <p:sldId id="284" r:id="rId88"/>
    <p:sldId id="366" r:id="rId89"/>
    <p:sldId id="367" r:id="rId90"/>
    <p:sldId id="368" r:id="rId91"/>
    <p:sldId id="316" r:id="rId92"/>
    <p:sldId id="370" r:id="rId93"/>
    <p:sldId id="371" r:id="rId94"/>
    <p:sldId id="372" r:id="rId95"/>
    <p:sldId id="374" r:id="rId96"/>
    <p:sldId id="375" r:id="rId97"/>
    <p:sldId id="377" r:id="rId98"/>
    <p:sldId id="378" r:id="rId99"/>
    <p:sldId id="379" r:id="rId100"/>
    <p:sldId id="380" r:id="rId101"/>
    <p:sldId id="381" r:id="rId102"/>
    <p:sldId id="382" r:id="rId103"/>
    <p:sldId id="383" r:id="rId104"/>
    <p:sldId id="317" r:id="rId105"/>
    <p:sldId id="318" r:id="rId106"/>
    <p:sldId id="319" r:id="rId107"/>
    <p:sldId id="320" r:id="rId108"/>
    <p:sldId id="321" r:id="rId109"/>
    <p:sldId id="322" r:id="rId110"/>
    <p:sldId id="364" r:id="rId111"/>
    <p:sldId id="365" r:id="rId1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952"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slide" Target="slides/slide107.xml"/><Relationship Id="rId109" Type="http://schemas.openxmlformats.org/officeDocument/2006/relationships/slide" Target="slides/slide10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slide" Target="slides/slide109.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printerSettings" Target="printerSettings/printerSettings1.bin"/><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B2D5C8-1849-9C41-9287-DC1038FD5BF8}" type="datetimeFigureOut">
              <a:rPr lang="en-US" smtClean="0"/>
              <a:t>11/06/17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4260465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2D5C8-1849-9C41-9287-DC1038FD5BF8}" type="datetimeFigureOut">
              <a:rPr lang="en-US" smtClean="0"/>
              <a:t>11/06/17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223588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B2D5C8-1849-9C41-9287-DC1038FD5BF8}" type="datetimeFigureOut">
              <a:rPr lang="en-US" smtClean="0"/>
              <a:t>11/06/17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3864489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B2D5C8-1849-9C41-9287-DC1038FD5BF8}" type="datetimeFigureOut">
              <a:rPr lang="en-US" smtClean="0"/>
              <a:t>11/06/17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2205735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B2D5C8-1849-9C41-9287-DC1038FD5BF8}" type="datetimeFigureOut">
              <a:rPr lang="en-US" smtClean="0"/>
              <a:t>11/06/17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41647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B2D5C8-1849-9C41-9287-DC1038FD5BF8}" type="datetimeFigureOut">
              <a:rPr lang="en-US" smtClean="0"/>
              <a:t>11/06/17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2788559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2D5C8-1849-9C41-9287-DC1038FD5BF8}" type="datetimeFigureOut">
              <a:rPr lang="en-US" smtClean="0"/>
              <a:t>11/06/17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3106012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B2D5C8-1849-9C41-9287-DC1038FD5BF8}" type="datetimeFigureOut">
              <a:rPr lang="en-US" smtClean="0"/>
              <a:t>11/06/17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287014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B2D5C8-1849-9C41-9287-DC1038FD5BF8}" type="datetimeFigureOut">
              <a:rPr lang="en-US" smtClean="0"/>
              <a:t>11/06/17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284662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2D5C8-1849-9C41-9287-DC1038FD5BF8}" type="datetimeFigureOut">
              <a:rPr lang="en-US" smtClean="0"/>
              <a:t>11/06/17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158703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2D5C8-1849-9C41-9287-DC1038FD5BF8}" type="datetimeFigureOut">
              <a:rPr lang="en-US" smtClean="0"/>
              <a:t>11/06/17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8D387-7C92-3549-B709-98A29B00C0B5}" type="slidenum">
              <a:rPr lang="en-US" smtClean="0"/>
              <a:t>‹#›</a:t>
            </a:fld>
            <a:endParaRPr lang="en-US"/>
          </a:p>
        </p:txBody>
      </p:sp>
    </p:spTree>
    <p:extLst>
      <p:ext uri="{BB962C8B-B14F-4D97-AF65-F5344CB8AC3E}">
        <p14:creationId xmlns:p14="http://schemas.microsoft.com/office/powerpoint/2010/main" val="42568921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2D5C8-1849-9C41-9287-DC1038FD5BF8}" type="datetimeFigureOut">
              <a:rPr lang="en-US" smtClean="0"/>
              <a:t>11/06/17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98D387-7C92-3549-B709-98A29B00C0B5}" type="slidenum">
              <a:rPr lang="en-US" smtClean="0"/>
              <a:t>‹#›</a:t>
            </a:fld>
            <a:endParaRPr lang="en-US"/>
          </a:p>
        </p:txBody>
      </p:sp>
    </p:spTree>
    <p:extLst>
      <p:ext uri="{BB962C8B-B14F-4D97-AF65-F5344CB8AC3E}">
        <p14:creationId xmlns:p14="http://schemas.microsoft.com/office/powerpoint/2010/main" val="2462871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lawphil.net/statutes/repacts/ra1966/ra_4670_1966.html" TargetMode="Externa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hyperlink" Target="http://www.rockyview.ab.ca/home/21stC/learning/assets/images/gears/"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044825"/>
            <a:ext cx="7772400" cy="1362075"/>
          </a:xfrm>
        </p:spPr>
        <p:txBody>
          <a:bodyPr/>
          <a:lstStyle/>
          <a:p>
            <a:r>
              <a:rPr lang="en-US" dirty="0" smtClean="0"/>
              <a:t>The Nature of Teaching</a:t>
            </a:r>
            <a:endParaRPr lang="en-US" dirty="0"/>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296895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Teaching</a:t>
            </a:r>
            <a:endParaRPr lang="en-US" dirty="0"/>
          </a:p>
        </p:txBody>
      </p:sp>
      <p:sp>
        <p:nvSpPr>
          <p:cNvPr id="3" name="Content Placeholder 2"/>
          <p:cNvSpPr>
            <a:spLocks noGrp="1"/>
          </p:cNvSpPr>
          <p:nvPr>
            <p:ph idx="1"/>
          </p:nvPr>
        </p:nvSpPr>
        <p:spPr/>
        <p:txBody>
          <a:bodyPr>
            <a:normAutofit/>
          </a:bodyPr>
          <a:lstStyle/>
          <a:p>
            <a:r>
              <a:rPr lang="en-US" sz="2800" dirty="0" smtClean="0"/>
              <a:t>Vocation</a:t>
            </a:r>
          </a:p>
          <a:p>
            <a:pPr lvl="1"/>
            <a:r>
              <a:rPr lang="en-US" sz="2800" dirty="0" smtClean="0"/>
              <a:t>It is a calling.</a:t>
            </a:r>
          </a:p>
          <a:p>
            <a:pPr lvl="1"/>
            <a:r>
              <a:rPr lang="en-US" sz="2800" dirty="0" smtClean="0"/>
              <a:t>It is innate.</a:t>
            </a:r>
          </a:p>
          <a:p>
            <a:pPr lvl="1"/>
            <a:r>
              <a:rPr lang="en-US" sz="2800" dirty="0" smtClean="0"/>
              <a:t>It is something intrinsic.</a:t>
            </a:r>
          </a:p>
          <a:p>
            <a:pPr lvl="1"/>
            <a:r>
              <a:rPr lang="en-US" sz="2800" dirty="0" smtClean="0"/>
              <a:t>Many people start, but only a few people see it through.</a:t>
            </a:r>
            <a:endParaRPr lang="en-US" sz="2800" dirty="0"/>
          </a:p>
        </p:txBody>
      </p:sp>
    </p:spTree>
    <p:extLst>
      <p:ext uri="{BB962C8B-B14F-4D97-AF65-F5344CB8AC3E}">
        <p14:creationId xmlns:p14="http://schemas.microsoft.com/office/powerpoint/2010/main" val="2268222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Teaching</a:t>
            </a:r>
            <a:endParaRPr lang="en-US" dirty="0"/>
          </a:p>
        </p:txBody>
      </p:sp>
      <p:sp>
        <p:nvSpPr>
          <p:cNvPr id="3" name="Content Placeholder 2"/>
          <p:cNvSpPr>
            <a:spLocks noGrp="1"/>
          </p:cNvSpPr>
          <p:nvPr>
            <p:ph idx="1"/>
          </p:nvPr>
        </p:nvSpPr>
        <p:spPr/>
        <p:txBody>
          <a:bodyPr>
            <a:noAutofit/>
          </a:bodyPr>
          <a:lstStyle/>
          <a:p>
            <a:r>
              <a:rPr lang="en-US" sz="2800" dirty="0" smtClean="0"/>
              <a:t>Mission</a:t>
            </a:r>
          </a:p>
          <a:p>
            <a:pPr lvl="1"/>
            <a:r>
              <a:rPr lang="en-US" sz="2800" dirty="0" smtClean="0"/>
              <a:t>It is an elaborate task.</a:t>
            </a:r>
          </a:p>
          <a:p>
            <a:pPr lvl="1"/>
            <a:r>
              <a:rPr lang="en-US" sz="2800" dirty="0" smtClean="0"/>
              <a:t>It is a big assignment.</a:t>
            </a:r>
          </a:p>
          <a:p>
            <a:pPr lvl="1"/>
            <a:r>
              <a:rPr lang="en-US" sz="2800" dirty="0" smtClean="0"/>
              <a:t>It aims to promote social transformation.</a:t>
            </a:r>
          </a:p>
          <a:p>
            <a:pPr lvl="1"/>
            <a:r>
              <a:rPr lang="en-US" sz="2800" dirty="0" smtClean="0"/>
              <a:t>It has a multiplier / ripple effect.</a:t>
            </a:r>
            <a:endParaRPr lang="en-US" sz="2800" dirty="0"/>
          </a:p>
        </p:txBody>
      </p:sp>
    </p:spTree>
    <p:extLst>
      <p:ext uri="{BB962C8B-B14F-4D97-AF65-F5344CB8AC3E}">
        <p14:creationId xmlns:p14="http://schemas.microsoft.com/office/powerpoint/2010/main" val="261293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Teaching</a:t>
            </a:r>
            <a:endParaRPr lang="en-US" dirty="0"/>
          </a:p>
        </p:txBody>
      </p:sp>
      <p:sp>
        <p:nvSpPr>
          <p:cNvPr id="3" name="Content Placeholder 2"/>
          <p:cNvSpPr>
            <a:spLocks noGrp="1"/>
          </p:cNvSpPr>
          <p:nvPr>
            <p:ph idx="1"/>
          </p:nvPr>
        </p:nvSpPr>
        <p:spPr/>
        <p:txBody>
          <a:bodyPr>
            <a:noAutofit/>
          </a:bodyPr>
          <a:lstStyle/>
          <a:p>
            <a:r>
              <a:rPr lang="en-US" sz="2800" dirty="0" smtClean="0"/>
              <a:t>Profession</a:t>
            </a:r>
          </a:p>
          <a:p>
            <a:pPr lvl="1"/>
            <a:r>
              <a:rPr lang="en-US" sz="2800" dirty="0" smtClean="0"/>
              <a:t>It is an occupation with salaries and attendant benefits for those in the formal sector.</a:t>
            </a:r>
          </a:p>
          <a:p>
            <a:pPr lvl="1"/>
            <a:r>
              <a:rPr lang="en-US" sz="2800" dirty="0" smtClean="0"/>
              <a:t>It requires formal training and/or education.</a:t>
            </a:r>
          </a:p>
          <a:p>
            <a:pPr lvl="1"/>
            <a:r>
              <a:rPr lang="en-US" sz="2800" dirty="0" smtClean="0"/>
              <a:t>Those who practice need a professional license.</a:t>
            </a:r>
            <a:endParaRPr lang="en-US" sz="2800" dirty="0"/>
          </a:p>
        </p:txBody>
      </p:sp>
    </p:spTree>
    <p:extLst>
      <p:ext uri="{BB962C8B-B14F-4D97-AF65-F5344CB8AC3E}">
        <p14:creationId xmlns:p14="http://schemas.microsoft.com/office/powerpoint/2010/main" val="1206132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53122"/>
            <a:ext cx="6400800" cy="1362075"/>
          </a:xfrm>
        </p:spPr>
        <p:txBody>
          <a:bodyPr>
            <a:normAutofit fontScale="90000"/>
          </a:bodyPr>
          <a:lstStyle/>
          <a:p>
            <a:r>
              <a:rPr lang="en-US" dirty="0" smtClean="0"/>
              <a:t>Roles, Duties, and Responsibilities of the Teacher</a:t>
            </a:r>
            <a:endParaRPr lang="en-US" dirty="0"/>
          </a:p>
        </p:txBody>
      </p:sp>
    </p:spTree>
    <p:extLst>
      <p:ext uri="{BB962C8B-B14F-4D97-AF65-F5344CB8AC3E}">
        <p14:creationId xmlns:p14="http://schemas.microsoft.com/office/powerpoint/2010/main" val="31149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different roles of teachers</a:t>
            </a:r>
            <a:endParaRPr lang="en-US" dirty="0"/>
          </a:p>
        </p:txBody>
      </p:sp>
      <p:sp>
        <p:nvSpPr>
          <p:cNvPr id="3" name="Content Placeholder 2"/>
          <p:cNvSpPr>
            <a:spLocks noGrp="1"/>
          </p:cNvSpPr>
          <p:nvPr>
            <p:ph idx="1"/>
          </p:nvPr>
        </p:nvSpPr>
        <p:spPr/>
        <p:txBody>
          <a:bodyPr>
            <a:normAutofit/>
          </a:bodyPr>
          <a:lstStyle/>
          <a:p>
            <a:r>
              <a:rPr lang="en-US" dirty="0" smtClean="0"/>
              <a:t>Lecturer</a:t>
            </a:r>
          </a:p>
          <a:p>
            <a:r>
              <a:rPr lang="en-US" dirty="0" smtClean="0"/>
              <a:t>Planner</a:t>
            </a:r>
          </a:p>
          <a:p>
            <a:r>
              <a:rPr lang="en-US" dirty="0" smtClean="0"/>
              <a:t>Facilitator</a:t>
            </a:r>
          </a:p>
          <a:p>
            <a:r>
              <a:rPr lang="en-US" dirty="0" smtClean="0"/>
              <a:t>Assessor</a:t>
            </a:r>
          </a:p>
          <a:p>
            <a:r>
              <a:rPr lang="en-US" dirty="0" smtClean="0"/>
              <a:t>Values </a:t>
            </a:r>
            <a:r>
              <a:rPr lang="en-US" dirty="0" err="1" smtClean="0"/>
              <a:t>formator</a:t>
            </a:r>
            <a:endParaRPr lang="en-US" dirty="0" smtClean="0"/>
          </a:p>
          <a:p>
            <a:r>
              <a:rPr lang="en-US" dirty="0" smtClean="0"/>
              <a:t>Record keeper</a:t>
            </a:r>
          </a:p>
          <a:p>
            <a:r>
              <a:rPr lang="en-US" dirty="0" smtClean="0"/>
              <a:t>Materials developer</a:t>
            </a:r>
            <a:endParaRPr lang="en-US" dirty="0"/>
          </a:p>
        </p:txBody>
      </p:sp>
    </p:spTree>
    <p:extLst>
      <p:ext uri="{BB962C8B-B14F-4D97-AF65-F5344CB8AC3E}">
        <p14:creationId xmlns:p14="http://schemas.microsoft.com/office/powerpoint/2010/main" val="3440801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Lecturer</a:t>
            </a:r>
            <a:endParaRPr lang="en-US" dirty="0"/>
          </a:p>
        </p:txBody>
      </p:sp>
      <p:sp>
        <p:nvSpPr>
          <p:cNvPr id="3" name="Content Placeholder 2"/>
          <p:cNvSpPr>
            <a:spLocks noGrp="1"/>
          </p:cNvSpPr>
          <p:nvPr>
            <p:ph idx="1"/>
          </p:nvPr>
        </p:nvSpPr>
        <p:spPr/>
        <p:txBody>
          <a:bodyPr/>
          <a:lstStyle/>
          <a:p>
            <a:pPr algn="just"/>
            <a:r>
              <a:rPr lang="en-US" dirty="0" smtClean="0"/>
              <a:t>The lecturer function is the most common notion of a teacher—someone who provides knowledge.</a:t>
            </a:r>
          </a:p>
          <a:p>
            <a:pPr algn="just"/>
            <a:endParaRPr lang="en-US" dirty="0"/>
          </a:p>
          <a:p>
            <a:pPr algn="just"/>
            <a:r>
              <a:rPr lang="en-US" dirty="0" smtClean="0"/>
              <a:t>A lecturer teaches the content. In this manner, the lecturer must follow a given syllabus and teach what is there in a manner that can be understood.</a:t>
            </a:r>
            <a:endParaRPr lang="en-US" dirty="0"/>
          </a:p>
        </p:txBody>
      </p:sp>
    </p:spTree>
    <p:extLst>
      <p:ext uri="{BB962C8B-B14F-4D97-AF65-F5344CB8AC3E}">
        <p14:creationId xmlns:p14="http://schemas.microsoft.com/office/powerpoint/2010/main" val="310669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a:t>
            </a:r>
            <a:endParaRPr lang="en-US" dirty="0"/>
          </a:p>
        </p:txBody>
      </p:sp>
      <p:sp>
        <p:nvSpPr>
          <p:cNvPr id="3" name="Content Placeholder 2"/>
          <p:cNvSpPr>
            <a:spLocks noGrp="1"/>
          </p:cNvSpPr>
          <p:nvPr>
            <p:ph idx="1"/>
          </p:nvPr>
        </p:nvSpPr>
        <p:spPr/>
        <p:txBody>
          <a:bodyPr/>
          <a:lstStyle/>
          <a:p>
            <a:pPr algn="just"/>
            <a:endParaRPr lang="en-US" dirty="0" smtClean="0"/>
          </a:p>
          <a:p>
            <a:pPr algn="just"/>
            <a:r>
              <a:rPr lang="en-US" dirty="0" smtClean="0"/>
              <a:t>If you look at your lesson objectives, it says: “students will be able to,” not “teacher will be able to.”</a:t>
            </a:r>
          </a:p>
          <a:p>
            <a:pPr algn="just"/>
            <a:endParaRPr lang="en-US" dirty="0"/>
          </a:p>
          <a:p>
            <a:pPr algn="just"/>
            <a:r>
              <a:rPr lang="en-US" dirty="0" smtClean="0"/>
              <a:t>Hence, the one who must do the work and learn is more of the learner than the teacher.</a:t>
            </a:r>
            <a:endParaRPr lang="en-US" dirty="0"/>
          </a:p>
        </p:txBody>
      </p:sp>
    </p:spTree>
    <p:extLst>
      <p:ext uri="{BB962C8B-B14F-4D97-AF65-F5344CB8AC3E}">
        <p14:creationId xmlns:p14="http://schemas.microsoft.com/office/powerpoint/2010/main" val="313594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a:t>
            </a:r>
            <a:endParaRPr lang="en-US" dirty="0"/>
          </a:p>
        </p:txBody>
      </p:sp>
      <p:sp>
        <p:nvSpPr>
          <p:cNvPr id="3" name="Content Placeholder 2"/>
          <p:cNvSpPr>
            <a:spLocks noGrp="1"/>
          </p:cNvSpPr>
          <p:nvPr>
            <p:ph idx="1"/>
          </p:nvPr>
        </p:nvSpPr>
        <p:spPr/>
        <p:txBody>
          <a:bodyPr>
            <a:normAutofit/>
          </a:bodyPr>
          <a:lstStyle/>
          <a:p>
            <a:pPr algn="just"/>
            <a:r>
              <a:rPr lang="en-US" dirty="0" smtClean="0"/>
              <a:t>As a facilitator, you partly detach yourself so that they can work.</a:t>
            </a:r>
          </a:p>
          <a:p>
            <a:pPr algn="just"/>
            <a:endParaRPr lang="en-US" dirty="0"/>
          </a:p>
          <a:p>
            <a:pPr algn="just"/>
            <a:r>
              <a:rPr lang="en-US" dirty="0" smtClean="0"/>
              <a:t>Do not breathe down on their necks as they work, but supervise from a safe distance.</a:t>
            </a:r>
          </a:p>
          <a:p>
            <a:pPr algn="just"/>
            <a:endParaRPr lang="en-US" dirty="0"/>
          </a:p>
          <a:p>
            <a:pPr algn="just"/>
            <a:r>
              <a:rPr lang="en-US" dirty="0" smtClean="0"/>
              <a:t>If problems arise, be there to advise.</a:t>
            </a:r>
            <a:endParaRPr lang="en-US" dirty="0"/>
          </a:p>
        </p:txBody>
      </p:sp>
    </p:spTree>
    <p:extLst>
      <p:ext uri="{BB962C8B-B14F-4D97-AF65-F5344CB8AC3E}">
        <p14:creationId xmlns:p14="http://schemas.microsoft.com/office/powerpoint/2010/main" val="192981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a:t>
            </a:r>
            <a:endParaRPr lang="en-US" dirty="0"/>
          </a:p>
        </p:txBody>
      </p:sp>
      <p:sp>
        <p:nvSpPr>
          <p:cNvPr id="3" name="Content Placeholder 2"/>
          <p:cNvSpPr>
            <a:spLocks noGrp="1"/>
          </p:cNvSpPr>
          <p:nvPr>
            <p:ph idx="1"/>
          </p:nvPr>
        </p:nvSpPr>
        <p:spPr/>
        <p:txBody>
          <a:bodyPr/>
          <a:lstStyle/>
          <a:p>
            <a:pPr algn="just"/>
            <a:r>
              <a:rPr lang="en-US" dirty="0" smtClean="0"/>
              <a:t>Effective facilitating is primarily based on whether the students are working on something meaningful or divergent, or not.</a:t>
            </a:r>
          </a:p>
          <a:p>
            <a:pPr algn="just"/>
            <a:endParaRPr lang="en-US" dirty="0"/>
          </a:p>
          <a:p>
            <a:pPr algn="just"/>
            <a:r>
              <a:rPr lang="en-US" dirty="0" smtClean="0"/>
              <a:t>If the learners are all expected to arrive at just one answer, yes, you may facilitate, but it will be better if they discover different things.</a:t>
            </a:r>
            <a:endParaRPr lang="en-US" dirty="0"/>
          </a:p>
        </p:txBody>
      </p:sp>
    </p:spTree>
    <p:extLst>
      <p:ext uri="{BB962C8B-B14F-4D97-AF65-F5344CB8AC3E}">
        <p14:creationId xmlns:p14="http://schemas.microsoft.com/office/powerpoint/2010/main" val="615808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Planner</a:t>
            </a:r>
            <a:endParaRPr lang="en-US" dirty="0"/>
          </a:p>
        </p:txBody>
      </p:sp>
      <p:sp>
        <p:nvSpPr>
          <p:cNvPr id="3" name="Content Placeholder 2"/>
          <p:cNvSpPr>
            <a:spLocks noGrp="1"/>
          </p:cNvSpPr>
          <p:nvPr>
            <p:ph idx="1"/>
          </p:nvPr>
        </p:nvSpPr>
        <p:spPr/>
        <p:txBody>
          <a:bodyPr/>
          <a:lstStyle/>
          <a:p>
            <a:pPr algn="just"/>
            <a:r>
              <a:rPr lang="en-US" dirty="0" smtClean="0"/>
              <a:t>A planner of lessons, teachers must combine what they know about the subject, the students, and the strategies in order to envision an effective lesson.</a:t>
            </a:r>
          </a:p>
          <a:p>
            <a:pPr algn="just"/>
            <a:endParaRPr lang="en-US" dirty="0"/>
          </a:p>
          <a:p>
            <a:pPr algn="just"/>
            <a:r>
              <a:rPr lang="en-US" dirty="0" smtClean="0"/>
              <a:t>These plans are set into writing and, once checked by the coordinator, set into motion.</a:t>
            </a:r>
            <a:endParaRPr lang="en-US" dirty="0"/>
          </a:p>
        </p:txBody>
      </p:sp>
    </p:spTree>
    <p:extLst>
      <p:ext uri="{BB962C8B-B14F-4D97-AF65-F5344CB8AC3E}">
        <p14:creationId xmlns:p14="http://schemas.microsoft.com/office/powerpoint/2010/main" val="2502761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Assessor</a:t>
            </a:r>
            <a:endParaRPr lang="en-US" dirty="0"/>
          </a:p>
        </p:txBody>
      </p:sp>
      <p:sp>
        <p:nvSpPr>
          <p:cNvPr id="3" name="Content Placeholder 2"/>
          <p:cNvSpPr>
            <a:spLocks noGrp="1"/>
          </p:cNvSpPr>
          <p:nvPr>
            <p:ph idx="1"/>
          </p:nvPr>
        </p:nvSpPr>
        <p:spPr/>
        <p:txBody>
          <a:bodyPr/>
          <a:lstStyle/>
          <a:p>
            <a:pPr algn="just"/>
            <a:r>
              <a:rPr lang="en-US" dirty="0" smtClean="0"/>
              <a:t>As an assessor, a teacher must be guided by standards that will help him/her advise the learner about whether he/she is doing it right.</a:t>
            </a:r>
          </a:p>
          <a:p>
            <a:pPr algn="just"/>
            <a:endParaRPr lang="en-US" dirty="0"/>
          </a:p>
          <a:p>
            <a:pPr algn="just"/>
            <a:r>
              <a:rPr lang="en-US" dirty="0" smtClean="0"/>
              <a:t>Not all assessments are judgments, though, since there are formative and summative assessments.</a:t>
            </a:r>
            <a:endParaRPr lang="en-US" dirty="0"/>
          </a:p>
        </p:txBody>
      </p:sp>
    </p:spTree>
    <p:extLst>
      <p:ext uri="{BB962C8B-B14F-4D97-AF65-F5344CB8AC3E}">
        <p14:creationId xmlns:p14="http://schemas.microsoft.com/office/powerpoint/2010/main" val="1573121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Values </a:t>
            </a:r>
            <a:r>
              <a:rPr lang="en-US" dirty="0" err="1" smtClean="0"/>
              <a:t>Formator</a:t>
            </a:r>
            <a:endParaRPr lang="en-US" dirty="0"/>
          </a:p>
        </p:txBody>
      </p:sp>
      <p:sp>
        <p:nvSpPr>
          <p:cNvPr id="3" name="Content Placeholder 2"/>
          <p:cNvSpPr>
            <a:spLocks noGrp="1"/>
          </p:cNvSpPr>
          <p:nvPr>
            <p:ph idx="1"/>
          </p:nvPr>
        </p:nvSpPr>
        <p:spPr/>
        <p:txBody>
          <a:bodyPr>
            <a:normAutofit/>
          </a:bodyPr>
          <a:lstStyle/>
          <a:p>
            <a:pPr algn="just"/>
            <a:r>
              <a:rPr lang="en-US" dirty="0" smtClean="0"/>
              <a:t>A teacher must be a “paragon of virtue.”</a:t>
            </a:r>
          </a:p>
          <a:p>
            <a:pPr algn="just"/>
            <a:endParaRPr lang="en-US" dirty="0"/>
          </a:p>
          <a:p>
            <a:pPr algn="just"/>
            <a:r>
              <a:rPr lang="en-US" dirty="0" smtClean="0"/>
              <a:t>A teacher must try to adhere to the highest ethical and value standards as much as possible.</a:t>
            </a:r>
          </a:p>
          <a:p>
            <a:pPr algn="just"/>
            <a:endParaRPr lang="en-US" dirty="0"/>
          </a:p>
          <a:p>
            <a:pPr algn="just"/>
            <a:r>
              <a:rPr lang="en-US" dirty="0" smtClean="0"/>
              <a:t>In short, a teacher must be the last person in whom students will see bad things.</a:t>
            </a:r>
            <a:endParaRPr lang="en-US" dirty="0"/>
          </a:p>
        </p:txBody>
      </p:sp>
    </p:spTree>
    <p:extLst>
      <p:ext uri="{BB962C8B-B14F-4D97-AF65-F5344CB8AC3E}">
        <p14:creationId xmlns:p14="http://schemas.microsoft.com/office/powerpoint/2010/main" val="50351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Values </a:t>
            </a:r>
            <a:r>
              <a:rPr lang="en-US" dirty="0" err="1" smtClean="0"/>
              <a:t>Formator</a:t>
            </a:r>
            <a:endParaRPr lang="en-US" dirty="0"/>
          </a:p>
        </p:txBody>
      </p:sp>
      <p:sp>
        <p:nvSpPr>
          <p:cNvPr id="3" name="Content Placeholder 2"/>
          <p:cNvSpPr>
            <a:spLocks noGrp="1"/>
          </p:cNvSpPr>
          <p:nvPr>
            <p:ph idx="1"/>
          </p:nvPr>
        </p:nvSpPr>
        <p:spPr/>
        <p:txBody>
          <a:bodyPr/>
          <a:lstStyle/>
          <a:p>
            <a:endParaRPr lang="en-US" dirty="0" smtClean="0"/>
          </a:p>
          <a:p>
            <a:r>
              <a:rPr lang="en-US" dirty="0" smtClean="0"/>
              <a:t>A teacher, though, must help learners become better.</a:t>
            </a:r>
          </a:p>
          <a:p>
            <a:endParaRPr lang="en-US" dirty="0"/>
          </a:p>
          <a:p>
            <a:r>
              <a:rPr lang="en-US" dirty="0" smtClean="0"/>
              <a:t>Teachers, do not be the first to condemn learners; instead, help them become better.</a:t>
            </a:r>
          </a:p>
        </p:txBody>
      </p:sp>
    </p:spTree>
    <p:extLst>
      <p:ext uri="{BB962C8B-B14F-4D97-AF65-F5344CB8AC3E}">
        <p14:creationId xmlns:p14="http://schemas.microsoft.com/office/powerpoint/2010/main" val="304935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Keeper</a:t>
            </a:r>
            <a:endParaRPr lang="en-US" dirty="0"/>
          </a:p>
        </p:txBody>
      </p:sp>
      <p:sp>
        <p:nvSpPr>
          <p:cNvPr id="3" name="Content Placeholder 2"/>
          <p:cNvSpPr>
            <a:spLocks noGrp="1"/>
          </p:cNvSpPr>
          <p:nvPr>
            <p:ph idx="1"/>
          </p:nvPr>
        </p:nvSpPr>
        <p:spPr/>
        <p:txBody>
          <a:bodyPr/>
          <a:lstStyle/>
          <a:p>
            <a:pPr algn="just"/>
            <a:r>
              <a:rPr lang="en-US" dirty="0" smtClean="0"/>
              <a:t>As a classroom teacher and/or adviser, you need to keep students’ records, most especially their grades.</a:t>
            </a:r>
          </a:p>
          <a:p>
            <a:pPr algn="just"/>
            <a:endParaRPr lang="en-US" dirty="0"/>
          </a:p>
          <a:p>
            <a:pPr algn="just"/>
            <a:r>
              <a:rPr lang="en-US" dirty="0" smtClean="0"/>
              <a:t>You also receive access to their contact information, normally provided through the Registrar’s and/or Guidance Office.</a:t>
            </a:r>
            <a:endParaRPr lang="en-US" dirty="0"/>
          </a:p>
        </p:txBody>
      </p:sp>
    </p:spTree>
    <p:extLst>
      <p:ext uri="{BB962C8B-B14F-4D97-AF65-F5344CB8AC3E}">
        <p14:creationId xmlns:p14="http://schemas.microsoft.com/office/powerpoint/2010/main" val="665364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Materials Developer</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Materials, whether visual, audio, or tactile, aid in the education of learners, and teachers must develop these materials in order to aid learning.</a:t>
            </a:r>
          </a:p>
          <a:p>
            <a:pPr algn="just"/>
            <a:endParaRPr lang="en-US" dirty="0"/>
          </a:p>
          <a:p>
            <a:pPr algn="just"/>
            <a:r>
              <a:rPr lang="en-US" dirty="0" smtClean="0"/>
              <a:t>Of the many tasks of teachers, this can be among the most time-consuming, so teamwork among teachers handling the same subject can be considered.</a:t>
            </a:r>
            <a:endParaRPr lang="en-US" dirty="0"/>
          </a:p>
        </p:txBody>
      </p:sp>
    </p:spTree>
    <p:extLst>
      <p:ext uri="{BB962C8B-B14F-4D97-AF65-F5344CB8AC3E}">
        <p14:creationId xmlns:p14="http://schemas.microsoft.com/office/powerpoint/2010/main" val="1442494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Most common duties</a:t>
            </a:r>
            <a:endParaRPr lang="en-US" dirty="0"/>
          </a:p>
        </p:txBody>
      </p:sp>
      <p:sp>
        <p:nvSpPr>
          <p:cNvPr id="6" name="Content Placeholder 5"/>
          <p:cNvSpPr>
            <a:spLocks noGrp="1"/>
          </p:cNvSpPr>
          <p:nvPr>
            <p:ph idx="1"/>
          </p:nvPr>
        </p:nvSpPr>
        <p:spPr/>
        <p:txBody>
          <a:bodyPr>
            <a:normAutofit fontScale="92500"/>
          </a:bodyPr>
          <a:lstStyle/>
          <a:p>
            <a:pPr>
              <a:buFont typeface="+mj-lt"/>
              <a:buAutoNum type="arabicPeriod"/>
            </a:pPr>
            <a:r>
              <a:rPr lang="en-US" dirty="0" smtClean="0"/>
              <a:t>Teach according to assignment</a:t>
            </a:r>
          </a:p>
          <a:p>
            <a:pPr>
              <a:buFont typeface="+mj-lt"/>
              <a:buAutoNum type="arabicPeriod"/>
            </a:pPr>
            <a:r>
              <a:rPr lang="en-US" dirty="0" smtClean="0"/>
              <a:t>Enroll / help facilitate the enrollment of learners</a:t>
            </a:r>
          </a:p>
          <a:p>
            <a:pPr>
              <a:buFont typeface="+mj-lt"/>
              <a:buAutoNum type="arabicPeriod"/>
            </a:pPr>
            <a:r>
              <a:rPr lang="en-US" dirty="0" smtClean="0"/>
              <a:t>Design / prepare effective lesson plans</a:t>
            </a:r>
          </a:p>
          <a:p>
            <a:pPr>
              <a:buFont typeface="+mj-lt"/>
              <a:buAutoNum type="arabicPeriod"/>
            </a:pPr>
            <a:r>
              <a:rPr lang="en-US" dirty="0" smtClean="0"/>
              <a:t>Prepare visual aids and other materials</a:t>
            </a:r>
          </a:p>
          <a:p>
            <a:pPr>
              <a:buFont typeface="+mj-lt"/>
              <a:buAutoNum type="arabicPeriod"/>
            </a:pPr>
            <a:r>
              <a:rPr lang="en-US" dirty="0" smtClean="0"/>
              <a:t>Help craft and implement classroom &amp; school rules</a:t>
            </a:r>
          </a:p>
          <a:p>
            <a:pPr>
              <a:buFont typeface="+mj-lt"/>
              <a:buAutoNum type="arabicPeriod"/>
            </a:pPr>
            <a:r>
              <a:rPr lang="en-US" dirty="0" smtClean="0"/>
              <a:t>Provide guidance services, on top of those provided by the guidance counselor</a:t>
            </a:r>
            <a:endParaRPr lang="en-US" dirty="0"/>
          </a:p>
        </p:txBody>
      </p:sp>
    </p:spTree>
    <p:extLst>
      <p:ext uri="{BB962C8B-B14F-4D97-AF65-F5344CB8AC3E}">
        <p14:creationId xmlns:p14="http://schemas.microsoft.com/office/powerpoint/2010/main" val="112767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Most common duties</a:t>
            </a:r>
            <a:endParaRPr lang="en-US" dirty="0"/>
          </a:p>
        </p:txBody>
      </p:sp>
      <p:sp>
        <p:nvSpPr>
          <p:cNvPr id="3" name="Content Placeholder 2"/>
          <p:cNvSpPr>
            <a:spLocks noGrp="1"/>
          </p:cNvSpPr>
          <p:nvPr>
            <p:ph idx="1"/>
          </p:nvPr>
        </p:nvSpPr>
        <p:spPr/>
        <p:txBody>
          <a:bodyPr>
            <a:normAutofit lnSpcReduction="10000"/>
          </a:bodyPr>
          <a:lstStyle/>
          <a:p>
            <a:pPr algn="just">
              <a:buFont typeface="+mj-lt"/>
              <a:buAutoNum type="arabicPeriod" startAt="7"/>
            </a:pPr>
            <a:r>
              <a:rPr lang="en-US" dirty="0" smtClean="0"/>
              <a:t> Assess and monitor students’ progress</a:t>
            </a:r>
          </a:p>
          <a:p>
            <a:pPr algn="just">
              <a:buFont typeface="+mj-lt"/>
              <a:buAutoNum type="arabicPeriod" startAt="7"/>
            </a:pPr>
            <a:r>
              <a:rPr lang="en-US" dirty="0" smtClean="0"/>
              <a:t> Design, implement, and supervise CURRICULAR, CO-CURRICULAR, and EXTRA-CURRICULAR activities</a:t>
            </a:r>
          </a:p>
          <a:p>
            <a:pPr algn="just">
              <a:buFont typeface="+mj-lt"/>
              <a:buAutoNum type="arabicPeriod" startAt="7"/>
            </a:pPr>
            <a:r>
              <a:rPr lang="en-US" dirty="0" smtClean="0"/>
              <a:t> Prepare, update, and keep school forms, records, such as attendance, grades and anecdotal records</a:t>
            </a:r>
          </a:p>
          <a:p>
            <a:pPr algn="just">
              <a:buFont typeface="+mj-lt"/>
              <a:buAutoNum type="arabicPeriod" startAt="7"/>
            </a:pPr>
            <a:r>
              <a:rPr lang="en-US" dirty="0" smtClean="0"/>
              <a:t> Provide feedback to parents/guardians about the learners</a:t>
            </a:r>
            <a:endParaRPr lang="en-US" dirty="0"/>
          </a:p>
        </p:txBody>
      </p:sp>
    </p:spTree>
    <p:extLst>
      <p:ext uri="{BB962C8B-B14F-4D97-AF65-F5344CB8AC3E}">
        <p14:creationId xmlns:p14="http://schemas.microsoft.com/office/powerpoint/2010/main" val="96275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Most common duties</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mj-lt"/>
              <a:buAutoNum type="arabicPeriod" startAt="11"/>
            </a:pPr>
            <a:r>
              <a:rPr lang="en-US" dirty="0" smtClean="0"/>
              <a:t> Maintain membership in professional organizations</a:t>
            </a:r>
          </a:p>
          <a:p>
            <a:pPr algn="just">
              <a:buFont typeface="+mj-lt"/>
              <a:buAutoNum type="arabicPeriod" startAt="11"/>
            </a:pPr>
            <a:r>
              <a:rPr lang="en-US" dirty="0" smtClean="0"/>
              <a:t> Attend trainings and participate in faculty meetings</a:t>
            </a:r>
          </a:p>
          <a:p>
            <a:pPr algn="just">
              <a:buFont typeface="+mj-lt"/>
              <a:buAutoNum type="arabicPeriod" startAt="11"/>
            </a:pPr>
            <a:r>
              <a:rPr lang="en-US" dirty="0" smtClean="0"/>
              <a:t> Work with other stakeholders for the holistic development of learners</a:t>
            </a:r>
          </a:p>
          <a:p>
            <a:pPr algn="just">
              <a:buFont typeface="+mj-lt"/>
              <a:buAutoNum type="arabicPeriod" startAt="11"/>
            </a:pPr>
            <a:r>
              <a:rPr lang="en-US" dirty="0" smtClean="0"/>
              <a:t> Participate in socio-economic development projects</a:t>
            </a:r>
          </a:p>
          <a:p>
            <a:pPr algn="just">
              <a:buFont typeface="+mj-lt"/>
              <a:buAutoNum type="arabicPeriod" startAt="11"/>
            </a:pPr>
            <a:r>
              <a:rPr lang="en-US" dirty="0" smtClean="0"/>
              <a:t> Safeguard school facilities and equipment</a:t>
            </a:r>
          </a:p>
          <a:p>
            <a:pPr algn="just">
              <a:buFont typeface="+mj-lt"/>
              <a:buAutoNum type="arabicPeriod" startAt="11"/>
            </a:pPr>
            <a:r>
              <a:rPr lang="en-US" dirty="0" smtClean="0"/>
              <a:t> Perform other teaching-related duties</a:t>
            </a:r>
            <a:endParaRPr lang="en-US" dirty="0"/>
          </a:p>
        </p:txBody>
      </p:sp>
    </p:spTree>
    <p:extLst>
      <p:ext uri="{BB962C8B-B14F-4D97-AF65-F5344CB8AC3E}">
        <p14:creationId xmlns:p14="http://schemas.microsoft.com/office/powerpoint/2010/main" val="1016003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906713"/>
            <a:ext cx="7772400" cy="1362075"/>
          </a:xfrm>
        </p:spPr>
        <p:txBody>
          <a:bodyPr/>
          <a:lstStyle/>
          <a:p>
            <a:r>
              <a:rPr lang="en-US" dirty="0" smtClean="0"/>
              <a:t>Characteristics of a Teacher</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04704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Teacher = Good Moral Character</a:t>
            </a:r>
            <a:endParaRPr lang="en-US" dirty="0"/>
          </a:p>
        </p:txBody>
      </p:sp>
      <p:sp>
        <p:nvSpPr>
          <p:cNvPr id="3" name="Content Placeholder 2"/>
          <p:cNvSpPr>
            <a:spLocks noGrp="1"/>
          </p:cNvSpPr>
          <p:nvPr>
            <p:ph sz="half" idx="1"/>
          </p:nvPr>
        </p:nvSpPr>
        <p:spPr/>
        <p:txBody>
          <a:bodyPr/>
          <a:lstStyle/>
          <a:p>
            <a:endParaRPr lang="en-US" dirty="0" smtClean="0"/>
          </a:p>
          <a:p>
            <a:r>
              <a:rPr lang="en-US" dirty="0" smtClean="0"/>
              <a:t>Fully human</a:t>
            </a:r>
          </a:p>
          <a:p>
            <a:r>
              <a:rPr lang="en-US" dirty="0" smtClean="0"/>
              <a:t>Loving person</a:t>
            </a:r>
          </a:p>
          <a:p>
            <a:r>
              <a:rPr lang="en-US" dirty="0" smtClean="0"/>
              <a:t>Virtuous person</a:t>
            </a:r>
          </a:p>
          <a:p>
            <a:r>
              <a:rPr lang="en-US" dirty="0" smtClean="0"/>
              <a:t>Morally mature person</a:t>
            </a:r>
            <a:endParaRPr lang="en-US" dirty="0"/>
          </a:p>
        </p:txBody>
      </p:sp>
      <p:sp>
        <p:nvSpPr>
          <p:cNvPr id="4" name="Content Placeholder 3"/>
          <p:cNvSpPr>
            <a:spLocks noGrp="1"/>
          </p:cNvSpPr>
          <p:nvPr>
            <p:ph sz="half" idx="2"/>
          </p:nvPr>
        </p:nvSpPr>
        <p:spPr/>
        <p:txBody>
          <a:bodyPr/>
          <a:lstStyle/>
          <a:p>
            <a:endParaRPr lang="en-US"/>
          </a:p>
        </p:txBody>
      </p:sp>
    </p:spTree>
    <p:extLst>
      <p:ext uri="{BB962C8B-B14F-4D97-AF65-F5344CB8AC3E}">
        <p14:creationId xmlns:p14="http://schemas.microsoft.com/office/powerpoint/2010/main" val="3230634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a:t>
            </a:r>
            <a:endParaRPr lang="en-US" dirty="0"/>
          </a:p>
        </p:txBody>
      </p:sp>
      <p:sp>
        <p:nvSpPr>
          <p:cNvPr id="3" name="Content Placeholder 2"/>
          <p:cNvSpPr>
            <a:spLocks noGrp="1"/>
          </p:cNvSpPr>
          <p:nvPr>
            <p:ph sz="half" idx="1"/>
          </p:nvPr>
        </p:nvSpPr>
        <p:spPr/>
        <p:txBody>
          <a:bodyPr>
            <a:normAutofit fontScale="92500" lnSpcReduction="10000"/>
          </a:bodyPr>
          <a:lstStyle/>
          <a:p>
            <a:r>
              <a:rPr lang="en-US" dirty="0" smtClean="0"/>
              <a:t>Knowledgeable</a:t>
            </a:r>
          </a:p>
          <a:p>
            <a:r>
              <a:rPr lang="en-US" dirty="0" smtClean="0"/>
              <a:t>Competent</a:t>
            </a:r>
          </a:p>
          <a:p>
            <a:r>
              <a:rPr lang="en-US" dirty="0" smtClean="0"/>
              <a:t>Effective</a:t>
            </a:r>
          </a:p>
          <a:p>
            <a:r>
              <a:rPr lang="en-US" dirty="0" smtClean="0"/>
              <a:t>Efficient</a:t>
            </a:r>
          </a:p>
          <a:p>
            <a:r>
              <a:rPr lang="en-US" dirty="0" smtClean="0"/>
              <a:t>Honest</a:t>
            </a:r>
          </a:p>
          <a:p>
            <a:r>
              <a:rPr lang="en-US" dirty="0" smtClean="0"/>
              <a:t>Fair</a:t>
            </a:r>
          </a:p>
          <a:p>
            <a:r>
              <a:rPr lang="en-US" dirty="0" smtClean="0"/>
              <a:t>Creative</a:t>
            </a:r>
          </a:p>
          <a:p>
            <a:r>
              <a:rPr lang="en-US" dirty="0" smtClean="0"/>
              <a:t>Committed</a:t>
            </a:r>
          </a:p>
          <a:p>
            <a:r>
              <a:rPr lang="en-US" dirty="0" smtClean="0"/>
              <a:t>Compassionate</a:t>
            </a:r>
          </a:p>
          <a:p>
            <a:r>
              <a:rPr lang="en-US" dirty="0" smtClean="0"/>
              <a:t>Morally upright</a:t>
            </a:r>
            <a:endParaRPr lang="en-US" dirty="0"/>
          </a:p>
        </p:txBody>
      </p:sp>
      <p:sp>
        <p:nvSpPr>
          <p:cNvPr id="4" name="Content Placeholder 3"/>
          <p:cNvSpPr>
            <a:spLocks noGrp="1"/>
          </p:cNvSpPr>
          <p:nvPr>
            <p:ph sz="half" idx="2"/>
          </p:nvPr>
        </p:nvSpPr>
        <p:spPr/>
        <p:txBody>
          <a:bodyPr>
            <a:normAutofit fontScale="92500" lnSpcReduction="10000"/>
          </a:bodyPr>
          <a:lstStyle/>
          <a:p>
            <a:endParaRPr lang="en-US"/>
          </a:p>
        </p:txBody>
      </p:sp>
    </p:spTree>
    <p:extLst>
      <p:ext uri="{BB962C8B-B14F-4D97-AF65-F5344CB8AC3E}">
        <p14:creationId xmlns:p14="http://schemas.microsoft.com/office/powerpoint/2010/main" val="1734159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304800" y="2540000"/>
            <a:ext cx="8229600" cy="990600"/>
          </a:xfrm>
        </p:spPr>
        <p:txBody>
          <a:bodyPr>
            <a:noAutofit/>
          </a:bodyPr>
          <a:lstStyle/>
          <a:p>
            <a:pPr algn="ctr"/>
            <a:r>
              <a:rPr lang="en-PH" sz="5400" b="1" dirty="0" smtClean="0"/>
              <a:t>R.A. No.4670:</a:t>
            </a:r>
            <a:br>
              <a:rPr lang="en-PH" sz="5400" b="1" dirty="0" smtClean="0"/>
            </a:br>
            <a:r>
              <a:rPr lang="en-PH" sz="5400" b="1" dirty="0" smtClean="0"/>
              <a:t/>
            </a:r>
            <a:br>
              <a:rPr lang="en-PH" sz="5400" b="1" dirty="0" smtClean="0"/>
            </a:br>
            <a:r>
              <a:rPr lang="en-PH" sz="5400" b="1" dirty="0" smtClean="0"/>
              <a:t> </a:t>
            </a:r>
            <a:r>
              <a:rPr lang="en-US" sz="5400" b="1" dirty="0" smtClean="0"/>
              <a:t>THE MAGNA CARTA FOR PUBLIC SCHOOL TEACHERS</a:t>
            </a:r>
          </a:p>
        </p:txBody>
      </p:sp>
    </p:spTree>
    <p:extLst>
      <p:ext uri="{BB962C8B-B14F-4D97-AF65-F5344CB8AC3E}">
        <p14:creationId xmlns:p14="http://schemas.microsoft.com/office/powerpoint/2010/main" val="2518269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6247864"/>
          </a:xfrm>
          <a:prstGeom prst="rect">
            <a:avLst/>
          </a:prstGeom>
        </p:spPr>
        <p:txBody>
          <a:bodyPr wrap="square">
            <a:spAutoFit/>
          </a:bodyPr>
          <a:lstStyle/>
          <a:p>
            <a:r>
              <a:rPr lang="en-US" sz="2000" b="1" dirty="0" smtClean="0"/>
              <a:t>I. DECLARATION OF POLICY COVERAGE</a:t>
            </a:r>
          </a:p>
          <a:p>
            <a:r>
              <a:rPr lang="en-US" sz="2000" dirty="0" smtClean="0"/>
              <a:t>Sec. 1. Declaration of Policy. It is hereby declared to be the policy of this Act to promote and improve the social and economic status of public school teachers, their living and working conditions, their terms of employment and career prospects in order that they may compare favorably with existing opportunities in other walks of life, attract and retain in the teaching profession more people with the proper qualifications, it being recognized that advance in education depends on the qualifications and ability of the teaching staff and that education is an essential factor in the economic growth of the nation as a productive investment of vital importance.</a:t>
            </a:r>
          </a:p>
          <a:p>
            <a:endParaRPr lang="en-US" sz="2000" dirty="0" smtClean="0"/>
          </a:p>
          <a:p>
            <a:r>
              <a:rPr lang="en-US" sz="2000" dirty="0" smtClean="0">
                <a:solidFill>
                  <a:srgbClr val="FF0000"/>
                </a:solidFill>
              </a:rPr>
              <a:t>Sec. 2. Title Definition. This Act shall be known as the "Magna </a:t>
            </a:r>
            <a:r>
              <a:rPr lang="en-US" sz="2000" dirty="0" err="1" smtClean="0">
                <a:solidFill>
                  <a:srgbClr val="FF0000"/>
                </a:solidFill>
              </a:rPr>
              <a:t>Carta</a:t>
            </a:r>
            <a:r>
              <a:rPr lang="en-US" sz="2000" dirty="0" smtClean="0">
                <a:solidFill>
                  <a:srgbClr val="FF0000"/>
                </a:solidFill>
              </a:rPr>
              <a:t> for Public School Teachers" and shall apply to all public school teachers except those in the professorial staff of state colleges and universities. The term "teacher" shall mean all persons engaged in classroom teaching, in any level of instruction, on full-time basis, including guidance counselors, school librarians, industrial arts or vocational instructors, and all other persons performing supervisory and/or administrative functions in all schools, colleges and universities operated by the Government or its political subdivisions; but shall not include school nurses, school physicians, school dentists, and other school employees.</a:t>
            </a:r>
            <a:endParaRPr lang="en-US" sz="2000" dirty="0">
              <a:solidFill>
                <a:srgbClr val="FF0000"/>
              </a:solidFill>
            </a:endParaRPr>
          </a:p>
        </p:txBody>
      </p:sp>
    </p:spTree>
    <p:extLst>
      <p:ext uri="{BB962C8B-B14F-4D97-AF65-F5344CB8AC3E}">
        <p14:creationId xmlns:p14="http://schemas.microsoft.com/office/powerpoint/2010/main" val="358147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457200" y="457200"/>
            <a:ext cx="8051800" cy="5509199"/>
          </a:xfrm>
          <a:prstGeom prst="rect">
            <a:avLst/>
          </a:prstGeom>
        </p:spPr>
        <p:txBody>
          <a:bodyPr wrap="square">
            <a:spAutoFit/>
          </a:bodyPr>
          <a:lstStyle/>
          <a:p>
            <a:r>
              <a:rPr lang="en-US" sz="2200" b="1" dirty="0" smtClean="0"/>
              <a:t>II. RECRUITMENT AND CAREER</a:t>
            </a:r>
          </a:p>
          <a:p>
            <a:r>
              <a:rPr lang="en-US" sz="2200" dirty="0" smtClean="0"/>
              <a:t>Sec. 3. Recruitment and Qualification. </a:t>
            </a:r>
          </a:p>
          <a:p>
            <a:pPr marL="457200" indent="-457200" algn="just">
              <a:buAutoNum type="alphaLcParenBoth"/>
            </a:pPr>
            <a:r>
              <a:rPr lang="en-US" sz="2200" dirty="0" smtClean="0"/>
              <a:t>For teachers in the kindergarten and elementary grades, Bachelor's degree in Elementary Education (B.S.E.ED.);</a:t>
            </a:r>
          </a:p>
          <a:p>
            <a:pPr marL="457200" indent="-457200" algn="just">
              <a:buAutoNum type="alphaLcParenBoth"/>
            </a:pPr>
            <a:endParaRPr lang="en-US" sz="2200" dirty="0" smtClean="0"/>
          </a:p>
          <a:p>
            <a:pPr marL="457200" indent="-457200" algn="just">
              <a:buAutoNum type="alphaLcParenBoth"/>
            </a:pPr>
            <a:r>
              <a:rPr lang="en-US" sz="2200" dirty="0" smtClean="0"/>
              <a:t>For teachers of the secondary schools, Bachelor's degree in Education or its equivalent with a major and a minor; or a Bachelor's degree in Arts or Science with at least eighteen professional units in Education</a:t>
            </a:r>
            <a:r>
              <a:rPr lang="en-US" sz="2200" dirty="0"/>
              <a:t>;</a:t>
            </a:r>
            <a:endParaRPr lang="en-US" sz="2200" dirty="0" smtClean="0"/>
          </a:p>
          <a:p>
            <a:pPr marL="457200" indent="-457200" algn="just">
              <a:buAutoNum type="alphaLcParenBoth"/>
            </a:pPr>
            <a:endParaRPr lang="en-US" sz="2200" dirty="0" smtClean="0"/>
          </a:p>
          <a:p>
            <a:pPr marL="457200" indent="-457200" algn="just">
              <a:buAutoNum type="alphaLcParenBoth"/>
            </a:pPr>
            <a:r>
              <a:rPr lang="en-US" sz="2200" dirty="0" smtClean="0"/>
              <a:t>For teachers of secondary vocational and two years technical courses, Bachelor's degree in the field of specialization with at least eighteen professional units in education; and</a:t>
            </a:r>
          </a:p>
          <a:p>
            <a:pPr marL="457200" indent="-457200" algn="just">
              <a:buAutoNum type="alphaLcParenBoth"/>
            </a:pPr>
            <a:endParaRPr lang="en-US" sz="2200" dirty="0" smtClean="0"/>
          </a:p>
          <a:p>
            <a:pPr marL="457200" indent="-457200" algn="just">
              <a:buAutoNum type="alphaLcParenBoth"/>
            </a:pPr>
            <a:r>
              <a:rPr lang="en-US" sz="2200" dirty="0" smtClean="0"/>
              <a:t>For teachers of courses on the collegiate level, other than vocational, master's degree with a specific area of specialization;</a:t>
            </a:r>
            <a:endParaRPr lang="en-US" sz="2200" dirty="0"/>
          </a:p>
        </p:txBody>
      </p:sp>
    </p:spTree>
    <p:extLst>
      <p:ext uri="{BB962C8B-B14F-4D97-AF65-F5344CB8AC3E}">
        <p14:creationId xmlns:p14="http://schemas.microsoft.com/office/powerpoint/2010/main" val="3107059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0" y="0"/>
            <a:ext cx="9144000" cy="6878806"/>
          </a:xfrm>
          <a:prstGeom prst="rect">
            <a:avLst/>
          </a:prstGeom>
        </p:spPr>
        <p:txBody>
          <a:bodyPr wrap="square">
            <a:spAutoFit/>
          </a:bodyPr>
          <a:lstStyle/>
          <a:p>
            <a:r>
              <a:rPr lang="en-US" sz="2100" dirty="0" smtClean="0"/>
              <a:t>Provided, further, That in the absence of applicants who possess the minimum educational qualifications as hereinabove provided, the school superintendent may appoint, under a temporary status, applicants who do not meet the minimum qualifications: </a:t>
            </a:r>
            <a:r>
              <a:rPr lang="en-US" sz="2100" i="1" dirty="0" smtClean="0"/>
              <a:t>Provided</a:t>
            </a:r>
            <a:r>
              <a:rPr lang="en-US" sz="2100" dirty="0" smtClean="0"/>
              <a:t>, further, That should teacher-applicants, whether they possess the minimum educational qualifications or not, be required to take competitive examinations, preference in making appointments shall be in the order of their respective ranks in said competitive examinations: And provided, finally, That the results of the examinations shall be made public and every applicant shall be furnished with his score and rank in said examinations.</a:t>
            </a:r>
          </a:p>
          <a:p>
            <a:endParaRPr lang="en-US" sz="2100" dirty="0" smtClean="0"/>
          </a:p>
          <a:p>
            <a:r>
              <a:rPr lang="en-US" sz="2100" dirty="0" smtClean="0"/>
              <a:t>Sec. 4. Probationary Period. When recruitment takes place after adequate training and professional preparation in any school recognized by the Government, no probationary period preceding regular appointment shall be imposed if the teacher possesses the appropriate civil service eligibility: </a:t>
            </a:r>
            <a:r>
              <a:rPr lang="en-US" sz="2100" i="1" dirty="0" smtClean="0"/>
              <a:t>Provided</a:t>
            </a:r>
            <a:r>
              <a:rPr lang="en-US" sz="2100" dirty="0" smtClean="0"/>
              <a:t>, </a:t>
            </a:r>
            <a:r>
              <a:rPr lang="en-US" sz="2100" i="1" dirty="0" smtClean="0"/>
              <a:t>however</a:t>
            </a:r>
            <a:r>
              <a:rPr lang="en-US" sz="2100" dirty="0" smtClean="0"/>
              <a:t>, That where, due to the exigencies of the service, it is necessary to employ as teacher a person who possesses the minimum educational qualifications herein above set forth but lacks the appropriate civil service eligibility, such person shall be appointed on a provisional status and shall undergo a period of probation for not less than one year from and after the date of his provisional appointment.</a:t>
            </a:r>
            <a:endParaRPr lang="en-US" sz="2100" dirty="0"/>
          </a:p>
        </p:txBody>
      </p:sp>
    </p:spTree>
    <p:extLst>
      <p:ext uri="{BB962C8B-B14F-4D97-AF65-F5344CB8AC3E}">
        <p14:creationId xmlns:p14="http://schemas.microsoft.com/office/powerpoint/2010/main" val="1771829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0" y="54888"/>
            <a:ext cx="9144000" cy="6863417"/>
          </a:xfrm>
          <a:prstGeom prst="rect">
            <a:avLst/>
          </a:prstGeom>
        </p:spPr>
        <p:txBody>
          <a:bodyPr wrap="square">
            <a:spAutoFit/>
          </a:bodyPr>
          <a:lstStyle/>
          <a:p>
            <a:r>
              <a:rPr lang="en-US" sz="2000" dirty="0" smtClean="0"/>
              <a:t>Sec. 5. Tenure of Office. Stability on employment and security of tenure shall be assured the teachers as provided under existing laws.</a:t>
            </a:r>
          </a:p>
          <a:p>
            <a:r>
              <a:rPr lang="en-US" sz="2000" dirty="0" smtClean="0"/>
              <a:t>Subject to the provisions of Section three hereof, teachers appointed on a provisional status for lack of necessary civil service eligibility shall be extended permanent appointment for the position he is holding after having rendered at least ten years of continuous, efficient and faithful service in such position.</a:t>
            </a:r>
          </a:p>
          <a:p>
            <a:endParaRPr lang="en-US" sz="2000" dirty="0" smtClean="0"/>
          </a:p>
          <a:p>
            <a:r>
              <a:rPr lang="en-US" sz="2000" dirty="0" smtClean="0"/>
              <a:t>Sec. 6. Consent for Transfer Transportation Expenses. Except for cause and as herein otherwise provided, no teacher shall be transferred without his consent from one station to another.</a:t>
            </a:r>
          </a:p>
          <a:p>
            <a:r>
              <a:rPr lang="en-US" sz="2000" dirty="0" smtClean="0"/>
              <a:t>Where the exigencies of the service require the transfer of a teacher from one station to another, such transfer may be effected by the school superintendent who shall previously notify the teacher concerned of the transfer and the reason or reasons therefore. If the teacher believes there is no justification for the transfer, he may appeal his case to the Director of Public Schools or the Director of Vocational Education, as the case may be. Pending his appeal and the decision thereon, his transfer shall be held in abeyance: </a:t>
            </a:r>
            <a:r>
              <a:rPr lang="en-US" sz="2000" i="1" dirty="0" smtClean="0"/>
              <a:t>Provided</a:t>
            </a:r>
            <a:r>
              <a:rPr lang="en-US" sz="2000" dirty="0" smtClean="0"/>
              <a:t>, </a:t>
            </a:r>
            <a:r>
              <a:rPr lang="en-US" sz="2000" i="1" dirty="0" smtClean="0"/>
              <a:t>however</a:t>
            </a:r>
            <a:r>
              <a:rPr lang="en-US" sz="2000" dirty="0" smtClean="0"/>
              <a:t>, That no transfers whatever shall be made three months before any local or national election.</a:t>
            </a:r>
          </a:p>
          <a:p>
            <a:endParaRPr lang="en-US" sz="2000" dirty="0" smtClean="0"/>
          </a:p>
          <a:p>
            <a:r>
              <a:rPr lang="en-US" sz="2000" dirty="0" smtClean="0"/>
              <a:t>Necessary transfer expenses of the teacher and his family shall be paid for by the Government if his transfer is finally approved.</a:t>
            </a:r>
            <a:endParaRPr lang="en-US" sz="2000" dirty="0"/>
          </a:p>
        </p:txBody>
      </p:sp>
    </p:spTree>
    <p:extLst>
      <p:ext uri="{BB962C8B-B14F-4D97-AF65-F5344CB8AC3E}">
        <p14:creationId xmlns:p14="http://schemas.microsoft.com/office/powerpoint/2010/main" val="2982891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0" y="381536"/>
            <a:ext cx="9144000" cy="6247864"/>
          </a:xfrm>
          <a:prstGeom prst="rect">
            <a:avLst/>
          </a:prstGeom>
        </p:spPr>
        <p:txBody>
          <a:bodyPr wrap="square">
            <a:spAutoFit/>
          </a:bodyPr>
          <a:lstStyle/>
          <a:p>
            <a:r>
              <a:rPr lang="en-US" sz="2000" dirty="0" smtClean="0"/>
              <a:t>Sec. 7. Code of Professional Conduct for Teachers. Within six months from the approval of this Act, the Secretary of Education shall formulate and prepare a Code of Professional Conduct for Public School Teachers. A copy of the Code shall be furnished each teacher: </a:t>
            </a:r>
            <a:r>
              <a:rPr lang="en-US" sz="2000" i="1" dirty="0" smtClean="0"/>
              <a:t>Provided</a:t>
            </a:r>
            <a:r>
              <a:rPr lang="en-US" sz="2000" dirty="0" smtClean="0"/>
              <a:t>, </a:t>
            </a:r>
            <a:r>
              <a:rPr lang="en-US" sz="2000" i="1" dirty="0" smtClean="0"/>
              <a:t>however</a:t>
            </a:r>
            <a:r>
              <a:rPr lang="en-US" sz="2000" dirty="0" smtClean="0"/>
              <a:t>, That where this is not possible by reason of inadequate fiscal resources of the Department of Education, at least three copies of the same Code shall be deposited with the office of the school principal or head teacher where they may be accessible for use by the teachers.</a:t>
            </a:r>
          </a:p>
          <a:p>
            <a:endParaRPr lang="en-US" sz="2000" dirty="0" smtClean="0"/>
          </a:p>
          <a:p>
            <a:r>
              <a:rPr lang="en-US" sz="2000" dirty="0" smtClean="0"/>
              <a:t>Sec. 8. Safeguards in Disciplinary Procedure. Every teacher shall enjoy equitable safeguards at each stage of any disciplinary procedure and shall have:</a:t>
            </a:r>
          </a:p>
          <a:p>
            <a:r>
              <a:rPr lang="en-US" sz="2000" dirty="0" smtClean="0"/>
              <a:t>a. the right to be informed, in writing, of the charges;</a:t>
            </a:r>
          </a:p>
          <a:p>
            <a:r>
              <a:rPr lang="en-US" sz="2000" dirty="0" smtClean="0"/>
              <a:t>b. the right to full access to the evidence in the case;</a:t>
            </a:r>
          </a:p>
          <a:p>
            <a:r>
              <a:rPr lang="en-US" sz="2000" dirty="0" smtClean="0"/>
              <a:t>c. the right to defend himself and to be defended by a representative of his choice and/or by his organization, adequate time being given to the teacher for the preparation of his defense; and</a:t>
            </a:r>
          </a:p>
          <a:p>
            <a:r>
              <a:rPr lang="en-US" sz="2000" dirty="0" smtClean="0"/>
              <a:t>d. the right to appeal to clearly designated authorities.</a:t>
            </a:r>
          </a:p>
          <a:p>
            <a:r>
              <a:rPr lang="en-US" sz="2000" dirty="0" smtClean="0"/>
              <a:t>No publicity shall be given to any disciplinary action being taken against a teacher during the pendency of his case</a:t>
            </a:r>
            <a:endParaRPr lang="en-US" sz="2000" dirty="0"/>
          </a:p>
        </p:txBody>
      </p:sp>
    </p:spTree>
    <p:extLst>
      <p:ext uri="{BB962C8B-B14F-4D97-AF65-F5344CB8AC3E}">
        <p14:creationId xmlns:p14="http://schemas.microsoft.com/office/powerpoint/2010/main" val="1200625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4097" name="Rectangle 1"/>
          <p:cNvSpPr>
            <a:spLocks noChangeArrowheads="1"/>
          </p:cNvSpPr>
          <p:nvPr/>
        </p:nvSpPr>
        <p:spPr bwMode="auto">
          <a:xfrm>
            <a:off x="228600" y="86916"/>
            <a:ext cx="8763000" cy="6771084"/>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80"/>
                </a:solidFill>
                <a:effectLst/>
                <a:latin typeface="Arial" pitchFamily="34" charset="0"/>
                <a:cs typeface="Arial" pitchFamily="34" charset="0"/>
              </a:rPr>
              <a:t>Sec. 9. Administrative Charges. Administrative charges against a teacher shall be heard initially by a committee composed of the corresponding School Superintendent of the Division or a duly authorized representative who should at least have the rank of a division supervisor, where the teacher belongs, as chairman, a representative of the local or, in its absence, any existing provincial or national teacher's organization and a supervisor of the Division, the last two to be designated by the Director of Public Schools.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80"/>
                </a:solidFill>
                <a:effectLst/>
                <a:latin typeface="Arial" pitchFamily="34" charset="0"/>
                <a:cs typeface="Arial" pitchFamily="34" charset="0"/>
              </a:rPr>
              <a:t>Sec. 10. No Discrimination.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80"/>
                </a:solidFill>
                <a:effectLst/>
                <a:latin typeface="Arial" pitchFamily="34" charset="0"/>
                <a:cs typeface="Arial" pitchFamily="34" charset="0"/>
              </a:rPr>
              <a:t>Sec. 11. Married Teachers. Whenever possible, the proper authorities shall take all steps to enable married couples, both of whom are public school teachers, to be employed in the same locality.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80"/>
                </a:solidFill>
                <a:effectLst/>
                <a:latin typeface="Arial" pitchFamily="34" charset="0"/>
                <a:cs typeface="Arial" pitchFamily="34" charset="0"/>
              </a:rPr>
              <a:t>Sec. 12. Academic Freedom. Teachers shall enjoy academic freedom in the discharge of their professional duties, particularly with regard to teaching and classroom methods.</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smtClean="0">
              <a:solidFill>
                <a:srgbClr val="000080"/>
              </a:solidFill>
              <a:latin typeface="Arial" pitchFamily="34" charset="0"/>
              <a:cs typeface="Arial" pitchFamily="34" charset="0"/>
            </a:endParaRPr>
          </a:p>
          <a:p>
            <a:r>
              <a:rPr lang="en-US" sz="2000" b="1" dirty="0" smtClean="0"/>
              <a:t>III. HOURS OF WORK AND REMUNERATION</a:t>
            </a:r>
          </a:p>
          <a:p>
            <a:r>
              <a:rPr lang="en-US" sz="2000" dirty="0" smtClean="0"/>
              <a:t>Sec. 13. Teaching Hours. Any teacher engaged in actual classroom instruction shall not be required to render more than six hours of actual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1" i="0" u="sng" strike="noStrike" cap="none" normalizeH="0" baseline="0" dirty="0" smtClean="0">
              <a:ln>
                <a:noFill/>
              </a:ln>
              <a:solidFill>
                <a:srgbClr val="000080"/>
              </a:solidFill>
              <a:effectLst/>
              <a:latin typeface="Arial" pitchFamily="34" charset="0"/>
              <a:cs typeface="Arial" pitchFamily="34" charset="0"/>
            </a:endParaRPr>
          </a:p>
        </p:txBody>
      </p:sp>
      <p:pic>
        <p:nvPicPr>
          <p:cNvPr id="4098" name="Picture 2" descr="http://cdncache1-a.akamaihd.net/items/it/img/arrow-10x10.png">
            <a:hlinkClick r:id="rId2" tooltip="Click to Continue &gt; by key"/>
          </p:cNvPr>
          <p:cNvPicPr>
            <a:picLocks noChangeAspect="1" noChangeArrowheads="1"/>
          </p:cNvPicPr>
          <p:nvPr/>
        </p:nvPicPr>
        <p:blipFill>
          <a:blip r:embed="rId3"/>
          <a:srcRect/>
          <a:stretch>
            <a:fillRect/>
          </a:stretch>
        </p:blipFill>
        <p:spPr bwMode="auto">
          <a:xfrm>
            <a:off x="7602538" y="228600"/>
            <a:ext cx="95250" cy="95250"/>
          </a:xfrm>
          <a:prstGeom prst="rect">
            <a:avLst/>
          </a:prstGeom>
          <a:noFill/>
        </p:spPr>
      </p:pic>
    </p:spTree>
    <p:extLst>
      <p:ext uri="{BB962C8B-B14F-4D97-AF65-F5344CB8AC3E}">
        <p14:creationId xmlns:p14="http://schemas.microsoft.com/office/powerpoint/2010/main" val="37510335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0" y="304800"/>
            <a:ext cx="9144000" cy="6494085"/>
          </a:xfrm>
          <a:prstGeom prst="rect">
            <a:avLst/>
          </a:prstGeom>
        </p:spPr>
        <p:txBody>
          <a:bodyPr wrap="square">
            <a:spAutoFit/>
          </a:bodyPr>
          <a:lstStyle/>
          <a:p>
            <a:r>
              <a:rPr lang="en-US" dirty="0" smtClean="0"/>
              <a:t>classroom teaching a day, which shall be so scheduled as to give him time for the preparation and correction of exercises and other work incidental to his normal teaching duties.</a:t>
            </a:r>
          </a:p>
          <a:p>
            <a:endParaRPr lang="en-US" dirty="0" smtClean="0"/>
          </a:p>
          <a:p>
            <a:r>
              <a:rPr lang="en-US" dirty="0" smtClean="0"/>
              <a:t>Sec. 14. Additional Compensation. Notwithstanding any provision of existing law to the contrary, co-curricula and out of school activities and any other activities outside of what is defined as normal duties of any teacher shall be paid an additional compensation of at least twenty-five per cent of his regular remuneration after the teacher has completed at least six hours of actual classroom teaching a day.</a:t>
            </a:r>
          </a:p>
          <a:p>
            <a:endParaRPr lang="en-US" dirty="0" smtClean="0"/>
          </a:p>
          <a:p>
            <a:r>
              <a:rPr lang="en-US" dirty="0" smtClean="0"/>
              <a:t>Sec. 15. Criteria for Salaries. Teacher's salaries shall correspond to the following criteria:</a:t>
            </a:r>
          </a:p>
          <a:p>
            <a:r>
              <a:rPr lang="en-US" dirty="0" smtClean="0"/>
              <a:t>(a) they shall compare favorably with those paid in other occupations requiring equivalent or similar qualifications, training and abilities;</a:t>
            </a:r>
          </a:p>
          <a:p>
            <a:r>
              <a:rPr lang="en-US" dirty="0" smtClean="0"/>
              <a:t>(b) they shall be such as to insure teachers a reasonable standard of life for themselves and their families; and</a:t>
            </a:r>
          </a:p>
          <a:p>
            <a:r>
              <a:rPr lang="en-US" dirty="0" smtClean="0"/>
              <a:t>(c) they shall be properly graded so as to recognize the fact that certain positions require higher qualifications and greater responsibility than others:</a:t>
            </a:r>
          </a:p>
          <a:p>
            <a:endParaRPr lang="en-US" dirty="0" smtClean="0"/>
          </a:p>
          <a:p>
            <a:r>
              <a:rPr lang="en-US" dirty="0" smtClean="0"/>
              <a:t>Sec. 16. Salary Scale. Salary scales of teachers shall provide for a gradual progression from a minimum to a maximum salary by means of regular increments, granted automatically after three years: </a:t>
            </a:r>
            <a:r>
              <a:rPr lang="en-US" i="1" dirty="0" smtClean="0"/>
              <a:t>Provided</a:t>
            </a:r>
            <a:r>
              <a:rPr lang="en-US" dirty="0" smtClean="0"/>
              <a:t>, That the efficiency rating of the teacher concerned is at least satisfactory. The progression from the minimum to the maximum of the salary scale shall not extend over a period of ten years.</a:t>
            </a:r>
            <a:endParaRPr lang="en-US" dirty="0"/>
          </a:p>
        </p:txBody>
      </p:sp>
    </p:spTree>
    <p:extLst>
      <p:ext uri="{BB962C8B-B14F-4D97-AF65-F5344CB8AC3E}">
        <p14:creationId xmlns:p14="http://schemas.microsoft.com/office/powerpoint/2010/main" val="1988943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76200" y="346293"/>
            <a:ext cx="8839200" cy="6740307"/>
          </a:xfrm>
          <a:prstGeom prst="rect">
            <a:avLst/>
          </a:prstGeom>
        </p:spPr>
        <p:txBody>
          <a:bodyPr wrap="square">
            <a:spAutoFit/>
          </a:bodyPr>
          <a:lstStyle/>
          <a:p>
            <a:r>
              <a:rPr lang="en-US" dirty="0" smtClean="0"/>
              <a:t>Sec. 17. Equality in Salary Scales. The salary scales of teachers whose salaries are appropriated by a city, municipal, municipal district, or provincial government, shall not be less than those provided for teachers of the National Government.</a:t>
            </a:r>
          </a:p>
          <a:p>
            <a:endParaRPr lang="en-US" dirty="0" smtClean="0"/>
          </a:p>
          <a:p>
            <a:r>
              <a:rPr lang="en-US" dirty="0" smtClean="0"/>
              <a:t>Sec. 18. Cost of Living Allowance. Teacher's salaries shall, at the very least, keep pace with the rise in the cost of living by the payment of a cost-of-living allowance which shall automatically follow changes in a cost-of-living index. </a:t>
            </a:r>
          </a:p>
          <a:p>
            <a:endParaRPr lang="en-US" dirty="0" smtClean="0"/>
          </a:p>
          <a:p>
            <a:r>
              <a:rPr lang="en-US" dirty="0" smtClean="0"/>
              <a:t>Sec. 19. Special Hardship Allowances. In areas in which teachers are exposed to hardship such as difficulty in commuting to the place of work or other hazards peculiar to the place of employment, as determined by the Secretary of Education, they shall be compensated special hardship allowances equivalent to at least twenty-five per cent of their monthly salary.</a:t>
            </a:r>
          </a:p>
          <a:p>
            <a:endParaRPr lang="en-US" dirty="0" smtClean="0"/>
          </a:p>
          <a:p>
            <a:r>
              <a:rPr lang="en-US" dirty="0" smtClean="0"/>
              <a:t>Sec. 20. Salaries to be Paid in Legal Tender. Salaries of teachers shall be paid in legal tender of the Philippines or its equivalent in checks or treasury warrants.</a:t>
            </a:r>
          </a:p>
          <a:p>
            <a:endParaRPr lang="en-US" dirty="0" smtClean="0"/>
          </a:p>
          <a:p>
            <a:r>
              <a:rPr lang="en-US" dirty="0" smtClean="0"/>
              <a:t>Sec. 21. Deductions Prohibited. No person shall make any deduction whatsoever from the salaries of teachers except under specific authority of law authorizing such deductions.</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13975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152400" y="304800"/>
            <a:ext cx="8839200" cy="7294305"/>
          </a:xfrm>
          <a:prstGeom prst="rect">
            <a:avLst/>
          </a:prstGeom>
        </p:spPr>
        <p:txBody>
          <a:bodyPr wrap="square">
            <a:spAutoFit/>
          </a:bodyPr>
          <a:lstStyle/>
          <a:p>
            <a:r>
              <a:rPr lang="en-US" b="1" dirty="0" smtClean="0"/>
              <a:t>IV. HEALTH MEASURES AND INJURY BENEFITS</a:t>
            </a:r>
          </a:p>
          <a:p>
            <a:endParaRPr lang="en-US" b="1" dirty="0" smtClean="0"/>
          </a:p>
          <a:p>
            <a:r>
              <a:rPr lang="en-US" dirty="0" smtClean="0"/>
              <a:t>Sec. 22. Medical Examination and Treatment. Compulsory medical examination shall be provided free of charge for all teachers before they take up teaching, and shall be repeated not less than once a year during the teacher's professional life. Where medical examination show that medical treatment and/or hospitalization is necessary, same shall be provided free by the government entity paying the salary of the teachers.</a:t>
            </a:r>
          </a:p>
          <a:p>
            <a:endParaRPr lang="en-US" dirty="0" smtClean="0"/>
          </a:p>
          <a:p>
            <a:r>
              <a:rPr lang="en-US" dirty="0" smtClean="0"/>
              <a:t>Sec. 23. Compensation For Injuries. Teachers shall be protected against the consequences of employment injuries in accordance with existing laws. </a:t>
            </a:r>
          </a:p>
          <a:p>
            <a:endParaRPr lang="en-US" b="1" dirty="0" smtClean="0"/>
          </a:p>
          <a:p>
            <a:r>
              <a:rPr lang="en-US" b="1" dirty="0" smtClean="0"/>
              <a:t>V. LEAVE AND RETIREMENT BENEFITS</a:t>
            </a:r>
          </a:p>
          <a:p>
            <a:endParaRPr lang="en-US" b="1" dirty="0" smtClean="0"/>
          </a:p>
          <a:p>
            <a:r>
              <a:rPr lang="en-US" dirty="0" smtClean="0"/>
              <a:t>Sec. 24. Study Leave. In addition to the leave privileges now enjoyed by teachers in the public schools, they shall be entitled to study leave not exceeding one school year after seven years of service. Such leave shall be granted in accordance with a schedule set by the Department of Education. During the period of such leave, the teachers shall be entitled to at least sixty per cent of their monthly salary.</a:t>
            </a:r>
          </a:p>
          <a:p>
            <a:endParaRPr lang="en-US" dirty="0" smtClean="0"/>
          </a:p>
          <a:p>
            <a:r>
              <a:rPr lang="en-US" dirty="0" smtClean="0"/>
              <a:t>Sec. 25. Indefinite Leave. An indefinite sick leave of absence shall be granted to teachers when the nature of the illness demands a long treatment that will exceed one year at the least.</a:t>
            </a:r>
          </a:p>
          <a:p>
            <a:endParaRPr lang="en-US" dirty="0" smtClean="0"/>
          </a:p>
          <a:p>
            <a:endParaRPr lang="en-US" dirty="0" smtClean="0"/>
          </a:p>
          <a:p>
            <a:endParaRPr lang="en-US" dirty="0"/>
          </a:p>
        </p:txBody>
      </p:sp>
    </p:spTree>
    <p:extLst>
      <p:ext uri="{BB962C8B-B14F-4D97-AF65-F5344CB8AC3E}">
        <p14:creationId xmlns:p14="http://schemas.microsoft.com/office/powerpoint/2010/main" val="2681785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3" name="Rectangle 2"/>
          <p:cNvSpPr/>
          <p:nvPr/>
        </p:nvSpPr>
        <p:spPr>
          <a:xfrm>
            <a:off x="152400" y="152400"/>
            <a:ext cx="8763000" cy="7017306"/>
          </a:xfrm>
          <a:prstGeom prst="rect">
            <a:avLst/>
          </a:prstGeom>
        </p:spPr>
        <p:txBody>
          <a:bodyPr wrap="square">
            <a:spAutoFit/>
          </a:bodyPr>
          <a:lstStyle/>
          <a:p>
            <a:r>
              <a:rPr lang="en-US" dirty="0" smtClean="0"/>
              <a:t>Sec. 26. Salary Increase upon Retirement. Public school teachers having fulfilled the age and service requirements of the applicable retirement laws shall be given one range salary raise upon retirement, which shall be the basis of the computation of the lump sum of the retirement pay and the monthly benefits thereafter.</a:t>
            </a:r>
          </a:p>
          <a:p>
            <a:endParaRPr lang="en-US" dirty="0" smtClean="0"/>
          </a:p>
          <a:p>
            <a:r>
              <a:rPr lang="en-US" dirty="0" smtClean="0"/>
              <a:t>VI. TEACHER'S ORGANIZATION</a:t>
            </a:r>
          </a:p>
          <a:p>
            <a:r>
              <a:rPr lang="en-US" dirty="0" smtClean="0"/>
              <a:t>Sec. 27. Freedom to Organize. Public school teachers shall have the right to freely and without previous authorization both to establish and to join organizations of their choosing, whether local or national to further and defend their interests.</a:t>
            </a:r>
          </a:p>
          <a:p>
            <a:r>
              <a:rPr lang="en-US" dirty="0" smtClean="0"/>
              <a:t>Sec. 28. Discrimination Against Teachers Prohibited. The rights established in the immediately preceding Section shall be exercised without any interference or coercion. </a:t>
            </a:r>
          </a:p>
          <a:p>
            <a:endParaRPr lang="en-US" dirty="0" smtClean="0"/>
          </a:p>
          <a:p>
            <a:r>
              <a:rPr lang="en-US" dirty="0" smtClean="0"/>
              <a:t>VII. ADMINISTRATION AND ENFORCEMENT</a:t>
            </a:r>
          </a:p>
          <a:p>
            <a:r>
              <a:rPr lang="en-US" dirty="0" smtClean="0"/>
              <a:t>Sec. 30. Rules and Regulations. The Secretary of Education shall formulate and prepare the necessary rules and regulations to implement the provisions of this Act. Rules and regulations issued pursuant to this Section shall take effect thirty days after publication in a newspaper of general circulation and by such other means as the Secretary of Education deems reasonably sufficient to give interested parties general notice of such issuance.</a:t>
            </a:r>
          </a:p>
          <a:p>
            <a:r>
              <a:rPr lang="en-US" dirty="0" smtClean="0"/>
              <a:t>Sec. 31. Budgetary Estimates. The Secretary of Education shall submit to Congress annually the necessary budgetary estimates to implement the provisions of the Act concerning the benefits herein granted to public school teachers under the employ of the National Government.</a:t>
            </a:r>
          </a:p>
          <a:p>
            <a:endParaRPr lang="en-US" dirty="0"/>
          </a:p>
        </p:txBody>
      </p:sp>
    </p:spTree>
    <p:extLst>
      <p:ext uri="{BB962C8B-B14F-4D97-AF65-F5344CB8AC3E}">
        <p14:creationId xmlns:p14="http://schemas.microsoft.com/office/powerpoint/2010/main" val="1284271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381000"/>
            <a:ext cx="9144000" cy="1938992"/>
          </a:xfrm>
          <a:prstGeom prst="rect">
            <a:avLst/>
          </a:prstGeom>
        </p:spPr>
        <p:txBody>
          <a:bodyPr wrap="square">
            <a:spAutoFit/>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a:p>
        </p:txBody>
      </p:sp>
      <p:sp>
        <p:nvSpPr>
          <p:cNvPr id="4" name="Rectangle 3"/>
          <p:cNvSpPr/>
          <p:nvPr/>
        </p:nvSpPr>
        <p:spPr>
          <a:xfrm>
            <a:off x="381000" y="276285"/>
            <a:ext cx="8382000" cy="6247864"/>
          </a:xfrm>
          <a:prstGeom prst="rect">
            <a:avLst/>
          </a:prstGeom>
        </p:spPr>
        <p:txBody>
          <a:bodyPr wrap="square">
            <a:spAutoFit/>
          </a:bodyPr>
          <a:lstStyle/>
          <a:p>
            <a:r>
              <a:rPr lang="en-US" sz="2000" dirty="0" smtClean="0"/>
              <a:t>Sec. 32. Penal Provision. A person who shall willfully interfere with, restrain or coerce any teacher in the exercise of his rights guaranteed by this Act or who shall in any other manner commit any act to defeat any of the provisions of this Act shall, upon conviction, be punished by a fine of not less than one hundred pesos nor more than one thousand pesos, or by imprisonment, in the discretion of the court.</a:t>
            </a:r>
          </a:p>
          <a:p>
            <a:r>
              <a:rPr lang="en-US" sz="2000" dirty="0" smtClean="0"/>
              <a:t>If the offender is a public official, the court shall order his dismissal from the Government service.</a:t>
            </a:r>
          </a:p>
          <a:p>
            <a:endParaRPr lang="en-US" sz="2000" dirty="0" smtClean="0"/>
          </a:p>
          <a:p>
            <a:r>
              <a:rPr lang="en-US" sz="2000" dirty="0" smtClean="0"/>
              <a:t>Sec. 33. Repealing Clause. All Acts or parts of Acts, executive orders and their implementing rules inconsistent with the provisions of this Act are hereby repealed, amended or modified accordingly.</a:t>
            </a:r>
          </a:p>
          <a:p>
            <a:endParaRPr lang="en-US" sz="2000" dirty="0" smtClean="0"/>
          </a:p>
          <a:p>
            <a:r>
              <a:rPr lang="en-US" sz="2000" dirty="0" smtClean="0"/>
              <a:t>Sec. 34. </a:t>
            </a:r>
            <a:r>
              <a:rPr lang="en-US" sz="2000" dirty="0" err="1" smtClean="0"/>
              <a:t>Separability</a:t>
            </a:r>
            <a:r>
              <a:rPr lang="en-US" sz="2000" dirty="0" smtClean="0"/>
              <a:t> Clause. If any provision of this Act is declared invalid, the remainder of this Act or any provisions not affected thereby shall remain in force and in effect.</a:t>
            </a:r>
          </a:p>
          <a:p>
            <a:endParaRPr lang="en-US" sz="2000" dirty="0" smtClean="0"/>
          </a:p>
          <a:p>
            <a:r>
              <a:rPr lang="en-US" sz="2000" dirty="0" smtClean="0"/>
              <a:t>Sec. 35. This Act shall take effect upon its approval.</a:t>
            </a:r>
          </a:p>
          <a:p>
            <a:endParaRPr lang="en-US" sz="2000" dirty="0" smtClean="0"/>
          </a:p>
          <a:p>
            <a:r>
              <a:rPr lang="en-US" sz="2000" dirty="0" smtClean="0"/>
              <a:t>Approved: June 18, 1966</a:t>
            </a:r>
            <a:endParaRPr lang="en-US" sz="2000" dirty="0"/>
          </a:p>
        </p:txBody>
      </p:sp>
    </p:spTree>
    <p:extLst>
      <p:ext uri="{BB962C8B-B14F-4D97-AF65-F5344CB8AC3E}">
        <p14:creationId xmlns:p14="http://schemas.microsoft.com/office/powerpoint/2010/main" val="41956845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TEDP</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68291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4400" dirty="0" smtClean="0"/>
              <a:t>Teacher Education Development Program (TEDP)</a:t>
            </a:r>
            <a:endParaRPr lang="en-US" sz="4400" dirty="0"/>
          </a:p>
        </p:txBody>
      </p:sp>
      <p:sp>
        <p:nvSpPr>
          <p:cNvPr id="5" name="Content Placeholder 4"/>
          <p:cNvSpPr>
            <a:spLocks noGrp="1"/>
          </p:cNvSpPr>
          <p:nvPr>
            <p:ph idx="1"/>
          </p:nvPr>
        </p:nvSpPr>
        <p:spPr/>
        <p:txBody>
          <a:bodyPr>
            <a:normAutofit fontScale="92500" lnSpcReduction="10000"/>
          </a:bodyPr>
          <a:lstStyle/>
          <a:p>
            <a:r>
              <a:rPr lang="en-US" dirty="0" smtClean="0"/>
              <a:t>Singular competency-based framework for teaching and teacher development</a:t>
            </a:r>
          </a:p>
          <a:p>
            <a:endParaRPr lang="en-US" dirty="0"/>
          </a:p>
          <a:p>
            <a:r>
              <a:rPr lang="en-US" dirty="0" smtClean="0"/>
              <a:t>Guides all policies, reforms, and activities</a:t>
            </a:r>
          </a:p>
          <a:p>
            <a:endParaRPr lang="en-US" dirty="0"/>
          </a:p>
          <a:p>
            <a:r>
              <a:rPr lang="en-US" dirty="0" smtClean="0"/>
              <a:t>Conceptualizes a teacher’s career path as a continuum that starts with the entry to a teacher education program and concludes when a teacher reaches retirement</a:t>
            </a:r>
            <a:endParaRPr lang="en-US" dirty="0"/>
          </a:p>
        </p:txBody>
      </p:sp>
    </p:spTree>
    <p:extLst>
      <p:ext uri="{BB962C8B-B14F-4D97-AF65-F5344CB8AC3E}">
        <p14:creationId xmlns:p14="http://schemas.microsoft.com/office/powerpoint/2010/main" val="616222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990600"/>
          </a:xfrm>
        </p:spPr>
        <p:txBody>
          <a:bodyPr/>
          <a:lstStyle/>
          <a:p>
            <a:r>
              <a:rPr lang="en-PH" b="1" dirty="0" smtClean="0"/>
              <a:t>TEDP</a:t>
            </a:r>
            <a:endParaRPr lang="en-PH" b="1" dirty="0"/>
          </a:p>
        </p:txBody>
      </p:sp>
      <p:sp>
        <p:nvSpPr>
          <p:cNvPr id="3" name="Content Placeholder 2"/>
          <p:cNvSpPr>
            <a:spLocks noGrp="1"/>
          </p:cNvSpPr>
          <p:nvPr>
            <p:ph idx="1"/>
          </p:nvPr>
        </p:nvSpPr>
        <p:spPr>
          <a:xfrm>
            <a:off x="0" y="914400"/>
            <a:ext cx="9144000" cy="6019800"/>
          </a:xfrm>
        </p:spPr>
        <p:txBody>
          <a:bodyPr>
            <a:normAutofit/>
          </a:bodyPr>
          <a:lstStyle/>
          <a:p>
            <a:r>
              <a:rPr lang="en-PH" sz="2800" dirty="0" smtClean="0"/>
              <a:t>TEDP means </a:t>
            </a:r>
            <a:r>
              <a:rPr lang="en-PH" sz="2800" dirty="0"/>
              <a:t>Teacher Education </a:t>
            </a:r>
            <a:r>
              <a:rPr lang="en-PH" sz="2800" dirty="0" smtClean="0"/>
              <a:t>and </a:t>
            </a:r>
            <a:r>
              <a:rPr lang="en-PH" sz="2800" dirty="0"/>
              <a:t>Development </a:t>
            </a:r>
            <a:r>
              <a:rPr lang="en-PH" sz="2800" dirty="0" smtClean="0"/>
              <a:t>Program.</a:t>
            </a:r>
          </a:p>
          <a:p>
            <a:endParaRPr lang="en-PH" sz="2800" dirty="0"/>
          </a:p>
          <a:p>
            <a:r>
              <a:rPr lang="en-PH" sz="2800" dirty="0" smtClean="0"/>
              <a:t>TEDP is </a:t>
            </a:r>
            <a:r>
              <a:rPr lang="en-PH" sz="2800" dirty="0"/>
              <a:t>the articulation of a singular </a:t>
            </a:r>
            <a:r>
              <a:rPr lang="en-PH" sz="2800" dirty="0" smtClean="0"/>
              <a:t>competency-based </a:t>
            </a:r>
            <a:r>
              <a:rPr lang="en-PH" sz="2800" dirty="0"/>
              <a:t>framework for teaching and teacher </a:t>
            </a:r>
            <a:r>
              <a:rPr lang="en-PH" sz="2800" dirty="0" smtClean="0"/>
              <a:t>development </a:t>
            </a:r>
            <a:r>
              <a:rPr lang="en-PH" sz="2800" dirty="0"/>
              <a:t>that would guide all policies, </a:t>
            </a:r>
            <a:r>
              <a:rPr lang="en-PH" sz="2800" dirty="0" smtClean="0"/>
              <a:t>reforms</a:t>
            </a:r>
            <a:r>
              <a:rPr lang="en-PH" sz="2800" dirty="0"/>
              <a:t>, and activities related to teaching and </a:t>
            </a:r>
            <a:r>
              <a:rPr lang="en-PH" sz="2800" dirty="0" smtClean="0"/>
              <a:t>teacher </a:t>
            </a:r>
            <a:r>
              <a:rPr lang="en-PH" sz="2800" dirty="0"/>
              <a:t>development. </a:t>
            </a:r>
            <a:endParaRPr lang="en-PH" sz="2800" dirty="0" smtClean="0"/>
          </a:p>
          <a:p>
            <a:endParaRPr lang="en-PH" sz="2800" dirty="0" smtClean="0"/>
          </a:p>
          <a:p>
            <a:r>
              <a:rPr lang="en-PH" sz="2800" dirty="0"/>
              <a:t>TEDP conceptualizes a teacher’s </a:t>
            </a:r>
            <a:r>
              <a:rPr lang="en-PH" sz="2800" dirty="0" smtClean="0"/>
              <a:t> career </a:t>
            </a:r>
            <a:r>
              <a:rPr lang="en-PH" sz="2800" dirty="0"/>
              <a:t>path as a continuum that starts </a:t>
            </a:r>
            <a:r>
              <a:rPr lang="en-PH" sz="2800" dirty="0" smtClean="0"/>
              <a:t>with </a:t>
            </a:r>
            <a:r>
              <a:rPr lang="en-PH" sz="2800" dirty="0"/>
              <a:t>the entry to a teacher education </a:t>
            </a:r>
            <a:r>
              <a:rPr lang="en-PH" sz="2800" dirty="0" smtClean="0"/>
              <a:t>program </a:t>
            </a:r>
            <a:r>
              <a:rPr lang="en-PH" sz="2800" dirty="0"/>
              <a:t>and concludes when a </a:t>
            </a:r>
            <a:r>
              <a:rPr lang="en-PH" sz="2800" dirty="0" smtClean="0"/>
              <a:t>teacher </a:t>
            </a:r>
            <a:r>
              <a:rPr lang="en-PH" sz="2800" dirty="0"/>
              <a:t>reaches retirement from </a:t>
            </a:r>
            <a:r>
              <a:rPr lang="en-PH" sz="2800" dirty="0" smtClean="0"/>
              <a:t>formal service</a:t>
            </a:r>
          </a:p>
          <a:p>
            <a:pPr marL="0" indent="0">
              <a:buNone/>
            </a:pPr>
            <a:endParaRPr lang="en-PH" sz="2800" dirty="0"/>
          </a:p>
          <a:p>
            <a:endParaRPr lang="en-PH" sz="2800" dirty="0"/>
          </a:p>
          <a:p>
            <a:endParaRPr lang="en-PH" sz="2800" dirty="0"/>
          </a:p>
        </p:txBody>
      </p:sp>
    </p:spTree>
    <p:extLst>
      <p:ext uri="{BB962C8B-B14F-4D97-AF65-F5344CB8AC3E}">
        <p14:creationId xmlns:p14="http://schemas.microsoft.com/office/powerpoint/2010/main" val="404509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lstStyle/>
          <a:p>
            <a:r>
              <a:rPr lang="en-PH" b="1" dirty="0" smtClean="0"/>
              <a:t>TEDP</a:t>
            </a:r>
            <a:endParaRPr lang="en-PH" b="1" dirty="0"/>
          </a:p>
        </p:txBody>
      </p:sp>
      <p:sp>
        <p:nvSpPr>
          <p:cNvPr id="3" name="Content Placeholder 2"/>
          <p:cNvSpPr>
            <a:spLocks noGrp="1"/>
          </p:cNvSpPr>
          <p:nvPr>
            <p:ph idx="1"/>
          </p:nvPr>
        </p:nvSpPr>
        <p:spPr>
          <a:xfrm>
            <a:off x="228600" y="1600200"/>
            <a:ext cx="8686800" cy="4876800"/>
          </a:xfrm>
        </p:spPr>
        <p:txBody>
          <a:bodyPr>
            <a:noAutofit/>
          </a:bodyPr>
          <a:lstStyle/>
          <a:p>
            <a:r>
              <a:rPr lang="en-PH" dirty="0"/>
              <a:t>Agencies working hand in hand for the good of the teaching </a:t>
            </a:r>
            <a:r>
              <a:rPr lang="en-PH" dirty="0" smtClean="0"/>
              <a:t>profession </a:t>
            </a:r>
            <a:r>
              <a:rPr lang="en-PH" dirty="0"/>
              <a:t>are Department of Education (DepEd), Commission on Higher Education (CHED), Professional Regulation Commission (PRC), Civil Service Commission (CSC) and Teacher Education Institutions (TEIs</a:t>
            </a:r>
            <a:r>
              <a:rPr lang="en-PH" dirty="0" smtClean="0"/>
              <a:t>).</a:t>
            </a:r>
            <a:endParaRPr lang="en-PH" dirty="0" smtClean="0"/>
          </a:p>
        </p:txBody>
      </p:sp>
    </p:spTree>
    <p:extLst>
      <p:ext uri="{BB962C8B-B14F-4D97-AF65-F5344CB8AC3E}">
        <p14:creationId xmlns:p14="http://schemas.microsoft.com/office/powerpoint/2010/main" val="22615599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lstStyle/>
          <a:p>
            <a:r>
              <a:rPr lang="en-PH" b="1" dirty="0" smtClean="0"/>
              <a:t>TEDP</a:t>
            </a:r>
            <a:endParaRPr lang="en-PH" b="1" dirty="0"/>
          </a:p>
        </p:txBody>
      </p:sp>
      <p:sp>
        <p:nvSpPr>
          <p:cNvPr id="3" name="Content Placeholder 2"/>
          <p:cNvSpPr>
            <a:spLocks noGrp="1"/>
          </p:cNvSpPr>
          <p:nvPr>
            <p:ph idx="1"/>
          </p:nvPr>
        </p:nvSpPr>
        <p:spPr>
          <a:xfrm>
            <a:off x="228600" y="1600200"/>
            <a:ext cx="8686800" cy="4876800"/>
          </a:xfrm>
        </p:spPr>
        <p:txBody>
          <a:bodyPr>
            <a:noAutofit/>
          </a:bodyPr>
          <a:lstStyle/>
          <a:p>
            <a:pPr marL="0" indent="0">
              <a:buNone/>
            </a:pPr>
            <a:endParaRPr lang="en-PH" dirty="0" smtClean="0"/>
          </a:p>
          <a:p>
            <a:r>
              <a:rPr lang="en-PH" dirty="0"/>
              <a:t>The National </a:t>
            </a:r>
            <a:r>
              <a:rPr lang="en-PH" dirty="0" smtClean="0"/>
              <a:t>Competency-Based </a:t>
            </a:r>
            <a:r>
              <a:rPr lang="en-PH" dirty="0"/>
              <a:t>Teacher Standards </a:t>
            </a:r>
            <a:r>
              <a:rPr lang="en-PH" dirty="0" smtClean="0"/>
              <a:t>(</a:t>
            </a:r>
            <a:r>
              <a:rPr lang="en-PH" dirty="0"/>
              <a:t>NCBTS) is at the heart of the </a:t>
            </a:r>
            <a:r>
              <a:rPr lang="en-PH" dirty="0" smtClean="0"/>
              <a:t>TEDP</a:t>
            </a:r>
            <a:r>
              <a:rPr lang="en-PH" dirty="0"/>
              <a:t>. It is the key element of </a:t>
            </a:r>
            <a:r>
              <a:rPr lang="en-PH" dirty="0" smtClean="0"/>
              <a:t>the </a:t>
            </a:r>
            <a:r>
              <a:rPr lang="en-PH" dirty="0"/>
              <a:t>TEDP (Teacher Education </a:t>
            </a:r>
            <a:r>
              <a:rPr lang="en-PH" dirty="0" smtClean="0"/>
              <a:t> and </a:t>
            </a:r>
            <a:r>
              <a:rPr lang="en-PH" dirty="0"/>
              <a:t>Development Program).</a:t>
            </a:r>
          </a:p>
          <a:p>
            <a:pPr marL="0" indent="0">
              <a:buNone/>
            </a:pPr>
            <a:endParaRPr lang="en-PH" dirty="0"/>
          </a:p>
          <a:p>
            <a:endParaRPr lang="en-PH" dirty="0"/>
          </a:p>
        </p:txBody>
      </p:sp>
    </p:spTree>
    <p:extLst>
      <p:ext uri="{BB962C8B-B14F-4D97-AF65-F5344CB8AC3E}">
        <p14:creationId xmlns:p14="http://schemas.microsoft.com/office/powerpoint/2010/main" val="1407787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524000"/>
          </a:xfrm>
        </p:spPr>
        <p:txBody>
          <a:bodyPr>
            <a:normAutofit/>
          </a:bodyPr>
          <a:lstStyle/>
          <a:p>
            <a:r>
              <a:rPr lang="en-PH" sz="2400" b="1" dirty="0" smtClean="0"/>
              <a:t>TEDP FRAMEWORK</a:t>
            </a:r>
            <a:endParaRPr lang="en-PH" sz="2400" b="1" dirty="0"/>
          </a:p>
        </p:txBody>
      </p:sp>
      <p:sp>
        <p:nvSpPr>
          <p:cNvPr id="3" name="Content Placeholder 2"/>
          <p:cNvSpPr>
            <a:spLocks noGrp="1"/>
          </p:cNvSpPr>
          <p:nvPr>
            <p:ph idx="1"/>
          </p:nvPr>
        </p:nvSpPr>
        <p:spPr/>
        <p:txBody>
          <a:bodyPr/>
          <a:lstStyle/>
          <a:p>
            <a:endParaRPr lang="en-PH"/>
          </a:p>
        </p:txBody>
      </p:sp>
      <p:pic>
        <p:nvPicPr>
          <p:cNvPr id="1026" name="Picture 2" descr="C:\Users\Jestoni\Desktop\TEDP MA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23875"/>
            <a:ext cx="9144000" cy="602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6369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How do you develop teachers?</a:t>
            </a:r>
            <a:endParaRPr lang="en-US" sz="4800" dirty="0"/>
          </a:p>
        </p:txBody>
      </p:sp>
      <p:sp>
        <p:nvSpPr>
          <p:cNvPr id="3" name="Content Placeholder 2"/>
          <p:cNvSpPr>
            <a:spLocks noGrp="1"/>
          </p:cNvSpPr>
          <p:nvPr>
            <p:ph idx="1"/>
          </p:nvPr>
        </p:nvSpPr>
        <p:spPr/>
        <p:txBody>
          <a:bodyPr>
            <a:normAutofit fontScale="92500" lnSpcReduction="10000"/>
          </a:bodyPr>
          <a:lstStyle/>
          <a:p>
            <a:r>
              <a:rPr lang="en-US" dirty="0" smtClean="0"/>
              <a:t>START of IN-SERVICE: Induction Program</a:t>
            </a:r>
          </a:p>
          <a:p>
            <a:endParaRPr lang="en-US" dirty="0"/>
          </a:p>
          <a:p>
            <a:r>
              <a:rPr lang="en-US" dirty="0" smtClean="0"/>
              <a:t>The induction program is an elaborate orientation activity for newly hired faculty members, whether fresh graduates or experienced.</a:t>
            </a:r>
          </a:p>
          <a:p>
            <a:endParaRPr lang="en-US" dirty="0"/>
          </a:p>
          <a:p>
            <a:r>
              <a:rPr lang="en-US" dirty="0" smtClean="0"/>
              <a:t>School policies, requirements, “tips for survival,” and other information are shared here.</a:t>
            </a:r>
            <a:endParaRPr lang="en-US" dirty="0"/>
          </a:p>
        </p:txBody>
      </p:sp>
    </p:spTree>
    <p:extLst>
      <p:ext uri="{BB962C8B-B14F-4D97-AF65-F5344CB8AC3E}">
        <p14:creationId xmlns:p14="http://schemas.microsoft.com/office/powerpoint/2010/main" val="1011288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do you develop your teachers?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START of EVERY YEAR: In-Service Training</a:t>
            </a:r>
          </a:p>
          <a:p>
            <a:endParaRPr lang="en-US" dirty="0"/>
          </a:p>
          <a:p>
            <a:r>
              <a:rPr lang="en-US" dirty="0" smtClean="0"/>
              <a:t>Every year (normally a few weeks before the start of the next school/academic year), the administration organizes the mandated In-Service Training (INSET).</a:t>
            </a:r>
          </a:p>
          <a:p>
            <a:endParaRPr lang="en-US" dirty="0"/>
          </a:p>
          <a:p>
            <a:r>
              <a:rPr lang="en-US" dirty="0" smtClean="0"/>
              <a:t>Depending on the school, this can last for three days to a week, or more, with various lectures/workshops provided for the faculty.</a:t>
            </a:r>
            <a:endParaRPr lang="en-US" dirty="0"/>
          </a:p>
        </p:txBody>
      </p:sp>
    </p:spTree>
    <p:extLst>
      <p:ext uri="{BB962C8B-B14F-4D97-AF65-F5344CB8AC3E}">
        <p14:creationId xmlns:p14="http://schemas.microsoft.com/office/powerpoint/2010/main" val="3882018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do you develop your teachers?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BEFORE, DURING, and AFTER the year:</a:t>
            </a:r>
          </a:p>
          <a:p>
            <a:pPr marL="0" indent="0" algn="just">
              <a:buNone/>
            </a:pPr>
            <a:r>
              <a:rPr lang="en-US" dirty="0"/>
              <a:t>	</a:t>
            </a:r>
            <a:r>
              <a:rPr lang="en-US" dirty="0" smtClean="0"/>
              <a:t>Faculty development seminars</a:t>
            </a:r>
          </a:p>
          <a:p>
            <a:pPr marL="0" indent="0" algn="just">
              <a:buNone/>
            </a:pPr>
            <a:endParaRPr lang="en-US" dirty="0"/>
          </a:p>
          <a:p>
            <a:pPr algn="just"/>
            <a:r>
              <a:rPr lang="en-US" dirty="0" smtClean="0"/>
              <a:t>Schools, or their partners like publishing houses, send teachers to seminars about the most recent trends in education.</a:t>
            </a:r>
          </a:p>
          <a:p>
            <a:pPr algn="just"/>
            <a:endParaRPr lang="en-US" dirty="0"/>
          </a:p>
          <a:p>
            <a:pPr algn="just"/>
            <a:r>
              <a:rPr lang="en-US" dirty="0" smtClean="0"/>
              <a:t>If schools are also affiliated to national/international organizations, they also send representatives to the annual conventions.</a:t>
            </a:r>
            <a:endParaRPr lang="en-US" dirty="0"/>
          </a:p>
        </p:txBody>
      </p:sp>
    </p:spTree>
    <p:extLst>
      <p:ext uri="{BB962C8B-B14F-4D97-AF65-F5344CB8AC3E}">
        <p14:creationId xmlns:p14="http://schemas.microsoft.com/office/powerpoint/2010/main" val="3695186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do you develop your teachers?</a:t>
            </a:r>
            <a:endParaRPr lang="en-US" dirty="0"/>
          </a:p>
        </p:txBody>
      </p:sp>
      <p:sp>
        <p:nvSpPr>
          <p:cNvPr id="3" name="Content Placeholder 2"/>
          <p:cNvSpPr>
            <a:spLocks noGrp="1"/>
          </p:cNvSpPr>
          <p:nvPr>
            <p:ph idx="1"/>
          </p:nvPr>
        </p:nvSpPr>
        <p:spPr/>
        <p:txBody>
          <a:bodyPr>
            <a:normAutofit lnSpcReduction="10000"/>
          </a:bodyPr>
          <a:lstStyle/>
          <a:p>
            <a:r>
              <a:rPr lang="en-US" dirty="0" smtClean="0"/>
              <a:t>DURING the CAREER: Membership in professional organizations</a:t>
            </a:r>
          </a:p>
          <a:p>
            <a:endParaRPr lang="en-US" dirty="0"/>
          </a:p>
          <a:p>
            <a:r>
              <a:rPr lang="en-US" dirty="0" smtClean="0"/>
              <a:t>If teachers become members of professional organizations, they get updated with the latest trends in their field, mainly through conferences and seminars, and sometimes through the research journal and other activities/publications.</a:t>
            </a:r>
            <a:endParaRPr lang="en-US" dirty="0"/>
          </a:p>
        </p:txBody>
      </p:sp>
    </p:spTree>
    <p:extLst>
      <p:ext uri="{BB962C8B-B14F-4D97-AF65-F5344CB8AC3E}">
        <p14:creationId xmlns:p14="http://schemas.microsoft.com/office/powerpoint/2010/main" val="3854406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Professional Development</a:t>
            </a:r>
            <a:endParaRPr lang="en-US" dirty="0"/>
          </a:p>
        </p:txBody>
      </p:sp>
      <p:sp>
        <p:nvSpPr>
          <p:cNvPr id="3" name="Content Placeholder 2"/>
          <p:cNvSpPr>
            <a:spLocks noGrp="1"/>
          </p:cNvSpPr>
          <p:nvPr>
            <p:ph idx="1"/>
          </p:nvPr>
        </p:nvSpPr>
        <p:spPr/>
        <p:txBody>
          <a:bodyPr/>
          <a:lstStyle/>
          <a:p>
            <a:pPr algn="just"/>
            <a:r>
              <a:rPr lang="en-US" dirty="0" smtClean="0"/>
              <a:t>After earning your bachelor’s degree and professional license, you need to pursue higher degrees: Master’s and Doctorate.</a:t>
            </a:r>
          </a:p>
          <a:p>
            <a:pPr algn="just"/>
            <a:endParaRPr lang="en-US" dirty="0"/>
          </a:p>
          <a:p>
            <a:pPr algn="just"/>
            <a:r>
              <a:rPr lang="en-US" dirty="0" smtClean="0"/>
              <a:t>You likewise need to remain updated with what’s happening in the field, so join professional organizations and also participate in seminars and workshops.</a:t>
            </a:r>
            <a:endParaRPr lang="en-US" dirty="0"/>
          </a:p>
        </p:txBody>
      </p:sp>
    </p:spTree>
    <p:extLst>
      <p:ext uri="{BB962C8B-B14F-4D97-AF65-F5344CB8AC3E}">
        <p14:creationId xmlns:p14="http://schemas.microsoft.com/office/powerpoint/2010/main" val="2142162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NCBTS</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9905220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NCBTS</a:t>
            </a:r>
            <a:endParaRPr lang="en-US" dirty="0"/>
          </a:p>
        </p:txBody>
      </p:sp>
      <p:sp>
        <p:nvSpPr>
          <p:cNvPr id="3" name="Content Placeholder 2"/>
          <p:cNvSpPr>
            <a:spLocks noGrp="1"/>
          </p:cNvSpPr>
          <p:nvPr>
            <p:ph idx="1"/>
          </p:nvPr>
        </p:nvSpPr>
        <p:spPr/>
        <p:txBody>
          <a:bodyPr>
            <a:normAutofit lnSpcReduction="10000"/>
          </a:bodyPr>
          <a:lstStyle/>
          <a:p>
            <a:r>
              <a:rPr lang="en-US" dirty="0" smtClean="0"/>
              <a:t>Harmonizes what it means to be an effective teacher</a:t>
            </a:r>
          </a:p>
          <a:p>
            <a:endParaRPr lang="en-US" dirty="0"/>
          </a:p>
          <a:p>
            <a:r>
              <a:rPr lang="en-US" dirty="0"/>
              <a:t>D</a:t>
            </a:r>
            <a:r>
              <a:rPr lang="en-US" dirty="0" smtClean="0"/>
              <a:t>efines what the Philippines looks for when a professional practices in the field of teaching</a:t>
            </a:r>
          </a:p>
          <a:p>
            <a:endParaRPr lang="en-US" dirty="0"/>
          </a:p>
          <a:p>
            <a:r>
              <a:rPr lang="en-US" dirty="0" smtClean="0"/>
              <a:t>Aims to reduce variability in terms of “what is good,” especially useful when appraising performance</a:t>
            </a:r>
            <a:endParaRPr lang="en-US" dirty="0"/>
          </a:p>
        </p:txBody>
      </p:sp>
    </p:spTree>
    <p:extLst>
      <p:ext uri="{BB962C8B-B14F-4D97-AF65-F5344CB8AC3E}">
        <p14:creationId xmlns:p14="http://schemas.microsoft.com/office/powerpoint/2010/main" val="2487238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90600"/>
          </a:xfrm>
        </p:spPr>
        <p:txBody>
          <a:bodyPr/>
          <a:lstStyle/>
          <a:p>
            <a:r>
              <a:rPr lang="en-PH" b="1" dirty="0" smtClean="0"/>
              <a:t>NCBTS</a:t>
            </a:r>
            <a:endParaRPr lang="en-PH" b="1" dirty="0"/>
          </a:p>
        </p:txBody>
      </p:sp>
      <p:sp>
        <p:nvSpPr>
          <p:cNvPr id="3" name="Content Placeholder 2"/>
          <p:cNvSpPr>
            <a:spLocks noGrp="1"/>
          </p:cNvSpPr>
          <p:nvPr>
            <p:ph idx="1"/>
          </p:nvPr>
        </p:nvSpPr>
        <p:spPr>
          <a:xfrm>
            <a:off x="304800" y="788020"/>
            <a:ext cx="8229600" cy="6096000"/>
          </a:xfrm>
        </p:spPr>
        <p:txBody>
          <a:bodyPr>
            <a:normAutofit fontScale="70000" lnSpcReduction="20000"/>
          </a:bodyPr>
          <a:lstStyle/>
          <a:p>
            <a:r>
              <a:rPr lang="en-PH" dirty="0" smtClean="0"/>
              <a:t>NCBTS means </a:t>
            </a:r>
            <a:r>
              <a:rPr lang="en-PH" dirty="0"/>
              <a:t>National Competency-Based Teacher </a:t>
            </a:r>
            <a:r>
              <a:rPr lang="en-PH" dirty="0" smtClean="0"/>
              <a:t>Standards. </a:t>
            </a:r>
          </a:p>
          <a:p>
            <a:endParaRPr lang="en-PH" dirty="0" smtClean="0"/>
          </a:p>
          <a:p>
            <a:r>
              <a:rPr lang="en-PH" dirty="0"/>
              <a:t>NCBTS defines effective </a:t>
            </a:r>
            <a:r>
              <a:rPr lang="en-PH" dirty="0" smtClean="0"/>
              <a:t>teaching </a:t>
            </a:r>
            <a:r>
              <a:rPr lang="en-PH" dirty="0"/>
              <a:t>as being able to help </a:t>
            </a:r>
            <a:r>
              <a:rPr lang="en-PH" dirty="0" smtClean="0"/>
              <a:t>all </a:t>
            </a:r>
            <a:r>
              <a:rPr lang="en-PH" dirty="0"/>
              <a:t>types of students learn the </a:t>
            </a:r>
            <a:r>
              <a:rPr lang="en-PH" dirty="0" smtClean="0"/>
              <a:t>different </a:t>
            </a:r>
            <a:r>
              <a:rPr lang="en-PH" dirty="0"/>
              <a:t>learning goals in the </a:t>
            </a:r>
          </a:p>
          <a:p>
            <a:pPr marL="0" indent="0">
              <a:buNone/>
            </a:pPr>
            <a:r>
              <a:rPr lang="en-PH" dirty="0" smtClean="0"/>
              <a:t>  curriculum.</a:t>
            </a:r>
          </a:p>
          <a:p>
            <a:pPr marL="0" indent="0">
              <a:buNone/>
            </a:pPr>
            <a:endParaRPr lang="en-PH" dirty="0" smtClean="0"/>
          </a:p>
          <a:p>
            <a:r>
              <a:rPr lang="en-PH" dirty="0"/>
              <a:t>An integrated theoretical </a:t>
            </a:r>
            <a:r>
              <a:rPr lang="en-PH" dirty="0" smtClean="0"/>
              <a:t>framework </a:t>
            </a:r>
            <a:r>
              <a:rPr lang="en-PH" dirty="0"/>
              <a:t>that defines the </a:t>
            </a:r>
            <a:r>
              <a:rPr lang="en-PH" dirty="0" smtClean="0"/>
              <a:t>different </a:t>
            </a:r>
            <a:r>
              <a:rPr lang="en-PH" dirty="0"/>
              <a:t>dimensions of </a:t>
            </a:r>
            <a:r>
              <a:rPr lang="en-PH" dirty="0" smtClean="0"/>
              <a:t>effective teaching.</a:t>
            </a:r>
          </a:p>
          <a:p>
            <a:pPr marL="0" indent="0">
              <a:buNone/>
            </a:pPr>
            <a:endParaRPr lang="en-PH" dirty="0" smtClean="0"/>
          </a:p>
          <a:p>
            <a:r>
              <a:rPr lang="en-PH" dirty="0"/>
              <a:t>According to the Framework, t</a:t>
            </a:r>
            <a:r>
              <a:rPr lang="en-PH" dirty="0" smtClean="0"/>
              <a:t>his </a:t>
            </a:r>
            <a:r>
              <a:rPr lang="en-PH" dirty="0"/>
              <a:t>will allow teachers to self-assess their own performance against the Competency Standards in order to identify areas of strength as well as areas that need to be developed further in order for them to function more effectively as facilitators of learning</a:t>
            </a:r>
            <a:r>
              <a:rPr lang="en-PH" dirty="0" smtClean="0"/>
              <a:t>.</a:t>
            </a:r>
            <a:endParaRPr lang="en-PH" dirty="0"/>
          </a:p>
          <a:p>
            <a:pPr marL="0" indent="0">
              <a:buNone/>
            </a:pPr>
            <a:endParaRPr lang="en-PH" dirty="0" smtClean="0"/>
          </a:p>
          <a:p>
            <a:r>
              <a:rPr lang="en-PH" dirty="0"/>
              <a:t>It is based on the core </a:t>
            </a:r>
            <a:r>
              <a:rPr lang="en-PH" dirty="0" smtClean="0"/>
              <a:t>values </a:t>
            </a:r>
            <a:r>
              <a:rPr lang="en-PH" dirty="0"/>
              <a:t>of Filipino teachers </a:t>
            </a:r>
          </a:p>
          <a:p>
            <a:pPr marL="0" indent="0">
              <a:buNone/>
            </a:pPr>
            <a:r>
              <a:rPr lang="en-PH" dirty="0"/>
              <a:t>and on effective teaching </a:t>
            </a:r>
            <a:r>
              <a:rPr lang="en-PH" dirty="0" smtClean="0"/>
              <a:t>and </a:t>
            </a:r>
            <a:r>
              <a:rPr lang="en-PH" dirty="0"/>
              <a:t>learning with seven (7) </a:t>
            </a:r>
          </a:p>
          <a:p>
            <a:pPr marL="0" indent="0">
              <a:buNone/>
            </a:pPr>
            <a:r>
              <a:rPr lang="en-PH" dirty="0"/>
              <a:t>domains, 23 strands and 80 </a:t>
            </a:r>
            <a:r>
              <a:rPr lang="en-PH" dirty="0" smtClean="0"/>
              <a:t>performance </a:t>
            </a:r>
            <a:r>
              <a:rPr lang="en-PH" dirty="0"/>
              <a:t>indicators.</a:t>
            </a:r>
          </a:p>
          <a:p>
            <a:endParaRPr lang="en-PH" dirty="0" smtClean="0"/>
          </a:p>
          <a:p>
            <a:endParaRPr lang="en-PH" dirty="0"/>
          </a:p>
          <a:p>
            <a:endParaRPr lang="en-PH" dirty="0"/>
          </a:p>
          <a:p>
            <a:endParaRPr lang="en-PH" dirty="0"/>
          </a:p>
        </p:txBody>
      </p:sp>
    </p:spTree>
    <p:extLst>
      <p:ext uri="{BB962C8B-B14F-4D97-AF65-F5344CB8AC3E}">
        <p14:creationId xmlns:p14="http://schemas.microsoft.com/office/powerpoint/2010/main" val="2118701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NCBTS</a:t>
            </a:r>
            <a:endParaRPr lang="en-US" dirty="0"/>
          </a:p>
        </p:txBody>
      </p:sp>
      <p:sp>
        <p:nvSpPr>
          <p:cNvPr id="5" name="Content Placeholder 4"/>
          <p:cNvSpPr>
            <a:spLocks noGrp="1"/>
          </p:cNvSpPr>
          <p:nvPr>
            <p:ph idx="1"/>
          </p:nvPr>
        </p:nvSpPr>
        <p:spPr/>
        <p:txBody>
          <a:bodyPr>
            <a:normAutofit fontScale="92500" lnSpcReduction="20000"/>
          </a:bodyPr>
          <a:lstStyle/>
          <a:p>
            <a:r>
              <a:rPr lang="en-US" dirty="0" smtClean="0"/>
              <a:t>Defines effective teaching as being able to help students achieve learning goals in the curriculum while recognizing their diversity</a:t>
            </a:r>
          </a:p>
          <a:p>
            <a:endParaRPr lang="en-US" dirty="0"/>
          </a:p>
          <a:p>
            <a:r>
              <a:rPr lang="en-US" dirty="0" smtClean="0"/>
              <a:t>Integrated theoretical framework that defines the different dimensions of effective teaching</a:t>
            </a:r>
          </a:p>
          <a:p>
            <a:endParaRPr lang="en-US" dirty="0"/>
          </a:p>
          <a:p>
            <a:r>
              <a:rPr lang="en-US" dirty="0" smtClean="0"/>
              <a:t>Allows teachers to self-assess their own performance against the standards to identify strengths and weaknesses</a:t>
            </a:r>
          </a:p>
          <a:p>
            <a:endParaRPr lang="en-US" dirty="0"/>
          </a:p>
          <a:p>
            <a:endParaRPr lang="en-US" dirty="0"/>
          </a:p>
        </p:txBody>
      </p:sp>
    </p:spTree>
    <p:extLst>
      <p:ext uri="{BB962C8B-B14F-4D97-AF65-F5344CB8AC3E}">
        <p14:creationId xmlns:p14="http://schemas.microsoft.com/office/powerpoint/2010/main" val="3080237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NCBTS</a:t>
            </a:r>
            <a:endParaRPr lang="en-US" dirty="0"/>
          </a:p>
        </p:txBody>
      </p:sp>
      <p:sp>
        <p:nvSpPr>
          <p:cNvPr id="3" name="Content Placeholder 2"/>
          <p:cNvSpPr>
            <a:spLocks noGrp="1"/>
          </p:cNvSpPr>
          <p:nvPr>
            <p:ph idx="1"/>
          </p:nvPr>
        </p:nvSpPr>
        <p:spPr>
          <a:xfrm>
            <a:off x="571500" y="1696790"/>
            <a:ext cx="8001000" cy="4114800"/>
          </a:xfrm>
        </p:spPr>
        <p:txBody>
          <a:bodyPr>
            <a:normAutofit fontScale="92500" lnSpcReduction="10000"/>
          </a:bodyPr>
          <a:lstStyle/>
          <a:p>
            <a:endParaRPr lang="en-US" dirty="0" smtClean="0"/>
          </a:p>
          <a:p>
            <a:r>
              <a:rPr lang="en-US" dirty="0" smtClean="0"/>
              <a:t>Based on the core values of Filipino teachers</a:t>
            </a:r>
          </a:p>
          <a:p>
            <a:endParaRPr lang="en-US" dirty="0"/>
          </a:p>
          <a:p>
            <a:r>
              <a:rPr lang="en-US" dirty="0" smtClean="0"/>
              <a:t>Based on indicators of effective teaching and learning</a:t>
            </a:r>
          </a:p>
          <a:p>
            <a:endParaRPr lang="en-US" dirty="0"/>
          </a:p>
          <a:p>
            <a:r>
              <a:rPr lang="en-US" dirty="0" smtClean="0"/>
              <a:t>Has seven (7) domains, twenty-three (23) strands, and eighty (80) performance indicators</a:t>
            </a:r>
            <a:endParaRPr lang="en-US" dirty="0"/>
          </a:p>
        </p:txBody>
      </p:sp>
    </p:spTree>
    <p:extLst>
      <p:ext uri="{BB962C8B-B14F-4D97-AF65-F5344CB8AC3E}">
        <p14:creationId xmlns:p14="http://schemas.microsoft.com/office/powerpoint/2010/main" val="429198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990600"/>
          </a:xfrm>
        </p:spPr>
        <p:txBody>
          <a:bodyPr/>
          <a:lstStyle/>
          <a:p>
            <a:r>
              <a:rPr lang="en-PH" b="1" dirty="0" smtClean="0"/>
              <a:t>WHY DO WE NEED NCBTS?</a:t>
            </a:r>
            <a:endParaRPr lang="en-PH" b="1" dirty="0"/>
          </a:p>
        </p:txBody>
      </p:sp>
      <p:sp>
        <p:nvSpPr>
          <p:cNvPr id="3" name="Content Placeholder 2"/>
          <p:cNvSpPr>
            <a:spLocks noGrp="1"/>
          </p:cNvSpPr>
          <p:nvPr>
            <p:ph idx="1"/>
          </p:nvPr>
        </p:nvSpPr>
        <p:spPr>
          <a:xfrm>
            <a:off x="0" y="1143000"/>
            <a:ext cx="9144000" cy="5715000"/>
          </a:xfrm>
        </p:spPr>
        <p:txBody>
          <a:bodyPr>
            <a:normAutofit fontScale="85000" lnSpcReduction="20000"/>
          </a:bodyPr>
          <a:lstStyle/>
          <a:p>
            <a:r>
              <a:rPr lang="en-PH" dirty="0"/>
              <a:t>Filipino teachers often got mixed signals about what it means to be an effective teacher. What may have been taught definitions of good teaching in their pre-service education seem to be different from what their principals and supervisors expect them in their schools or teachers are taught new teaching approaches that seem inconsistent with the Performance Appraisal </a:t>
            </a:r>
            <a:r>
              <a:rPr lang="en-PH" dirty="0" smtClean="0"/>
              <a:t>System</a:t>
            </a:r>
            <a:r>
              <a:rPr lang="en-PH" dirty="0"/>
              <a:t>.</a:t>
            </a:r>
          </a:p>
          <a:p>
            <a:endParaRPr lang="en-PH" dirty="0" smtClean="0"/>
          </a:p>
          <a:p>
            <a:r>
              <a:rPr lang="en-PH" dirty="0" smtClean="0"/>
              <a:t>The </a:t>
            </a:r>
            <a:r>
              <a:rPr lang="en-PH" dirty="0"/>
              <a:t>NCBTS provides a single framework that shall define effective teaching in all aspects of a teacher's professional life and in all phases of teacher development. The use of a single framework should minimize confusion about what effective teaching is. </a:t>
            </a:r>
            <a:r>
              <a:rPr lang="en-PH" dirty="0" smtClean="0"/>
              <a:t>The </a:t>
            </a:r>
            <a:r>
              <a:rPr lang="en-PH" dirty="0"/>
              <a:t>single framework should also provide a better guide for all teacher development programs and projects from the school level up to the national level.</a:t>
            </a:r>
          </a:p>
          <a:p>
            <a:endParaRPr lang="en-PH" dirty="0"/>
          </a:p>
        </p:txBody>
      </p:sp>
    </p:spTree>
    <p:extLst>
      <p:ext uri="{BB962C8B-B14F-4D97-AF65-F5344CB8AC3E}">
        <p14:creationId xmlns:p14="http://schemas.microsoft.com/office/powerpoint/2010/main" val="34678482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990600"/>
          </a:xfrm>
        </p:spPr>
        <p:txBody>
          <a:bodyPr>
            <a:normAutofit/>
          </a:bodyPr>
          <a:lstStyle/>
          <a:p>
            <a:r>
              <a:rPr lang="en-PH" b="1" dirty="0"/>
              <a:t>WHO SHOULD USE THE NCBTS?</a:t>
            </a:r>
            <a:endParaRPr lang="en-PH" b="1" dirty="0">
              <a:effectLst/>
            </a:endParaRPr>
          </a:p>
        </p:txBody>
      </p:sp>
      <p:sp>
        <p:nvSpPr>
          <p:cNvPr id="3" name="Content Placeholder 2"/>
          <p:cNvSpPr>
            <a:spLocks noGrp="1"/>
          </p:cNvSpPr>
          <p:nvPr>
            <p:ph idx="1"/>
          </p:nvPr>
        </p:nvSpPr>
        <p:spPr>
          <a:xfrm>
            <a:off x="304800" y="788020"/>
            <a:ext cx="8229600" cy="6096000"/>
          </a:xfrm>
        </p:spPr>
        <p:txBody>
          <a:bodyPr>
            <a:normAutofit fontScale="92500" lnSpcReduction="10000"/>
          </a:bodyPr>
          <a:lstStyle/>
          <a:p>
            <a:r>
              <a:rPr lang="en-PH" dirty="0" smtClean="0"/>
              <a:t>Teacher </a:t>
            </a:r>
            <a:r>
              <a:rPr lang="en-PH" dirty="0"/>
              <a:t>education institutions shall use the NCBTS to design and implement effective pre-service teacher education curricula. </a:t>
            </a:r>
            <a:endParaRPr lang="en-PH" dirty="0" smtClean="0"/>
          </a:p>
          <a:p>
            <a:endParaRPr lang="en-PH" dirty="0" smtClean="0"/>
          </a:p>
          <a:p>
            <a:r>
              <a:rPr lang="en-PH" dirty="0" smtClean="0"/>
              <a:t>The </a:t>
            </a:r>
            <a:r>
              <a:rPr lang="en-PH" dirty="0"/>
              <a:t>PRC shall refer the NCBTS in designing the Licensure Exam for Teachers. </a:t>
            </a:r>
            <a:endParaRPr lang="en-PH" dirty="0" smtClean="0"/>
          </a:p>
          <a:p>
            <a:pPr marL="0" indent="0">
              <a:buNone/>
            </a:pPr>
            <a:endParaRPr lang="en-PH" dirty="0" smtClean="0"/>
          </a:p>
          <a:p>
            <a:r>
              <a:rPr lang="en-PH" dirty="0" smtClean="0"/>
              <a:t>Organizations </a:t>
            </a:r>
            <a:r>
              <a:rPr lang="en-PH" dirty="0"/>
              <a:t>and agencies that implement in-service education for teachers (INSET) shall refer </a:t>
            </a:r>
            <a:r>
              <a:rPr lang="en-PH" dirty="0" smtClean="0"/>
              <a:t>to </a:t>
            </a:r>
            <a:r>
              <a:rPr lang="en-PH" dirty="0"/>
              <a:t>the NCBTS in developing their interventions. </a:t>
            </a:r>
            <a:endParaRPr lang="en-PH" dirty="0" smtClean="0"/>
          </a:p>
          <a:p>
            <a:endParaRPr lang="en-PH" dirty="0"/>
          </a:p>
          <a:p>
            <a:r>
              <a:rPr lang="en-PH" dirty="0" smtClean="0"/>
              <a:t>Award-giving </a:t>
            </a:r>
            <a:r>
              <a:rPr lang="en-PH" dirty="0"/>
              <a:t>bodies shall refer to the NCBTS in defining their criteria for outstanding teachers. </a:t>
            </a:r>
            <a:endParaRPr lang="en-PH" dirty="0">
              <a:effectLst/>
            </a:endParaRPr>
          </a:p>
        </p:txBody>
      </p:sp>
    </p:spTree>
    <p:extLst>
      <p:ext uri="{BB962C8B-B14F-4D97-AF65-F5344CB8AC3E}">
        <p14:creationId xmlns:p14="http://schemas.microsoft.com/office/powerpoint/2010/main" val="11352769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WHO SHOULD USE THE NCBTS?</a:t>
            </a:r>
            <a:endParaRPr lang="en-PH" dirty="0"/>
          </a:p>
        </p:txBody>
      </p:sp>
      <p:sp>
        <p:nvSpPr>
          <p:cNvPr id="3" name="Content Placeholder 2"/>
          <p:cNvSpPr>
            <a:spLocks noGrp="1"/>
          </p:cNvSpPr>
          <p:nvPr>
            <p:ph idx="1"/>
          </p:nvPr>
        </p:nvSpPr>
        <p:spPr/>
        <p:txBody>
          <a:bodyPr>
            <a:normAutofit fontScale="85000" lnSpcReduction="20000"/>
          </a:bodyPr>
          <a:lstStyle/>
          <a:p>
            <a:r>
              <a:rPr lang="en-PH" dirty="0"/>
              <a:t>The </a:t>
            </a:r>
            <a:r>
              <a:rPr lang="en-PH" dirty="0" err="1"/>
              <a:t>DepED</a:t>
            </a:r>
            <a:r>
              <a:rPr lang="en-PH" dirty="0"/>
              <a:t> shall use this in formulating its hiring, promotion, supervision, and other policies related to the teaching profession. </a:t>
            </a:r>
            <a:endParaRPr lang="en-PH" dirty="0" smtClean="0"/>
          </a:p>
          <a:p>
            <a:pPr marL="0" indent="0">
              <a:buNone/>
            </a:pPr>
            <a:endParaRPr lang="en-PH" dirty="0" smtClean="0"/>
          </a:p>
          <a:p>
            <a:r>
              <a:rPr lang="en-PH" dirty="0" smtClean="0"/>
              <a:t>It </a:t>
            </a:r>
            <a:r>
              <a:rPr lang="en-PH" dirty="0"/>
              <a:t>shall use the NCBTS to guide its INSET programs for teachers</a:t>
            </a:r>
            <a:r>
              <a:rPr lang="en-PH" dirty="0" smtClean="0"/>
              <a:t>.</a:t>
            </a:r>
          </a:p>
          <a:p>
            <a:endParaRPr lang="en-PH" dirty="0"/>
          </a:p>
          <a:p>
            <a:r>
              <a:rPr lang="en-PH" dirty="0"/>
              <a:t>Most of all, individual </a:t>
            </a:r>
            <a:r>
              <a:rPr lang="en-PH" dirty="0" smtClean="0"/>
              <a:t> teachers </a:t>
            </a:r>
            <a:r>
              <a:rPr lang="en-PH" dirty="0"/>
              <a:t>in all public </a:t>
            </a:r>
            <a:r>
              <a:rPr lang="en-PH" dirty="0" smtClean="0"/>
              <a:t>and private elementary </a:t>
            </a:r>
            <a:r>
              <a:rPr lang="en-PH" dirty="0"/>
              <a:t>and high schools </a:t>
            </a:r>
            <a:r>
              <a:rPr lang="en-PH" dirty="0" smtClean="0"/>
              <a:t> shall </a:t>
            </a:r>
            <a:r>
              <a:rPr lang="en-PH" dirty="0"/>
              <a:t>use it for their </a:t>
            </a:r>
            <a:r>
              <a:rPr lang="en-PH" dirty="0" smtClean="0"/>
              <a:t>professional </a:t>
            </a:r>
            <a:r>
              <a:rPr lang="en-PH" dirty="0"/>
              <a:t>development </a:t>
            </a:r>
            <a:r>
              <a:rPr lang="en-PH" dirty="0" smtClean="0"/>
              <a:t>activities.</a:t>
            </a:r>
            <a:endParaRPr lang="en-PH" dirty="0"/>
          </a:p>
          <a:p>
            <a:pPr marL="0" indent="0">
              <a:buNone/>
            </a:pPr>
            <a:r>
              <a:rPr lang="en-PH" dirty="0"/>
              <a:t/>
            </a:r>
            <a:br>
              <a:rPr lang="en-PH" dirty="0"/>
            </a:br>
            <a:endParaRPr lang="en-PH" dirty="0"/>
          </a:p>
          <a:p>
            <a:endParaRPr lang="en-PH" dirty="0"/>
          </a:p>
          <a:p>
            <a:endParaRPr lang="en-PH" dirty="0"/>
          </a:p>
        </p:txBody>
      </p:sp>
    </p:spTree>
    <p:extLst>
      <p:ext uri="{BB962C8B-B14F-4D97-AF65-F5344CB8AC3E}">
        <p14:creationId xmlns:p14="http://schemas.microsoft.com/office/powerpoint/2010/main" val="3491452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756" y="152400"/>
            <a:ext cx="8686800" cy="990600"/>
          </a:xfrm>
        </p:spPr>
        <p:txBody>
          <a:bodyPr>
            <a:normAutofit fontScale="90000"/>
          </a:bodyPr>
          <a:lstStyle/>
          <a:p>
            <a:r>
              <a:rPr lang="en-PH" b="1" dirty="0"/>
              <a:t>How Should Teachers Use the NCBTS?</a:t>
            </a:r>
            <a:endParaRPr lang="en-PH" dirty="0"/>
          </a:p>
        </p:txBody>
      </p:sp>
      <p:sp>
        <p:nvSpPr>
          <p:cNvPr id="3" name="Content Placeholder 2"/>
          <p:cNvSpPr>
            <a:spLocks noGrp="1"/>
          </p:cNvSpPr>
          <p:nvPr>
            <p:ph idx="1"/>
          </p:nvPr>
        </p:nvSpPr>
        <p:spPr>
          <a:xfrm>
            <a:off x="304800" y="1143000"/>
            <a:ext cx="8686800" cy="5334000"/>
          </a:xfrm>
        </p:spPr>
        <p:txBody>
          <a:bodyPr>
            <a:normAutofit fontScale="92500" lnSpcReduction="20000"/>
          </a:bodyPr>
          <a:lstStyle/>
          <a:p>
            <a:pPr marL="0" indent="0">
              <a:buNone/>
            </a:pPr>
            <a:r>
              <a:rPr lang="en-PH" b="1" dirty="0" smtClean="0"/>
              <a:t>Teachers </a:t>
            </a:r>
            <a:r>
              <a:rPr lang="en-PH" b="1" dirty="0"/>
              <a:t>can use the NCBTS in many ways:</a:t>
            </a:r>
          </a:p>
          <a:p>
            <a:pPr marL="0" indent="0">
              <a:buNone/>
            </a:pPr>
            <a:r>
              <a:rPr lang="en-PH" dirty="0"/>
              <a:t/>
            </a:r>
            <a:br>
              <a:rPr lang="en-PH" dirty="0"/>
            </a:br>
            <a:endParaRPr lang="en-PH" dirty="0"/>
          </a:p>
          <a:p>
            <a:r>
              <a:rPr lang="en-PH" dirty="0"/>
              <a:t>As a guide on their current teaching practices </a:t>
            </a:r>
            <a:endParaRPr lang="en-PH" dirty="0" smtClean="0"/>
          </a:p>
          <a:p>
            <a:endParaRPr lang="en-PH" dirty="0"/>
          </a:p>
          <a:p>
            <a:r>
              <a:rPr lang="en-PH" dirty="0"/>
              <a:t>As a framework for creating new teaching practices </a:t>
            </a:r>
            <a:endParaRPr lang="en-PH" dirty="0" smtClean="0"/>
          </a:p>
          <a:p>
            <a:endParaRPr lang="en-PH" dirty="0"/>
          </a:p>
          <a:p>
            <a:r>
              <a:rPr lang="en-PH" dirty="0"/>
              <a:t>As a guidepost for planning and professional development goals </a:t>
            </a:r>
            <a:endParaRPr lang="en-PH" dirty="0" smtClean="0"/>
          </a:p>
          <a:p>
            <a:endParaRPr lang="en-PH" dirty="0"/>
          </a:p>
          <a:p>
            <a:r>
              <a:rPr lang="en-PH" dirty="0"/>
              <a:t>As a common language for discussing teaching practices with other teachers</a:t>
            </a:r>
          </a:p>
          <a:p>
            <a:endParaRPr lang="en-PH" dirty="0"/>
          </a:p>
        </p:txBody>
      </p:sp>
    </p:spTree>
    <p:extLst>
      <p:ext uri="{BB962C8B-B14F-4D97-AF65-F5344CB8AC3E}">
        <p14:creationId xmlns:p14="http://schemas.microsoft.com/office/powerpoint/2010/main" val="389794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781800"/>
          </a:xfrm>
        </p:spPr>
        <p:txBody>
          <a:bodyPr>
            <a:normAutofit/>
          </a:bodyPr>
          <a:lstStyle/>
          <a:p>
            <a:r>
              <a:rPr lang="en-PH" sz="2800" b="1" dirty="0"/>
              <a:t>Domain 1: </a:t>
            </a:r>
            <a:r>
              <a:rPr lang="en-PH" sz="2800" b="1" dirty="0" smtClean="0"/>
              <a:t>Social </a:t>
            </a:r>
            <a:r>
              <a:rPr lang="en-PH" sz="2800" b="1" dirty="0"/>
              <a:t>Regard for </a:t>
            </a:r>
            <a:r>
              <a:rPr lang="en-PH" sz="2800" b="1" dirty="0" smtClean="0"/>
              <a:t>Learning</a:t>
            </a:r>
          </a:p>
          <a:p>
            <a:endParaRPr lang="en-PH" sz="2800" b="1" dirty="0"/>
          </a:p>
          <a:p>
            <a:r>
              <a:rPr lang="en-PH" sz="2800" b="1" dirty="0"/>
              <a:t>Key Question for the Teacher:</a:t>
            </a:r>
          </a:p>
          <a:p>
            <a:pPr marL="0" indent="0">
              <a:buNone/>
            </a:pPr>
            <a:r>
              <a:rPr lang="en-PH" sz="2800" dirty="0" smtClean="0"/>
              <a:t>“Can </a:t>
            </a:r>
            <a:r>
              <a:rPr lang="en-PH" sz="2800" dirty="0"/>
              <a:t>my students appreciate and model </a:t>
            </a:r>
            <a:r>
              <a:rPr lang="en-PH" sz="2800" dirty="0" smtClean="0"/>
              <a:t>the </a:t>
            </a:r>
            <a:r>
              <a:rPr lang="en-PH" sz="2800" dirty="0"/>
              <a:t>value of learning through my </a:t>
            </a:r>
            <a:r>
              <a:rPr lang="en-PH" sz="2800" dirty="0" smtClean="0"/>
              <a:t>interactions </a:t>
            </a:r>
            <a:r>
              <a:rPr lang="en-PH" sz="2800" dirty="0"/>
              <a:t>with them</a:t>
            </a:r>
            <a:r>
              <a:rPr lang="en-PH" sz="2800" dirty="0" smtClean="0"/>
              <a:t>?”</a:t>
            </a:r>
          </a:p>
          <a:p>
            <a:pPr marL="0" indent="0">
              <a:buNone/>
            </a:pPr>
            <a:endParaRPr lang="en-PH" sz="2800" dirty="0"/>
          </a:p>
          <a:p>
            <a:r>
              <a:rPr lang="en-PH" sz="2800" b="1" dirty="0"/>
              <a:t>Explanation:</a:t>
            </a:r>
          </a:p>
          <a:p>
            <a:r>
              <a:rPr lang="en-PH" sz="2800" dirty="0"/>
              <a:t>The domain of Social Regard for Learning </a:t>
            </a:r>
            <a:r>
              <a:rPr lang="en-PH" sz="2800" dirty="0" smtClean="0"/>
              <a:t>focuses </a:t>
            </a:r>
            <a:r>
              <a:rPr lang="en-PH" sz="2800" dirty="0"/>
              <a:t>on the ideal that teachers serve as </a:t>
            </a:r>
            <a:r>
              <a:rPr lang="en-PH" sz="2800" dirty="0" smtClean="0"/>
              <a:t>positive </a:t>
            </a:r>
            <a:r>
              <a:rPr lang="en-PH" sz="2800" dirty="0"/>
              <a:t>&amp; powerful role models of the values </a:t>
            </a:r>
            <a:r>
              <a:rPr lang="en-PH" sz="2800" dirty="0" smtClean="0"/>
              <a:t>of </a:t>
            </a:r>
            <a:r>
              <a:rPr lang="en-PH" sz="2800" dirty="0"/>
              <a:t>the pursuit of learning &amp; of the effort to </a:t>
            </a:r>
            <a:r>
              <a:rPr lang="en-PH" sz="2800" dirty="0" smtClean="0"/>
              <a:t>learn</a:t>
            </a:r>
            <a:r>
              <a:rPr lang="en-PH" sz="2800" dirty="0"/>
              <a:t>, &amp; that the teachers actions, statements, </a:t>
            </a:r>
            <a:r>
              <a:rPr lang="en-PH" sz="2800" dirty="0" smtClean="0"/>
              <a:t>&amp; </a:t>
            </a:r>
            <a:r>
              <a:rPr lang="en-PH" sz="2800" dirty="0"/>
              <a:t>different types of social interactions with </a:t>
            </a:r>
            <a:r>
              <a:rPr lang="en-PH" sz="2800" dirty="0" smtClean="0"/>
              <a:t>students </a:t>
            </a:r>
            <a:r>
              <a:rPr lang="en-PH" sz="2800" dirty="0"/>
              <a:t>exemplify this ideal.</a:t>
            </a:r>
          </a:p>
          <a:p>
            <a:endParaRPr lang="en-PH" sz="2800" dirty="0"/>
          </a:p>
        </p:txBody>
      </p:sp>
    </p:spTree>
    <p:extLst>
      <p:ext uri="{BB962C8B-B14F-4D97-AF65-F5344CB8AC3E}">
        <p14:creationId xmlns:p14="http://schemas.microsoft.com/office/powerpoint/2010/main" val="3777157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781800"/>
          </a:xfrm>
        </p:spPr>
        <p:txBody>
          <a:bodyPr>
            <a:normAutofit/>
          </a:bodyPr>
          <a:lstStyle/>
          <a:p>
            <a:pPr marL="0" indent="0" algn="just">
              <a:buNone/>
            </a:pPr>
            <a:endParaRPr lang="en-PH" sz="2400" b="1" dirty="0" smtClean="0"/>
          </a:p>
          <a:p>
            <a:pPr marL="0" indent="0" algn="just">
              <a:buNone/>
            </a:pPr>
            <a:r>
              <a:rPr lang="en-PH" sz="2400" b="1" dirty="0" smtClean="0"/>
              <a:t>Domain </a:t>
            </a:r>
            <a:r>
              <a:rPr lang="en-PH" sz="2400" b="1" dirty="0" smtClean="0"/>
              <a:t>2: </a:t>
            </a:r>
            <a:r>
              <a:rPr lang="en-PH" sz="2400" dirty="0"/>
              <a:t>Learning Environment</a:t>
            </a:r>
          </a:p>
          <a:p>
            <a:pPr algn="just"/>
            <a:endParaRPr lang="en-PH" sz="2400" dirty="0" smtClean="0"/>
          </a:p>
          <a:p>
            <a:pPr algn="just"/>
            <a:r>
              <a:rPr lang="en-PH" sz="2400" b="1" dirty="0" smtClean="0"/>
              <a:t>Key </a:t>
            </a:r>
            <a:r>
              <a:rPr lang="en-PH" sz="2400" b="1" dirty="0"/>
              <a:t>Question for the Teacher:</a:t>
            </a:r>
          </a:p>
          <a:p>
            <a:pPr marL="0" indent="0" algn="just">
              <a:buNone/>
            </a:pPr>
            <a:r>
              <a:rPr lang="en-PH" sz="2400" dirty="0" smtClean="0"/>
              <a:t>“Do </a:t>
            </a:r>
            <a:r>
              <a:rPr lang="en-PH" sz="2400" dirty="0"/>
              <a:t>I create a physical and social </a:t>
            </a:r>
          </a:p>
          <a:p>
            <a:pPr marL="0" indent="0" algn="just">
              <a:buNone/>
            </a:pPr>
            <a:r>
              <a:rPr lang="en-PH" sz="2400" dirty="0"/>
              <a:t>environment in class that allows my </a:t>
            </a:r>
          </a:p>
          <a:p>
            <a:pPr marL="0" indent="0" algn="just">
              <a:buNone/>
            </a:pPr>
            <a:r>
              <a:rPr lang="en-PH" sz="2400" dirty="0"/>
              <a:t>students to attain maximum learning</a:t>
            </a:r>
            <a:r>
              <a:rPr lang="en-PH" sz="2400" dirty="0" smtClean="0"/>
              <a:t>?”</a:t>
            </a:r>
            <a:endParaRPr lang="en-PH" sz="2400" dirty="0"/>
          </a:p>
          <a:p>
            <a:pPr marL="0" indent="0" algn="just">
              <a:buNone/>
            </a:pPr>
            <a:endParaRPr lang="en-PH" sz="2400" dirty="0"/>
          </a:p>
          <a:p>
            <a:pPr algn="just"/>
            <a:r>
              <a:rPr lang="en-PH" sz="2400" b="1" dirty="0"/>
              <a:t>Explanation:</a:t>
            </a:r>
          </a:p>
          <a:p>
            <a:pPr marL="0" indent="0" algn="just">
              <a:buNone/>
            </a:pPr>
            <a:r>
              <a:rPr lang="en-PH" sz="2400" dirty="0"/>
              <a:t>The domain of Learning Environment focuses </a:t>
            </a:r>
            <a:r>
              <a:rPr lang="en-PH" sz="2400" dirty="0" smtClean="0"/>
              <a:t>on </a:t>
            </a:r>
            <a:r>
              <a:rPr lang="en-PH" sz="2400" dirty="0"/>
              <a:t>importance of providing for a social and </a:t>
            </a:r>
            <a:r>
              <a:rPr lang="en-PH" sz="2400" dirty="0" smtClean="0"/>
              <a:t>physical </a:t>
            </a:r>
            <a:r>
              <a:rPr lang="en-PH" sz="2400" dirty="0"/>
              <a:t>environment within which all </a:t>
            </a:r>
            <a:r>
              <a:rPr lang="en-PH" sz="2400" dirty="0" smtClean="0"/>
              <a:t>students</a:t>
            </a:r>
            <a:r>
              <a:rPr lang="en-PH" sz="2400" dirty="0"/>
              <a:t>, regardless of their individual </a:t>
            </a:r>
            <a:r>
              <a:rPr lang="en-PH" sz="2400" dirty="0" smtClean="0"/>
              <a:t>differences </a:t>
            </a:r>
            <a:r>
              <a:rPr lang="en-PH" sz="2400" dirty="0"/>
              <a:t>in learning, can engage the </a:t>
            </a:r>
            <a:r>
              <a:rPr lang="en-PH" sz="2400" dirty="0" smtClean="0"/>
              <a:t>different </a:t>
            </a:r>
            <a:r>
              <a:rPr lang="en-PH" sz="2400" dirty="0"/>
              <a:t>learning activities and work towards </a:t>
            </a:r>
            <a:r>
              <a:rPr lang="en-PH" sz="2400" dirty="0" smtClean="0"/>
              <a:t>attaining </a:t>
            </a:r>
            <a:r>
              <a:rPr lang="en-PH" sz="2400" dirty="0"/>
              <a:t>high standards of learning.</a:t>
            </a:r>
          </a:p>
          <a:p>
            <a:pPr algn="just"/>
            <a:endParaRPr lang="en-PH" sz="2400" dirty="0"/>
          </a:p>
        </p:txBody>
      </p:sp>
    </p:spTree>
    <p:extLst>
      <p:ext uri="{BB962C8B-B14F-4D97-AF65-F5344CB8AC3E}">
        <p14:creationId xmlns:p14="http://schemas.microsoft.com/office/powerpoint/2010/main" val="2068667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9" y="304800"/>
            <a:ext cx="8763000" cy="6781800"/>
          </a:xfrm>
        </p:spPr>
        <p:txBody>
          <a:bodyPr>
            <a:normAutofit lnSpcReduction="10000"/>
          </a:bodyPr>
          <a:lstStyle/>
          <a:p>
            <a:r>
              <a:rPr lang="en-PH" sz="2800" b="1" dirty="0"/>
              <a:t>Domain </a:t>
            </a:r>
            <a:r>
              <a:rPr lang="en-PH" sz="2800" b="1" dirty="0" smtClean="0"/>
              <a:t>3: </a:t>
            </a:r>
            <a:r>
              <a:rPr lang="en-PH" sz="2800" b="1" dirty="0"/>
              <a:t>Diversity of </a:t>
            </a:r>
            <a:r>
              <a:rPr lang="en-PH" sz="2800" b="1" dirty="0" smtClean="0"/>
              <a:t>Learners</a:t>
            </a:r>
          </a:p>
          <a:p>
            <a:pPr marL="0" indent="0">
              <a:buNone/>
            </a:pPr>
            <a:endParaRPr lang="en-PH" sz="2800" b="1" dirty="0"/>
          </a:p>
          <a:p>
            <a:r>
              <a:rPr lang="en-PH" sz="2800" b="1" dirty="0"/>
              <a:t>Key Question for the Teacher:</a:t>
            </a:r>
          </a:p>
          <a:p>
            <a:pPr marL="0" indent="0">
              <a:buNone/>
            </a:pPr>
            <a:r>
              <a:rPr lang="en-PH" sz="2800" dirty="0" smtClean="0"/>
              <a:t>“Can </a:t>
            </a:r>
            <a:r>
              <a:rPr lang="en-PH" sz="2800" dirty="0"/>
              <a:t>I help my students learn whatever </a:t>
            </a:r>
            <a:r>
              <a:rPr lang="en-PH" sz="2800" dirty="0" smtClean="0"/>
              <a:t>their </a:t>
            </a:r>
            <a:r>
              <a:rPr lang="en-PH" sz="2800" dirty="0"/>
              <a:t>capabilities, learning styles, cultural </a:t>
            </a:r>
            <a:r>
              <a:rPr lang="en-PH" sz="2800" dirty="0" smtClean="0"/>
              <a:t>heritage</a:t>
            </a:r>
            <a:r>
              <a:rPr lang="en-PH" sz="2800" dirty="0"/>
              <a:t>, socio-economic backgrounds, </a:t>
            </a:r>
            <a:r>
              <a:rPr lang="en-PH" sz="2800" dirty="0" smtClean="0"/>
              <a:t>and </a:t>
            </a:r>
            <a:r>
              <a:rPr lang="en-PH" sz="2800" dirty="0"/>
              <a:t>other differences are</a:t>
            </a:r>
            <a:r>
              <a:rPr lang="en-PH" sz="2800" dirty="0" smtClean="0"/>
              <a:t>?”</a:t>
            </a:r>
          </a:p>
          <a:p>
            <a:pPr marL="0" indent="0">
              <a:buNone/>
            </a:pPr>
            <a:endParaRPr lang="en-PH" sz="2800" dirty="0"/>
          </a:p>
          <a:p>
            <a:r>
              <a:rPr lang="en-PH" sz="2800" b="1" dirty="0"/>
              <a:t>Explanation:</a:t>
            </a:r>
          </a:p>
          <a:p>
            <a:pPr marL="0" indent="0">
              <a:buNone/>
            </a:pPr>
            <a:r>
              <a:rPr lang="en-PH" sz="2800" dirty="0"/>
              <a:t>The domain of Diversity of Learners emphasizes </a:t>
            </a:r>
            <a:r>
              <a:rPr lang="en-PH" sz="2800" dirty="0" smtClean="0"/>
              <a:t>the </a:t>
            </a:r>
            <a:r>
              <a:rPr lang="en-PH" sz="2800" dirty="0"/>
              <a:t>ideal that teachers can facilitate the </a:t>
            </a:r>
            <a:r>
              <a:rPr lang="en-PH" sz="2800" dirty="0" smtClean="0"/>
              <a:t>learning </a:t>
            </a:r>
            <a:r>
              <a:rPr lang="en-PH" sz="2800" dirty="0"/>
              <a:t>process in diverse types of learners, </a:t>
            </a:r>
            <a:r>
              <a:rPr lang="en-PH" sz="2800" dirty="0" smtClean="0"/>
              <a:t>by </a:t>
            </a:r>
            <a:r>
              <a:rPr lang="en-PH" sz="2800" dirty="0"/>
              <a:t>first recognizing and respecting individual </a:t>
            </a:r>
            <a:r>
              <a:rPr lang="en-PH" sz="2800" dirty="0" smtClean="0"/>
              <a:t>differences</a:t>
            </a:r>
            <a:r>
              <a:rPr lang="en-PH" sz="2800" dirty="0"/>
              <a:t>, then using knowledge about </a:t>
            </a:r>
            <a:r>
              <a:rPr lang="en-PH" sz="2800" dirty="0" smtClean="0"/>
              <a:t>students’ differences </a:t>
            </a:r>
            <a:r>
              <a:rPr lang="en-PH" sz="2800" dirty="0"/>
              <a:t>to design diverse sets of </a:t>
            </a:r>
            <a:r>
              <a:rPr lang="en-PH" sz="2800" dirty="0" smtClean="0"/>
              <a:t>learning </a:t>
            </a:r>
            <a:r>
              <a:rPr lang="en-PH" sz="2800" dirty="0"/>
              <a:t>activities to ensure that all students </a:t>
            </a:r>
            <a:r>
              <a:rPr lang="en-PH" sz="2800" dirty="0" smtClean="0"/>
              <a:t>can </a:t>
            </a:r>
            <a:r>
              <a:rPr lang="en-PH" sz="2800" dirty="0"/>
              <a:t>attain appropriate learning goals. </a:t>
            </a:r>
          </a:p>
          <a:p>
            <a:endParaRPr lang="en-PH" sz="2800" dirty="0"/>
          </a:p>
        </p:txBody>
      </p:sp>
    </p:spTree>
    <p:extLst>
      <p:ext uri="{BB962C8B-B14F-4D97-AF65-F5344CB8AC3E}">
        <p14:creationId xmlns:p14="http://schemas.microsoft.com/office/powerpoint/2010/main" val="33742289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781800"/>
          </a:xfrm>
        </p:spPr>
        <p:txBody>
          <a:bodyPr>
            <a:normAutofit/>
          </a:bodyPr>
          <a:lstStyle/>
          <a:p>
            <a:pPr marL="0" indent="0" algn="just">
              <a:buNone/>
            </a:pPr>
            <a:r>
              <a:rPr lang="en-PH" sz="2400" b="1" dirty="0"/>
              <a:t>Domain </a:t>
            </a:r>
            <a:r>
              <a:rPr lang="en-PH" sz="2400" b="1" dirty="0" smtClean="0"/>
              <a:t>4: </a:t>
            </a:r>
            <a:r>
              <a:rPr lang="en-PH" sz="2400" b="1" dirty="0"/>
              <a:t>Curriculum</a:t>
            </a:r>
          </a:p>
          <a:p>
            <a:pPr algn="just"/>
            <a:r>
              <a:rPr lang="en-PH" sz="2400" b="1" dirty="0"/>
              <a:t>Key Question for the Teacher:</a:t>
            </a:r>
          </a:p>
          <a:p>
            <a:pPr marL="0" indent="0" algn="just">
              <a:buNone/>
            </a:pPr>
            <a:r>
              <a:rPr lang="en-PH" sz="2400" dirty="0" smtClean="0"/>
              <a:t>“Can </a:t>
            </a:r>
            <a:r>
              <a:rPr lang="en-PH" sz="2400" dirty="0"/>
              <a:t>my students understand and attain </a:t>
            </a:r>
            <a:r>
              <a:rPr lang="en-PH" sz="2400" dirty="0" smtClean="0"/>
              <a:t>the </a:t>
            </a:r>
            <a:r>
              <a:rPr lang="en-PH" sz="2400" dirty="0"/>
              <a:t>goals of the curriculum through the </a:t>
            </a:r>
            <a:r>
              <a:rPr lang="en-PH" sz="2400" dirty="0" smtClean="0"/>
              <a:t>various </a:t>
            </a:r>
            <a:r>
              <a:rPr lang="en-PH" sz="2400" dirty="0"/>
              <a:t>learning resources and activities I </a:t>
            </a:r>
            <a:r>
              <a:rPr lang="en-PH" sz="2400" dirty="0" smtClean="0"/>
              <a:t>prepared</a:t>
            </a:r>
            <a:r>
              <a:rPr lang="en-PH" sz="2400" dirty="0"/>
              <a:t>? Have I made use of ICT </a:t>
            </a:r>
          </a:p>
          <a:p>
            <a:pPr marL="0" indent="0" algn="just">
              <a:buNone/>
            </a:pPr>
            <a:r>
              <a:rPr lang="en-PH" sz="2400" dirty="0" smtClean="0"/>
              <a:t>appropriately”</a:t>
            </a:r>
            <a:endParaRPr lang="en-PH" sz="2400" dirty="0"/>
          </a:p>
          <a:p>
            <a:pPr marL="0" indent="0" algn="just">
              <a:buNone/>
            </a:pPr>
            <a:endParaRPr lang="en-PH" sz="2400" dirty="0"/>
          </a:p>
          <a:p>
            <a:pPr algn="just"/>
            <a:r>
              <a:rPr lang="en-PH" sz="2400" b="1" dirty="0"/>
              <a:t>Explanation:</a:t>
            </a:r>
          </a:p>
          <a:p>
            <a:pPr marL="0" indent="0" algn="just">
              <a:buNone/>
            </a:pPr>
            <a:r>
              <a:rPr lang="en-PH" sz="2400" dirty="0" smtClean="0"/>
              <a:t>The </a:t>
            </a:r>
            <a:r>
              <a:rPr lang="en-PH" sz="2400" dirty="0"/>
              <a:t>domain of Curriculum refers to all elements </a:t>
            </a:r>
            <a:r>
              <a:rPr lang="en-PH" sz="2400" dirty="0" smtClean="0"/>
              <a:t>of </a:t>
            </a:r>
            <a:r>
              <a:rPr lang="en-PH" sz="2400" dirty="0"/>
              <a:t>the teaching-learning process that work in </a:t>
            </a:r>
            <a:r>
              <a:rPr lang="en-PH" sz="2400" dirty="0" smtClean="0"/>
              <a:t>convergence </a:t>
            </a:r>
            <a:r>
              <a:rPr lang="en-PH" sz="2400" dirty="0"/>
              <a:t>to help students attain high </a:t>
            </a:r>
            <a:r>
              <a:rPr lang="en-PH" sz="2400" dirty="0" smtClean="0"/>
              <a:t>standards </a:t>
            </a:r>
            <a:r>
              <a:rPr lang="en-PH" sz="2400" dirty="0"/>
              <a:t>of learning and understanding of the </a:t>
            </a:r>
            <a:r>
              <a:rPr lang="en-PH" sz="2400" dirty="0" smtClean="0"/>
              <a:t> curricular </a:t>
            </a:r>
            <a:r>
              <a:rPr lang="en-PH" sz="2400" dirty="0"/>
              <a:t>goals and objectives. These elements </a:t>
            </a:r>
            <a:r>
              <a:rPr lang="en-PH" sz="2400" dirty="0" smtClean="0"/>
              <a:t>include </a:t>
            </a:r>
            <a:r>
              <a:rPr lang="en-PH" sz="2400" dirty="0"/>
              <a:t>the </a:t>
            </a:r>
            <a:r>
              <a:rPr lang="en-PH" sz="2400" dirty="0" smtClean="0"/>
              <a:t>teacher’s </a:t>
            </a:r>
            <a:r>
              <a:rPr lang="en-PH" sz="2400" dirty="0"/>
              <a:t>knowledge of subject </a:t>
            </a:r>
            <a:r>
              <a:rPr lang="en-PH" sz="2400" dirty="0" smtClean="0"/>
              <a:t>matter</a:t>
            </a:r>
            <a:r>
              <a:rPr lang="en-PH" sz="2400" dirty="0"/>
              <a:t>, teaching-learning approaches and </a:t>
            </a:r>
            <a:r>
              <a:rPr lang="en-PH" sz="2400" dirty="0" smtClean="0"/>
              <a:t>activities</a:t>
            </a:r>
            <a:r>
              <a:rPr lang="en-PH" sz="2400" dirty="0"/>
              <a:t>, instructional materials and learning </a:t>
            </a:r>
          </a:p>
          <a:p>
            <a:pPr marL="0" indent="0" algn="just">
              <a:buNone/>
            </a:pPr>
            <a:r>
              <a:rPr lang="en-PH" sz="2400" dirty="0"/>
              <a:t>resources including ICT.</a:t>
            </a:r>
          </a:p>
          <a:p>
            <a:pPr algn="just"/>
            <a:endParaRPr lang="en-PH" sz="2400" dirty="0"/>
          </a:p>
        </p:txBody>
      </p:sp>
    </p:spTree>
    <p:extLst>
      <p:ext uri="{BB962C8B-B14F-4D97-AF65-F5344CB8AC3E}">
        <p14:creationId xmlns:p14="http://schemas.microsoft.com/office/powerpoint/2010/main" val="2046202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781800"/>
          </a:xfrm>
        </p:spPr>
        <p:txBody>
          <a:bodyPr>
            <a:normAutofit/>
          </a:bodyPr>
          <a:lstStyle/>
          <a:p>
            <a:pPr marL="0" indent="0" algn="just">
              <a:buNone/>
            </a:pPr>
            <a:r>
              <a:rPr lang="en-PH" sz="2400" b="1" dirty="0"/>
              <a:t>Domain </a:t>
            </a:r>
            <a:r>
              <a:rPr lang="en-PH" sz="2400" b="1" dirty="0" smtClean="0"/>
              <a:t>5: </a:t>
            </a:r>
            <a:r>
              <a:rPr lang="en-PH" sz="2400" dirty="0"/>
              <a:t>Planning, Assessing and Reporting</a:t>
            </a:r>
          </a:p>
          <a:p>
            <a:pPr marL="0" indent="0" algn="just">
              <a:buNone/>
            </a:pPr>
            <a:r>
              <a:rPr lang="en-PH" sz="2400" b="1" dirty="0"/>
              <a:t>Key Question for the Teacher:</a:t>
            </a:r>
          </a:p>
          <a:p>
            <a:pPr algn="just"/>
            <a:r>
              <a:rPr lang="en-PH" sz="2400" dirty="0" smtClean="0"/>
              <a:t>“Do </a:t>
            </a:r>
            <a:r>
              <a:rPr lang="en-PH" sz="2400" dirty="0"/>
              <a:t>I assess my </a:t>
            </a:r>
            <a:r>
              <a:rPr lang="en-PH" sz="2400" dirty="0" smtClean="0"/>
              <a:t>students’ learning </a:t>
            </a:r>
            <a:r>
              <a:rPr lang="en-PH" sz="2400" dirty="0"/>
              <a:t>and </a:t>
            </a:r>
            <a:r>
              <a:rPr lang="en-PH" sz="2400" dirty="0" smtClean="0"/>
              <a:t>knowledge </a:t>
            </a:r>
            <a:r>
              <a:rPr lang="en-PH" sz="2400" dirty="0"/>
              <a:t>using appropriate educational </a:t>
            </a:r>
            <a:r>
              <a:rPr lang="en-PH" sz="2400" dirty="0" smtClean="0"/>
              <a:t>assessment </a:t>
            </a:r>
            <a:r>
              <a:rPr lang="en-PH" sz="2400" dirty="0"/>
              <a:t>procedures, and do I use the </a:t>
            </a:r>
            <a:r>
              <a:rPr lang="en-PH" sz="2400" dirty="0" smtClean="0"/>
              <a:t>information </a:t>
            </a:r>
            <a:r>
              <a:rPr lang="en-PH" sz="2400" dirty="0"/>
              <a:t>from these assessment </a:t>
            </a:r>
            <a:r>
              <a:rPr lang="en-PH" sz="2400" dirty="0" smtClean="0"/>
              <a:t>procedures in </a:t>
            </a:r>
            <a:r>
              <a:rPr lang="en-PH" sz="2400" dirty="0"/>
              <a:t>planning my teaching-learning activities for </a:t>
            </a:r>
            <a:r>
              <a:rPr lang="en-PH" sz="2400" dirty="0" smtClean="0"/>
              <a:t>the </a:t>
            </a:r>
            <a:r>
              <a:rPr lang="en-PH" sz="2400" dirty="0"/>
              <a:t>students</a:t>
            </a:r>
            <a:r>
              <a:rPr lang="en-PH" sz="2400" dirty="0" smtClean="0"/>
              <a:t>?”</a:t>
            </a:r>
            <a:endParaRPr lang="en-PH" sz="2400" dirty="0"/>
          </a:p>
          <a:p>
            <a:pPr marL="0" indent="0" algn="just">
              <a:buNone/>
            </a:pPr>
            <a:endParaRPr lang="en-PH" sz="2400" dirty="0"/>
          </a:p>
          <a:p>
            <a:pPr marL="0" indent="0" algn="just">
              <a:buNone/>
            </a:pPr>
            <a:r>
              <a:rPr lang="en-PH" sz="2400" b="1" dirty="0"/>
              <a:t>Explanation:</a:t>
            </a:r>
          </a:p>
          <a:p>
            <a:pPr algn="just"/>
            <a:r>
              <a:rPr lang="en-PH" sz="2400" dirty="0"/>
              <a:t>The domain of Planning, Assessing &amp; Reporting refers to </a:t>
            </a:r>
            <a:r>
              <a:rPr lang="en-PH" sz="2400" dirty="0" smtClean="0"/>
              <a:t>the </a:t>
            </a:r>
            <a:r>
              <a:rPr lang="en-PH" sz="2400" dirty="0"/>
              <a:t>aligned use of assessment and planning activities to </a:t>
            </a:r>
            <a:r>
              <a:rPr lang="en-PH" sz="2400" dirty="0" smtClean="0"/>
              <a:t>ensure </a:t>
            </a:r>
            <a:r>
              <a:rPr lang="en-PH" sz="2400" dirty="0"/>
              <a:t>that the teaching-learning activities are </a:t>
            </a:r>
            <a:r>
              <a:rPr lang="en-PH" sz="2400" dirty="0" smtClean="0"/>
              <a:t> maximally </a:t>
            </a:r>
            <a:r>
              <a:rPr lang="en-PH" sz="2400" dirty="0"/>
              <a:t>appropriate to the </a:t>
            </a:r>
            <a:r>
              <a:rPr lang="en-PH" sz="2400" dirty="0" smtClean="0"/>
              <a:t>students’ current knowledge </a:t>
            </a:r>
            <a:r>
              <a:rPr lang="en-PH" sz="2400" dirty="0"/>
              <a:t>and learning levels. In particular, the </a:t>
            </a:r>
            <a:r>
              <a:rPr lang="en-PH" sz="2400" dirty="0" smtClean="0"/>
              <a:t>domain </a:t>
            </a:r>
            <a:r>
              <a:rPr lang="en-PH" sz="2400" dirty="0"/>
              <a:t>focuses on the use of assessment data to plan &amp; </a:t>
            </a:r>
            <a:r>
              <a:rPr lang="en-PH" sz="2400" dirty="0" smtClean="0"/>
              <a:t>revise </a:t>
            </a:r>
            <a:r>
              <a:rPr lang="en-PH" sz="2400" dirty="0"/>
              <a:t>teaching-learning plans, as well as the integration </a:t>
            </a:r>
            <a:r>
              <a:rPr lang="en-PH" sz="2400" dirty="0" smtClean="0"/>
              <a:t>of </a:t>
            </a:r>
            <a:r>
              <a:rPr lang="en-PH" sz="2400" dirty="0"/>
              <a:t>formative assessment procedures in the plan and </a:t>
            </a:r>
            <a:r>
              <a:rPr lang="en-PH" sz="2400" dirty="0" smtClean="0"/>
              <a:t>implementation </a:t>
            </a:r>
            <a:r>
              <a:rPr lang="en-PH" sz="2400" dirty="0"/>
              <a:t>of teaching-learning activities.</a:t>
            </a:r>
          </a:p>
          <a:p>
            <a:pPr algn="just"/>
            <a:endParaRPr lang="en-PH" sz="2400" dirty="0"/>
          </a:p>
        </p:txBody>
      </p:sp>
    </p:spTree>
    <p:extLst>
      <p:ext uri="{BB962C8B-B14F-4D97-AF65-F5344CB8AC3E}">
        <p14:creationId xmlns:p14="http://schemas.microsoft.com/office/powerpoint/2010/main" val="1660016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781800"/>
          </a:xfrm>
        </p:spPr>
        <p:txBody>
          <a:bodyPr>
            <a:normAutofit/>
          </a:bodyPr>
          <a:lstStyle/>
          <a:p>
            <a:r>
              <a:rPr lang="en-PH" sz="2800" b="1" dirty="0"/>
              <a:t>Domain </a:t>
            </a:r>
            <a:r>
              <a:rPr lang="en-PH" sz="2800" b="1" dirty="0" smtClean="0"/>
              <a:t>6: </a:t>
            </a:r>
            <a:r>
              <a:rPr lang="en-PH" sz="2800" b="1" dirty="0"/>
              <a:t>Community Linkages</a:t>
            </a:r>
          </a:p>
          <a:p>
            <a:r>
              <a:rPr lang="en-PH" sz="2800" b="1" dirty="0"/>
              <a:t>Key Question for the Teacher:</a:t>
            </a:r>
          </a:p>
          <a:p>
            <a:pPr marL="0" indent="0">
              <a:buNone/>
            </a:pPr>
            <a:r>
              <a:rPr lang="en-PH" sz="2800" dirty="0" smtClean="0"/>
              <a:t>“Are </a:t>
            </a:r>
            <a:r>
              <a:rPr lang="en-PH" sz="2800" dirty="0"/>
              <a:t>the goals and characteristics of the </a:t>
            </a:r>
            <a:r>
              <a:rPr lang="en-PH" sz="2800" dirty="0" smtClean="0"/>
              <a:t>teaching-learning </a:t>
            </a:r>
            <a:r>
              <a:rPr lang="en-PH" sz="2800" dirty="0"/>
              <a:t>activities I implement </a:t>
            </a:r>
            <a:r>
              <a:rPr lang="en-PH" sz="2800" dirty="0" smtClean="0"/>
              <a:t>relevant </a:t>
            </a:r>
            <a:r>
              <a:rPr lang="en-PH" sz="2800" dirty="0"/>
              <a:t>to the experiences, values and </a:t>
            </a:r>
            <a:r>
              <a:rPr lang="en-PH" sz="2800" dirty="0" smtClean="0"/>
              <a:t>aspirations </a:t>
            </a:r>
            <a:r>
              <a:rPr lang="en-PH" sz="2800" dirty="0"/>
              <a:t>in my </a:t>
            </a:r>
            <a:r>
              <a:rPr lang="en-PH" sz="2800" dirty="0" smtClean="0"/>
              <a:t>students’ communities?”</a:t>
            </a:r>
          </a:p>
          <a:p>
            <a:pPr marL="0" indent="0">
              <a:buNone/>
            </a:pPr>
            <a:endParaRPr lang="en-PH" sz="100" dirty="0" smtClean="0"/>
          </a:p>
          <a:p>
            <a:pPr marL="0" indent="0">
              <a:buNone/>
            </a:pPr>
            <a:endParaRPr lang="en-PH" sz="100" dirty="0" smtClean="0"/>
          </a:p>
          <a:p>
            <a:pPr marL="0" indent="0">
              <a:buNone/>
            </a:pPr>
            <a:endParaRPr lang="en-PH" sz="100" dirty="0" smtClean="0"/>
          </a:p>
          <a:p>
            <a:pPr marL="0" indent="0">
              <a:buNone/>
            </a:pPr>
            <a:endParaRPr lang="en-PH" sz="100" dirty="0" smtClean="0"/>
          </a:p>
          <a:p>
            <a:pPr marL="0" indent="0">
              <a:buNone/>
            </a:pPr>
            <a:endParaRPr lang="en-PH" sz="100" dirty="0"/>
          </a:p>
          <a:p>
            <a:pPr marL="0" indent="0">
              <a:buNone/>
            </a:pPr>
            <a:endParaRPr lang="en-PH" sz="100" dirty="0"/>
          </a:p>
          <a:p>
            <a:pPr marL="0" indent="0">
              <a:buNone/>
            </a:pPr>
            <a:endParaRPr lang="en-PH" sz="100" dirty="0" smtClean="0"/>
          </a:p>
          <a:p>
            <a:pPr marL="0" indent="0">
              <a:buNone/>
            </a:pPr>
            <a:endParaRPr lang="en-PH" sz="100" dirty="0"/>
          </a:p>
          <a:p>
            <a:pPr marL="0" indent="0">
              <a:buNone/>
            </a:pPr>
            <a:endParaRPr lang="en-PH" sz="100" dirty="0"/>
          </a:p>
          <a:p>
            <a:r>
              <a:rPr lang="en-PH" sz="2800" b="1" dirty="0"/>
              <a:t>Explanation:</a:t>
            </a:r>
          </a:p>
          <a:p>
            <a:r>
              <a:rPr lang="en-PH" sz="2800" dirty="0"/>
              <a:t>The domain of Community Linkages focuses on </a:t>
            </a:r>
            <a:r>
              <a:rPr lang="en-PH" sz="2800" dirty="0" smtClean="0"/>
              <a:t>the </a:t>
            </a:r>
            <a:r>
              <a:rPr lang="en-PH" sz="2800" dirty="0"/>
              <a:t>ideal that school activities are meaningfully </a:t>
            </a:r>
            <a:r>
              <a:rPr lang="en-PH" sz="2800" dirty="0" smtClean="0"/>
              <a:t>linked </a:t>
            </a:r>
            <a:r>
              <a:rPr lang="en-PH" sz="2800" dirty="0"/>
              <a:t>to the experiences and aspirations of the </a:t>
            </a:r>
            <a:r>
              <a:rPr lang="en-PH" sz="2800" dirty="0" smtClean="0"/>
              <a:t>students </a:t>
            </a:r>
            <a:r>
              <a:rPr lang="en-PH" sz="2800" dirty="0"/>
              <a:t>in </a:t>
            </a:r>
            <a:r>
              <a:rPr lang="en-PH" sz="2800" dirty="0" smtClean="0"/>
              <a:t>their homes </a:t>
            </a:r>
            <a:r>
              <a:rPr lang="en-PH" sz="2800" dirty="0"/>
              <a:t>and communities. </a:t>
            </a:r>
            <a:r>
              <a:rPr lang="en-PH" sz="2800" dirty="0" smtClean="0"/>
              <a:t>Thus</a:t>
            </a:r>
            <a:r>
              <a:rPr lang="en-PH" sz="2800" dirty="0"/>
              <a:t>, the domain focuses on teachers’ efforts </a:t>
            </a:r>
            <a:r>
              <a:rPr lang="en-PH" sz="2800" dirty="0" smtClean="0"/>
              <a:t>directed </a:t>
            </a:r>
            <a:r>
              <a:rPr lang="en-PH" sz="2800" dirty="0"/>
              <a:t>at strengthening the links between </a:t>
            </a:r>
            <a:r>
              <a:rPr lang="en-PH" sz="2800" dirty="0" smtClean="0"/>
              <a:t>school </a:t>
            </a:r>
            <a:r>
              <a:rPr lang="en-PH" sz="2800" dirty="0"/>
              <a:t>and community activities as these help in </a:t>
            </a:r>
            <a:r>
              <a:rPr lang="en-PH" sz="2800" dirty="0" smtClean="0"/>
              <a:t>the </a:t>
            </a:r>
            <a:r>
              <a:rPr lang="en-PH" sz="2800" dirty="0"/>
              <a:t>attainment of the </a:t>
            </a:r>
            <a:r>
              <a:rPr lang="en-PH" sz="2800" dirty="0" smtClean="0"/>
              <a:t>curricular objectives</a:t>
            </a:r>
            <a:r>
              <a:rPr lang="en-PH" sz="2800" dirty="0"/>
              <a:t>.</a:t>
            </a:r>
          </a:p>
          <a:p>
            <a:endParaRPr lang="en-PH" sz="2800" dirty="0"/>
          </a:p>
        </p:txBody>
      </p:sp>
    </p:spTree>
    <p:extLst>
      <p:ext uri="{BB962C8B-B14F-4D97-AF65-F5344CB8AC3E}">
        <p14:creationId xmlns:p14="http://schemas.microsoft.com/office/powerpoint/2010/main" val="4041839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991600" cy="6781800"/>
          </a:xfrm>
        </p:spPr>
        <p:txBody>
          <a:bodyPr>
            <a:normAutofit/>
          </a:bodyPr>
          <a:lstStyle/>
          <a:p>
            <a:r>
              <a:rPr lang="en-PH" sz="2800" b="1" dirty="0"/>
              <a:t>Domain </a:t>
            </a:r>
            <a:r>
              <a:rPr lang="en-PH" sz="2800" b="1" dirty="0" smtClean="0"/>
              <a:t>7: </a:t>
            </a:r>
            <a:r>
              <a:rPr lang="en-PH" sz="2800" b="1" dirty="0"/>
              <a:t>Personal Growth and </a:t>
            </a:r>
            <a:r>
              <a:rPr lang="en-PH" sz="2800" b="1" dirty="0" smtClean="0"/>
              <a:t>Professional Development</a:t>
            </a:r>
          </a:p>
          <a:p>
            <a:pPr marL="0" indent="0">
              <a:buNone/>
            </a:pPr>
            <a:endParaRPr lang="en-PH" sz="2800" b="1" dirty="0"/>
          </a:p>
          <a:p>
            <a:r>
              <a:rPr lang="en-PH" sz="2800" b="1" dirty="0"/>
              <a:t>Key Question for the </a:t>
            </a:r>
            <a:r>
              <a:rPr lang="en-PH" sz="2800" b="1" dirty="0" smtClean="0"/>
              <a:t>Teacher</a:t>
            </a:r>
            <a:r>
              <a:rPr lang="en-PH" sz="2800" dirty="0" smtClean="0"/>
              <a:t>:</a:t>
            </a:r>
            <a:endParaRPr lang="en-PH" sz="2800" dirty="0"/>
          </a:p>
          <a:p>
            <a:pPr marL="0" indent="0">
              <a:buNone/>
            </a:pPr>
            <a:r>
              <a:rPr lang="en-PH" sz="2800" dirty="0" smtClean="0"/>
              <a:t>“Do </a:t>
            </a:r>
            <a:r>
              <a:rPr lang="en-PH" sz="2800" dirty="0"/>
              <a:t>my actions and statements </a:t>
            </a:r>
            <a:r>
              <a:rPr lang="en-PH" sz="2800" dirty="0" smtClean="0"/>
              <a:t>indicate </a:t>
            </a:r>
            <a:r>
              <a:rPr lang="en-PH" sz="2800" dirty="0"/>
              <a:t>a high regard for the </a:t>
            </a:r>
            <a:r>
              <a:rPr lang="en-PH" sz="2800" dirty="0" smtClean="0"/>
              <a:t>teaching </a:t>
            </a:r>
            <a:r>
              <a:rPr lang="en-PH" sz="2800" dirty="0"/>
              <a:t>profession and for my </a:t>
            </a:r>
            <a:r>
              <a:rPr lang="en-PH" sz="2800" dirty="0" smtClean="0"/>
              <a:t>continuous development </a:t>
            </a:r>
            <a:r>
              <a:rPr lang="en-PH" sz="2800" dirty="0"/>
              <a:t>as a </a:t>
            </a:r>
            <a:r>
              <a:rPr lang="en-PH" sz="2800" dirty="0" smtClean="0"/>
              <a:t>professional </a:t>
            </a:r>
            <a:r>
              <a:rPr lang="en-PH" sz="2800" dirty="0"/>
              <a:t>teacher</a:t>
            </a:r>
            <a:r>
              <a:rPr lang="en-PH" sz="2800" dirty="0" smtClean="0"/>
              <a:t>?”</a:t>
            </a:r>
            <a:endParaRPr lang="en-PH" sz="2800" dirty="0"/>
          </a:p>
          <a:p>
            <a:pPr marL="0" indent="0">
              <a:buNone/>
            </a:pPr>
            <a:endParaRPr lang="en-PH" sz="2800" dirty="0"/>
          </a:p>
          <a:p>
            <a:r>
              <a:rPr lang="en-PH" sz="2800" b="1" dirty="0"/>
              <a:t>Explanation:</a:t>
            </a:r>
          </a:p>
          <a:p>
            <a:pPr marL="0" indent="0">
              <a:buNone/>
            </a:pPr>
            <a:r>
              <a:rPr lang="en-PH" sz="2800" dirty="0"/>
              <a:t>The domain of Personal Growth and </a:t>
            </a:r>
            <a:r>
              <a:rPr lang="en-PH" sz="2800" dirty="0" smtClean="0"/>
              <a:t>Professional </a:t>
            </a:r>
            <a:r>
              <a:rPr lang="en-PH" sz="2800" dirty="0"/>
              <a:t>Development emphasizes </a:t>
            </a:r>
            <a:r>
              <a:rPr lang="en-PH" sz="2800" dirty="0" smtClean="0"/>
              <a:t>the </a:t>
            </a:r>
            <a:r>
              <a:rPr lang="en-PH" sz="2800" dirty="0"/>
              <a:t>ideal that teachers value having a </a:t>
            </a:r>
            <a:r>
              <a:rPr lang="en-PH" sz="2800" dirty="0" smtClean="0"/>
              <a:t>high </a:t>
            </a:r>
            <a:r>
              <a:rPr lang="en-PH" sz="2800" dirty="0"/>
              <a:t>personal regard, concern for </a:t>
            </a:r>
            <a:r>
              <a:rPr lang="en-PH" sz="2800" dirty="0" smtClean="0"/>
              <a:t>professional </a:t>
            </a:r>
            <a:r>
              <a:rPr lang="en-PH" sz="2800" dirty="0"/>
              <a:t>development, and </a:t>
            </a:r>
            <a:r>
              <a:rPr lang="en-PH" sz="2800" dirty="0" smtClean="0"/>
              <a:t>continuous </a:t>
            </a:r>
            <a:r>
              <a:rPr lang="en-PH" sz="2800" dirty="0"/>
              <a:t>improvement as teachers.</a:t>
            </a:r>
          </a:p>
          <a:p>
            <a:endParaRPr lang="en-PH" sz="2800" dirty="0"/>
          </a:p>
        </p:txBody>
      </p:sp>
    </p:spTree>
    <p:extLst>
      <p:ext uri="{BB962C8B-B14F-4D97-AF65-F5344CB8AC3E}">
        <p14:creationId xmlns:p14="http://schemas.microsoft.com/office/powerpoint/2010/main" val="4221996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Users of NCBTS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Teacher education institutions (TEIs): to craft effective and aligned pre-service education curricula</a:t>
            </a:r>
          </a:p>
          <a:p>
            <a:endParaRPr lang="en-US" dirty="0"/>
          </a:p>
          <a:p>
            <a:r>
              <a:rPr lang="en-US" dirty="0" smtClean="0"/>
              <a:t>Professional Regulation Commission (PRC): to align exams with the NCBTS</a:t>
            </a:r>
          </a:p>
          <a:p>
            <a:endParaRPr lang="en-US" dirty="0"/>
          </a:p>
          <a:p>
            <a:r>
              <a:rPr lang="en-US" dirty="0" smtClean="0"/>
              <a:t>Providers of INSET and other training: to align interventions with the standards of NCBTS</a:t>
            </a:r>
            <a:endParaRPr lang="en-US" dirty="0"/>
          </a:p>
        </p:txBody>
      </p:sp>
    </p:spTree>
    <p:extLst>
      <p:ext uri="{BB962C8B-B14F-4D97-AF65-F5344CB8AC3E}">
        <p14:creationId xmlns:p14="http://schemas.microsoft.com/office/powerpoint/2010/main" val="2128351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Users of NCBTS</a:t>
            </a:r>
            <a:endParaRPr lang="en-US" dirty="0"/>
          </a:p>
        </p:txBody>
      </p:sp>
      <p:sp>
        <p:nvSpPr>
          <p:cNvPr id="3" name="Content Placeholder 2"/>
          <p:cNvSpPr>
            <a:spLocks noGrp="1"/>
          </p:cNvSpPr>
          <p:nvPr>
            <p:ph idx="1"/>
          </p:nvPr>
        </p:nvSpPr>
        <p:spPr/>
        <p:txBody>
          <a:bodyPr>
            <a:normAutofit lnSpcReduction="10000"/>
          </a:bodyPr>
          <a:lstStyle/>
          <a:p>
            <a:r>
              <a:rPr lang="en-US" dirty="0" smtClean="0"/>
              <a:t>Award-giving bodies: refer to NCBTS for criteria of effective teaching</a:t>
            </a:r>
          </a:p>
          <a:p>
            <a:endParaRPr lang="en-US" dirty="0"/>
          </a:p>
          <a:p>
            <a:r>
              <a:rPr lang="en-US" dirty="0" smtClean="0"/>
              <a:t>Department of Education: use it to craft standards for hiring, promotion, supervision, and other policies</a:t>
            </a:r>
          </a:p>
          <a:p>
            <a:endParaRPr lang="en-US" dirty="0"/>
          </a:p>
          <a:p>
            <a:r>
              <a:rPr lang="en-US" smtClean="0"/>
              <a:t>Classroom </a:t>
            </a:r>
            <a:r>
              <a:rPr lang="en-US" dirty="0" smtClean="0"/>
              <a:t>teachers: use it for their profession development</a:t>
            </a:r>
            <a:endParaRPr lang="en-US" dirty="0"/>
          </a:p>
        </p:txBody>
      </p:sp>
    </p:spTree>
    <p:extLst>
      <p:ext uri="{BB962C8B-B14F-4D97-AF65-F5344CB8AC3E}">
        <p14:creationId xmlns:p14="http://schemas.microsoft.com/office/powerpoint/2010/main" val="4125244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90600"/>
          </a:xfrm>
        </p:spPr>
        <p:txBody>
          <a:bodyPr>
            <a:normAutofit fontScale="90000"/>
          </a:bodyPr>
          <a:lstStyle/>
          <a:p>
            <a:pPr lvl="0"/>
            <a:r>
              <a:rPr lang="en-US" b="1" dirty="0" smtClean="0">
                <a:latin typeface="Tahoma" pitchFamily="34" charset="0"/>
                <a:ea typeface="Times New Roman" pitchFamily="18" charset="0"/>
                <a:cs typeface="Tahoma" pitchFamily="34" charset="0"/>
              </a:rPr>
              <a:t>What is an Individual  Plan for Professional Development  (IPPD)?</a:t>
            </a:r>
            <a:r>
              <a:rPr lang="en-US" dirty="0" smtClean="0">
                <a:solidFill>
                  <a:schemeClr val="tx1"/>
                </a:solidFill>
                <a:latin typeface="Arial" pitchFamily="34" charset="0"/>
                <a:cs typeface="Arial" pitchFamily="34" charset="0"/>
              </a:rPr>
              <a:t/>
            </a:r>
            <a:br>
              <a:rPr lang="en-US" dirty="0" smtClean="0">
                <a:solidFill>
                  <a:schemeClr val="tx1"/>
                </a:solidFill>
                <a:latin typeface="Arial" pitchFamily="34" charset="0"/>
                <a:cs typeface="Arial" pitchFamily="34" charset="0"/>
              </a:rPr>
            </a:br>
            <a:endParaRPr lang="en-US" dirty="0"/>
          </a:p>
        </p:txBody>
      </p:sp>
      <p:sp>
        <p:nvSpPr>
          <p:cNvPr id="66561" name="Rectangle 1"/>
          <p:cNvSpPr>
            <a:spLocks noChangeArrowheads="1"/>
          </p:cNvSpPr>
          <p:nvPr/>
        </p:nvSpPr>
        <p:spPr bwMode="auto">
          <a:xfrm>
            <a:off x="457200" y="1676400"/>
            <a:ext cx="83058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An IPPD is a tool that serves as a guide for the professional’s continuous learning and development.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smtClean="0">
              <a:solidFill>
                <a:srgbClr val="000000"/>
              </a:solidFill>
              <a:latin typeface="Tahoma" pitchFamily="34" charset="0"/>
              <a:ea typeface="Times New Roman" pitchFamily="18"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The IPPD is structured such that every professional regularly and individually prepares, implements, monitors and updates the plan.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smtClean="0">
              <a:solidFill>
                <a:srgbClr val="000000"/>
              </a:solidFill>
              <a:latin typeface="Tahoma" pitchFamily="34" charset="0"/>
              <a:ea typeface="Times New Roman" pitchFamily="18"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It is based on the identified development needs revealed by the Training and Development Needs Assessment (TDNA) appropriate for the specific profession and is consistent with the priority development goals of the school, division and region.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235086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686800" cy="990600"/>
          </a:xfrm>
        </p:spPr>
        <p:txBody>
          <a:bodyPr>
            <a:normAutofit fontScale="90000"/>
          </a:bodyPr>
          <a:lstStyle/>
          <a:p>
            <a:pPr lvl="0"/>
            <a:r>
              <a:rPr lang="en-US" b="1" dirty="0" smtClean="0">
                <a:latin typeface="Tahoma" pitchFamily="34" charset="0"/>
                <a:ea typeface="Times New Roman" pitchFamily="18" charset="0"/>
                <a:cs typeface="Tahoma" pitchFamily="34" charset="0"/>
              </a:rPr>
              <a:t>What is the purpose of accomplishing an IPPD?</a:t>
            </a:r>
            <a:r>
              <a:rPr lang="en-US" sz="3200" b="1" dirty="0" smtClean="0">
                <a:latin typeface="Arial" pitchFamily="34" charset="0"/>
                <a:cs typeface="Arial" pitchFamily="34" charset="0"/>
              </a:rPr>
              <a:t/>
            </a:r>
            <a:br>
              <a:rPr lang="en-US" sz="3200" b="1" dirty="0" smtClean="0">
                <a:latin typeface="Arial" pitchFamily="34" charset="0"/>
                <a:cs typeface="Arial" pitchFamily="34" charset="0"/>
              </a:rPr>
            </a:br>
            <a:endParaRPr lang="en-US" b="1" dirty="0"/>
          </a:p>
        </p:txBody>
      </p:sp>
      <p:sp>
        <p:nvSpPr>
          <p:cNvPr id="72705" name="Rectangle 1"/>
          <p:cNvSpPr>
            <a:spLocks noChangeArrowheads="1"/>
          </p:cNvSpPr>
          <p:nvPr/>
        </p:nvSpPr>
        <p:spPr bwMode="auto">
          <a:xfrm>
            <a:off x="381000" y="1524000"/>
            <a:ext cx="8763000"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sz="28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The IPPD is accomplished by the professionals, e.g. School Heads and Teachers, to enable them chart their goals and plan learning activities that enhance their competencies in order for them to work better for the improvement of their school and learners’ performance. </a:t>
            </a:r>
          </a:p>
          <a:p>
            <a:pPr marL="0" marR="0" lvl="0" indent="0" algn="l" defTabSz="914400" rtl="0" eaLnBrk="0" fontAlgn="base" latinLnBrk="0" hangingPunct="0">
              <a:lnSpc>
                <a:spcPct val="100000"/>
              </a:lnSpc>
              <a:spcBef>
                <a:spcPct val="0"/>
              </a:spcBef>
              <a:spcAft>
                <a:spcPct val="0"/>
              </a:spcAft>
              <a:buClrTx/>
              <a:buSzTx/>
              <a:buFontTx/>
              <a:buNone/>
              <a:tabLst/>
            </a:pPr>
            <a:endParaRPr lang="en-US" sz="2800" dirty="0" smtClean="0">
              <a:solidFill>
                <a:srgbClr val="000000"/>
              </a:solidFill>
              <a:latin typeface="Tahoma" pitchFamily="34" charset="0"/>
              <a:ea typeface="Times New Roman" pitchFamily="18"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sz="28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Developing a structured IPPD allows them to practice individual accountability for professional growth and shared responsibility for the entire organization’s development.</a:t>
            </a:r>
            <a:endParaRPr kumimoji="0" lang="en-US" sz="5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831027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95600"/>
            <a:ext cx="8229600" cy="990600"/>
          </a:xfrm>
        </p:spPr>
        <p:txBody>
          <a:bodyPr>
            <a:noAutofit/>
          </a:bodyPr>
          <a:lstStyle/>
          <a:p>
            <a:pPr marL="0" indent="0" algn="ctr"/>
            <a:r>
              <a:rPr lang="en-PH" sz="11500" b="1" dirty="0" smtClean="0"/>
              <a:t>CB-PAST</a:t>
            </a:r>
            <a:endParaRPr lang="en-US" sz="11500" b="1" dirty="0"/>
          </a:p>
        </p:txBody>
      </p:sp>
    </p:spTree>
    <p:extLst>
      <p:ext uri="{BB962C8B-B14F-4D97-AF65-F5344CB8AC3E}">
        <p14:creationId xmlns:p14="http://schemas.microsoft.com/office/powerpoint/2010/main" val="3964300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3600" b="1" dirty="0" smtClean="0"/>
              <a:t>CB-PAST</a:t>
            </a:r>
            <a:endParaRPr lang="en-PH" sz="3600" b="1" dirty="0"/>
          </a:p>
        </p:txBody>
      </p:sp>
      <p:sp>
        <p:nvSpPr>
          <p:cNvPr id="3" name="Content Placeholder 2"/>
          <p:cNvSpPr>
            <a:spLocks noGrp="1"/>
          </p:cNvSpPr>
          <p:nvPr>
            <p:ph idx="1"/>
          </p:nvPr>
        </p:nvSpPr>
        <p:spPr/>
        <p:txBody>
          <a:bodyPr>
            <a:normAutofit fontScale="85000" lnSpcReduction="10000"/>
          </a:bodyPr>
          <a:lstStyle/>
          <a:p>
            <a:r>
              <a:rPr lang="en-PH" dirty="0" smtClean="0"/>
              <a:t>CB-PAST means COMPETENCY-BASED PERFORMANCE </a:t>
            </a:r>
            <a:r>
              <a:rPr lang="en-PH" dirty="0"/>
              <a:t>APPRAISAL SYSTEM FOR </a:t>
            </a:r>
            <a:r>
              <a:rPr lang="en-PH" dirty="0" smtClean="0"/>
              <a:t>TEACHERS.</a:t>
            </a:r>
          </a:p>
          <a:p>
            <a:pPr marL="0" indent="0">
              <a:buNone/>
            </a:pPr>
            <a:endParaRPr lang="en-PH" dirty="0" smtClean="0"/>
          </a:p>
          <a:p>
            <a:r>
              <a:rPr lang="en-PH" dirty="0" smtClean="0"/>
              <a:t>CB-PAST is a tool used to assess public school teacher’s performance  in terms of instructional competence, school, home and community linkages and personal, social growth and professional characteristics.</a:t>
            </a:r>
          </a:p>
          <a:p>
            <a:pPr marL="0" indent="0">
              <a:buNone/>
            </a:pPr>
            <a:endParaRPr lang="en-PH" dirty="0"/>
          </a:p>
          <a:p>
            <a:r>
              <a:rPr lang="en-PH" dirty="0" smtClean="0"/>
              <a:t>CB-PAST is an appraisal system which addresses one of the mandates of the Department as embodied in the Republic Act 9155.</a:t>
            </a:r>
            <a:endParaRPr lang="en-PH" dirty="0"/>
          </a:p>
        </p:txBody>
      </p:sp>
    </p:spTree>
    <p:extLst>
      <p:ext uri="{BB962C8B-B14F-4D97-AF65-F5344CB8AC3E}">
        <p14:creationId xmlns:p14="http://schemas.microsoft.com/office/powerpoint/2010/main" val="1013517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AREAS OF CB-PAST</a:t>
            </a:r>
            <a:endParaRPr lang="en-PH" b="1" dirty="0"/>
          </a:p>
        </p:txBody>
      </p:sp>
      <p:sp>
        <p:nvSpPr>
          <p:cNvPr id="3" name="Content Placeholder 2"/>
          <p:cNvSpPr>
            <a:spLocks noGrp="1"/>
          </p:cNvSpPr>
          <p:nvPr>
            <p:ph idx="1"/>
          </p:nvPr>
        </p:nvSpPr>
        <p:spPr/>
        <p:txBody>
          <a:bodyPr>
            <a:normAutofit/>
          </a:bodyPr>
          <a:lstStyle/>
          <a:p>
            <a:r>
              <a:rPr lang="en-PH" sz="3200" dirty="0" smtClean="0"/>
              <a:t>I. INSTRUCTIONAL COMPTENCE</a:t>
            </a:r>
          </a:p>
          <a:p>
            <a:endParaRPr lang="en-PH" sz="3200" dirty="0"/>
          </a:p>
          <a:p>
            <a:r>
              <a:rPr lang="en-PH" sz="3200" dirty="0" smtClean="0"/>
              <a:t>II. SCHOOL, HOME AND COMMUNITY LINKAGES</a:t>
            </a:r>
          </a:p>
          <a:p>
            <a:endParaRPr lang="en-PH" sz="3200" dirty="0"/>
          </a:p>
          <a:p>
            <a:r>
              <a:rPr lang="en-PH" sz="3200" dirty="0" smtClean="0"/>
              <a:t>III. PERSONAL, SOCIAL GROWTH AND PROFESSIONAL CHARACTERISTICS</a:t>
            </a:r>
            <a:endParaRPr lang="en-PH" sz="3200" dirty="0"/>
          </a:p>
        </p:txBody>
      </p:sp>
    </p:spTree>
    <p:extLst>
      <p:ext uri="{BB962C8B-B14F-4D97-AF65-F5344CB8AC3E}">
        <p14:creationId xmlns:p14="http://schemas.microsoft.com/office/powerpoint/2010/main" val="12399491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I. INSTRUCTIONAL </a:t>
            </a:r>
            <a:r>
              <a:rPr lang="en-PH" b="1" dirty="0"/>
              <a:t>COMPTENCE</a:t>
            </a:r>
          </a:p>
        </p:txBody>
      </p:sp>
      <p:sp>
        <p:nvSpPr>
          <p:cNvPr id="3" name="Content Placeholder 2"/>
          <p:cNvSpPr>
            <a:spLocks noGrp="1"/>
          </p:cNvSpPr>
          <p:nvPr>
            <p:ph idx="1"/>
          </p:nvPr>
        </p:nvSpPr>
        <p:spPr/>
        <p:txBody>
          <a:bodyPr>
            <a:normAutofit/>
          </a:bodyPr>
          <a:lstStyle/>
          <a:p>
            <a:r>
              <a:rPr lang="en-PH" sz="3200" dirty="0" smtClean="0"/>
              <a:t>A. Diversity of Learners</a:t>
            </a:r>
          </a:p>
          <a:p>
            <a:endParaRPr lang="en-PH" sz="3200" dirty="0"/>
          </a:p>
          <a:p>
            <a:r>
              <a:rPr lang="en-PH" sz="3200" dirty="0" smtClean="0"/>
              <a:t>B. Curriculum Content and Pedagogy</a:t>
            </a:r>
          </a:p>
          <a:p>
            <a:endParaRPr lang="en-PH" sz="3200" dirty="0"/>
          </a:p>
          <a:p>
            <a:r>
              <a:rPr lang="en-PH" sz="3200" dirty="0" smtClean="0"/>
              <a:t>C. Planning, Assessing and Reporting</a:t>
            </a:r>
          </a:p>
          <a:p>
            <a:pPr marL="0" indent="0">
              <a:buNone/>
            </a:pPr>
            <a:endParaRPr lang="en-PH" sz="3200" dirty="0"/>
          </a:p>
        </p:txBody>
      </p:sp>
    </p:spTree>
    <p:extLst>
      <p:ext uri="{BB962C8B-B14F-4D97-AF65-F5344CB8AC3E}">
        <p14:creationId xmlns:p14="http://schemas.microsoft.com/office/powerpoint/2010/main" val="34543521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a:t>II. SCHOOL, HOME AND COMMUNITY LINKAGES</a:t>
            </a:r>
          </a:p>
        </p:txBody>
      </p:sp>
      <p:sp>
        <p:nvSpPr>
          <p:cNvPr id="3" name="Content Placeholder 2"/>
          <p:cNvSpPr>
            <a:spLocks noGrp="1"/>
          </p:cNvSpPr>
          <p:nvPr>
            <p:ph idx="1"/>
          </p:nvPr>
        </p:nvSpPr>
        <p:spPr/>
        <p:txBody>
          <a:bodyPr>
            <a:normAutofit/>
          </a:bodyPr>
          <a:lstStyle/>
          <a:p>
            <a:pPr marL="0" indent="0">
              <a:buNone/>
            </a:pPr>
            <a:endParaRPr lang="en-PH" sz="3200" dirty="0"/>
          </a:p>
          <a:p>
            <a:r>
              <a:rPr lang="en-PH" sz="3200" dirty="0" smtClean="0"/>
              <a:t>A. LEARNING ENVIRONMENT</a:t>
            </a:r>
          </a:p>
          <a:p>
            <a:endParaRPr lang="en-PH" sz="3200" dirty="0"/>
          </a:p>
          <a:p>
            <a:r>
              <a:rPr lang="en-PH" sz="3200" dirty="0" smtClean="0"/>
              <a:t>B. COMMUNITY LINKAGES</a:t>
            </a:r>
            <a:endParaRPr lang="en-PH" sz="3200" dirty="0"/>
          </a:p>
        </p:txBody>
      </p:sp>
    </p:spTree>
    <p:extLst>
      <p:ext uri="{BB962C8B-B14F-4D97-AF65-F5344CB8AC3E}">
        <p14:creationId xmlns:p14="http://schemas.microsoft.com/office/powerpoint/2010/main" val="2009565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90600"/>
          </a:xfrm>
        </p:spPr>
        <p:txBody>
          <a:bodyPr>
            <a:normAutofit fontScale="90000"/>
          </a:bodyPr>
          <a:lstStyle/>
          <a:p>
            <a:r>
              <a:rPr lang="en-PH" b="1" dirty="0" smtClean="0"/>
              <a:t>III. PERSONAL</a:t>
            </a:r>
            <a:r>
              <a:rPr lang="en-PH" b="1" dirty="0"/>
              <a:t>, SOCIAL GROWTH AND PROFESSIONAL CHARACTERISTICS</a:t>
            </a:r>
          </a:p>
        </p:txBody>
      </p:sp>
      <p:sp>
        <p:nvSpPr>
          <p:cNvPr id="3" name="Content Placeholder 2"/>
          <p:cNvSpPr>
            <a:spLocks noGrp="1"/>
          </p:cNvSpPr>
          <p:nvPr>
            <p:ph idx="1"/>
          </p:nvPr>
        </p:nvSpPr>
        <p:spPr>
          <a:xfrm>
            <a:off x="533400" y="2005361"/>
            <a:ext cx="8229600" cy="4876800"/>
          </a:xfrm>
        </p:spPr>
        <p:txBody>
          <a:bodyPr>
            <a:normAutofit/>
          </a:bodyPr>
          <a:lstStyle/>
          <a:p>
            <a:endParaRPr lang="en-PH" sz="3200" dirty="0" smtClean="0"/>
          </a:p>
          <a:p>
            <a:r>
              <a:rPr lang="en-PH" sz="3200" dirty="0" smtClean="0"/>
              <a:t>A. Social Regard for Learning</a:t>
            </a:r>
          </a:p>
          <a:p>
            <a:endParaRPr lang="en-PH" sz="3200" dirty="0"/>
          </a:p>
          <a:p>
            <a:r>
              <a:rPr lang="en-PH" sz="3200" dirty="0" smtClean="0"/>
              <a:t>B. Personal, Social Growth and Professional Development</a:t>
            </a:r>
            <a:endParaRPr lang="en-PH" sz="3200" dirty="0"/>
          </a:p>
        </p:txBody>
      </p:sp>
    </p:spTree>
    <p:extLst>
      <p:ext uri="{BB962C8B-B14F-4D97-AF65-F5344CB8AC3E}">
        <p14:creationId xmlns:p14="http://schemas.microsoft.com/office/powerpoint/2010/main" val="730412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b="1" dirty="0" smtClean="0"/>
              <a:t>PERSONS INVOLVED IN THE USE OF CB-PAST</a:t>
            </a:r>
            <a:endParaRPr lang="en-PH" b="1" dirty="0"/>
          </a:p>
        </p:txBody>
      </p:sp>
      <p:sp>
        <p:nvSpPr>
          <p:cNvPr id="3" name="Content Placeholder 2"/>
          <p:cNvSpPr>
            <a:spLocks noGrp="1"/>
          </p:cNvSpPr>
          <p:nvPr>
            <p:ph idx="1"/>
          </p:nvPr>
        </p:nvSpPr>
        <p:spPr/>
        <p:txBody>
          <a:bodyPr>
            <a:normAutofit fontScale="92500" lnSpcReduction="20000"/>
          </a:bodyPr>
          <a:lstStyle/>
          <a:p>
            <a:r>
              <a:rPr lang="en-PH" b="1" dirty="0" smtClean="0"/>
              <a:t>The Individual Teacher</a:t>
            </a:r>
          </a:p>
          <a:p>
            <a:endParaRPr lang="en-PH" b="1" dirty="0"/>
          </a:p>
          <a:p>
            <a:r>
              <a:rPr lang="en-PH" b="1" dirty="0" smtClean="0"/>
              <a:t>The School Principal</a:t>
            </a:r>
          </a:p>
          <a:p>
            <a:endParaRPr lang="en-PH" b="1" dirty="0"/>
          </a:p>
          <a:p>
            <a:r>
              <a:rPr lang="en-PH" b="1" dirty="0" smtClean="0"/>
              <a:t>The Supervisor</a:t>
            </a:r>
          </a:p>
          <a:p>
            <a:endParaRPr lang="en-PH" b="1" dirty="0"/>
          </a:p>
          <a:p>
            <a:r>
              <a:rPr lang="en-PH" b="1" dirty="0" smtClean="0"/>
              <a:t>The Department Heads</a:t>
            </a:r>
          </a:p>
          <a:p>
            <a:endParaRPr lang="en-PH" b="1" dirty="0"/>
          </a:p>
          <a:p>
            <a:r>
              <a:rPr lang="en-PH" b="1" dirty="0" smtClean="0"/>
              <a:t>The Schools Division Superintendent</a:t>
            </a:r>
            <a:endParaRPr lang="en-PH" b="1" dirty="0"/>
          </a:p>
        </p:txBody>
      </p:sp>
    </p:spTree>
    <p:extLst>
      <p:ext uri="{BB962C8B-B14F-4D97-AF65-F5344CB8AC3E}">
        <p14:creationId xmlns:p14="http://schemas.microsoft.com/office/powerpoint/2010/main" val="1397243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PH" b="1" dirty="0" smtClean="0"/>
              <a:t>RPMS</a:t>
            </a:r>
            <a:endParaRPr lang="en-PH" b="1" dirty="0"/>
          </a:p>
        </p:txBody>
      </p:sp>
      <p:sp>
        <p:nvSpPr>
          <p:cNvPr id="3" name="Content Placeholder 2"/>
          <p:cNvSpPr>
            <a:spLocks noGrp="1"/>
          </p:cNvSpPr>
          <p:nvPr>
            <p:ph idx="1"/>
          </p:nvPr>
        </p:nvSpPr>
        <p:spPr>
          <a:xfrm>
            <a:off x="228600" y="838200"/>
            <a:ext cx="8763000" cy="5867400"/>
          </a:xfrm>
        </p:spPr>
        <p:txBody>
          <a:bodyPr>
            <a:normAutofit fontScale="85000" lnSpcReduction="10000"/>
          </a:bodyPr>
          <a:lstStyle/>
          <a:p>
            <a:r>
              <a:rPr lang="en-PH" dirty="0" smtClean="0"/>
              <a:t>RPMS means Results-Based Performance Management System.</a:t>
            </a:r>
          </a:p>
          <a:p>
            <a:endParaRPr lang="en-PH" dirty="0"/>
          </a:p>
          <a:p>
            <a:r>
              <a:rPr lang="en-PH" dirty="0" smtClean="0"/>
              <a:t>RPMS replaces the CB-PAST and take effect among the public schools in the Philippines since the S.Y. 2014-2015.</a:t>
            </a:r>
          </a:p>
          <a:p>
            <a:endParaRPr lang="en-PH" dirty="0"/>
          </a:p>
          <a:p>
            <a:r>
              <a:rPr lang="en-PH" dirty="0" smtClean="0"/>
              <a:t>RPMS is a shared undertaking  between the superior and the employee that allows an open discussion of job expectations, key result areas, objectives and how these align to overall departmental goals.</a:t>
            </a:r>
          </a:p>
          <a:p>
            <a:endParaRPr lang="en-PH" dirty="0"/>
          </a:p>
          <a:p>
            <a:r>
              <a:rPr lang="en-PH" dirty="0" smtClean="0"/>
              <a:t>It provides a venue for agreement on standards of performance and </a:t>
            </a:r>
            <a:r>
              <a:rPr lang="en-PH" dirty="0" err="1" smtClean="0"/>
              <a:t>behaviors</a:t>
            </a:r>
            <a:r>
              <a:rPr lang="en-PH" dirty="0" smtClean="0"/>
              <a:t> which lead to personal and professional growth in the organization.</a:t>
            </a:r>
            <a:endParaRPr lang="en-PH" dirty="0"/>
          </a:p>
        </p:txBody>
      </p:sp>
    </p:spTree>
    <p:extLst>
      <p:ext uri="{BB962C8B-B14F-4D97-AF65-F5344CB8AC3E}">
        <p14:creationId xmlns:p14="http://schemas.microsoft.com/office/powerpoint/2010/main" val="15383817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PH" b="1" dirty="0" smtClean="0"/>
              <a:t>RPMS</a:t>
            </a:r>
            <a:endParaRPr lang="en-PH" b="1" dirty="0"/>
          </a:p>
        </p:txBody>
      </p:sp>
      <p:sp>
        <p:nvSpPr>
          <p:cNvPr id="3" name="Content Placeholder 2"/>
          <p:cNvSpPr>
            <a:spLocks noGrp="1"/>
          </p:cNvSpPr>
          <p:nvPr>
            <p:ph idx="1"/>
          </p:nvPr>
        </p:nvSpPr>
        <p:spPr>
          <a:xfrm>
            <a:off x="228600" y="838200"/>
            <a:ext cx="8763000" cy="5867400"/>
          </a:xfrm>
        </p:spPr>
        <p:txBody>
          <a:bodyPr>
            <a:normAutofit fontScale="92500" lnSpcReduction="10000"/>
          </a:bodyPr>
          <a:lstStyle/>
          <a:p>
            <a:endParaRPr lang="en-PH" dirty="0" smtClean="0"/>
          </a:p>
          <a:p>
            <a:r>
              <a:rPr lang="en-PH" dirty="0" smtClean="0"/>
              <a:t>RPMS uses a form called IPCR which serves as a tool to assess teacher’s performance in terms of four parts.</a:t>
            </a:r>
            <a:endParaRPr lang="en-PH" dirty="0"/>
          </a:p>
          <a:p>
            <a:r>
              <a:rPr lang="en-PH" dirty="0"/>
              <a:t>IPCR means Individual Performance Commitment and Review Form</a:t>
            </a:r>
            <a:r>
              <a:rPr lang="en-PH" dirty="0" smtClean="0"/>
              <a:t>.</a:t>
            </a:r>
          </a:p>
          <a:p>
            <a:endParaRPr lang="en-PH" dirty="0"/>
          </a:p>
          <a:p>
            <a:r>
              <a:rPr lang="en-PH" dirty="0" smtClean="0"/>
              <a:t>FOUR PARTS OF IPCR</a:t>
            </a:r>
            <a:endParaRPr lang="en-PH" dirty="0"/>
          </a:p>
          <a:p>
            <a:r>
              <a:rPr lang="en-PH" dirty="0" smtClean="0"/>
              <a:t>PART 1.Accomplishements of KRAs and Objectives</a:t>
            </a:r>
          </a:p>
          <a:p>
            <a:r>
              <a:rPr lang="en-PH" dirty="0" smtClean="0"/>
              <a:t>PART 2.Competencies</a:t>
            </a:r>
          </a:p>
          <a:p>
            <a:r>
              <a:rPr lang="en-PH" dirty="0" smtClean="0"/>
              <a:t>PART 3.Summary of Ratings for Discussion</a:t>
            </a:r>
          </a:p>
          <a:p>
            <a:r>
              <a:rPr lang="en-PH" dirty="0" smtClean="0"/>
              <a:t>PART 4.Development Plans</a:t>
            </a:r>
            <a:endParaRPr lang="en-PH" dirty="0"/>
          </a:p>
        </p:txBody>
      </p:sp>
    </p:spTree>
    <p:extLst>
      <p:ext uri="{BB962C8B-B14F-4D97-AF65-F5344CB8AC3E}">
        <p14:creationId xmlns:p14="http://schemas.microsoft.com/office/powerpoint/2010/main" val="3109189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RPMS</a:t>
            </a:r>
            <a:endParaRPr lang="en-PH" b="1" dirty="0"/>
          </a:p>
        </p:txBody>
      </p:sp>
      <p:sp>
        <p:nvSpPr>
          <p:cNvPr id="3" name="Content Placeholder 2"/>
          <p:cNvSpPr>
            <a:spLocks noGrp="1"/>
          </p:cNvSpPr>
          <p:nvPr>
            <p:ph idx="1"/>
          </p:nvPr>
        </p:nvSpPr>
        <p:spPr/>
        <p:txBody>
          <a:bodyPr>
            <a:normAutofit fontScale="77500" lnSpcReduction="20000"/>
          </a:bodyPr>
          <a:lstStyle/>
          <a:p>
            <a:r>
              <a:rPr lang="en-PH" b="1" dirty="0" smtClean="0"/>
              <a:t>Scaling System</a:t>
            </a:r>
          </a:p>
          <a:p>
            <a:pPr marL="0" indent="0">
              <a:buNone/>
            </a:pPr>
            <a:endParaRPr lang="en-PH" dirty="0" smtClean="0"/>
          </a:p>
          <a:p>
            <a:r>
              <a:rPr lang="en-PH" dirty="0" smtClean="0"/>
              <a:t>A score of 1 means poor.</a:t>
            </a:r>
          </a:p>
          <a:p>
            <a:endParaRPr lang="en-PH" dirty="0" smtClean="0"/>
          </a:p>
          <a:p>
            <a:r>
              <a:rPr lang="en-PH" dirty="0" smtClean="0"/>
              <a:t>A score of 2 means unsatisfactory.</a:t>
            </a:r>
          </a:p>
          <a:p>
            <a:endParaRPr lang="en-PH" dirty="0" smtClean="0"/>
          </a:p>
          <a:p>
            <a:r>
              <a:rPr lang="en-PH" dirty="0" smtClean="0"/>
              <a:t>A score of 3 means satisfactory.</a:t>
            </a:r>
          </a:p>
          <a:p>
            <a:endParaRPr lang="en-PH" dirty="0" smtClean="0"/>
          </a:p>
          <a:p>
            <a:r>
              <a:rPr lang="en-PH" dirty="0" smtClean="0"/>
              <a:t>A score of 4 means very satisfactory.</a:t>
            </a:r>
          </a:p>
          <a:p>
            <a:endParaRPr lang="en-PH" dirty="0" smtClean="0"/>
          </a:p>
          <a:p>
            <a:r>
              <a:rPr lang="en-PH" dirty="0" smtClean="0"/>
              <a:t>A score of 5 means outstanding.</a:t>
            </a:r>
          </a:p>
        </p:txBody>
      </p:sp>
    </p:spTree>
    <p:extLst>
      <p:ext uri="{BB962C8B-B14F-4D97-AF65-F5344CB8AC3E}">
        <p14:creationId xmlns:p14="http://schemas.microsoft.com/office/powerpoint/2010/main" val="2222435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53129"/>
            <a:ext cx="6400800" cy="1362075"/>
          </a:xfrm>
        </p:spPr>
        <p:txBody>
          <a:bodyPr>
            <a:normAutofit fontScale="90000"/>
          </a:bodyPr>
          <a:lstStyle/>
          <a:p>
            <a:r>
              <a:rPr lang="en-US" dirty="0" smtClean="0"/>
              <a:t>Professional Organizations for Teachers</a:t>
            </a:r>
            <a:endParaRPr lang="en-US" dirty="0"/>
          </a:p>
        </p:txBody>
      </p:sp>
    </p:spTree>
    <p:extLst>
      <p:ext uri="{BB962C8B-B14F-4D97-AF65-F5344CB8AC3E}">
        <p14:creationId xmlns:p14="http://schemas.microsoft.com/office/powerpoint/2010/main" val="20841470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Professional Organizations</a:t>
            </a:r>
            <a:endParaRPr lang="en-US" dirty="0"/>
          </a:p>
        </p:txBody>
      </p:sp>
      <p:sp>
        <p:nvSpPr>
          <p:cNvPr id="3" name="Content Placeholder 2"/>
          <p:cNvSpPr>
            <a:spLocks noGrp="1"/>
          </p:cNvSpPr>
          <p:nvPr>
            <p:ph idx="1"/>
          </p:nvPr>
        </p:nvSpPr>
        <p:spPr/>
        <p:txBody>
          <a:bodyPr/>
          <a:lstStyle/>
          <a:p>
            <a:pPr algn="just"/>
            <a:r>
              <a:rPr lang="en-US" dirty="0" smtClean="0"/>
              <a:t>Professional organizations are either local or international groups devoted to help the officers and members improve.</a:t>
            </a:r>
          </a:p>
          <a:p>
            <a:pPr algn="just"/>
            <a:endParaRPr lang="en-US" dirty="0"/>
          </a:p>
          <a:p>
            <a:pPr algn="just"/>
            <a:r>
              <a:rPr lang="en-US" dirty="0" smtClean="0"/>
              <a:t>Some have research publications, while others provide seminars and training, and also organize conferences.</a:t>
            </a:r>
            <a:endParaRPr lang="en-US" dirty="0"/>
          </a:p>
        </p:txBody>
      </p:sp>
    </p:spTree>
    <p:extLst>
      <p:ext uri="{BB962C8B-B14F-4D97-AF65-F5344CB8AC3E}">
        <p14:creationId xmlns:p14="http://schemas.microsoft.com/office/powerpoint/2010/main" val="28226206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Professional Organizations</a:t>
            </a:r>
            <a:endParaRPr lang="en-US" dirty="0"/>
          </a:p>
        </p:txBody>
      </p:sp>
      <p:sp>
        <p:nvSpPr>
          <p:cNvPr id="3" name="Content Placeholder 2"/>
          <p:cNvSpPr>
            <a:spLocks noGrp="1"/>
          </p:cNvSpPr>
          <p:nvPr>
            <p:ph idx="1"/>
          </p:nvPr>
        </p:nvSpPr>
        <p:spPr/>
        <p:txBody>
          <a:bodyPr/>
          <a:lstStyle/>
          <a:p>
            <a:pPr algn="just"/>
            <a:endParaRPr lang="en-US" dirty="0" smtClean="0"/>
          </a:p>
          <a:p>
            <a:pPr algn="just"/>
            <a:r>
              <a:rPr lang="en-US" dirty="0" smtClean="0"/>
              <a:t>Do not just be limited to organizations devoted in general to education or teaching.</a:t>
            </a:r>
          </a:p>
          <a:p>
            <a:pPr algn="just"/>
            <a:endParaRPr lang="en-US" dirty="0"/>
          </a:p>
          <a:p>
            <a:pPr algn="just"/>
            <a:r>
              <a:rPr lang="en-US" dirty="0" smtClean="0"/>
              <a:t>Be a member of specialized associations or organizations.</a:t>
            </a:r>
          </a:p>
        </p:txBody>
      </p:sp>
    </p:spTree>
    <p:extLst>
      <p:ext uri="{BB962C8B-B14F-4D97-AF65-F5344CB8AC3E}">
        <p14:creationId xmlns:p14="http://schemas.microsoft.com/office/powerpoint/2010/main" val="27724122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Foundations</a:t>
            </a:r>
            <a:endParaRPr lang="en-US" dirty="0"/>
          </a:p>
        </p:txBody>
      </p:sp>
      <p:sp>
        <p:nvSpPr>
          <p:cNvPr id="3" name="Content Placeholder 2"/>
          <p:cNvSpPr>
            <a:spLocks noGrp="1"/>
          </p:cNvSpPr>
          <p:nvPr>
            <p:ph idx="1"/>
          </p:nvPr>
        </p:nvSpPr>
        <p:spPr/>
        <p:txBody>
          <a:bodyPr/>
          <a:lstStyle/>
          <a:p>
            <a:pPr algn="just"/>
            <a:r>
              <a:rPr lang="en-US" dirty="0" smtClean="0"/>
              <a:t>Foundations are often charitable organizations bound to support a given cause.</a:t>
            </a:r>
          </a:p>
          <a:p>
            <a:pPr algn="just"/>
            <a:endParaRPr lang="en-US" dirty="0"/>
          </a:p>
          <a:p>
            <a:pPr algn="just"/>
            <a:r>
              <a:rPr lang="en-US" dirty="0" smtClean="0"/>
              <a:t>Among the most famous foundations related to teachers is the </a:t>
            </a:r>
            <a:r>
              <a:rPr lang="en-US" dirty="0" err="1" smtClean="0"/>
              <a:t>Metrobank</a:t>
            </a:r>
            <a:r>
              <a:rPr lang="en-US" dirty="0" smtClean="0"/>
              <a:t> Foundation, which confers the “</a:t>
            </a:r>
            <a:r>
              <a:rPr lang="en-US" dirty="0" err="1" smtClean="0"/>
              <a:t>Metrobank</a:t>
            </a:r>
            <a:r>
              <a:rPr lang="en-US" dirty="0" smtClean="0"/>
              <a:t> Outstanding Teacher Award.” There are ten (10) awardees per year, and they get at least P400,000 each.</a:t>
            </a:r>
            <a:endParaRPr lang="en-US" dirty="0"/>
          </a:p>
        </p:txBody>
      </p:sp>
    </p:spTree>
    <p:extLst>
      <p:ext uri="{BB962C8B-B14F-4D97-AF65-F5344CB8AC3E}">
        <p14:creationId xmlns:p14="http://schemas.microsoft.com/office/powerpoint/2010/main" val="8198834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Effective Teaching</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47414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eaLnBrk="1" hangingPunct="1"/>
            <a:r>
              <a:rPr lang="en-US" sz="4000" b="1" dirty="0" smtClean="0"/>
              <a:t>Components of Effective Teaching</a:t>
            </a:r>
          </a:p>
        </p:txBody>
      </p:sp>
      <p:sp>
        <p:nvSpPr>
          <p:cNvPr id="3075" name="Rectangle 3"/>
          <p:cNvSpPr>
            <a:spLocks noGrp="1" noChangeArrowheads="1"/>
          </p:cNvSpPr>
          <p:nvPr>
            <p:ph sz="half" idx="1"/>
          </p:nvPr>
        </p:nvSpPr>
        <p:spPr>
          <a:xfrm>
            <a:off x="457200" y="1600200"/>
            <a:ext cx="4040188" cy="4525963"/>
          </a:xfrm>
        </p:spPr>
        <p:txBody>
          <a:bodyPr>
            <a:normAutofit/>
          </a:bodyPr>
          <a:lstStyle/>
          <a:p>
            <a:pPr marL="381000" indent="-381000" eaLnBrk="1" hangingPunct="1">
              <a:lnSpc>
                <a:spcPct val="80000"/>
              </a:lnSpc>
              <a:buFontTx/>
              <a:buAutoNum type="arabicPeriod"/>
            </a:pPr>
            <a:r>
              <a:rPr lang="en-US" sz="2000" b="1" i="1" dirty="0" smtClean="0"/>
              <a:t>Analytic/Synthetic Approach</a:t>
            </a:r>
          </a:p>
          <a:p>
            <a:pPr marL="381000" indent="-381000" eaLnBrk="1" hangingPunct="1">
              <a:lnSpc>
                <a:spcPct val="80000"/>
              </a:lnSpc>
              <a:buFontTx/>
              <a:buNone/>
            </a:pPr>
            <a:endParaRPr lang="en-US" sz="2000" b="1" dirty="0" smtClean="0"/>
          </a:p>
          <a:p>
            <a:pPr marL="381000" indent="-381000" eaLnBrk="1" hangingPunct="1">
              <a:lnSpc>
                <a:spcPct val="80000"/>
              </a:lnSpc>
            </a:pPr>
            <a:r>
              <a:rPr lang="en-US" sz="2000" dirty="0" smtClean="0"/>
              <a:t>Discusses points of view other than his/her own</a:t>
            </a:r>
          </a:p>
          <a:p>
            <a:pPr marL="381000" indent="-381000" eaLnBrk="1" hangingPunct="1">
              <a:lnSpc>
                <a:spcPct val="80000"/>
              </a:lnSpc>
            </a:pPr>
            <a:r>
              <a:rPr lang="en-US" sz="2000" dirty="0" smtClean="0"/>
              <a:t>Contrasts implications of various theories</a:t>
            </a:r>
          </a:p>
          <a:p>
            <a:pPr marL="381000" indent="-381000" eaLnBrk="1" hangingPunct="1">
              <a:lnSpc>
                <a:spcPct val="80000"/>
              </a:lnSpc>
            </a:pPr>
            <a:r>
              <a:rPr lang="en-US" sz="2000" dirty="0" smtClean="0"/>
              <a:t>Discusses recent developments in the field</a:t>
            </a:r>
          </a:p>
          <a:p>
            <a:pPr marL="381000" indent="-381000" eaLnBrk="1" hangingPunct="1">
              <a:lnSpc>
                <a:spcPct val="80000"/>
              </a:lnSpc>
            </a:pPr>
            <a:r>
              <a:rPr lang="en-US" sz="2000" dirty="0" smtClean="0"/>
              <a:t>Presents origins of ideas and concepts</a:t>
            </a:r>
          </a:p>
          <a:p>
            <a:pPr marL="381000" indent="-381000" eaLnBrk="1" hangingPunct="1">
              <a:lnSpc>
                <a:spcPct val="80000"/>
              </a:lnSpc>
            </a:pPr>
            <a:r>
              <a:rPr lang="en-US" sz="2000" dirty="0" smtClean="0"/>
              <a:t>Gives references for more interesting and involved points</a:t>
            </a:r>
          </a:p>
          <a:p>
            <a:pPr marL="381000" indent="-381000" eaLnBrk="1" hangingPunct="1">
              <a:lnSpc>
                <a:spcPct val="80000"/>
              </a:lnSpc>
            </a:pPr>
            <a:r>
              <a:rPr lang="en-US" sz="2000" dirty="0" smtClean="0"/>
              <a:t>Presents facts and concepts from related fields</a:t>
            </a:r>
          </a:p>
          <a:p>
            <a:pPr marL="381000" indent="-381000" eaLnBrk="1" hangingPunct="1">
              <a:lnSpc>
                <a:spcPct val="80000"/>
              </a:lnSpc>
            </a:pPr>
            <a:r>
              <a:rPr lang="en-US" sz="2000" dirty="0" smtClean="0"/>
              <a:t>Emphasizes conceptual understanding</a:t>
            </a:r>
          </a:p>
          <a:p>
            <a:pPr marL="381000" indent="-381000" eaLnBrk="1" hangingPunct="1">
              <a:lnSpc>
                <a:spcPct val="80000"/>
              </a:lnSpc>
              <a:buFontTx/>
              <a:buNone/>
            </a:pPr>
            <a:endParaRPr lang="en-US" sz="2000" dirty="0" smtClean="0"/>
          </a:p>
        </p:txBody>
      </p:sp>
      <p:sp>
        <p:nvSpPr>
          <p:cNvPr id="3076" name="Rectangle 4"/>
          <p:cNvSpPr>
            <a:spLocks noGrp="1" noChangeArrowheads="1"/>
          </p:cNvSpPr>
          <p:nvPr>
            <p:ph sz="half" idx="2"/>
          </p:nvPr>
        </p:nvSpPr>
        <p:spPr>
          <a:xfrm>
            <a:off x="4646613" y="1600200"/>
            <a:ext cx="4040187" cy="4525963"/>
          </a:xfrm>
        </p:spPr>
        <p:txBody>
          <a:bodyPr>
            <a:normAutofit/>
          </a:bodyPr>
          <a:lstStyle/>
          <a:p>
            <a:pPr eaLnBrk="1" hangingPunct="1">
              <a:lnSpc>
                <a:spcPct val="80000"/>
              </a:lnSpc>
              <a:buFontTx/>
              <a:buAutoNum type="arabicPeriod" startAt="2"/>
            </a:pPr>
            <a:r>
              <a:rPr lang="en-US" sz="2000" b="1" i="1" smtClean="0"/>
              <a:t>Organization/Clarity</a:t>
            </a:r>
            <a:endParaRPr lang="en-US" sz="2000" b="1" smtClean="0"/>
          </a:p>
          <a:p>
            <a:pPr eaLnBrk="1" hangingPunct="1">
              <a:lnSpc>
                <a:spcPct val="80000"/>
              </a:lnSpc>
            </a:pPr>
            <a:r>
              <a:rPr lang="en-US" sz="2000" smtClean="0"/>
              <a:t>Explains clearly</a:t>
            </a:r>
          </a:p>
          <a:p>
            <a:pPr eaLnBrk="1" hangingPunct="1">
              <a:lnSpc>
                <a:spcPct val="80000"/>
              </a:lnSpc>
            </a:pPr>
            <a:r>
              <a:rPr lang="en-US" sz="2000" smtClean="0"/>
              <a:t>Is well prepared</a:t>
            </a:r>
          </a:p>
          <a:p>
            <a:pPr eaLnBrk="1" hangingPunct="1">
              <a:lnSpc>
                <a:spcPct val="80000"/>
              </a:lnSpc>
            </a:pPr>
            <a:r>
              <a:rPr lang="en-US" sz="2000" smtClean="0"/>
              <a:t>Gives lectures that are easy to outline</a:t>
            </a:r>
          </a:p>
          <a:p>
            <a:pPr eaLnBrk="1" hangingPunct="1">
              <a:lnSpc>
                <a:spcPct val="80000"/>
              </a:lnSpc>
            </a:pPr>
            <a:r>
              <a:rPr lang="en-US" sz="2000" smtClean="0"/>
              <a:t>Is careful and precise in answering questions</a:t>
            </a:r>
          </a:p>
          <a:p>
            <a:pPr eaLnBrk="1" hangingPunct="1">
              <a:lnSpc>
                <a:spcPct val="80000"/>
              </a:lnSpc>
            </a:pPr>
            <a:r>
              <a:rPr lang="en-US" sz="2000" smtClean="0"/>
              <a:t>Summarizes major points</a:t>
            </a:r>
          </a:p>
          <a:p>
            <a:pPr eaLnBrk="1" hangingPunct="1">
              <a:lnSpc>
                <a:spcPct val="80000"/>
              </a:lnSpc>
            </a:pPr>
            <a:r>
              <a:rPr lang="en-US" sz="2000" smtClean="0"/>
              <a:t>States objectives for each class session</a:t>
            </a:r>
          </a:p>
          <a:p>
            <a:pPr eaLnBrk="1" hangingPunct="1">
              <a:lnSpc>
                <a:spcPct val="80000"/>
              </a:lnSpc>
            </a:pPr>
            <a:r>
              <a:rPr lang="en-US" sz="2000" smtClean="0"/>
              <a:t>Identifies what he/she considers important</a:t>
            </a:r>
          </a:p>
          <a:p>
            <a:pPr eaLnBrk="1" hangingPunct="1">
              <a:lnSpc>
                <a:spcPct val="80000"/>
              </a:lnSpc>
              <a:buFontTx/>
              <a:buNone/>
            </a:pPr>
            <a:r>
              <a:rPr lang="en-US" sz="2000" smtClean="0"/>
              <a:t>	 </a:t>
            </a:r>
          </a:p>
        </p:txBody>
      </p:sp>
      <p:pic>
        <p:nvPicPr>
          <p:cNvPr id="3077" name="Picture 5" descr="j0195812"/>
          <p:cNvPicPr>
            <a:picLocks noChangeAspect="1" noChangeArrowheads="1"/>
          </p:cNvPicPr>
          <p:nvPr/>
        </p:nvPicPr>
        <p:blipFill>
          <a:blip r:embed="rId2"/>
          <a:srcRect/>
          <a:stretch>
            <a:fillRect/>
          </a:stretch>
        </p:blipFill>
        <p:spPr bwMode="auto">
          <a:xfrm flipH="1">
            <a:off x="4419600" y="5029200"/>
            <a:ext cx="3733800" cy="1524000"/>
          </a:xfrm>
          <a:prstGeom prst="rect">
            <a:avLst/>
          </a:prstGeom>
          <a:noFill/>
          <a:ln w="9525">
            <a:noFill/>
            <a:miter lim="800000"/>
            <a:headEnd/>
            <a:tailEnd/>
          </a:ln>
        </p:spPr>
      </p:pic>
    </p:spTree>
    <p:extLst>
      <p:ext uri="{BB962C8B-B14F-4D97-AF65-F5344CB8AC3E}">
        <p14:creationId xmlns:p14="http://schemas.microsoft.com/office/powerpoint/2010/main" val="1700694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z="4000" b="1" dirty="0" smtClean="0"/>
              <a:t>Components of Effective Teaching</a:t>
            </a:r>
          </a:p>
        </p:txBody>
      </p:sp>
      <p:sp>
        <p:nvSpPr>
          <p:cNvPr id="4099" name="Rectangle 3"/>
          <p:cNvSpPr>
            <a:spLocks noGrp="1" noChangeArrowheads="1"/>
          </p:cNvSpPr>
          <p:nvPr>
            <p:ph sz="half" idx="1"/>
          </p:nvPr>
        </p:nvSpPr>
        <p:spPr>
          <a:xfrm>
            <a:off x="457200" y="1295400"/>
            <a:ext cx="4038600" cy="4830763"/>
          </a:xfrm>
        </p:spPr>
        <p:txBody>
          <a:bodyPr>
            <a:normAutofit/>
          </a:bodyPr>
          <a:lstStyle/>
          <a:p>
            <a:pPr marL="381000" indent="-381000" eaLnBrk="1" hangingPunct="1">
              <a:lnSpc>
                <a:spcPct val="90000"/>
              </a:lnSpc>
              <a:buFontTx/>
              <a:buAutoNum type="arabicPeriod" startAt="3"/>
            </a:pPr>
            <a:r>
              <a:rPr lang="en-US" sz="2000" b="1" i="1" dirty="0" smtClean="0"/>
              <a:t>Instructor-Group Interaction</a:t>
            </a:r>
            <a:endParaRPr lang="en-US" sz="2000" dirty="0" smtClean="0"/>
          </a:p>
          <a:p>
            <a:pPr marL="381000" indent="-381000" eaLnBrk="1" hangingPunct="1">
              <a:lnSpc>
                <a:spcPct val="90000"/>
              </a:lnSpc>
            </a:pPr>
            <a:r>
              <a:rPr lang="en-US" sz="2000" dirty="0" smtClean="0"/>
              <a:t>Encourages class discussion</a:t>
            </a:r>
          </a:p>
          <a:p>
            <a:pPr marL="381000" indent="-381000" eaLnBrk="1" hangingPunct="1">
              <a:lnSpc>
                <a:spcPct val="90000"/>
              </a:lnSpc>
            </a:pPr>
            <a:r>
              <a:rPr lang="en-US" sz="2000" dirty="0" smtClean="0"/>
              <a:t>Invites students to share their knowledge and experiences</a:t>
            </a:r>
          </a:p>
          <a:p>
            <a:pPr marL="381000" indent="-381000" eaLnBrk="1" hangingPunct="1">
              <a:lnSpc>
                <a:spcPct val="90000"/>
              </a:lnSpc>
            </a:pPr>
            <a:r>
              <a:rPr lang="en-US" sz="2000" dirty="0" smtClean="0"/>
              <a:t>Clarifies thinking by identifying reasons for questions</a:t>
            </a:r>
          </a:p>
          <a:p>
            <a:pPr marL="381000" indent="-381000" eaLnBrk="1" hangingPunct="1">
              <a:lnSpc>
                <a:spcPct val="90000"/>
              </a:lnSpc>
            </a:pPr>
            <a:r>
              <a:rPr lang="en-US" sz="2000" dirty="0" smtClean="0"/>
              <a:t>Invites criticism of his/her own ideas</a:t>
            </a:r>
          </a:p>
          <a:p>
            <a:pPr marL="381000" indent="-381000" eaLnBrk="1" hangingPunct="1">
              <a:lnSpc>
                <a:spcPct val="90000"/>
              </a:lnSpc>
            </a:pPr>
            <a:r>
              <a:rPr lang="en-US" sz="2000" dirty="0" smtClean="0"/>
              <a:t>Knows if the class is understanding him/her or not</a:t>
            </a:r>
          </a:p>
          <a:p>
            <a:pPr marL="381000" indent="-381000" eaLnBrk="1" hangingPunct="1">
              <a:lnSpc>
                <a:spcPct val="90000"/>
              </a:lnSpc>
            </a:pPr>
            <a:r>
              <a:rPr lang="en-US" sz="2000" dirty="0" smtClean="0"/>
              <a:t>Has interest and concern in the quality of his/her teaching</a:t>
            </a:r>
          </a:p>
          <a:p>
            <a:pPr marL="381000" indent="-381000" eaLnBrk="1" hangingPunct="1">
              <a:lnSpc>
                <a:spcPct val="90000"/>
              </a:lnSpc>
            </a:pPr>
            <a:r>
              <a:rPr lang="en-US" sz="2000" dirty="0" smtClean="0"/>
              <a:t>Has students apply concepts to demonstrate understanding</a:t>
            </a:r>
          </a:p>
          <a:p>
            <a:pPr marL="381000" indent="-381000" eaLnBrk="1" hangingPunct="1">
              <a:lnSpc>
                <a:spcPct val="90000"/>
              </a:lnSpc>
            </a:pPr>
            <a:endParaRPr lang="en-US" sz="2000" dirty="0" smtClean="0"/>
          </a:p>
        </p:txBody>
      </p:sp>
      <p:sp>
        <p:nvSpPr>
          <p:cNvPr id="4100" name="Rectangle 4"/>
          <p:cNvSpPr>
            <a:spLocks noGrp="1" noChangeArrowheads="1"/>
          </p:cNvSpPr>
          <p:nvPr>
            <p:ph sz="half" idx="2"/>
          </p:nvPr>
        </p:nvSpPr>
        <p:spPr>
          <a:xfrm>
            <a:off x="4648200" y="1219200"/>
            <a:ext cx="4038600" cy="4906963"/>
          </a:xfrm>
        </p:spPr>
        <p:txBody>
          <a:bodyPr>
            <a:normAutofit/>
          </a:bodyPr>
          <a:lstStyle/>
          <a:p>
            <a:pPr marL="381000" indent="-381000" eaLnBrk="1" hangingPunct="1">
              <a:lnSpc>
                <a:spcPct val="90000"/>
              </a:lnSpc>
              <a:buFont typeface="Wingdings" pitchFamily="2" charset="2"/>
              <a:buAutoNum type="arabicPeriod" startAt="4"/>
            </a:pPr>
            <a:r>
              <a:rPr lang="en-US" sz="2000" b="1" i="1" smtClean="0"/>
              <a:t>Instructor--Individual Student Interaction</a:t>
            </a:r>
            <a:endParaRPr lang="en-US" sz="2000" b="1" smtClean="0"/>
          </a:p>
          <a:p>
            <a:pPr marL="381000" indent="-381000" eaLnBrk="1" hangingPunct="1">
              <a:lnSpc>
                <a:spcPct val="90000"/>
              </a:lnSpc>
            </a:pPr>
            <a:r>
              <a:rPr lang="en-US" sz="2000" smtClean="0"/>
              <a:t>Has a genuine interest in students</a:t>
            </a:r>
          </a:p>
          <a:p>
            <a:pPr marL="381000" indent="-381000" eaLnBrk="1" hangingPunct="1">
              <a:lnSpc>
                <a:spcPct val="90000"/>
              </a:lnSpc>
            </a:pPr>
            <a:r>
              <a:rPr lang="en-US" sz="2000" smtClean="0"/>
              <a:t>Is friendly toward students</a:t>
            </a:r>
          </a:p>
          <a:p>
            <a:pPr marL="381000" indent="-381000" eaLnBrk="1" hangingPunct="1">
              <a:lnSpc>
                <a:spcPct val="90000"/>
              </a:lnSpc>
            </a:pPr>
            <a:r>
              <a:rPr lang="en-US" sz="2000" smtClean="0"/>
              <a:t>Relates to students as individuals</a:t>
            </a:r>
          </a:p>
          <a:p>
            <a:pPr marL="381000" indent="-381000" eaLnBrk="1" hangingPunct="1">
              <a:lnSpc>
                <a:spcPct val="90000"/>
              </a:lnSpc>
            </a:pPr>
            <a:r>
              <a:rPr lang="en-US" sz="2000" smtClean="0"/>
              <a:t>Recognizes and greets students out of class</a:t>
            </a:r>
          </a:p>
          <a:p>
            <a:pPr marL="381000" indent="-381000" eaLnBrk="1" hangingPunct="1">
              <a:lnSpc>
                <a:spcPct val="90000"/>
              </a:lnSpc>
            </a:pPr>
            <a:r>
              <a:rPr lang="en-US" sz="2000" smtClean="0"/>
              <a:t>Is accessible to students out of class</a:t>
            </a:r>
          </a:p>
          <a:p>
            <a:pPr marL="381000" indent="-381000" eaLnBrk="1" hangingPunct="1">
              <a:lnSpc>
                <a:spcPct val="90000"/>
              </a:lnSpc>
            </a:pPr>
            <a:r>
              <a:rPr lang="en-US" sz="2000" smtClean="0"/>
              <a:t>Is valued for advice not directly related to the course</a:t>
            </a:r>
          </a:p>
          <a:p>
            <a:pPr marL="381000" indent="-381000" eaLnBrk="1" hangingPunct="1">
              <a:lnSpc>
                <a:spcPct val="90000"/>
              </a:lnSpc>
            </a:pPr>
            <a:r>
              <a:rPr lang="en-US" sz="2000" smtClean="0"/>
              <a:t>Respects students as persons</a:t>
            </a:r>
          </a:p>
          <a:p>
            <a:pPr marL="381000" indent="-381000" eaLnBrk="1" hangingPunct="1">
              <a:lnSpc>
                <a:spcPct val="90000"/>
              </a:lnSpc>
              <a:buFontTx/>
              <a:buNone/>
            </a:pPr>
            <a:r>
              <a:rPr lang="en-US" sz="2000" smtClean="0"/>
              <a:t>	 </a:t>
            </a:r>
          </a:p>
        </p:txBody>
      </p:sp>
    </p:spTree>
    <p:extLst>
      <p:ext uri="{BB962C8B-B14F-4D97-AF65-F5344CB8AC3E}">
        <p14:creationId xmlns:p14="http://schemas.microsoft.com/office/powerpoint/2010/main" val="26485813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sz="4000" b="1" dirty="0" smtClean="0"/>
              <a:t>Components of Effective Teaching</a:t>
            </a:r>
          </a:p>
        </p:txBody>
      </p:sp>
      <p:sp>
        <p:nvSpPr>
          <p:cNvPr id="5123" name="Rectangle 3"/>
          <p:cNvSpPr>
            <a:spLocks noGrp="1" noChangeArrowheads="1"/>
          </p:cNvSpPr>
          <p:nvPr>
            <p:ph idx="1"/>
          </p:nvPr>
        </p:nvSpPr>
        <p:spPr/>
        <p:txBody>
          <a:bodyPr>
            <a:normAutofit/>
          </a:bodyPr>
          <a:lstStyle/>
          <a:p>
            <a:pPr marL="533400" indent="-533400" eaLnBrk="1" hangingPunct="1">
              <a:lnSpc>
                <a:spcPct val="80000"/>
              </a:lnSpc>
              <a:buFont typeface="Wingdings" pitchFamily="2" charset="2"/>
              <a:buAutoNum type="arabicPeriod" startAt="5"/>
            </a:pPr>
            <a:r>
              <a:rPr lang="en-US" sz="2800" b="1" i="1" dirty="0" smtClean="0"/>
              <a:t>Dynamism/Enthusiasm</a:t>
            </a:r>
          </a:p>
          <a:p>
            <a:pPr marL="533400" indent="-533400" eaLnBrk="1" hangingPunct="1">
              <a:lnSpc>
                <a:spcPct val="80000"/>
              </a:lnSpc>
              <a:buFont typeface="Wingdings" pitchFamily="2" charset="2"/>
              <a:buNone/>
            </a:pPr>
            <a:endParaRPr lang="en-US" sz="2800" b="1" dirty="0" smtClean="0"/>
          </a:p>
          <a:p>
            <a:pPr marL="533400" indent="-533400" eaLnBrk="1" hangingPunct="1">
              <a:lnSpc>
                <a:spcPct val="80000"/>
              </a:lnSpc>
            </a:pPr>
            <a:r>
              <a:rPr lang="en-US" sz="2800" dirty="0" smtClean="0"/>
              <a:t>Is a dynamic and energetic person</a:t>
            </a:r>
          </a:p>
          <a:p>
            <a:pPr marL="533400" indent="-533400" eaLnBrk="1" hangingPunct="1">
              <a:lnSpc>
                <a:spcPct val="80000"/>
              </a:lnSpc>
            </a:pPr>
            <a:r>
              <a:rPr lang="en-US" sz="2800" dirty="0" smtClean="0"/>
              <a:t>Has an interesting style of presentation</a:t>
            </a:r>
          </a:p>
          <a:p>
            <a:pPr marL="533400" indent="-533400" eaLnBrk="1" hangingPunct="1">
              <a:lnSpc>
                <a:spcPct val="80000"/>
              </a:lnSpc>
            </a:pPr>
            <a:r>
              <a:rPr lang="en-US" sz="2800" dirty="0" smtClean="0"/>
              <a:t>Seems to enjoy teaching</a:t>
            </a:r>
          </a:p>
          <a:p>
            <a:pPr marL="533400" indent="-533400" eaLnBrk="1" hangingPunct="1">
              <a:lnSpc>
                <a:spcPct val="80000"/>
              </a:lnSpc>
            </a:pPr>
            <a:r>
              <a:rPr lang="en-US" sz="2800" dirty="0" smtClean="0"/>
              <a:t>Is enthusiastic about the subject</a:t>
            </a:r>
          </a:p>
          <a:p>
            <a:pPr marL="533400" indent="-533400" eaLnBrk="1" hangingPunct="1">
              <a:lnSpc>
                <a:spcPct val="80000"/>
              </a:lnSpc>
            </a:pPr>
            <a:r>
              <a:rPr lang="en-US" sz="2800" dirty="0" smtClean="0"/>
              <a:t>Seems to have self-confidence</a:t>
            </a:r>
          </a:p>
          <a:p>
            <a:pPr marL="533400" indent="-533400" eaLnBrk="1" hangingPunct="1">
              <a:lnSpc>
                <a:spcPct val="80000"/>
              </a:lnSpc>
            </a:pPr>
            <a:r>
              <a:rPr lang="en-US" sz="2800" dirty="0" smtClean="0"/>
              <a:t>Varies the speed and tone of voice</a:t>
            </a:r>
          </a:p>
          <a:p>
            <a:pPr marL="533400" indent="-533400" eaLnBrk="1" hangingPunct="1">
              <a:lnSpc>
                <a:spcPct val="80000"/>
              </a:lnSpc>
            </a:pPr>
            <a:r>
              <a:rPr lang="en-US" sz="2800" dirty="0" smtClean="0"/>
              <a:t>Has a sense of humor</a:t>
            </a:r>
            <a:endParaRPr lang="en-US" sz="2800" b="1" dirty="0" smtClean="0"/>
          </a:p>
          <a:p>
            <a:pPr marL="533400" indent="-533400" eaLnBrk="1" hangingPunct="1">
              <a:lnSpc>
                <a:spcPct val="80000"/>
              </a:lnSpc>
              <a:buFontTx/>
              <a:buNone/>
            </a:pPr>
            <a:r>
              <a:rPr lang="en-US" sz="2800" dirty="0" smtClean="0"/>
              <a:t> </a:t>
            </a:r>
          </a:p>
        </p:txBody>
      </p:sp>
    </p:spTree>
    <p:extLst>
      <p:ext uri="{BB962C8B-B14F-4D97-AF65-F5344CB8AC3E}">
        <p14:creationId xmlns:p14="http://schemas.microsoft.com/office/powerpoint/2010/main" val="210413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a:t>
            </a:r>
            <a:r>
              <a:rPr lang="en-US" baseline="30000" dirty="0" smtClean="0"/>
              <a:t>st</a:t>
            </a:r>
            <a:r>
              <a:rPr lang="en-US" dirty="0" smtClean="0"/>
              <a:t>-Century Education</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669667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of 21</a:t>
            </a:r>
            <a:r>
              <a:rPr lang="en-US" baseline="30000" dirty="0" smtClean="0"/>
              <a:t>st</a:t>
            </a:r>
            <a:r>
              <a:rPr lang="en-US" dirty="0" smtClean="0"/>
              <a:t>-Century Learners</a:t>
            </a:r>
            <a:endParaRPr lang="en-US" dirty="0"/>
          </a:p>
        </p:txBody>
      </p:sp>
      <p:pic>
        <p:nvPicPr>
          <p:cNvPr id="4" name="Content Placeholder 3" descr="TEACH Learner - 21st Century Learners.jpg"/>
          <p:cNvPicPr>
            <a:picLocks noGrp="1" noChangeAspect="1"/>
          </p:cNvPicPr>
          <p:nvPr>
            <p:ph idx="1"/>
          </p:nvPr>
        </p:nvPicPr>
        <p:blipFill>
          <a:blip r:embed="rId2">
            <a:extLst>
              <a:ext uri="{28A0092B-C50C-407E-A947-70E740481C1C}">
                <a14:useLocalDpi xmlns:a14="http://schemas.microsoft.com/office/drawing/2010/main" val="0"/>
              </a:ext>
            </a:extLst>
          </a:blip>
          <a:srcRect t="13080" b="13080"/>
          <a:stretch>
            <a:fillRect/>
          </a:stretch>
        </p:blipFill>
        <p:spPr/>
      </p:pic>
    </p:spTree>
    <p:extLst>
      <p:ext uri="{BB962C8B-B14F-4D97-AF65-F5344CB8AC3E}">
        <p14:creationId xmlns:p14="http://schemas.microsoft.com/office/powerpoint/2010/main" val="11311590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bodyPr>
          <a:lstStyle/>
          <a:p>
            <a:pPr eaLnBrk="1" hangingPunct="1"/>
            <a:r>
              <a:rPr lang="en-US" sz="4300">
                <a:effectLst>
                  <a:outerShdw blurRad="38100" dist="38100" dir="2700000" algn="tl">
                    <a:srgbClr val="0064E2"/>
                  </a:outerShdw>
                </a:effectLst>
                <a:latin typeface="Corbel" charset="0"/>
                <a:ea typeface="ヒラギノ角ゴ Pro W3" charset="0"/>
                <a:cs typeface="ヒラギノ角ゴ Pro W3" charset="0"/>
              </a:rPr>
              <a:t>Who is the 21</a:t>
            </a:r>
            <a:r>
              <a:rPr lang="en-US" sz="4300" baseline="30000">
                <a:effectLst>
                  <a:outerShdw blurRad="38100" dist="38100" dir="2700000" algn="tl">
                    <a:srgbClr val="0064E2"/>
                  </a:outerShdw>
                </a:effectLst>
                <a:latin typeface="Corbel" charset="0"/>
                <a:ea typeface="ヒラギノ角ゴ Pro W3" charset="0"/>
                <a:cs typeface="ヒラギノ角ゴ Pro W3" charset="0"/>
              </a:rPr>
              <a:t>st</a:t>
            </a:r>
            <a:r>
              <a:rPr lang="en-US" sz="4300">
                <a:effectLst>
                  <a:outerShdw blurRad="38100" dist="38100" dir="2700000" algn="tl">
                    <a:srgbClr val="0064E2"/>
                  </a:outerShdw>
                </a:effectLst>
                <a:latin typeface="Corbel" charset="0"/>
                <a:ea typeface="ヒラギノ角ゴ Pro W3" charset="0"/>
                <a:cs typeface="ヒラギノ角ゴ Pro W3" charset="0"/>
              </a:rPr>
              <a:t>-Century Learner?</a:t>
            </a:r>
          </a:p>
        </p:txBody>
      </p:sp>
      <p:pic>
        <p:nvPicPr>
          <p:cNvPr id="15363" name="Content Placeholder 3" descr="21st Century Learners"/>
          <p:cNvPicPr>
            <a:picLocks noGrp="1" noChangeAspect="1"/>
          </p:cNvPicPr>
          <p:nvPr>
            <p:ph idx="1"/>
          </p:nvPr>
        </p:nvPicPr>
        <p:blipFill>
          <a:blip r:embed="rId2">
            <a:extLst>
              <a:ext uri="{28A0092B-C50C-407E-A947-70E740481C1C}">
                <a14:useLocalDpi xmlns:a14="http://schemas.microsoft.com/office/drawing/2010/main" val="0"/>
              </a:ext>
            </a:extLst>
          </a:blip>
          <a:srcRect l="-17592" r="-17592"/>
          <a:stretch>
            <a:fillRect/>
          </a:stretch>
        </p:blipFill>
        <p:spPr bwMode="auto"/>
      </p:pic>
      <p:sp>
        <p:nvSpPr>
          <p:cNvPr id="15364" name="TextBox 4"/>
          <p:cNvSpPr txBox="1">
            <a:spLocks noChangeArrowheads="1"/>
          </p:cNvSpPr>
          <p:nvPr/>
        </p:nvSpPr>
        <p:spPr bwMode="auto">
          <a:xfrm>
            <a:off x="1182688" y="6454775"/>
            <a:ext cx="690403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ヒラギノ角ゴ Pro W3" charset="0"/>
                <a:cs typeface="ヒラギノ角ゴ Pro W3" charset="0"/>
              </a:defRPr>
            </a:lvl1pPr>
            <a:lvl2pPr marL="37931725" indent="-37474525" eaLnBrk="0" hangingPunct="0">
              <a:defRPr sz="2400">
                <a:solidFill>
                  <a:schemeClr val="tx1"/>
                </a:solidFill>
                <a:latin typeface="Arial" charset="0"/>
                <a:ea typeface="ヒラギノ角ゴ Pro W3" charset="0"/>
                <a:cs typeface="ヒラギノ角ゴ Pro W3" charset="0"/>
              </a:defRPr>
            </a:lvl2pPr>
            <a:lvl3pPr eaLnBrk="0" hangingPunct="0">
              <a:defRPr sz="2400">
                <a:solidFill>
                  <a:schemeClr val="tx1"/>
                </a:solidFill>
                <a:latin typeface="Arial" charset="0"/>
                <a:ea typeface="ヒラギノ角ゴ Pro W3" charset="0"/>
                <a:cs typeface="ヒラギノ角ゴ Pro W3" charset="0"/>
              </a:defRPr>
            </a:lvl3pPr>
            <a:lvl4pPr eaLnBrk="0" hangingPunct="0">
              <a:defRPr sz="2400">
                <a:solidFill>
                  <a:schemeClr val="tx1"/>
                </a:solidFill>
                <a:latin typeface="Arial" charset="0"/>
                <a:ea typeface="ヒラギノ角ゴ Pro W3" charset="0"/>
                <a:cs typeface="ヒラギノ角ゴ Pro W3" charset="0"/>
              </a:defRPr>
            </a:lvl4pPr>
            <a:lvl5pPr eaLnBrk="0" hangingPunct="0">
              <a:defRPr sz="2400">
                <a:solidFill>
                  <a:schemeClr val="tx1"/>
                </a:solidFill>
                <a:latin typeface="Arial" charset="0"/>
                <a:ea typeface="ヒラギノ角ゴ Pro W3" charset="0"/>
                <a:cs typeface="ヒラギノ角ゴ Pro W3" charset="0"/>
              </a:defRPr>
            </a:lvl5pPr>
            <a:lvl6pPr marL="4572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9144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1371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18288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eaLnBrk="1" hangingPunct="1"/>
            <a:r>
              <a:rPr lang="en-US" sz="1400">
                <a:latin typeface="Corbel" charset="0"/>
              </a:rPr>
              <a:t>Photo Credit: </a:t>
            </a:r>
            <a:r>
              <a:rPr lang="en-US" sz="1400">
                <a:latin typeface="Corbel" charset="0"/>
                <a:hlinkClick r:id="rId3"/>
              </a:rPr>
              <a:t>http://www.rockyview.ab.ca/home/21stC/learning/assets/images/gears/</a:t>
            </a:r>
            <a:r>
              <a:rPr lang="en-US" sz="1400">
                <a:latin typeface="Corbel" charset="0"/>
              </a:rPr>
              <a:t> </a:t>
            </a:r>
          </a:p>
        </p:txBody>
      </p:sp>
    </p:spTree>
    <p:extLst>
      <p:ext uri="{BB962C8B-B14F-4D97-AF65-F5344CB8AC3E}">
        <p14:creationId xmlns:p14="http://schemas.microsoft.com/office/powerpoint/2010/main" val="28300186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bodyPr>
          <a:lstStyle/>
          <a:p>
            <a:pPr eaLnBrk="1" hangingPunct="1"/>
            <a:r>
              <a:rPr lang="en-US">
                <a:effectLst>
                  <a:outerShdw blurRad="38100" dist="38100" dir="2700000" algn="tl">
                    <a:srgbClr val="0064E2"/>
                  </a:outerShdw>
                </a:effectLst>
                <a:latin typeface="Corbel" charset="0"/>
                <a:ea typeface="ヒラギノ角ゴ Pro W3" charset="0"/>
                <a:cs typeface="ヒラギノ角ゴ Pro W3" charset="0"/>
              </a:rPr>
              <a:t>What are the categories?</a:t>
            </a:r>
          </a:p>
        </p:txBody>
      </p:sp>
      <p:pic>
        <p:nvPicPr>
          <p:cNvPr id="16387" name="Picture 4" descr="9197811_orig.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9288" y="1847850"/>
            <a:ext cx="3814762"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6" descr="2492505_orig.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3125" y="1847850"/>
            <a:ext cx="3813175"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7" descr="2937523_orig.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9288" y="4048125"/>
            <a:ext cx="3814762"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8" descr="370565_orig.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99000" y="4056063"/>
            <a:ext cx="37973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66879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ASEAN INTEGRATION</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1502856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GLOBALIZATION AND EDUCATION</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446573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GLOBALIZATION ISSUES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035214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noAutofit/>
          </a:bodyPr>
          <a:lstStyle/>
          <a:p>
            <a:pPr algn="ctr"/>
            <a:r>
              <a:rPr lang="en-US" sz="6000" b="1" dirty="0"/>
              <a:t>LEGAL BASES OF </a:t>
            </a:r>
            <a:r>
              <a:rPr lang="en-US" sz="6000" b="1" dirty="0" smtClean="0"/>
              <a:t>EDUCATION</a:t>
            </a:r>
          </a:p>
        </p:txBody>
      </p:sp>
      <p:sp>
        <p:nvSpPr>
          <p:cNvPr id="2" name="Text Placeholder 1"/>
          <p:cNvSpPr>
            <a:spLocks noGrp="1"/>
          </p:cNvSpPr>
          <p:nvPr>
            <p:ph type="body" idx="1"/>
          </p:nvPr>
        </p:nvSpPr>
        <p:spPr/>
        <p:txBody>
          <a:bodyPr/>
          <a:lstStyle/>
          <a:p>
            <a:endParaRPr lang="en-US"/>
          </a:p>
        </p:txBody>
      </p:sp>
    </p:spTree>
    <p:extLst>
      <p:ext uri="{BB962C8B-B14F-4D97-AF65-F5344CB8AC3E}">
        <p14:creationId xmlns:p14="http://schemas.microsoft.com/office/powerpoint/2010/main" val="1485245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219200" y="0"/>
            <a:ext cx="6324600" cy="6858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0" y="762000"/>
            <a:ext cx="8991600" cy="5029200"/>
          </a:xfrm>
        </p:spPr>
        <p:txBody>
          <a:bodyPr>
            <a:noAutofit/>
          </a:bodyPr>
          <a:lstStyle/>
          <a:p>
            <a:pPr eaLnBrk="1" hangingPunct="1">
              <a:defRPr/>
            </a:pPr>
            <a:r>
              <a:rPr lang="en-US" sz="2800" b="1" dirty="0" smtClean="0"/>
              <a:t>1.  The Philippines Constitution of 1987</a:t>
            </a:r>
          </a:p>
          <a:p>
            <a:pPr lvl="2" eaLnBrk="1" hangingPunct="1">
              <a:defRPr/>
            </a:pPr>
            <a:r>
              <a:rPr lang="en-US" sz="2800" dirty="0" smtClean="0"/>
              <a:t>Article XIV – Education Science and Technology, Arts, Culture and Sports</a:t>
            </a:r>
          </a:p>
          <a:p>
            <a:pPr lvl="3" eaLnBrk="1" hangingPunct="1">
              <a:defRPr/>
            </a:pPr>
            <a:r>
              <a:rPr lang="en-US" sz="2800" dirty="0" smtClean="0"/>
              <a:t>The State shall protect and promote the right of all citizens to quality education at all levels and shall take appropriate steps to make such education accessible to all</a:t>
            </a:r>
          </a:p>
          <a:p>
            <a:pPr lvl="3" eaLnBrk="1" hangingPunct="1">
              <a:defRPr/>
            </a:pPr>
            <a:r>
              <a:rPr lang="en-US" sz="2800" dirty="0" smtClean="0"/>
              <a:t>The State shall enhance the right of teachers to professional advancement</a:t>
            </a:r>
          </a:p>
          <a:p>
            <a:pPr lvl="3" eaLnBrk="1" hangingPunct="1">
              <a:defRPr/>
            </a:pPr>
            <a:r>
              <a:rPr lang="en-US" sz="2800" dirty="0" smtClean="0"/>
              <a:t>The State shall establish, maintain and support a complete, adequate and integrated system of education relevant to the needs of the people and society…</a:t>
            </a:r>
          </a:p>
        </p:txBody>
      </p:sp>
    </p:spTree>
    <p:extLst>
      <p:ext uri="{BB962C8B-B14F-4D97-AF65-F5344CB8AC3E}">
        <p14:creationId xmlns:p14="http://schemas.microsoft.com/office/powerpoint/2010/main" val="111974694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524000" y="228600"/>
            <a:ext cx="6324600" cy="1066800"/>
          </a:xfrm>
        </p:spPr>
        <p:txBody>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0" y="1371600"/>
            <a:ext cx="9144000" cy="5029200"/>
          </a:xfrm>
        </p:spPr>
        <p:txBody>
          <a:bodyPr>
            <a:noAutofit/>
          </a:bodyPr>
          <a:lstStyle/>
          <a:p>
            <a:pPr eaLnBrk="1" hangingPunct="1">
              <a:defRPr/>
            </a:pPr>
            <a:r>
              <a:rPr lang="en-US" b="1" dirty="0" smtClean="0"/>
              <a:t>2.  Decree No. 6-A also known as Educational Development Decree of 1972 </a:t>
            </a:r>
          </a:p>
          <a:p>
            <a:pPr lvl="1" eaLnBrk="1" hangingPunct="1">
              <a:defRPr/>
            </a:pPr>
            <a:r>
              <a:rPr lang="en-US" sz="3200" dirty="0" smtClean="0"/>
              <a:t>Aims to achieve national development goals (accelerating rate of economic development and progress, assure maximum participation of all people in attainment and enjoyment of  the benefit of such growth, strengthen national consciousness and promote desirable cultural values in a changing world) through a</a:t>
            </a:r>
            <a:r>
              <a:rPr lang="en-US" sz="3200" b="1" dirty="0" smtClean="0"/>
              <a:t> good educational system</a:t>
            </a:r>
          </a:p>
        </p:txBody>
      </p:sp>
    </p:spTree>
    <p:extLst>
      <p:ext uri="{BB962C8B-B14F-4D97-AF65-F5344CB8AC3E}">
        <p14:creationId xmlns:p14="http://schemas.microsoft.com/office/powerpoint/2010/main" val="248356682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676400" y="152400"/>
            <a:ext cx="6324600" cy="6096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152400" y="990600"/>
            <a:ext cx="8839200" cy="5486400"/>
          </a:xfrm>
        </p:spPr>
        <p:txBody>
          <a:bodyPr>
            <a:noAutofit/>
          </a:bodyPr>
          <a:lstStyle/>
          <a:p>
            <a:pPr lvl="1" eaLnBrk="1" hangingPunct="1">
              <a:defRPr/>
            </a:pPr>
            <a:r>
              <a:rPr lang="en-US" sz="2400" dirty="0" smtClean="0"/>
              <a:t>OBJECTIVES of a good educational system :</a:t>
            </a:r>
          </a:p>
          <a:p>
            <a:pPr lvl="2" eaLnBrk="1" hangingPunct="1">
              <a:defRPr/>
            </a:pPr>
            <a:r>
              <a:rPr lang="en-US" dirty="0" smtClean="0"/>
              <a:t>1. Provision for a  broad general education </a:t>
            </a:r>
          </a:p>
          <a:p>
            <a:pPr lvl="3" eaLnBrk="1" hangingPunct="1">
              <a:defRPr/>
            </a:pPr>
            <a:r>
              <a:rPr lang="en-US" sz="2400" dirty="0" smtClean="0"/>
              <a:t>Assists every individual to attain his potentials as human being, enhance the range and quality of individual and group participation in the basic functions of society, and acquire the essential educational foundation of his development into a productive and versatile citizen</a:t>
            </a:r>
          </a:p>
          <a:p>
            <a:pPr lvl="2" eaLnBrk="1" hangingPunct="1">
              <a:defRPr/>
            </a:pPr>
            <a:r>
              <a:rPr lang="en-US" dirty="0" smtClean="0"/>
              <a:t>2. Manpower training in middle-level skills</a:t>
            </a:r>
          </a:p>
          <a:p>
            <a:pPr lvl="3" eaLnBrk="1" hangingPunct="1">
              <a:defRPr/>
            </a:pPr>
            <a:r>
              <a:rPr lang="en-US" sz="2400" dirty="0" smtClean="0"/>
              <a:t>Required for national development</a:t>
            </a:r>
          </a:p>
          <a:p>
            <a:pPr lvl="2" eaLnBrk="1" hangingPunct="1">
              <a:defRPr/>
            </a:pPr>
            <a:r>
              <a:rPr lang="en-US" dirty="0" smtClean="0"/>
              <a:t>3. Development of the high-level profession</a:t>
            </a:r>
          </a:p>
          <a:p>
            <a:pPr lvl="3" eaLnBrk="1" hangingPunct="1">
              <a:defRPr/>
            </a:pPr>
            <a:r>
              <a:rPr lang="en-US" sz="2400" dirty="0" smtClean="0"/>
              <a:t>Provide leadership for nation in advancement of knowledge – improving quality of human life</a:t>
            </a:r>
          </a:p>
          <a:p>
            <a:pPr lvl="2" eaLnBrk="1" hangingPunct="1">
              <a:defRPr/>
            </a:pPr>
            <a:r>
              <a:rPr lang="en-US" dirty="0" smtClean="0"/>
              <a:t>4. Educational planning and evaluation  </a:t>
            </a:r>
          </a:p>
          <a:p>
            <a:pPr lvl="3" eaLnBrk="1" hangingPunct="1">
              <a:defRPr/>
            </a:pPr>
            <a:r>
              <a:rPr lang="en-US" sz="2400" dirty="0" smtClean="0"/>
              <a:t>Respond to the needs and conditions of the nation </a:t>
            </a:r>
          </a:p>
        </p:txBody>
      </p:sp>
    </p:spTree>
    <p:extLst>
      <p:ext uri="{BB962C8B-B14F-4D97-AF65-F5344CB8AC3E}">
        <p14:creationId xmlns:p14="http://schemas.microsoft.com/office/powerpoint/2010/main" val="148568307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447800" y="152400"/>
            <a:ext cx="6324600" cy="7620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304800" y="990600"/>
            <a:ext cx="8686800" cy="5638800"/>
          </a:xfrm>
        </p:spPr>
        <p:txBody>
          <a:bodyPr>
            <a:noAutofit/>
          </a:bodyPr>
          <a:lstStyle/>
          <a:p>
            <a:pPr eaLnBrk="1" hangingPunct="1">
              <a:defRPr/>
            </a:pPr>
            <a:r>
              <a:rPr lang="en-US" sz="2800" dirty="0" smtClean="0"/>
              <a:t>Educational System :</a:t>
            </a:r>
          </a:p>
          <a:p>
            <a:pPr lvl="1" eaLnBrk="1" hangingPunct="1">
              <a:defRPr/>
            </a:pPr>
            <a:r>
              <a:rPr lang="en-US" b="1" dirty="0" smtClean="0"/>
              <a:t>1.  FORMAL EDUCATION </a:t>
            </a:r>
            <a:endParaRPr lang="en-US" sz="2800" dirty="0" smtClean="0"/>
          </a:p>
          <a:p>
            <a:pPr lvl="2" eaLnBrk="1" hangingPunct="1">
              <a:defRPr/>
            </a:pPr>
            <a:r>
              <a:rPr lang="en-US" sz="2800" dirty="0" smtClean="0"/>
              <a:t> refers to the hierarchically structured and chronologically graded </a:t>
            </a:r>
            <a:r>
              <a:rPr lang="en-US" sz="2800" dirty="0" err="1" smtClean="0"/>
              <a:t>learnings</a:t>
            </a:r>
            <a:r>
              <a:rPr lang="en-US" sz="2800" dirty="0" smtClean="0"/>
              <a:t> organized and provided by the formal school system and for which certification is required in order for the learner to progress through the grades or move to higher levels </a:t>
            </a:r>
          </a:p>
          <a:p>
            <a:pPr lvl="2" eaLnBrk="1" hangingPunct="1">
              <a:defRPr/>
            </a:pPr>
            <a:r>
              <a:rPr lang="en-US" sz="2800" dirty="0" smtClean="0"/>
              <a:t>Is the society’s primary learning system and therefore the main instrument for the achievement of the country’s educational goals and objectives</a:t>
            </a:r>
          </a:p>
        </p:txBody>
      </p:sp>
    </p:spTree>
    <p:extLst>
      <p:ext uri="{BB962C8B-B14F-4D97-AF65-F5344CB8AC3E}">
        <p14:creationId xmlns:p14="http://schemas.microsoft.com/office/powerpoint/2010/main" val="244370645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066800" y="76200"/>
            <a:ext cx="6324600" cy="1066800"/>
          </a:xfrm>
        </p:spPr>
        <p:txBody>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152400" y="1219200"/>
            <a:ext cx="8839200" cy="5334000"/>
          </a:xfrm>
        </p:spPr>
        <p:txBody>
          <a:bodyPr>
            <a:noAutofit/>
          </a:bodyPr>
          <a:lstStyle/>
          <a:p>
            <a:pPr eaLnBrk="1" hangingPunct="1">
              <a:defRPr/>
            </a:pPr>
            <a:r>
              <a:rPr lang="en-US" sz="2500" b="1" dirty="0" smtClean="0"/>
              <a:t>COMPONENTS of FORMAL EDUCATION</a:t>
            </a:r>
          </a:p>
          <a:p>
            <a:pPr lvl="2" eaLnBrk="1" hangingPunct="1">
              <a:defRPr/>
            </a:pPr>
            <a:r>
              <a:rPr lang="en-US" sz="2500" b="1" dirty="0" smtClean="0"/>
              <a:t>1.  Elementary Education</a:t>
            </a:r>
            <a:r>
              <a:rPr lang="en-US" sz="2500" dirty="0" smtClean="0"/>
              <a:t> – the first stage of compulsory, formal education primarily concerned with providing basic education and usually corresponding to 6 or 7 grades including pre-school programs</a:t>
            </a:r>
          </a:p>
          <a:p>
            <a:pPr lvl="2" eaLnBrk="1" hangingPunct="1">
              <a:defRPr/>
            </a:pPr>
            <a:r>
              <a:rPr lang="en-US" sz="2500" dirty="0" smtClean="0"/>
              <a:t> </a:t>
            </a:r>
            <a:r>
              <a:rPr lang="en-US" sz="2500" b="1" dirty="0" smtClean="0"/>
              <a:t>2.  Secondary Education</a:t>
            </a:r>
            <a:r>
              <a:rPr lang="en-US" sz="2500" dirty="0" smtClean="0"/>
              <a:t> – the stage of formal education following the elementary level concerned primarily with continuing basic education and expanding it to include the learning of employable gainful skills, usually corresponding to four years of high school</a:t>
            </a:r>
          </a:p>
          <a:p>
            <a:pPr lvl="2" eaLnBrk="1" hangingPunct="1">
              <a:defRPr/>
            </a:pPr>
            <a:r>
              <a:rPr lang="en-US" sz="2500" b="1" dirty="0" smtClean="0"/>
              <a:t>3.  Tertiary Education</a:t>
            </a:r>
            <a:r>
              <a:rPr lang="en-US" sz="2500" dirty="0" smtClean="0"/>
              <a:t> – post-secondary schooling is higher education leading to a degree in specific profession or discipline</a:t>
            </a:r>
          </a:p>
        </p:txBody>
      </p:sp>
    </p:spTree>
    <p:extLst>
      <p:ext uri="{BB962C8B-B14F-4D97-AF65-F5344CB8AC3E}">
        <p14:creationId xmlns:p14="http://schemas.microsoft.com/office/powerpoint/2010/main" val="8744145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2514600" y="228600"/>
            <a:ext cx="6324600" cy="6858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76200" y="1219200"/>
            <a:ext cx="8839200" cy="5029200"/>
          </a:xfrm>
        </p:spPr>
        <p:txBody>
          <a:bodyPr>
            <a:noAutofit/>
          </a:bodyPr>
          <a:lstStyle/>
          <a:p>
            <a:pPr marL="342900" lvl="1" indent="-342900" eaLnBrk="1" hangingPunct="1">
              <a:buClr>
                <a:schemeClr val="hlink"/>
              </a:buClr>
              <a:buFont typeface="Wingdings" pitchFamily="2" charset="2"/>
              <a:buChar char="n"/>
              <a:defRPr/>
            </a:pPr>
            <a:r>
              <a:rPr lang="en-US" b="1" dirty="0" smtClean="0"/>
              <a:t>2</a:t>
            </a:r>
            <a:r>
              <a:rPr lang="en-US" dirty="0" smtClean="0"/>
              <a:t>. </a:t>
            </a:r>
            <a:r>
              <a:rPr lang="en-US" b="1" dirty="0" smtClean="0"/>
              <a:t>NON-FORMAL EDUCATION and SPECIALIZED EDUCATIONAL SERVICES</a:t>
            </a:r>
          </a:p>
          <a:p>
            <a:pPr lvl="1" eaLnBrk="1" hangingPunct="1">
              <a:defRPr/>
            </a:pPr>
            <a:r>
              <a:rPr lang="en-US" b="1" dirty="0" smtClean="0"/>
              <a:t> </a:t>
            </a:r>
            <a:r>
              <a:rPr lang="en-US" dirty="0" smtClean="0"/>
              <a:t>Goals :</a:t>
            </a:r>
          </a:p>
          <a:p>
            <a:pPr lvl="2" eaLnBrk="1" hangingPunct="1">
              <a:defRPr/>
            </a:pPr>
            <a:r>
              <a:rPr lang="en-US" sz="2800" dirty="0" smtClean="0"/>
              <a:t>To eradicate illiteracy and raise the level of functional literacy of the population, </a:t>
            </a:r>
          </a:p>
          <a:p>
            <a:pPr lvl="2" eaLnBrk="1" hangingPunct="1">
              <a:defRPr/>
            </a:pPr>
            <a:r>
              <a:rPr lang="en-US" sz="2800" dirty="0" smtClean="0"/>
              <a:t>To provide unemployed and underemployed youth and adults with appropriate vocational/technical skills to enable them to become more productive and effective citizens</a:t>
            </a:r>
          </a:p>
          <a:p>
            <a:pPr lvl="2" eaLnBrk="1" hangingPunct="1">
              <a:defRPr/>
            </a:pPr>
            <a:r>
              <a:rPr lang="en-US" sz="2800" dirty="0" smtClean="0"/>
              <a:t>To develop among clientele of non-formal education proper values and attitudes necessary for personal, community and national development</a:t>
            </a:r>
          </a:p>
        </p:txBody>
      </p:sp>
    </p:spTree>
    <p:extLst>
      <p:ext uri="{BB962C8B-B14F-4D97-AF65-F5344CB8AC3E}">
        <p14:creationId xmlns:p14="http://schemas.microsoft.com/office/powerpoint/2010/main" val="173028165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600200" y="152400"/>
            <a:ext cx="6324600" cy="7620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0" y="1066800"/>
            <a:ext cx="9144000" cy="5334000"/>
          </a:xfrm>
        </p:spPr>
        <p:txBody>
          <a:bodyPr>
            <a:noAutofit/>
          </a:bodyPr>
          <a:lstStyle/>
          <a:p>
            <a:pPr eaLnBrk="1" hangingPunct="1">
              <a:defRPr/>
            </a:pPr>
            <a:r>
              <a:rPr lang="en-US" sz="2800" b="1" dirty="0" smtClean="0"/>
              <a:t>COMPONENTS of NON-FORMAL EDUCATION</a:t>
            </a:r>
          </a:p>
          <a:p>
            <a:pPr lvl="2" eaLnBrk="1" hangingPunct="1">
              <a:defRPr/>
            </a:pPr>
            <a:r>
              <a:rPr lang="en-US" sz="2800" b="1" dirty="0" smtClean="0"/>
              <a:t>1.  Work Education or Practical Arts</a:t>
            </a:r>
            <a:r>
              <a:rPr lang="en-US" sz="2800" dirty="0" smtClean="0"/>
              <a:t> – a program of  basic education which aims to develop the right attitudes towards work; and ‘technical-vocational education’, post-secondary but non-degree programs leading to one-two, or three year certificates in preparation for a group of middle-level occupations</a:t>
            </a:r>
          </a:p>
          <a:p>
            <a:pPr lvl="2" eaLnBrk="1" hangingPunct="1">
              <a:defRPr/>
            </a:pPr>
            <a:r>
              <a:rPr lang="en-US" sz="2800" dirty="0" smtClean="0"/>
              <a:t> </a:t>
            </a:r>
            <a:r>
              <a:rPr lang="en-US" sz="2800" b="1" dirty="0" smtClean="0"/>
              <a:t>2.  Special Education</a:t>
            </a:r>
            <a:r>
              <a:rPr lang="en-US" sz="2800" dirty="0" smtClean="0"/>
              <a:t> – the education who are physically, mentally, emotionally, socially or culturally different from the so called ‘normal’ individuals that they require modification of school practices/services to develop them to their maximum capacity</a:t>
            </a:r>
          </a:p>
        </p:txBody>
      </p:sp>
    </p:spTree>
    <p:extLst>
      <p:ext uri="{BB962C8B-B14F-4D97-AF65-F5344CB8AC3E}">
        <p14:creationId xmlns:p14="http://schemas.microsoft.com/office/powerpoint/2010/main" val="403789726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828800" y="152400"/>
            <a:ext cx="6324600" cy="8382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0" y="1066800"/>
            <a:ext cx="9144000" cy="5334000"/>
          </a:xfrm>
        </p:spPr>
        <p:txBody>
          <a:bodyPr>
            <a:normAutofit/>
          </a:bodyPr>
          <a:lstStyle/>
          <a:p>
            <a:pPr eaLnBrk="1" hangingPunct="1">
              <a:defRPr/>
            </a:pPr>
            <a:r>
              <a:rPr lang="en-US" b="1" dirty="0" smtClean="0"/>
              <a:t>COMPONENTS of NON-FORMAL EDUCATION</a:t>
            </a:r>
          </a:p>
          <a:p>
            <a:pPr eaLnBrk="1" hangingPunct="1">
              <a:defRPr/>
            </a:pPr>
            <a:endParaRPr lang="en-US" b="1" dirty="0" smtClean="0"/>
          </a:p>
          <a:p>
            <a:pPr lvl="2" eaLnBrk="1" hangingPunct="1">
              <a:defRPr/>
            </a:pPr>
            <a:r>
              <a:rPr lang="en-US" sz="3200" b="1" dirty="0" smtClean="0"/>
              <a:t>3.  Non-Formal Education </a:t>
            </a:r>
            <a:r>
              <a:rPr lang="en-US" sz="3200" dirty="0" smtClean="0"/>
              <a:t> – any organization school-based educational activities undertaken by MECS and other agencies aimed at attaining specific learning objectives for a particular clientele, especially the illiterates and the out-of-school youth and adults, distinct from and outside the regular offerings of the formal school system</a:t>
            </a:r>
          </a:p>
        </p:txBody>
      </p:sp>
    </p:spTree>
    <p:extLst>
      <p:ext uri="{BB962C8B-B14F-4D97-AF65-F5344CB8AC3E}">
        <p14:creationId xmlns:p14="http://schemas.microsoft.com/office/powerpoint/2010/main" val="370264525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524000" y="152400"/>
            <a:ext cx="6324600" cy="609600"/>
          </a:xfrm>
        </p:spPr>
        <p:txBody>
          <a:bodyPr>
            <a:normAutofit fontScale="90000"/>
          </a:bodyPr>
          <a:lstStyle/>
          <a:p>
            <a:pPr algn="ctr" eaLnBrk="1" hangingPunct="1">
              <a:defRPr/>
            </a:pPr>
            <a:r>
              <a:rPr lang="en-US" sz="2500" dirty="0" smtClean="0"/>
              <a:t>FOUR DIMENSIONS OF LEGAL BASES OF EDUCATION IN THE PHILIPPINES</a:t>
            </a:r>
          </a:p>
        </p:txBody>
      </p:sp>
      <p:sp>
        <p:nvSpPr>
          <p:cNvPr id="82947" name="Rectangle 3"/>
          <p:cNvSpPr>
            <a:spLocks noGrp="1" noChangeArrowheads="1"/>
          </p:cNvSpPr>
          <p:nvPr>
            <p:ph idx="1"/>
          </p:nvPr>
        </p:nvSpPr>
        <p:spPr>
          <a:xfrm>
            <a:off x="0" y="990600"/>
            <a:ext cx="9144000" cy="5257800"/>
          </a:xfrm>
        </p:spPr>
        <p:txBody>
          <a:bodyPr>
            <a:normAutofit/>
          </a:bodyPr>
          <a:lstStyle/>
          <a:p>
            <a:pPr eaLnBrk="1" hangingPunct="1">
              <a:defRPr/>
            </a:pPr>
            <a:r>
              <a:rPr lang="en-US" sz="2800" b="1" dirty="0" smtClean="0"/>
              <a:t>4.  The Educational Act of 1994 otherwise known as Republic Act No. 7722</a:t>
            </a:r>
          </a:p>
          <a:p>
            <a:pPr lvl="1" eaLnBrk="1" hangingPunct="1">
              <a:defRPr/>
            </a:pPr>
            <a:r>
              <a:rPr lang="en-US" dirty="0" smtClean="0"/>
              <a:t>An Act creating the Commission on Higher Education</a:t>
            </a:r>
          </a:p>
          <a:p>
            <a:pPr lvl="1" eaLnBrk="1" hangingPunct="1">
              <a:defRPr/>
            </a:pPr>
            <a:r>
              <a:rPr lang="en-US" dirty="0" smtClean="0"/>
              <a:t>The Commission shall be independent and separate from the DECS and attached to the Office of the President for administrative purposes only</a:t>
            </a:r>
          </a:p>
          <a:p>
            <a:pPr lvl="1" eaLnBrk="1" hangingPunct="1">
              <a:defRPr/>
            </a:pPr>
            <a:r>
              <a:rPr lang="en-US" dirty="0" smtClean="0"/>
              <a:t>Its coverage shall be both public and private institutions of higher education as well as degree-granting programs in all post-secondary educational institutions, public and private</a:t>
            </a:r>
          </a:p>
        </p:txBody>
      </p:sp>
    </p:spTree>
    <p:extLst>
      <p:ext uri="{BB962C8B-B14F-4D97-AF65-F5344CB8AC3E}">
        <p14:creationId xmlns:p14="http://schemas.microsoft.com/office/powerpoint/2010/main" val="217197032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lstStyle/>
          <a:p>
            <a:pPr>
              <a:defRPr/>
            </a:pPr>
            <a:r>
              <a:rPr lang="en-US" sz="3400" dirty="0" smtClean="0"/>
              <a:t>OTHER EDUCATIONAL LAWS</a:t>
            </a:r>
            <a:endParaRPr lang="en-US" sz="3400" dirty="0"/>
          </a:p>
        </p:txBody>
      </p:sp>
      <p:sp>
        <p:nvSpPr>
          <p:cNvPr id="3" name="Content Placeholder 2"/>
          <p:cNvSpPr>
            <a:spLocks noGrp="1"/>
          </p:cNvSpPr>
          <p:nvPr>
            <p:ph idx="1"/>
          </p:nvPr>
        </p:nvSpPr>
        <p:spPr>
          <a:xfrm>
            <a:off x="0" y="838200"/>
            <a:ext cx="9067800" cy="5410200"/>
          </a:xfrm>
        </p:spPr>
        <p:txBody>
          <a:bodyPr>
            <a:noAutofit/>
          </a:bodyPr>
          <a:lstStyle/>
          <a:p>
            <a:pPr>
              <a:defRPr/>
            </a:pPr>
            <a:r>
              <a:rPr lang="en-US" sz="2400" b="1" dirty="0" smtClean="0"/>
              <a:t>Presidential Decree No. 1006 : Decree in Professionalizing Teaching</a:t>
            </a:r>
          </a:p>
          <a:p>
            <a:pPr lvl="1">
              <a:defRPr/>
            </a:pPr>
            <a:r>
              <a:rPr lang="en-US" sz="2400" dirty="0" smtClean="0"/>
              <a:t>Providing for the Professionalization of Teachers, Regulating Their Practice In The Philippines And For Other Purposes</a:t>
            </a:r>
          </a:p>
          <a:p>
            <a:pPr lvl="1">
              <a:defRPr/>
            </a:pPr>
            <a:endParaRPr lang="en-US" sz="2400" dirty="0" smtClean="0"/>
          </a:p>
          <a:p>
            <a:pPr>
              <a:defRPr/>
            </a:pPr>
            <a:r>
              <a:rPr lang="en-US" sz="2400" b="1" dirty="0" smtClean="0"/>
              <a:t>Republic Act No. 7836 : Philippine Teachers Professionalization Act of 1994</a:t>
            </a:r>
          </a:p>
          <a:p>
            <a:pPr lvl="1">
              <a:defRPr/>
            </a:pPr>
            <a:r>
              <a:rPr lang="en-US" sz="2400" dirty="0" smtClean="0"/>
              <a:t>An Act which strengthens the regulation and supervision of the practice of teaching in the Philippines and prescribing a Licensure Examination for Teachers and other purposes</a:t>
            </a:r>
          </a:p>
          <a:p>
            <a:pPr>
              <a:defRPr/>
            </a:pPr>
            <a:r>
              <a:rPr lang="en-US" sz="2400" b="1" dirty="0" smtClean="0"/>
              <a:t>Republic Act No. 9293 </a:t>
            </a:r>
          </a:p>
          <a:p>
            <a:pPr lvl="1">
              <a:defRPr/>
            </a:pPr>
            <a:r>
              <a:rPr lang="en-US" sz="2400" dirty="0" smtClean="0"/>
              <a:t>An Act amending certain sections of RA 7836</a:t>
            </a:r>
          </a:p>
          <a:p>
            <a:pPr lvl="1">
              <a:defRPr/>
            </a:pPr>
            <a:r>
              <a:rPr lang="en-US" sz="2400" dirty="0" smtClean="0"/>
              <a:t>Amended sections are Sec. 15, 26 and 31</a:t>
            </a:r>
          </a:p>
          <a:p>
            <a:pPr lvl="1">
              <a:defRPr/>
            </a:pPr>
            <a:r>
              <a:rPr lang="en-US" sz="2400" dirty="0" smtClean="0"/>
              <a:t>The term DECS to </a:t>
            </a:r>
            <a:r>
              <a:rPr lang="en-US" sz="2400" dirty="0" err="1" smtClean="0"/>
              <a:t>DepEd</a:t>
            </a:r>
            <a:endParaRPr lang="en-US" sz="2400" dirty="0" smtClean="0"/>
          </a:p>
        </p:txBody>
      </p:sp>
    </p:spTree>
    <p:extLst>
      <p:ext uri="{BB962C8B-B14F-4D97-AF65-F5344CB8AC3E}">
        <p14:creationId xmlns:p14="http://schemas.microsoft.com/office/powerpoint/2010/main" val="686314779"/>
      </p:ext>
    </p:extLst>
  </p:cSld>
  <p:clrMapOvr>
    <a:masterClrMapping/>
  </p:clrMapOvr>
  <p:transition xmlns:p14="http://schemas.microsoft.com/office/powerpoint/2010/mai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pPr>
              <a:defRPr/>
            </a:pPr>
            <a:r>
              <a:rPr lang="en-US" sz="3400" dirty="0" smtClean="0"/>
              <a:t>OTHER EDUCATIONAL LAWS</a:t>
            </a:r>
            <a:endParaRPr lang="en-US" sz="3400" dirty="0"/>
          </a:p>
        </p:txBody>
      </p:sp>
      <p:sp>
        <p:nvSpPr>
          <p:cNvPr id="3" name="Content Placeholder 2"/>
          <p:cNvSpPr>
            <a:spLocks noGrp="1"/>
          </p:cNvSpPr>
          <p:nvPr>
            <p:ph idx="1"/>
          </p:nvPr>
        </p:nvSpPr>
        <p:spPr>
          <a:xfrm>
            <a:off x="228600" y="914400"/>
            <a:ext cx="8686800" cy="5181600"/>
          </a:xfrm>
        </p:spPr>
        <p:txBody>
          <a:bodyPr>
            <a:normAutofit/>
          </a:bodyPr>
          <a:lstStyle/>
          <a:p>
            <a:pPr>
              <a:defRPr/>
            </a:pPr>
            <a:r>
              <a:rPr lang="en-US" sz="2400" b="1" dirty="0" smtClean="0"/>
              <a:t>Republic Act No. 4670 : The Magna </a:t>
            </a:r>
            <a:r>
              <a:rPr lang="en-US" sz="2400" b="1" dirty="0" err="1" smtClean="0"/>
              <a:t>Carta</a:t>
            </a:r>
            <a:r>
              <a:rPr lang="en-US" sz="2400" b="1" dirty="0" smtClean="0"/>
              <a:t> for Public School Teachers</a:t>
            </a:r>
          </a:p>
          <a:p>
            <a:pPr lvl="1">
              <a:defRPr/>
            </a:pPr>
            <a:r>
              <a:rPr lang="en-US" sz="2400" dirty="0" smtClean="0"/>
              <a:t>This Act promotes and improves the social and economic status of PUBLIC school teachers, their living and working  conditions. Their employment and career prospects in order that they may compare favorably with existing opportunities in other walks of life, attract and retain in the teaching profession more people with the proper qualification</a:t>
            </a:r>
          </a:p>
          <a:p>
            <a:pPr lvl="1">
              <a:defRPr/>
            </a:pPr>
            <a:endParaRPr lang="en-US" sz="2400" dirty="0" smtClean="0"/>
          </a:p>
          <a:p>
            <a:pPr>
              <a:defRPr/>
            </a:pPr>
            <a:r>
              <a:rPr lang="en-US" sz="2400" b="1" dirty="0" smtClean="0"/>
              <a:t>Republic Act No. 9155 : Government of Basic Education of 2001</a:t>
            </a:r>
          </a:p>
          <a:p>
            <a:pPr lvl="1">
              <a:defRPr/>
            </a:pPr>
            <a:r>
              <a:rPr lang="en-US" sz="2400" dirty="0" smtClean="0"/>
              <a:t>An Act instituting the framework of governance for basic education, establishing authority and accountability, renaming the DECS as </a:t>
            </a:r>
            <a:r>
              <a:rPr lang="en-US" sz="2400" dirty="0" err="1" smtClean="0"/>
              <a:t>DepEd</a:t>
            </a:r>
            <a:r>
              <a:rPr lang="en-US" sz="2400" dirty="0" smtClean="0"/>
              <a:t> </a:t>
            </a:r>
            <a:endParaRPr lang="en-US" sz="2400" dirty="0"/>
          </a:p>
        </p:txBody>
      </p:sp>
    </p:spTree>
    <p:extLst>
      <p:ext uri="{BB962C8B-B14F-4D97-AF65-F5344CB8AC3E}">
        <p14:creationId xmlns:p14="http://schemas.microsoft.com/office/powerpoint/2010/main" val="1438795123"/>
      </p:ext>
    </p:extLst>
  </p:cSld>
  <p:clrMapOvr>
    <a:masterClrMapping/>
  </p:clrMapOvr>
  <p:transition xmlns:p14="http://schemas.microsoft.com/office/powerpoint/2010/mai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lstStyle/>
          <a:p>
            <a:pPr>
              <a:defRPr/>
            </a:pPr>
            <a:r>
              <a:rPr lang="en-US" sz="3400" dirty="0" smtClean="0"/>
              <a:t>OTHER EDUCATIONAL LAWS</a:t>
            </a:r>
            <a:endParaRPr lang="en-US" sz="3400" dirty="0"/>
          </a:p>
        </p:txBody>
      </p:sp>
      <p:sp>
        <p:nvSpPr>
          <p:cNvPr id="3" name="Content Placeholder 2"/>
          <p:cNvSpPr>
            <a:spLocks noGrp="1"/>
          </p:cNvSpPr>
          <p:nvPr>
            <p:ph idx="1"/>
          </p:nvPr>
        </p:nvSpPr>
        <p:spPr>
          <a:xfrm>
            <a:off x="0" y="762000"/>
            <a:ext cx="9067800" cy="5867400"/>
          </a:xfrm>
        </p:spPr>
        <p:txBody>
          <a:bodyPr>
            <a:noAutofit/>
          </a:bodyPr>
          <a:lstStyle/>
          <a:p>
            <a:pPr>
              <a:defRPr/>
            </a:pPr>
            <a:endParaRPr lang="en-US" sz="2400" b="1" dirty="0" smtClean="0"/>
          </a:p>
          <a:p>
            <a:pPr>
              <a:defRPr/>
            </a:pPr>
            <a:r>
              <a:rPr lang="en-US" sz="2400" b="1" dirty="0" smtClean="0"/>
              <a:t>Free Public Secondary Act of 1988</a:t>
            </a:r>
          </a:p>
          <a:p>
            <a:pPr lvl="1">
              <a:defRPr/>
            </a:pPr>
            <a:r>
              <a:rPr lang="en-US" sz="2400" dirty="0" smtClean="0"/>
              <a:t>The act established and provided for a free public secondary education to all qualified citizens</a:t>
            </a:r>
          </a:p>
          <a:p>
            <a:pPr lvl="1">
              <a:defRPr/>
            </a:pPr>
            <a:endParaRPr lang="en-US" sz="2400" b="1" dirty="0" smtClean="0"/>
          </a:p>
          <a:p>
            <a:pPr>
              <a:defRPr/>
            </a:pPr>
            <a:r>
              <a:rPr lang="en-US" sz="2400" b="1" dirty="0" smtClean="0"/>
              <a:t>Republic Act No. 7796: TESDA Act of 1994</a:t>
            </a:r>
          </a:p>
          <a:p>
            <a:pPr lvl="1">
              <a:defRPr/>
            </a:pPr>
            <a:r>
              <a:rPr lang="en-US" sz="2400" dirty="0" smtClean="0"/>
              <a:t>The creation of Technical Education and Skills Development Authority. </a:t>
            </a:r>
          </a:p>
          <a:p>
            <a:pPr lvl="1">
              <a:defRPr/>
            </a:pPr>
            <a:endParaRPr lang="en-US" sz="2400" dirty="0" smtClean="0"/>
          </a:p>
          <a:p>
            <a:pPr>
              <a:defRPr/>
            </a:pPr>
            <a:r>
              <a:rPr lang="en-US" sz="2400" b="1" dirty="0" smtClean="0"/>
              <a:t>Republic Act No. 8292 : Higher Education Modernization Act</a:t>
            </a:r>
          </a:p>
          <a:p>
            <a:pPr lvl="1">
              <a:defRPr/>
            </a:pPr>
            <a:r>
              <a:rPr lang="en-US" sz="2400" dirty="0" smtClean="0"/>
              <a:t>The Act which provides the uniform composition and powers of the governing boards of stat universities and colleges (SUCs) with the chairman of CHED as the chair of the governing board of all SUCs</a:t>
            </a:r>
            <a:endParaRPr lang="en-US" sz="2400" dirty="0"/>
          </a:p>
        </p:txBody>
      </p:sp>
    </p:spTree>
    <p:extLst>
      <p:ext uri="{BB962C8B-B14F-4D97-AF65-F5344CB8AC3E}">
        <p14:creationId xmlns:p14="http://schemas.microsoft.com/office/powerpoint/2010/main" val="1375624543"/>
      </p:ext>
    </p:extLst>
  </p:cSld>
  <p:clrMapOvr>
    <a:masterClrMapping/>
  </p:clrMapOvr>
  <p:transition xmlns:p14="http://schemas.microsoft.com/office/powerpoint/2010/mai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8610600" cy="6248400"/>
          </a:xfrm>
        </p:spPr>
        <p:txBody>
          <a:bodyPr>
            <a:noAutofit/>
          </a:bodyPr>
          <a:lstStyle/>
          <a:p>
            <a:r>
              <a:rPr lang="en-US" sz="2000" b="1" dirty="0" smtClean="0"/>
              <a:t>EDUCATIONAL DECREE OF 1863</a:t>
            </a:r>
            <a:r>
              <a:rPr lang="en-US" sz="2000" dirty="0" smtClean="0"/>
              <a:t>: The decree provided for the establishment of primary school for boys and girls in each town of the country.</a:t>
            </a:r>
            <a:br>
              <a:rPr lang="en-US" sz="2000" dirty="0" smtClean="0"/>
            </a:br>
            <a:r>
              <a:rPr lang="en-US" sz="2000" dirty="0" smtClean="0"/>
              <a:t/>
            </a:r>
            <a:br>
              <a:rPr lang="en-US" sz="2000" dirty="0" smtClean="0"/>
            </a:br>
            <a:r>
              <a:rPr lang="en-US" sz="2000" b="1" dirty="0" smtClean="0"/>
              <a:t>ACT NO. 74 OF 1901</a:t>
            </a:r>
            <a:r>
              <a:rPr lang="en-US" sz="2000" dirty="0" smtClean="0"/>
              <a:t>: Enacted into law by the Philippine Commission, the Act created the Department of Public Instruction, laid the foundations of the public school system in the Philippines, provided for the establishment of the Philippine Normal School in Manila and made English as the medium of instruction. (In 1949, the Philippine Normal School was made a teachers' college by virtue of RA 416  and, in 1991, it became a full-pledge university by virtue of RA 7168.)</a:t>
            </a:r>
            <a:br>
              <a:rPr lang="en-US" sz="2000" dirty="0" smtClean="0"/>
            </a:br>
            <a:r>
              <a:rPr lang="en-US" sz="2000" dirty="0" smtClean="0"/>
              <a:t/>
            </a:r>
            <a:br>
              <a:rPr lang="en-US" sz="2000" dirty="0" smtClean="0"/>
            </a:br>
            <a:r>
              <a:rPr lang="en-US" sz="2000" b="1" dirty="0" smtClean="0"/>
              <a:t>VOCATIONAL ACT OF1927</a:t>
            </a:r>
            <a:r>
              <a:rPr lang="en-US" sz="2000" dirty="0" smtClean="0"/>
              <a:t>: Also known as Act No. 3377, the Vocational Act as amended by other acts laid the foundations of vocational education in public schools and made provisions for its support.</a:t>
            </a:r>
            <a:br>
              <a:rPr lang="en-US" sz="2000" dirty="0" smtClean="0"/>
            </a:br>
            <a:r>
              <a:rPr lang="en-US" sz="2000" dirty="0" smtClean="0"/>
              <a:t/>
            </a:r>
            <a:br>
              <a:rPr lang="en-US" sz="2000" dirty="0" smtClean="0"/>
            </a:br>
            <a:r>
              <a:rPr lang="en-US" sz="2000" b="1" dirty="0" smtClean="0"/>
              <a:t>REORGANIZATION ACT OF 1947</a:t>
            </a:r>
            <a:r>
              <a:rPr lang="en-US" sz="2000" dirty="0" smtClean="0"/>
              <a:t>: The Act placed public and private schools under the supervision and control of the Bureau of Public and Private Schools.</a:t>
            </a:r>
            <a:br>
              <a:rPr lang="en-US" sz="2000" dirty="0" smtClean="0"/>
            </a:br>
            <a:r>
              <a:rPr lang="en-US" sz="2000" dirty="0" smtClean="0"/>
              <a:t/>
            </a:r>
            <a:br>
              <a:rPr lang="en-US" sz="2000" dirty="0" smtClean="0"/>
            </a:br>
            <a:endParaRPr lang="en-US" sz="2000" dirty="0"/>
          </a:p>
        </p:txBody>
      </p:sp>
    </p:spTree>
    <p:extLst>
      <p:ext uri="{BB962C8B-B14F-4D97-AF65-F5344CB8AC3E}">
        <p14:creationId xmlns:p14="http://schemas.microsoft.com/office/powerpoint/2010/main" val="3201571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458200" cy="6248400"/>
          </a:xfrm>
        </p:spPr>
        <p:txBody>
          <a:bodyPr>
            <a:normAutofit fontScale="62500" lnSpcReduction="20000"/>
          </a:bodyPr>
          <a:lstStyle/>
          <a:p>
            <a:r>
              <a:rPr lang="en-US" b="1" dirty="0" smtClean="0"/>
              <a:t>REPUBLIC ACT 5250 OF 1966</a:t>
            </a:r>
            <a:r>
              <a:rPr lang="en-US" dirty="0" smtClean="0"/>
              <a:t>: The Act provided the legal basis for the implementation of a ten-year teacher education program in special education.</a:t>
            </a:r>
            <a:br>
              <a:rPr lang="en-US" dirty="0" smtClean="0"/>
            </a:br>
            <a:r>
              <a:rPr lang="en-US" dirty="0" smtClean="0"/>
              <a:t/>
            </a:r>
            <a:br>
              <a:rPr lang="en-US" dirty="0" smtClean="0"/>
            </a:br>
            <a:r>
              <a:rPr lang="en-US" b="1" dirty="0" smtClean="0"/>
              <a:t>DEPARTMENT OF EDUCATION, CULTURE AND SPORTS (DECS) ORDER NO. 25 OF 1974</a:t>
            </a:r>
            <a:r>
              <a:rPr lang="en-US" dirty="0" smtClean="0"/>
              <a:t>: Popularly known as the Bilingual Education Program of 1974, the Order required the use of English as medium of instruction for science and mathematics subjects and the use of Filipino as medium of instruction for all other subjects in the elementary and high school levels.</a:t>
            </a:r>
            <a:br>
              <a:rPr lang="en-US" dirty="0" smtClean="0"/>
            </a:br>
            <a:r>
              <a:rPr lang="en-US" dirty="0" smtClean="0"/>
              <a:t/>
            </a:r>
            <a:br>
              <a:rPr lang="en-US" dirty="0" smtClean="0"/>
            </a:br>
            <a:r>
              <a:rPr lang="en-US" b="1" dirty="0" smtClean="0"/>
              <a:t>PRESIDENTIAL DECREE NO. 1006 OF 1976</a:t>
            </a:r>
            <a:r>
              <a:rPr lang="en-US" dirty="0" smtClean="0"/>
              <a:t>: The Decree was a legal and formal recognition of teachers as professionals and teaching as a profession.</a:t>
            </a:r>
          </a:p>
          <a:p>
            <a:endParaRPr lang="en-US" dirty="0" smtClean="0"/>
          </a:p>
          <a:p>
            <a:r>
              <a:rPr lang="en-US" b="1" dirty="0" smtClean="0"/>
              <a:t>REPUBLIC ACT NO. 5698</a:t>
            </a:r>
            <a:r>
              <a:rPr lang="en-US" dirty="0" smtClean="0"/>
              <a:t>: The Act created the Legal Education Board whose task was to regulate and improve the quality of law schools in the Philippines in order to stop the increasing number of examinees who fail to pass the bar examinations given every year.</a:t>
            </a:r>
            <a:br>
              <a:rPr lang="en-US" dirty="0" smtClean="0"/>
            </a:br>
            <a:r>
              <a:rPr lang="en-US" dirty="0" smtClean="0"/>
              <a:t/>
            </a:r>
            <a:br>
              <a:rPr lang="en-US" dirty="0" smtClean="0"/>
            </a:br>
            <a:r>
              <a:rPr lang="en-US" b="1" dirty="0" smtClean="0"/>
              <a:t>REPUBLIC ACT 6655 OF 1988</a:t>
            </a:r>
            <a:r>
              <a:rPr lang="en-US" dirty="0" smtClean="0"/>
              <a:t>: Popularly known as the Free Public Secondary Education Act of 1988, the Act created a system of free education in public high schools.</a:t>
            </a:r>
          </a:p>
          <a:p>
            <a:endParaRPr lang="en-US" dirty="0"/>
          </a:p>
        </p:txBody>
      </p:sp>
    </p:spTree>
    <p:extLst>
      <p:ext uri="{BB962C8B-B14F-4D97-AF65-F5344CB8AC3E}">
        <p14:creationId xmlns:p14="http://schemas.microsoft.com/office/powerpoint/2010/main" val="2281265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534400" cy="6400800"/>
          </a:xfrm>
        </p:spPr>
        <p:txBody>
          <a:bodyPr>
            <a:normAutofit fontScale="62500" lnSpcReduction="20000"/>
          </a:bodyPr>
          <a:lstStyle/>
          <a:p>
            <a:r>
              <a:rPr lang="en-US" b="1" dirty="0" smtClean="0"/>
              <a:t>BATAS PAMBANSA BLG. 232</a:t>
            </a:r>
          </a:p>
          <a:p>
            <a:pPr>
              <a:buNone/>
            </a:pPr>
            <a:r>
              <a:rPr lang="en-US" dirty="0" smtClean="0"/>
              <a:t>=IS ALSO KNOWN AS EDUCATIONAL ACT OF 1982</a:t>
            </a:r>
          </a:p>
          <a:p>
            <a:pPr>
              <a:buNone/>
            </a:pPr>
            <a:endParaRPr lang="en-US" dirty="0" smtClean="0"/>
          </a:p>
          <a:p>
            <a:pPr>
              <a:buNone/>
            </a:pPr>
            <a:r>
              <a:rPr lang="en-US" dirty="0" smtClean="0"/>
              <a:t>=AN ACT PROVIDING FOR THE ESTABLISHMENT AND MAINTENANCE OF AN INTEGRATED SYSTEM OF EDUCATION</a:t>
            </a:r>
          </a:p>
          <a:p>
            <a:pPr>
              <a:buNone/>
            </a:pPr>
            <a:r>
              <a:rPr lang="en-US" dirty="0" smtClean="0"/>
              <a:t>=Sec. 5.</a:t>
            </a:r>
          </a:p>
          <a:p>
            <a:r>
              <a:rPr lang="en-US" dirty="0" smtClean="0"/>
              <a:t>Declaration of Policy and Objectives – The State shall:</a:t>
            </a:r>
          </a:p>
          <a:p>
            <a:r>
              <a:rPr lang="en-US" dirty="0" smtClean="0"/>
              <a:t>1. Aid and support the natural right and duty of parents in the rearing of the youth through the educational system.</a:t>
            </a:r>
          </a:p>
          <a:p>
            <a:endParaRPr lang="en-US" dirty="0" smtClean="0"/>
          </a:p>
          <a:p>
            <a:r>
              <a:rPr lang="en-US" dirty="0" smtClean="0"/>
              <a:t>2. Promote and safeguard the welfare and interest of the students by defining their rights and obligations, according them privileges, and encouraging the establishment of sound relationships between them and the other members of the school community.</a:t>
            </a:r>
          </a:p>
          <a:p>
            <a:endParaRPr lang="en-US" dirty="0" smtClean="0"/>
          </a:p>
          <a:p>
            <a:r>
              <a:rPr lang="en-US" dirty="0" smtClean="0"/>
              <a:t>3. Promote the social economic status of all school personnel, uphold their rights, define their obligations, and improve their living and working conditions and career prospects.</a:t>
            </a:r>
          </a:p>
          <a:p>
            <a:endParaRPr lang="en-US" dirty="0" smtClean="0"/>
          </a:p>
          <a:p>
            <a:r>
              <a:rPr lang="en-US" dirty="0" smtClean="0"/>
              <a:t>4. Extend support to promote the viability of those institutions through which parents, students and school personnel seek to attain their educational goals.</a:t>
            </a:r>
          </a:p>
          <a:p>
            <a:pPr>
              <a:buNone/>
            </a:pPr>
            <a:endParaRPr lang="en-US" dirty="0" smtClean="0"/>
          </a:p>
          <a:p>
            <a:endParaRPr lang="en-US" dirty="0"/>
          </a:p>
        </p:txBody>
      </p:sp>
    </p:spTree>
    <p:extLst>
      <p:ext uri="{BB962C8B-B14F-4D97-AF65-F5344CB8AC3E}">
        <p14:creationId xmlns:p14="http://schemas.microsoft.com/office/powerpoint/2010/main" val="2084829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477000"/>
          </a:xfrm>
        </p:spPr>
        <p:txBody>
          <a:bodyPr>
            <a:normAutofit fontScale="92500" lnSpcReduction="20000"/>
          </a:bodyPr>
          <a:lstStyle/>
          <a:p>
            <a:r>
              <a:rPr lang="en-US" b="1" dirty="0" smtClean="0"/>
              <a:t>DEPARTMENT OF EDUCATION, CULTURE AND SPORTS (DECS) ORDER NO. 1 OF 1994: </a:t>
            </a:r>
            <a:r>
              <a:rPr lang="en-US" dirty="0" smtClean="0"/>
              <a:t>This Order increased the number of school days to 200 days (42 calendar weeks) inclusive of examination days for public and private schools. (This department order is similar to RA 7791 which increased the number of school days from 185 to 200 days.</a:t>
            </a:r>
          </a:p>
          <a:p>
            <a:pPr marL="0" indent="0">
              <a:buNone/>
            </a:pPr>
            <a:endParaRPr lang="en-US" dirty="0" smtClean="0"/>
          </a:p>
          <a:p>
            <a:r>
              <a:rPr lang="en-US" b="1" dirty="0" smtClean="0"/>
              <a:t>REPUBLIC ACT NO. 7836 OF 1994</a:t>
            </a:r>
            <a:r>
              <a:rPr lang="en-US" dirty="0" smtClean="0"/>
              <a:t>: Known as the Philippine Teachers Professionalization Act of 1994, the Act made it mandatory for people pursuing a career in teaching to take the licensure examinations that are administered and regulated by the Professional Regulatory Commission.</a:t>
            </a:r>
          </a:p>
          <a:p>
            <a:pPr>
              <a:buNone/>
            </a:pPr>
            <a:endParaRPr lang="en-US" dirty="0"/>
          </a:p>
        </p:txBody>
      </p:sp>
    </p:spTree>
    <p:extLst>
      <p:ext uri="{BB962C8B-B14F-4D97-AF65-F5344CB8AC3E}">
        <p14:creationId xmlns:p14="http://schemas.microsoft.com/office/powerpoint/2010/main" val="4010825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77500" lnSpcReduction="20000"/>
          </a:bodyPr>
          <a:lstStyle/>
          <a:p>
            <a:r>
              <a:rPr lang="en-US" b="1" dirty="0" smtClean="0"/>
              <a:t>Republic Act No. 9293  during the year 1994</a:t>
            </a:r>
          </a:p>
          <a:p>
            <a:pPr>
              <a:buNone/>
            </a:pPr>
            <a:r>
              <a:rPr lang="en-US" dirty="0" smtClean="0"/>
              <a:t>=AN ACT AMENDING CERTAIN SECTIONS OF REPUBLIC ACT NUMBERED SEVENTY-EIGHT HUNDRED AND THIRTY-SIX (R. A. NO. 7836), OTHERWISE KNOWN AS THE "PHILIPPINE TEACHERS PROFESSIONALIZATION ACT OF 1994“</a:t>
            </a:r>
          </a:p>
          <a:p>
            <a:pPr>
              <a:buNone/>
            </a:pPr>
            <a:endParaRPr lang="en-US" dirty="0" smtClean="0"/>
          </a:p>
          <a:p>
            <a:r>
              <a:rPr lang="en-US" b="1" dirty="0" smtClean="0"/>
              <a:t>REPUBLIC ACT NO. 9155 on August 11, 2001</a:t>
            </a:r>
            <a:endParaRPr lang="en-US" dirty="0" smtClean="0"/>
          </a:p>
          <a:p>
            <a:pPr>
              <a:buNone/>
            </a:pPr>
            <a:r>
              <a:rPr lang="en-US" dirty="0" smtClean="0"/>
              <a:t>=AN ACT INSTITUTING A FRAME WORK OF GOVERNANCE FOR BASIC EDUCATION, ESTABLISHING AUTHORITY AND ACCOUNTABILITY, RENAMING THE DEPARTMENT OF EDUCATION, CULTURE AND SPORTS AS THE DEPARTMENT OF EDUCATION, AND FOR OTHER </a:t>
            </a:r>
            <a:r>
              <a:rPr lang="en-US" dirty="0" smtClean="0"/>
              <a:t>PURPOSE</a:t>
            </a:r>
            <a:endParaRPr lang="en-US" dirty="0" smtClean="0"/>
          </a:p>
          <a:p>
            <a:pPr>
              <a:buNone/>
            </a:pPr>
            <a:endParaRPr lang="en-US" dirty="0" smtClean="0"/>
          </a:p>
          <a:p>
            <a:r>
              <a:rPr lang="en-US" b="1" dirty="0" smtClean="0"/>
              <a:t>REPUBLIC ACT NO. 10157 of 2012</a:t>
            </a:r>
          </a:p>
          <a:p>
            <a:pPr>
              <a:buNone/>
            </a:pPr>
            <a:r>
              <a:rPr lang="en-US" dirty="0" smtClean="0"/>
              <a:t>=AN ACT INSTITUTIONALIZING THE KINDERGARTEN EDUCATION INTO THE BASIC EDUCATION SYSTEM AND APPROPRIATING FUNDS THEREFORE.</a:t>
            </a:r>
          </a:p>
          <a:p>
            <a:pPr>
              <a:buNone/>
            </a:pPr>
            <a:endParaRPr lang="en-US" dirty="0"/>
          </a:p>
        </p:txBody>
      </p:sp>
    </p:spTree>
    <p:extLst>
      <p:ext uri="{BB962C8B-B14F-4D97-AF65-F5344CB8AC3E}">
        <p14:creationId xmlns:p14="http://schemas.microsoft.com/office/powerpoint/2010/main" val="2227247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lnSpcReduction="10000"/>
          </a:bodyPr>
          <a:lstStyle/>
          <a:p>
            <a:r>
              <a:rPr lang="en-US" b="1" dirty="0" smtClean="0"/>
              <a:t>Republic Act No. 10533</a:t>
            </a:r>
          </a:p>
          <a:p>
            <a:endParaRPr lang="en-US" b="1" dirty="0" smtClean="0"/>
          </a:p>
          <a:p>
            <a:r>
              <a:rPr lang="en-US" dirty="0" smtClean="0"/>
              <a:t>=The Enhanced Basic Education Act of 2013</a:t>
            </a:r>
          </a:p>
          <a:p>
            <a:endParaRPr lang="en-US" dirty="0" smtClean="0"/>
          </a:p>
          <a:p>
            <a:r>
              <a:rPr lang="en-US" dirty="0" smtClean="0"/>
              <a:t>=also known as the  K-to-12 Act</a:t>
            </a:r>
          </a:p>
          <a:p>
            <a:endParaRPr lang="en-US" dirty="0" smtClean="0"/>
          </a:p>
          <a:p>
            <a:r>
              <a:rPr lang="en-US" dirty="0" smtClean="0"/>
              <a:t>=</a:t>
            </a:r>
            <a:r>
              <a:rPr lang="en-US" i="1" dirty="0" smtClean="0"/>
              <a:t>“An Act Enhancing the Philippine Basic Education System by Strengthening Its Curriculum and Increasing the Number of Years for Basic Education, Appropriating Funds Therefore and for Other Purposes</a:t>
            </a:r>
            <a:endParaRPr lang="en-US" dirty="0"/>
          </a:p>
        </p:txBody>
      </p:sp>
    </p:spTree>
    <p:extLst>
      <p:ext uri="{BB962C8B-B14F-4D97-AF65-F5344CB8AC3E}">
        <p14:creationId xmlns:p14="http://schemas.microsoft.com/office/powerpoint/2010/main" val="376804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SELECTED DEPED PROGRAMS AND PROJECTS	</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7694592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smtClean="0"/>
              <a:t>MTB-MLE</a:t>
            </a:r>
          </a:p>
          <a:p>
            <a:r>
              <a:rPr lang="en-US" dirty="0" smtClean="0"/>
              <a:t>K-12 Program</a:t>
            </a:r>
          </a:p>
          <a:p>
            <a:r>
              <a:rPr lang="en-US" dirty="0" smtClean="0"/>
              <a:t>Equivalency Program</a:t>
            </a:r>
          </a:p>
          <a:p>
            <a:r>
              <a:rPr lang="en-US" dirty="0" smtClean="0"/>
              <a:t>ALS</a:t>
            </a:r>
          </a:p>
          <a:p>
            <a:r>
              <a:rPr lang="en-US" dirty="0" err="1" smtClean="0"/>
              <a:t>Brigada</a:t>
            </a:r>
            <a:r>
              <a:rPr lang="en-US" dirty="0" smtClean="0"/>
              <a:t> </a:t>
            </a:r>
            <a:r>
              <a:rPr lang="en-US" smtClean="0"/>
              <a:t>Eskwela</a:t>
            </a:r>
            <a:endParaRPr lang="en-US" dirty="0"/>
          </a:p>
        </p:txBody>
      </p:sp>
    </p:spTree>
    <p:extLst>
      <p:ext uri="{BB962C8B-B14F-4D97-AF65-F5344CB8AC3E}">
        <p14:creationId xmlns:p14="http://schemas.microsoft.com/office/powerpoint/2010/main" val="4119450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96</TotalTime>
  <Words>6562</Words>
  <Application>Microsoft Macintosh PowerPoint</Application>
  <PresentationFormat>On-screen Show (4:3)</PresentationFormat>
  <Paragraphs>688</Paragraphs>
  <Slides>111</Slides>
  <Notes>0</Notes>
  <HiddenSlides>12</HiddenSlides>
  <MMClips>0</MMClips>
  <ScaleCrop>false</ScaleCrop>
  <HeadingPairs>
    <vt:vector size="4" baseType="variant">
      <vt:variant>
        <vt:lpstr>Theme</vt:lpstr>
      </vt:variant>
      <vt:variant>
        <vt:i4>1</vt:i4>
      </vt:variant>
      <vt:variant>
        <vt:lpstr>Slide Titles</vt:lpstr>
      </vt:variant>
      <vt:variant>
        <vt:i4>111</vt:i4>
      </vt:variant>
    </vt:vector>
  </HeadingPairs>
  <TitlesOfParts>
    <vt:vector size="112" baseType="lpstr">
      <vt:lpstr>Office Theme</vt:lpstr>
      <vt:lpstr>The Nature of Teaching</vt:lpstr>
      <vt:lpstr>The Nature of Teaching</vt:lpstr>
      <vt:lpstr>The Nature of Teaching</vt:lpstr>
      <vt:lpstr>The Nature of Teaching</vt:lpstr>
      <vt:lpstr>Roles, Duties, and Responsibilities of the Teacher</vt:lpstr>
      <vt:lpstr>The different roles of teachers</vt:lpstr>
      <vt:lpstr>Lecturer</vt:lpstr>
      <vt:lpstr>Facilitator</vt:lpstr>
      <vt:lpstr>Facilitator</vt:lpstr>
      <vt:lpstr>Facilitator</vt:lpstr>
      <vt:lpstr>Planner</vt:lpstr>
      <vt:lpstr>Assessor</vt:lpstr>
      <vt:lpstr>Values Formator</vt:lpstr>
      <vt:lpstr>Values Formator</vt:lpstr>
      <vt:lpstr>Record Keeper</vt:lpstr>
      <vt:lpstr>Materials Developer</vt:lpstr>
      <vt:lpstr>Most common duties</vt:lpstr>
      <vt:lpstr>Most common duties</vt:lpstr>
      <vt:lpstr>Most common duties</vt:lpstr>
      <vt:lpstr>Characteristics of a Teacher</vt:lpstr>
      <vt:lpstr>Teacher = Good Moral Character</vt:lpstr>
      <vt:lpstr>Characteristics</vt:lpstr>
      <vt:lpstr>R.A. No.4670:   THE MAGNA CARTA FOR PUBLIC SCHOOL TEACHERS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TEDP</vt:lpstr>
      <vt:lpstr>Teacher Education Development Program (TEDP)</vt:lpstr>
      <vt:lpstr>TEDP</vt:lpstr>
      <vt:lpstr>TEDP</vt:lpstr>
      <vt:lpstr>TEDP</vt:lpstr>
      <vt:lpstr>TEDP FRAMEWORK</vt:lpstr>
      <vt:lpstr>How do you develop teachers?</vt:lpstr>
      <vt:lpstr>How do you develop your teachers?</vt:lpstr>
      <vt:lpstr>How do you develop your teachers?</vt:lpstr>
      <vt:lpstr>How do you develop your teachers?</vt:lpstr>
      <vt:lpstr>Professional Development</vt:lpstr>
      <vt:lpstr>NCBTS</vt:lpstr>
      <vt:lpstr>The NCBTS</vt:lpstr>
      <vt:lpstr>NCBTS</vt:lpstr>
      <vt:lpstr>The NCBTS</vt:lpstr>
      <vt:lpstr>The NCBTS</vt:lpstr>
      <vt:lpstr>WHY DO WE NEED NCBTS?</vt:lpstr>
      <vt:lpstr>WHO SHOULD USE THE NCBTS?</vt:lpstr>
      <vt:lpstr>WHO SHOULD USE THE NCBTS?</vt:lpstr>
      <vt:lpstr>How Should Teachers Use the NCBTS?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Users of NCBTS</vt:lpstr>
      <vt:lpstr>Users of NCBTS</vt:lpstr>
      <vt:lpstr>What is an Individual  Plan for Professional Development  (IPPD)? </vt:lpstr>
      <vt:lpstr>What is the purpose of accomplishing an IPPD? </vt:lpstr>
      <vt:lpstr>CB-PAST</vt:lpstr>
      <vt:lpstr>CB-PAST</vt:lpstr>
      <vt:lpstr>AREAS OF CB-PAST</vt:lpstr>
      <vt:lpstr>I. INSTRUCTIONAL COMPTENCE</vt:lpstr>
      <vt:lpstr>II. SCHOOL, HOME AND COMMUNITY LINKAGES</vt:lpstr>
      <vt:lpstr>III. PERSONAL, SOCIAL GROWTH AND PROFESSIONAL CHARACTERISTICS</vt:lpstr>
      <vt:lpstr>PERSONS INVOLVED IN THE USE OF CB-PAST</vt:lpstr>
      <vt:lpstr>RPMS</vt:lpstr>
      <vt:lpstr>RPMS</vt:lpstr>
      <vt:lpstr>RPMS</vt:lpstr>
      <vt:lpstr>Professional Organizations for Teachers</vt:lpstr>
      <vt:lpstr>Professional Organizations</vt:lpstr>
      <vt:lpstr>Professional Organizations</vt:lpstr>
      <vt:lpstr>Foundations</vt:lpstr>
      <vt:lpstr>Components of Effective Teaching</vt:lpstr>
      <vt:lpstr>Components of Effective Teaching</vt:lpstr>
      <vt:lpstr>Components of Effective Teaching</vt:lpstr>
      <vt:lpstr>Components of Effective Teaching</vt:lpstr>
      <vt:lpstr>21st-Century Education</vt:lpstr>
      <vt:lpstr>Characteristics of 21st-Century Learners</vt:lpstr>
      <vt:lpstr>Who is the 21st-Century Learner?</vt:lpstr>
      <vt:lpstr>What are the categories?</vt:lpstr>
      <vt:lpstr>ASEAN INTEGRATION</vt:lpstr>
      <vt:lpstr>GLOBALIZATION AND EDUCATION</vt:lpstr>
      <vt:lpstr>GLOBALIZATION ISSUES</vt:lpstr>
      <vt:lpstr>LEGAL BASES OF EDUCATION</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FOUR DIMENSIONS OF LEGAL BASES OF EDUCATION IN THE PHILIPPINES</vt:lpstr>
      <vt:lpstr>OTHER EDUCATIONAL LAWS</vt:lpstr>
      <vt:lpstr>OTHER EDUCATIONAL LAWS</vt:lpstr>
      <vt:lpstr>OTHER EDUCATIONAL LAWS</vt:lpstr>
      <vt:lpstr>PowerPoint Presentation</vt:lpstr>
      <vt:lpstr>PowerPoint Presentation</vt:lpstr>
      <vt:lpstr>PowerPoint Presentation</vt:lpstr>
      <vt:lpstr>PowerPoint Presentation</vt:lpstr>
      <vt:lpstr>PowerPoint Presentation</vt:lpstr>
      <vt:lpstr>PowerPoint Presentation</vt:lpstr>
      <vt:lpstr>SELECTED DEPED PROGRAMS AND PROJECTS </vt:lpstr>
      <vt:lpstr>PowerPoint Presentation</vt:lpstr>
    </vt:vector>
  </TitlesOfParts>
  <Company>University of Santo Tomas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Philippe Jose Hernandez</dc:creator>
  <cp:lastModifiedBy>Philippe Jose Hernandez</cp:lastModifiedBy>
  <cp:revision>11</cp:revision>
  <dcterms:created xsi:type="dcterms:W3CDTF">2016-03-26T07:53:54Z</dcterms:created>
  <dcterms:modified xsi:type="dcterms:W3CDTF">2017-06-10T23:36:31Z</dcterms:modified>
</cp:coreProperties>
</file>