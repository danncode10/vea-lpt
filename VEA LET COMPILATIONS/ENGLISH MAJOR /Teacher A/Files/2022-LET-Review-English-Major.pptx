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8"/>
  </p:notesMasterIdLst>
  <p:sldIdLst>
    <p:sldId id="380" r:id="rId2"/>
    <p:sldId id="256" r:id="rId3"/>
    <p:sldId id="257" r:id="rId4"/>
    <p:sldId id="266" r:id="rId5"/>
    <p:sldId id="265" r:id="rId6"/>
    <p:sldId id="264" r:id="rId7"/>
    <p:sldId id="268" r:id="rId8"/>
    <p:sldId id="269" r:id="rId9"/>
    <p:sldId id="272" r:id="rId10"/>
    <p:sldId id="271" r:id="rId11"/>
    <p:sldId id="273" r:id="rId12"/>
    <p:sldId id="274" r:id="rId13"/>
    <p:sldId id="275" r:id="rId14"/>
    <p:sldId id="276" r:id="rId15"/>
    <p:sldId id="277" r:id="rId16"/>
    <p:sldId id="278" r:id="rId17"/>
    <p:sldId id="291" r:id="rId18"/>
    <p:sldId id="292" r:id="rId19"/>
    <p:sldId id="267" r:id="rId20"/>
    <p:sldId id="293" r:id="rId21"/>
    <p:sldId id="258" r:id="rId22"/>
    <p:sldId id="259" r:id="rId23"/>
    <p:sldId id="299" r:id="rId24"/>
    <p:sldId id="298" r:id="rId25"/>
    <p:sldId id="297" r:id="rId26"/>
    <p:sldId id="301" r:id="rId27"/>
    <p:sldId id="302" r:id="rId28"/>
    <p:sldId id="296" r:id="rId29"/>
    <p:sldId id="295" r:id="rId30"/>
    <p:sldId id="317" r:id="rId31"/>
    <p:sldId id="327" r:id="rId32"/>
    <p:sldId id="324" r:id="rId33"/>
    <p:sldId id="326" r:id="rId34"/>
    <p:sldId id="325" r:id="rId35"/>
    <p:sldId id="322" r:id="rId36"/>
    <p:sldId id="392" r:id="rId37"/>
    <p:sldId id="402" r:id="rId38"/>
    <p:sldId id="401" r:id="rId39"/>
    <p:sldId id="400" r:id="rId40"/>
    <p:sldId id="399" r:id="rId41"/>
    <p:sldId id="398" r:id="rId42"/>
    <p:sldId id="397" r:id="rId43"/>
    <p:sldId id="396" r:id="rId44"/>
    <p:sldId id="395" r:id="rId45"/>
    <p:sldId id="394" r:id="rId46"/>
    <p:sldId id="393" r:id="rId47"/>
    <p:sldId id="391" r:id="rId48"/>
    <p:sldId id="390" r:id="rId49"/>
    <p:sldId id="389" r:id="rId50"/>
    <p:sldId id="388" r:id="rId51"/>
    <p:sldId id="387" r:id="rId52"/>
    <p:sldId id="385" r:id="rId53"/>
    <p:sldId id="430" r:id="rId54"/>
    <p:sldId id="428" r:id="rId55"/>
    <p:sldId id="429" r:id="rId56"/>
    <p:sldId id="427" r:id="rId57"/>
    <p:sldId id="425" r:id="rId58"/>
    <p:sldId id="426" r:id="rId59"/>
    <p:sldId id="424" r:id="rId60"/>
    <p:sldId id="423" r:id="rId61"/>
    <p:sldId id="422" r:id="rId62"/>
    <p:sldId id="421" r:id="rId63"/>
    <p:sldId id="412" r:id="rId64"/>
    <p:sldId id="420" r:id="rId65"/>
    <p:sldId id="419" r:id="rId66"/>
    <p:sldId id="418" r:id="rId67"/>
    <p:sldId id="417" r:id="rId68"/>
    <p:sldId id="416" r:id="rId69"/>
    <p:sldId id="415" r:id="rId70"/>
    <p:sldId id="414" r:id="rId71"/>
    <p:sldId id="413" r:id="rId72"/>
    <p:sldId id="410" r:id="rId73"/>
    <p:sldId id="411" r:id="rId74"/>
    <p:sldId id="408" r:id="rId75"/>
    <p:sldId id="409" r:id="rId76"/>
    <p:sldId id="406" r:id="rId77"/>
    <p:sldId id="407" r:id="rId78"/>
    <p:sldId id="405" r:id="rId79"/>
    <p:sldId id="404" r:id="rId80"/>
    <p:sldId id="450" r:id="rId81"/>
    <p:sldId id="452" r:id="rId82"/>
    <p:sldId id="451" r:id="rId83"/>
    <p:sldId id="447" r:id="rId84"/>
    <p:sldId id="449" r:id="rId85"/>
    <p:sldId id="448" r:id="rId86"/>
    <p:sldId id="446" r:id="rId87"/>
    <p:sldId id="445" r:id="rId88"/>
    <p:sldId id="444" r:id="rId89"/>
    <p:sldId id="443" r:id="rId90"/>
    <p:sldId id="442" r:id="rId91"/>
    <p:sldId id="431" r:id="rId92"/>
    <p:sldId id="441" r:id="rId93"/>
    <p:sldId id="432" r:id="rId94"/>
    <p:sldId id="436" r:id="rId95"/>
    <p:sldId id="456" r:id="rId96"/>
    <p:sldId id="454" r:id="rId97"/>
    <p:sldId id="455" r:id="rId98"/>
    <p:sldId id="453" r:id="rId99"/>
    <p:sldId id="440" r:id="rId100"/>
    <p:sldId id="438" r:id="rId101"/>
    <p:sldId id="318" r:id="rId102"/>
    <p:sldId id="321" r:id="rId103"/>
    <p:sldId id="319" r:id="rId104"/>
    <p:sldId id="320" r:id="rId105"/>
    <p:sldId id="303" r:id="rId106"/>
    <p:sldId id="315" r:id="rId107"/>
    <p:sldId id="343" r:id="rId108"/>
    <p:sldId id="342" r:id="rId109"/>
    <p:sldId id="359" r:id="rId110"/>
    <p:sldId id="360" r:id="rId111"/>
    <p:sldId id="361" r:id="rId112"/>
    <p:sldId id="348" r:id="rId113"/>
    <p:sldId id="349" r:id="rId114"/>
    <p:sldId id="350" r:id="rId115"/>
    <p:sldId id="351" r:id="rId116"/>
    <p:sldId id="340" r:id="rId117"/>
    <p:sldId id="382" r:id="rId118"/>
    <p:sldId id="334" r:id="rId119"/>
    <p:sldId id="338" r:id="rId120"/>
    <p:sldId id="336" r:id="rId121"/>
    <p:sldId id="337" r:id="rId122"/>
    <p:sldId id="335" r:id="rId123"/>
    <p:sldId id="304" r:id="rId124"/>
    <p:sldId id="377" r:id="rId125"/>
    <p:sldId id="333" r:id="rId126"/>
    <p:sldId id="378" r:id="rId127"/>
    <p:sldId id="379" r:id="rId128"/>
    <p:sldId id="294" r:id="rId129"/>
    <p:sldId id="331" r:id="rId130"/>
    <p:sldId id="381" r:id="rId131"/>
    <p:sldId id="329" r:id="rId132"/>
    <p:sldId id="372" r:id="rId133"/>
    <p:sldId id="375" r:id="rId134"/>
    <p:sldId id="376" r:id="rId135"/>
    <p:sldId id="374" r:id="rId136"/>
    <p:sldId id="383" r:id="rId137"/>
    <p:sldId id="370" r:id="rId138"/>
    <p:sldId id="373" r:id="rId139"/>
    <p:sldId id="371" r:id="rId140"/>
    <p:sldId id="362" r:id="rId141"/>
    <p:sldId id="369" r:id="rId142"/>
    <p:sldId id="368" r:id="rId143"/>
    <p:sldId id="367" r:id="rId144"/>
    <p:sldId id="366" r:id="rId145"/>
    <p:sldId id="363" r:id="rId146"/>
    <p:sldId id="263" r:id="rId147"/>
  </p:sldIdLst>
  <p:sldSz cx="16202025" cy="9361488"/>
  <p:notesSz cx="6858000" cy="9144000"/>
  <p:defaultTextStyle>
    <a:defPPr>
      <a:defRPr lang="en-US"/>
    </a:defPPr>
    <a:lvl1pPr marL="0" algn="l" defTabSz="1460754" rtl="0" eaLnBrk="1" latinLnBrk="0" hangingPunct="1">
      <a:defRPr sz="2900" kern="1200">
        <a:solidFill>
          <a:schemeClr val="tx1"/>
        </a:solidFill>
        <a:latin typeface="+mn-lt"/>
        <a:ea typeface="+mn-ea"/>
        <a:cs typeface="+mn-cs"/>
      </a:defRPr>
    </a:lvl1pPr>
    <a:lvl2pPr marL="730377" algn="l" defTabSz="1460754" rtl="0" eaLnBrk="1" latinLnBrk="0" hangingPunct="1">
      <a:defRPr sz="2900" kern="1200">
        <a:solidFill>
          <a:schemeClr val="tx1"/>
        </a:solidFill>
        <a:latin typeface="+mn-lt"/>
        <a:ea typeface="+mn-ea"/>
        <a:cs typeface="+mn-cs"/>
      </a:defRPr>
    </a:lvl2pPr>
    <a:lvl3pPr marL="1460754" algn="l" defTabSz="1460754" rtl="0" eaLnBrk="1" latinLnBrk="0" hangingPunct="1">
      <a:defRPr sz="2900" kern="1200">
        <a:solidFill>
          <a:schemeClr val="tx1"/>
        </a:solidFill>
        <a:latin typeface="+mn-lt"/>
        <a:ea typeface="+mn-ea"/>
        <a:cs typeface="+mn-cs"/>
      </a:defRPr>
    </a:lvl3pPr>
    <a:lvl4pPr marL="2191131" algn="l" defTabSz="1460754" rtl="0" eaLnBrk="1" latinLnBrk="0" hangingPunct="1">
      <a:defRPr sz="2900" kern="1200">
        <a:solidFill>
          <a:schemeClr val="tx1"/>
        </a:solidFill>
        <a:latin typeface="+mn-lt"/>
        <a:ea typeface="+mn-ea"/>
        <a:cs typeface="+mn-cs"/>
      </a:defRPr>
    </a:lvl4pPr>
    <a:lvl5pPr marL="2921508" algn="l" defTabSz="1460754" rtl="0" eaLnBrk="1" latinLnBrk="0" hangingPunct="1">
      <a:defRPr sz="2900" kern="1200">
        <a:solidFill>
          <a:schemeClr val="tx1"/>
        </a:solidFill>
        <a:latin typeface="+mn-lt"/>
        <a:ea typeface="+mn-ea"/>
        <a:cs typeface="+mn-cs"/>
      </a:defRPr>
    </a:lvl5pPr>
    <a:lvl6pPr marL="3651885" algn="l" defTabSz="1460754" rtl="0" eaLnBrk="1" latinLnBrk="0" hangingPunct="1">
      <a:defRPr sz="2900" kern="1200">
        <a:solidFill>
          <a:schemeClr val="tx1"/>
        </a:solidFill>
        <a:latin typeface="+mn-lt"/>
        <a:ea typeface="+mn-ea"/>
        <a:cs typeface="+mn-cs"/>
      </a:defRPr>
    </a:lvl6pPr>
    <a:lvl7pPr marL="4382262" algn="l" defTabSz="1460754" rtl="0" eaLnBrk="1" latinLnBrk="0" hangingPunct="1">
      <a:defRPr sz="2900" kern="1200">
        <a:solidFill>
          <a:schemeClr val="tx1"/>
        </a:solidFill>
        <a:latin typeface="+mn-lt"/>
        <a:ea typeface="+mn-ea"/>
        <a:cs typeface="+mn-cs"/>
      </a:defRPr>
    </a:lvl7pPr>
    <a:lvl8pPr marL="5112639" algn="l" defTabSz="1460754" rtl="0" eaLnBrk="1" latinLnBrk="0" hangingPunct="1">
      <a:defRPr sz="2900" kern="1200">
        <a:solidFill>
          <a:schemeClr val="tx1"/>
        </a:solidFill>
        <a:latin typeface="+mn-lt"/>
        <a:ea typeface="+mn-ea"/>
        <a:cs typeface="+mn-cs"/>
      </a:defRPr>
    </a:lvl8pPr>
    <a:lvl9pPr marL="5843016" algn="l" defTabSz="1460754" rtl="0" eaLnBrk="1" latinLnBrk="0" hangingPunct="1">
      <a:defRPr sz="2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32" autoAdjust="0"/>
    <p:restoredTop sz="92527" autoAdjust="0"/>
  </p:normalViewPr>
  <p:slideViewPr>
    <p:cSldViewPr>
      <p:cViewPr>
        <p:scale>
          <a:sx n="50" d="100"/>
          <a:sy n="50" d="100"/>
        </p:scale>
        <p:origin x="-984" y="-216"/>
      </p:cViewPr>
      <p:guideLst>
        <p:guide orient="horz" pos="2949"/>
        <p:guide pos="510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notesMaster" Target="notesMasters/notesMaster1.xml"/><Relationship Id="rId15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0ECE10-71E3-4F98-B783-002C43D8EF8F}" type="datetimeFigureOut">
              <a:rPr lang="en-PH" smtClean="0"/>
              <a:t>02/09/2022</a:t>
            </a:fld>
            <a:endParaRPr lang="en-PH"/>
          </a:p>
        </p:txBody>
      </p:sp>
      <p:sp>
        <p:nvSpPr>
          <p:cNvPr id="4" name="Slide Image Placeholder 3"/>
          <p:cNvSpPr>
            <a:spLocks noGrp="1" noRot="1" noChangeAspect="1"/>
          </p:cNvSpPr>
          <p:nvPr>
            <p:ph type="sldImg" idx="2"/>
          </p:nvPr>
        </p:nvSpPr>
        <p:spPr>
          <a:xfrm>
            <a:off x="461963" y="685800"/>
            <a:ext cx="5934075" cy="34290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AF3E15-3089-4EFA-A4BB-29F10D60D836}" type="slidenum">
              <a:rPr lang="en-PH" smtClean="0"/>
              <a:t>‹#›</a:t>
            </a:fld>
            <a:endParaRPr lang="en-PH"/>
          </a:p>
        </p:txBody>
      </p:sp>
    </p:spTree>
    <p:extLst>
      <p:ext uri="{BB962C8B-B14F-4D97-AF65-F5344CB8AC3E}">
        <p14:creationId xmlns:p14="http://schemas.microsoft.com/office/powerpoint/2010/main" val="355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AEAF3E15-3089-4EFA-A4BB-29F10D60D836}" type="slidenum">
              <a:rPr lang="en-PH" smtClean="0"/>
              <a:t>26</a:t>
            </a:fld>
            <a:endParaRPr lang="en-PH"/>
          </a:p>
        </p:txBody>
      </p:sp>
    </p:spTree>
    <p:extLst>
      <p:ext uri="{BB962C8B-B14F-4D97-AF65-F5344CB8AC3E}">
        <p14:creationId xmlns:p14="http://schemas.microsoft.com/office/powerpoint/2010/main" val="2706402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15152" y="2908130"/>
            <a:ext cx="13771721" cy="2006652"/>
          </a:xfrm>
        </p:spPr>
        <p:txBody>
          <a:bodyPr/>
          <a:lstStyle/>
          <a:p>
            <a:r>
              <a:rPr lang="en-US" smtClean="0"/>
              <a:t>Click to edit Master title style</a:t>
            </a:r>
            <a:endParaRPr lang="en-PH"/>
          </a:p>
        </p:txBody>
      </p:sp>
      <p:sp>
        <p:nvSpPr>
          <p:cNvPr id="3" name="Subtitle 2"/>
          <p:cNvSpPr>
            <a:spLocks noGrp="1"/>
          </p:cNvSpPr>
          <p:nvPr>
            <p:ph type="subTitle" idx="1"/>
          </p:nvPr>
        </p:nvSpPr>
        <p:spPr>
          <a:xfrm>
            <a:off x="2430304" y="5304843"/>
            <a:ext cx="11341418" cy="2392380"/>
          </a:xfrm>
        </p:spPr>
        <p:txBody>
          <a:bodyPr/>
          <a:lstStyle>
            <a:lvl1pPr marL="0" indent="0" algn="ctr">
              <a:buNone/>
              <a:defRPr>
                <a:solidFill>
                  <a:schemeClr val="tx1">
                    <a:tint val="75000"/>
                  </a:schemeClr>
                </a:solidFill>
              </a:defRPr>
            </a:lvl1pPr>
            <a:lvl2pPr marL="730377" indent="0" algn="ctr">
              <a:buNone/>
              <a:defRPr>
                <a:solidFill>
                  <a:schemeClr val="tx1">
                    <a:tint val="75000"/>
                  </a:schemeClr>
                </a:solidFill>
              </a:defRPr>
            </a:lvl2pPr>
            <a:lvl3pPr marL="1460754" indent="0" algn="ctr">
              <a:buNone/>
              <a:defRPr>
                <a:solidFill>
                  <a:schemeClr val="tx1">
                    <a:tint val="75000"/>
                  </a:schemeClr>
                </a:solidFill>
              </a:defRPr>
            </a:lvl3pPr>
            <a:lvl4pPr marL="2191131" indent="0" algn="ctr">
              <a:buNone/>
              <a:defRPr>
                <a:solidFill>
                  <a:schemeClr val="tx1">
                    <a:tint val="75000"/>
                  </a:schemeClr>
                </a:solidFill>
              </a:defRPr>
            </a:lvl4pPr>
            <a:lvl5pPr marL="2921508" indent="0" algn="ctr">
              <a:buNone/>
              <a:defRPr>
                <a:solidFill>
                  <a:schemeClr val="tx1">
                    <a:tint val="75000"/>
                  </a:schemeClr>
                </a:solidFill>
              </a:defRPr>
            </a:lvl5pPr>
            <a:lvl6pPr marL="3651885" indent="0" algn="ctr">
              <a:buNone/>
              <a:defRPr>
                <a:solidFill>
                  <a:schemeClr val="tx1">
                    <a:tint val="75000"/>
                  </a:schemeClr>
                </a:solidFill>
              </a:defRPr>
            </a:lvl6pPr>
            <a:lvl7pPr marL="4382262" indent="0" algn="ctr">
              <a:buNone/>
              <a:defRPr>
                <a:solidFill>
                  <a:schemeClr val="tx1">
                    <a:tint val="75000"/>
                  </a:schemeClr>
                </a:solidFill>
              </a:defRPr>
            </a:lvl7pPr>
            <a:lvl8pPr marL="5112639" indent="0" algn="ctr">
              <a:buNone/>
              <a:defRPr>
                <a:solidFill>
                  <a:schemeClr val="tx1">
                    <a:tint val="75000"/>
                  </a:schemeClr>
                </a:solidFill>
              </a:defRPr>
            </a:lvl8pPr>
            <a:lvl9pPr marL="5843016" indent="0" algn="ctr">
              <a:buNone/>
              <a:defRPr>
                <a:solidFill>
                  <a:schemeClr val="tx1">
                    <a:tint val="75000"/>
                  </a:schemeClr>
                </a:solidFill>
              </a:defRPr>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963688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3248711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9848" y="6015623"/>
            <a:ext cx="13771721" cy="1859296"/>
          </a:xfrm>
        </p:spPr>
        <p:txBody>
          <a:bodyPr anchor="t"/>
          <a:lstStyle>
            <a:lvl1pPr algn="l">
              <a:defRPr sz="6400" b="1" cap="all"/>
            </a:lvl1pPr>
          </a:lstStyle>
          <a:p>
            <a:r>
              <a:rPr lang="en-US" smtClean="0"/>
              <a:t>Click to edit Master title style</a:t>
            </a:r>
            <a:endParaRPr lang="en-PH"/>
          </a:p>
        </p:txBody>
      </p:sp>
      <p:sp>
        <p:nvSpPr>
          <p:cNvPr id="3" name="Text Placeholder 2"/>
          <p:cNvSpPr>
            <a:spLocks noGrp="1"/>
          </p:cNvSpPr>
          <p:nvPr>
            <p:ph type="body" idx="1"/>
          </p:nvPr>
        </p:nvSpPr>
        <p:spPr>
          <a:xfrm>
            <a:off x="1279848" y="3967799"/>
            <a:ext cx="13771721" cy="2047825"/>
          </a:xfrm>
        </p:spPr>
        <p:txBody>
          <a:bodyPr anchor="b"/>
          <a:lstStyle>
            <a:lvl1pPr marL="0" indent="0">
              <a:buNone/>
              <a:defRPr sz="3200">
                <a:solidFill>
                  <a:schemeClr val="tx1">
                    <a:tint val="75000"/>
                  </a:schemeClr>
                </a:solidFill>
              </a:defRPr>
            </a:lvl1pPr>
            <a:lvl2pPr marL="730377" indent="0">
              <a:buNone/>
              <a:defRPr sz="2900">
                <a:solidFill>
                  <a:schemeClr val="tx1">
                    <a:tint val="75000"/>
                  </a:schemeClr>
                </a:solidFill>
              </a:defRPr>
            </a:lvl2pPr>
            <a:lvl3pPr marL="1460754" indent="0">
              <a:buNone/>
              <a:defRPr sz="2600">
                <a:solidFill>
                  <a:schemeClr val="tx1">
                    <a:tint val="75000"/>
                  </a:schemeClr>
                </a:solidFill>
              </a:defRPr>
            </a:lvl3pPr>
            <a:lvl4pPr marL="2191131" indent="0">
              <a:buNone/>
              <a:defRPr sz="2200">
                <a:solidFill>
                  <a:schemeClr val="tx1">
                    <a:tint val="75000"/>
                  </a:schemeClr>
                </a:solidFill>
              </a:defRPr>
            </a:lvl4pPr>
            <a:lvl5pPr marL="2921508" indent="0">
              <a:buNone/>
              <a:defRPr sz="2200">
                <a:solidFill>
                  <a:schemeClr val="tx1">
                    <a:tint val="75000"/>
                  </a:schemeClr>
                </a:solidFill>
              </a:defRPr>
            </a:lvl5pPr>
            <a:lvl6pPr marL="3651885" indent="0">
              <a:buNone/>
              <a:defRPr sz="2200">
                <a:solidFill>
                  <a:schemeClr val="tx1">
                    <a:tint val="75000"/>
                  </a:schemeClr>
                </a:solidFill>
              </a:defRPr>
            </a:lvl6pPr>
            <a:lvl7pPr marL="4382262" indent="0">
              <a:buNone/>
              <a:defRPr sz="2200">
                <a:solidFill>
                  <a:schemeClr val="tx1">
                    <a:tint val="75000"/>
                  </a:schemeClr>
                </a:solidFill>
              </a:defRPr>
            </a:lvl7pPr>
            <a:lvl8pPr marL="5112639" indent="0">
              <a:buNone/>
              <a:defRPr sz="2200">
                <a:solidFill>
                  <a:schemeClr val="tx1">
                    <a:tint val="75000"/>
                  </a:schemeClr>
                </a:solidFill>
              </a:defRPr>
            </a:lvl8pPr>
            <a:lvl9pPr marL="5843016" indent="0">
              <a:buNone/>
              <a:defRPr sz="2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2440416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1434554" y="2981807"/>
            <a:ext cx="12784411" cy="8434007"/>
          </a:xfrm>
        </p:spPr>
        <p:txBody>
          <a:bodyPr/>
          <a:lstStyle>
            <a:lvl1pPr>
              <a:defRPr sz="4500"/>
            </a:lvl1pPr>
            <a:lvl2pPr>
              <a:defRPr sz="3800"/>
            </a:lvl2pPr>
            <a:lvl3pPr>
              <a:defRPr sz="3200"/>
            </a:lvl3pPr>
            <a:lvl4pPr>
              <a:defRPr sz="2900"/>
            </a:lvl4pPr>
            <a:lvl5pPr>
              <a:defRPr sz="2900"/>
            </a:lvl5pPr>
            <a:lvl6pPr>
              <a:defRPr sz="2900"/>
            </a:lvl6pPr>
            <a:lvl7pPr>
              <a:defRPr sz="2900"/>
            </a:lvl7pPr>
            <a:lvl8pPr>
              <a:defRPr sz="2900"/>
            </a:lvl8pPr>
            <a:lvl9pPr>
              <a:defRPr sz="2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14489000" y="2981807"/>
            <a:ext cx="12784409" cy="8434007"/>
          </a:xfrm>
        </p:spPr>
        <p:txBody>
          <a:bodyPr/>
          <a:lstStyle>
            <a:lvl1pPr>
              <a:defRPr sz="4500"/>
            </a:lvl1pPr>
            <a:lvl2pPr>
              <a:defRPr sz="3800"/>
            </a:lvl2pPr>
            <a:lvl3pPr>
              <a:defRPr sz="3200"/>
            </a:lvl3pPr>
            <a:lvl4pPr>
              <a:defRPr sz="2900"/>
            </a:lvl4pPr>
            <a:lvl5pPr>
              <a:defRPr sz="2900"/>
            </a:lvl5pPr>
            <a:lvl6pPr>
              <a:defRPr sz="2900"/>
            </a:lvl6pPr>
            <a:lvl7pPr>
              <a:defRPr sz="2900"/>
            </a:lvl7pPr>
            <a:lvl8pPr>
              <a:defRPr sz="2900"/>
            </a:lvl8pPr>
            <a:lvl9pPr>
              <a:defRPr sz="2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6" name="Footer Placeholder 5"/>
          <p:cNvSpPr>
            <a:spLocks noGrp="1"/>
          </p:cNvSpPr>
          <p:nvPr>
            <p:ph type="ftr" sz="quarter" idx="11"/>
          </p:nvPr>
        </p:nvSpPr>
        <p:spPr/>
        <p:txBody>
          <a:bodyPr/>
          <a:lstStyle/>
          <a:p>
            <a:endParaRPr lang="en-PH" dirty="0"/>
          </a:p>
        </p:txBody>
      </p:sp>
      <p:sp>
        <p:nvSpPr>
          <p:cNvPr id="7" name="Slide Number Placeholder 6"/>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1212969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0101" y="374894"/>
            <a:ext cx="14581823" cy="1560248"/>
          </a:xfrm>
        </p:spPr>
        <p:txBody>
          <a:bodyPr/>
          <a:lstStyle>
            <a:lvl1pPr>
              <a:defRPr/>
            </a:lvl1pPr>
          </a:lstStyle>
          <a:p>
            <a:r>
              <a:rPr lang="en-US" smtClean="0"/>
              <a:t>Click to edit Master title style</a:t>
            </a:r>
            <a:endParaRPr lang="en-PH"/>
          </a:p>
        </p:txBody>
      </p:sp>
      <p:sp>
        <p:nvSpPr>
          <p:cNvPr id="3" name="Text Placeholder 2"/>
          <p:cNvSpPr>
            <a:spLocks noGrp="1"/>
          </p:cNvSpPr>
          <p:nvPr>
            <p:ph type="body" idx="1"/>
          </p:nvPr>
        </p:nvSpPr>
        <p:spPr>
          <a:xfrm>
            <a:off x="810101" y="2095500"/>
            <a:ext cx="7158708" cy="873305"/>
          </a:xfrm>
        </p:spPr>
        <p:txBody>
          <a:bodyPr anchor="b"/>
          <a:lstStyle>
            <a:lvl1pPr marL="0" indent="0">
              <a:buNone/>
              <a:defRPr sz="3800" b="1"/>
            </a:lvl1pPr>
            <a:lvl2pPr marL="730377" indent="0">
              <a:buNone/>
              <a:defRPr sz="3200" b="1"/>
            </a:lvl2pPr>
            <a:lvl3pPr marL="1460754" indent="0">
              <a:buNone/>
              <a:defRPr sz="2900" b="1"/>
            </a:lvl3pPr>
            <a:lvl4pPr marL="2191131" indent="0">
              <a:buNone/>
              <a:defRPr sz="2600" b="1"/>
            </a:lvl4pPr>
            <a:lvl5pPr marL="2921508" indent="0">
              <a:buNone/>
              <a:defRPr sz="2600" b="1"/>
            </a:lvl5pPr>
            <a:lvl6pPr marL="3651885" indent="0">
              <a:buNone/>
              <a:defRPr sz="2600" b="1"/>
            </a:lvl6pPr>
            <a:lvl7pPr marL="4382262" indent="0">
              <a:buNone/>
              <a:defRPr sz="2600" b="1"/>
            </a:lvl7pPr>
            <a:lvl8pPr marL="5112639" indent="0">
              <a:buNone/>
              <a:defRPr sz="2600" b="1"/>
            </a:lvl8pPr>
            <a:lvl9pPr marL="5843016" indent="0">
              <a:buNone/>
              <a:defRPr sz="2600" b="1"/>
            </a:lvl9pPr>
          </a:lstStyle>
          <a:p>
            <a:pPr lvl="0"/>
            <a:r>
              <a:rPr lang="en-US" smtClean="0"/>
              <a:t>Click to edit Master text styles</a:t>
            </a:r>
          </a:p>
        </p:txBody>
      </p:sp>
      <p:sp>
        <p:nvSpPr>
          <p:cNvPr id="4" name="Content Placeholder 3"/>
          <p:cNvSpPr>
            <a:spLocks noGrp="1"/>
          </p:cNvSpPr>
          <p:nvPr>
            <p:ph sz="half" idx="2"/>
          </p:nvPr>
        </p:nvSpPr>
        <p:spPr>
          <a:xfrm>
            <a:off x="810101" y="2968805"/>
            <a:ext cx="7158708" cy="5393691"/>
          </a:xfrm>
        </p:spPr>
        <p:txBody>
          <a:bodyPr/>
          <a:lstStyle>
            <a:lvl1pPr>
              <a:defRPr sz="3800"/>
            </a:lvl1pPr>
            <a:lvl2pPr>
              <a:defRPr sz="32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8230405" y="2095500"/>
            <a:ext cx="7161520" cy="873305"/>
          </a:xfrm>
        </p:spPr>
        <p:txBody>
          <a:bodyPr anchor="b"/>
          <a:lstStyle>
            <a:lvl1pPr marL="0" indent="0">
              <a:buNone/>
              <a:defRPr sz="3800" b="1"/>
            </a:lvl1pPr>
            <a:lvl2pPr marL="730377" indent="0">
              <a:buNone/>
              <a:defRPr sz="3200" b="1"/>
            </a:lvl2pPr>
            <a:lvl3pPr marL="1460754" indent="0">
              <a:buNone/>
              <a:defRPr sz="2900" b="1"/>
            </a:lvl3pPr>
            <a:lvl4pPr marL="2191131" indent="0">
              <a:buNone/>
              <a:defRPr sz="2600" b="1"/>
            </a:lvl4pPr>
            <a:lvl5pPr marL="2921508" indent="0">
              <a:buNone/>
              <a:defRPr sz="2600" b="1"/>
            </a:lvl5pPr>
            <a:lvl6pPr marL="3651885" indent="0">
              <a:buNone/>
              <a:defRPr sz="2600" b="1"/>
            </a:lvl6pPr>
            <a:lvl7pPr marL="4382262" indent="0">
              <a:buNone/>
              <a:defRPr sz="2600" b="1"/>
            </a:lvl7pPr>
            <a:lvl8pPr marL="5112639" indent="0">
              <a:buNone/>
              <a:defRPr sz="2600" b="1"/>
            </a:lvl8pPr>
            <a:lvl9pPr marL="5843016" indent="0">
              <a:buNone/>
              <a:defRPr sz="2600" b="1"/>
            </a:lvl9pPr>
          </a:lstStyle>
          <a:p>
            <a:pPr lvl="0"/>
            <a:r>
              <a:rPr lang="en-US" smtClean="0"/>
              <a:t>Click to edit Master text styles</a:t>
            </a:r>
          </a:p>
        </p:txBody>
      </p:sp>
      <p:sp>
        <p:nvSpPr>
          <p:cNvPr id="6" name="Content Placeholder 5"/>
          <p:cNvSpPr>
            <a:spLocks noGrp="1"/>
          </p:cNvSpPr>
          <p:nvPr>
            <p:ph sz="quarter" idx="4"/>
          </p:nvPr>
        </p:nvSpPr>
        <p:spPr>
          <a:xfrm>
            <a:off x="8230405" y="2968805"/>
            <a:ext cx="7161520" cy="5393691"/>
          </a:xfrm>
        </p:spPr>
        <p:txBody>
          <a:bodyPr/>
          <a:lstStyle>
            <a:lvl1pPr>
              <a:defRPr sz="3800"/>
            </a:lvl1pPr>
            <a:lvl2pPr>
              <a:defRPr sz="3200"/>
            </a:lvl2pPr>
            <a:lvl3pPr>
              <a:defRPr sz="2900"/>
            </a:lvl3pPr>
            <a:lvl4pPr>
              <a:defRPr sz="2600"/>
            </a:lvl4pPr>
            <a:lvl5pPr>
              <a:defRPr sz="2600"/>
            </a:lvl5pPr>
            <a:lvl6pPr>
              <a:defRPr sz="2600"/>
            </a:lvl6pPr>
            <a:lvl7pPr>
              <a:defRPr sz="2600"/>
            </a:lvl7pPr>
            <a:lvl8pPr>
              <a:defRPr sz="2600"/>
            </a:lvl8pPr>
            <a:lvl9pPr>
              <a:defRPr sz="2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8" name="Footer Placeholder 7"/>
          <p:cNvSpPr>
            <a:spLocks noGrp="1"/>
          </p:cNvSpPr>
          <p:nvPr>
            <p:ph type="ftr" sz="quarter" idx="11"/>
          </p:nvPr>
        </p:nvSpPr>
        <p:spPr/>
        <p:txBody>
          <a:bodyPr/>
          <a:lstStyle/>
          <a:p>
            <a:endParaRPr lang="en-PH" dirty="0"/>
          </a:p>
        </p:txBody>
      </p:sp>
      <p:sp>
        <p:nvSpPr>
          <p:cNvPr id="9" name="Slide Number Placeholder 8"/>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394955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4" name="Footer Placeholder 3"/>
          <p:cNvSpPr>
            <a:spLocks noGrp="1"/>
          </p:cNvSpPr>
          <p:nvPr>
            <p:ph type="ftr" sz="quarter" idx="11"/>
          </p:nvPr>
        </p:nvSpPr>
        <p:spPr/>
        <p:txBody>
          <a:bodyPr/>
          <a:lstStyle/>
          <a:p>
            <a:endParaRPr lang="en-PH" dirty="0"/>
          </a:p>
        </p:txBody>
      </p:sp>
      <p:sp>
        <p:nvSpPr>
          <p:cNvPr id="5" name="Slide Number Placeholder 4"/>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364997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3" name="Footer Placeholder 2"/>
          <p:cNvSpPr>
            <a:spLocks noGrp="1"/>
          </p:cNvSpPr>
          <p:nvPr>
            <p:ph type="ftr" sz="quarter" idx="11"/>
          </p:nvPr>
        </p:nvSpPr>
        <p:spPr/>
        <p:txBody>
          <a:bodyPr/>
          <a:lstStyle/>
          <a:p>
            <a:endParaRPr lang="en-PH" dirty="0"/>
          </a:p>
        </p:txBody>
      </p:sp>
      <p:sp>
        <p:nvSpPr>
          <p:cNvPr id="4" name="Slide Number Placeholder 3"/>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1130176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102" y="372726"/>
            <a:ext cx="5330355" cy="1586252"/>
          </a:xfrm>
        </p:spPr>
        <p:txBody>
          <a:bodyPr anchor="b"/>
          <a:lstStyle>
            <a:lvl1pPr algn="l">
              <a:defRPr sz="3200" b="1"/>
            </a:lvl1pPr>
          </a:lstStyle>
          <a:p>
            <a:r>
              <a:rPr lang="en-US" smtClean="0"/>
              <a:t>Click to edit Master title style</a:t>
            </a:r>
            <a:endParaRPr lang="en-PH"/>
          </a:p>
        </p:txBody>
      </p:sp>
      <p:sp>
        <p:nvSpPr>
          <p:cNvPr id="3" name="Content Placeholder 2"/>
          <p:cNvSpPr>
            <a:spLocks noGrp="1"/>
          </p:cNvSpPr>
          <p:nvPr>
            <p:ph idx="1"/>
          </p:nvPr>
        </p:nvSpPr>
        <p:spPr>
          <a:xfrm>
            <a:off x="6334542" y="372726"/>
            <a:ext cx="9057382" cy="7989771"/>
          </a:xfrm>
        </p:spPr>
        <p:txBody>
          <a:bodyPr/>
          <a:lstStyle>
            <a:lvl1pPr>
              <a:defRPr sz="5100"/>
            </a:lvl1pPr>
            <a:lvl2pPr>
              <a:defRPr sz="4500"/>
            </a:lvl2pPr>
            <a:lvl3pPr>
              <a:defRPr sz="3800"/>
            </a:lvl3pPr>
            <a:lvl4pPr>
              <a:defRPr sz="3200"/>
            </a:lvl4pPr>
            <a:lvl5pPr>
              <a:defRPr sz="3200"/>
            </a:lvl5pPr>
            <a:lvl6pPr>
              <a:defRPr sz="3200"/>
            </a:lvl6pPr>
            <a:lvl7pPr>
              <a:defRPr sz="3200"/>
            </a:lvl7pPr>
            <a:lvl8pPr>
              <a:defRPr sz="3200"/>
            </a:lvl8pPr>
            <a:lvl9pPr>
              <a:defRPr sz="3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810102" y="1958978"/>
            <a:ext cx="5330355" cy="6403519"/>
          </a:xfrm>
        </p:spPr>
        <p:txBody>
          <a:bodyPr/>
          <a:lstStyle>
            <a:lvl1pPr marL="0" indent="0">
              <a:buNone/>
              <a:defRPr sz="2200"/>
            </a:lvl1pPr>
            <a:lvl2pPr marL="730377" indent="0">
              <a:buNone/>
              <a:defRPr sz="1900"/>
            </a:lvl2pPr>
            <a:lvl3pPr marL="1460754" indent="0">
              <a:buNone/>
              <a:defRPr sz="1600"/>
            </a:lvl3pPr>
            <a:lvl4pPr marL="2191131" indent="0">
              <a:buNone/>
              <a:defRPr sz="1400"/>
            </a:lvl4pPr>
            <a:lvl5pPr marL="2921508" indent="0">
              <a:buNone/>
              <a:defRPr sz="1400"/>
            </a:lvl5pPr>
            <a:lvl6pPr marL="3651885" indent="0">
              <a:buNone/>
              <a:defRPr sz="1400"/>
            </a:lvl6pPr>
            <a:lvl7pPr marL="4382262" indent="0">
              <a:buNone/>
              <a:defRPr sz="1400"/>
            </a:lvl7pPr>
            <a:lvl8pPr marL="5112639" indent="0">
              <a:buNone/>
              <a:defRPr sz="1400"/>
            </a:lvl8pPr>
            <a:lvl9pPr marL="5843016" indent="0">
              <a:buNone/>
              <a:defRPr sz="14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6" name="Footer Placeholder 5"/>
          <p:cNvSpPr>
            <a:spLocks noGrp="1"/>
          </p:cNvSpPr>
          <p:nvPr>
            <p:ph type="ftr" sz="quarter" idx="11"/>
          </p:nvPr>
        </p:nvSpPr>
        <p:spPr/>
        <p:txBody>
          <a:bodyPr/>
          <a:lstStyle/>
          <a:p>
            <a:endParaRPr lang="en-PH" dirty="0"/>
          </a:p>
        </p:txBody>
      </p:sp>
      <p:sp>
        <p:nvSpPr>
          <p:cNvPr id="7" name="Slide Number Placeholder 6"/>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3061690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75710" y="6553041"/>
            <a:ext cx="9721215" cy="773624"/>
          </a:xfrm>
        </p:spPr>
        <p:txBody>
          <a:bodyPr anchor="b"/>
          <a:lstStyle>
            <a:lvl1pPr algn="l">
              <a:defRPr sz="3200" b="1"/>
            </a:lvl1pPr>
          </a:lstStyle>
          <a:p>
            <a:r>
              <a:rPr lang="en-US" smtClean="0"/>
              <a:t>Click to edit Master title style</a:t>
            </a:r>
            <a:endParaRPr lang="en-PH"/>
          </a:p>
        </p:txBody>
      </p:sp>
      <p:sp>
        <p:nvSpPr>
          <p:cNvPr id="3" name="Picture Placeholder 2"/>
          <p:cNvSpPr>
            <a:spLocks noGrp="1"/>
          </p:cNvSpPr>
          <p:nvPr>
            <p:ph type="pic" idx="1"/>
          </p:nvPr>
        </p:nvSpPr>
        <p:spPr>
          <a:xfrm>
            <a:off x="3175710" y="836466"/>
            <a:ext cx="9721215" cy="5616893"/>
          </a:xfrm>
        </p:spPr>
        <p:txBody>
          <a:bodyPr/>
          <a:lstStyle>
            <a:lvl1pPr marL="0" indent="0">
              <a:buNone/>
              <a:defRPr sz="5100"/>
            </a:lvl1pPr>
            <a:lvl2pPr marL="730377" indent="0">
              <a:buNone/>
              <a:defRPr sz="4500"/>
            </a:lvl2pPr>
            <a:lvl3pPr marL="1460754" indent="0">
              <a:buNone/>
              <a:defRPr sz="3800"/>
            </a:lvl3pPr>
            <a:lvl4pPr marL="2191131" indent="0">
              <a:buNone/>
              <a:defRPr sz="3200"/>
            </a:lvl4pPr>
            <a:lvl5pPr marL="2921508" indent="0">
              <a:buNone/>
              <a:defRPr sz="3200"/>
            </a:lvl5pPr>
            <a:lvl6pPr marL="3651885" indent="0">
              <a:buNone/>
              <a:defRPr sz="3200"/>
            </a:lvl6pPr>
            <a:lvl7pPr marL="4382262" indent="0">
              <a:buNone/>
              <a:defRPr sz="3200"/>
            </a:lvl7pPr>
            <a:lvl8pPr marL="5112639" indent="0">
              <a:buNone/>
              <a:defRPr sz="3200"/>
            </a:lvl8pPr>
            <a:lvl9pPr marL="5843016" indent="0">
              <a:buNone/>
              <a:defRPr sz="3200"/>
            </a:lvl9pPr>
          </a:lstStyle>
          <a:p>
            <a:endParaRPr lang="en-PH" dirty="0"/>
          </a:p>
        </p:txBody>
      </p:sp>
      <p:sp>
        <p:nvSpPr>
          <p:cNvPr id="4" name="Text Placeholder 3"/>
          <p:cNvSpPr>
            <a:spLocks noGrp="1"/>
          </p:cNvSpPr>
          <p:nvPr>
            <p:ph type="body" sz="half" idx="2"/>
          </p:nvPr>
        </p:nvSpPr>
        <p:spPr>
          <a:xfrm>
            <a:off x="3175710" y="7326665"/>
            <a:ext cx="9721215" cy="1098674"/>
          </a:xfrm>
        </p:spPr>
        <p:txBody>
          <a:bodyPr/>
          <a:lstStyle>
            <a:lvl1pPr marL="0" indent="0">
              <a:buNone/>
              <a:defRPr sz="2200"/>
            </a:lvl1pPr>
            <a:lvl2pPr marL="730377" indent="0">
              <a:buNone/>
              <a:defRPr sz="1900"/>
            </a:lvl2pPr>
            <a:lvl3pPr marL="1460754" indent="0">
              <a:buNone/>
              <a:defRPr sz="1600"/>
            </a:lvl3pPr>
            <a:lvl4pPr marL="2191131" indent="0">
              <a:buNone/>
              <a:defRPr sz="1400"/>
            </a:lvl4pPr>
            <a:lvl5pPr marL="2921508" indent="0">
              <a:buNone/>
              <a:defRPr sz="1400"/>
            </a:lvl5pPr>
            <a:lvl6pPr marL="3651885" indent="0">
              <a:buNone/>
              <a:defRPr sz="1400"/>
            </a:lvl6pPr>
            <a:lvl7pPr marL="4382262" indent="0">
              <a:buNone/>
              <a:defRPr sz="1400"/>
            </a:lvl7pPr>
            <a:lvl8pPr marL="5112639" indent="0">
              <a:buNone/>
              <a:defRPr sz="1400"/>
            </a:lvl8pPr>
            <a:lvl9pPr marL="5843016" indent="0">
              <a:buNone/>
              <a:defRPr sz="14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6" name="Footer Placeholder 5"/>
          <p:cNvSpPr>
            <a:spLocks noGrp="1"/>
          </p:cNvSpPr>
          <p:nvPr>
            <p:ph type="ftr" sz="quarter" idx="11"/>
          </p:nvPr>
        </p:nvSpPr>
        <p:spPr/>
        <p:txBody>
          <a:bodyPr/>
          <a:lstStyle/>
          <a:p>
            <a:endParaRPr lang="en-PH" dirty="0"/>
          </a:p>
        </p:txBody>
      </p:sp>
      <p:sp>
        <p:nvSpPr>
          <p:cNvPr id="7" name="Slide Number Placeholder 6"/>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4093539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1573591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815102" y="511415"/>
            <a:ext cx="6458307" cy="10904400"/>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1434555" y="511415"/>
            <a:ext cx="19110514" cy="10904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AF66E960-69C0-41FF-B590-9DE31E1AB595}" type="datetimeFigureOut">
              <a:rPr lang="en-PH" smtClean="0"/>
              <a:t>02/09/2022</a:t>
            </a:fld>
            <a:endParaRPr lang="en-PH" dirty="0"/>
          </a:p>
        </p:txBody>
      </p:sp>
      <p:sp>
        <p:nvSpPr>
          <p:cNvPr id="5" name="Footer Placeholder 4"/>
          <p:cNvSpPr>
            <a:spLocks noGrp="1"/>
          </p:cNvSpPr>
          <p:nvPr>
            <p:ph type="ftr" sz="quarter" idx="11"/>
          </p:nvPr>
        </p:nvSpPr>
        <p:spPr/>
        <p:txBody>
          <a:bodyPr/>
          <a:lstStyle/>
          <a:p>
            <a:endParaRPr lang="en-PH" dirty="0"/>
          </a:p>
        </p:txBody>
      </p:sp>
      <p:sp>
        <p:nvSpPr>
          <p:cNvPr id="6" name="Slide Number Placeholder 5"/>
          <p:cNvSpPr>
            <a:spLocks noGrp="1"/>
          </p:cNvSpPr>
          <p:nvPr>
            <p:ph type="sldNum" sz="quarter" idx="12"/>
          </p:nvPr>
        </p:nvSpPr>
        <p:spPr/>
        <p:txBody>
          <a:bodyPr/>
          <a:lstStyle/>
          <a:p>
            <a:fld id="{938CFE3E-F608-4623-80B1-3DE46EE21283}" type="slidenum">
              <a:rPr lang="en-PH" smtClean="0"/>
              <a:t>‹#›</a:t>
            </a:fld>
            <a:endParaRPr lang="en-PH" dirty="0"/>
          </a:p>
        </p:txBody>
      </p:sp>
    </p:spTree>
    <p:extLst>
      <p:ext uri="{BB962C8B-B14F-4D97-AF65-F5344CB8AC3E}">
        <p14:creationId xmlns:p14="http://schemas.microsoft.com/office/powerpoint/2010/main" val="51530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101" y="374894"/>
            <a:ext cx="14581823" cy="1560248"/>
          </a:xfrm>
          <a:prstGeom prst="rect">
            <a:avLst/>
          </a:prstGeom>
        </p:spPr>
        <p:txBody>
          <a:bodyPr vert="horz" lIns="146075" tIns="73038" rIns="146075" bIns="73038"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810101" y="2184348"/>
            <a:ext cx="14581823" cy="6178149"/>
          </a:xfrm>
          <a:prstGeom prst="rect">
            <a:avLst/>
          </a:prstGeom>
        </p:spPr>
        <p:txBody>
          <a:bodyPr vert="horz" lIns="146075" tIns="73038" rIns="146075" bIns="7303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810101" y="8676713"/>
            <a:ext cx="3780473" cy="498413"/>
          </a:xfrm>
          <a:prstGeom prst="rect">
            <a:avLst/>
          </a:prstGeom>
        </p:spPr>
        <p:txBody>
          <a:bodyPr vert="horz" lIns="146075" tIns="73038" rIns="146075" bIns="73038" rtlCol="0" anchor="ctr"/>
          <a:lstStyle>
            <a:lvl1pPr algn="l">
              <a:defRPr sz="1900">
                <a:solidFill>
                  <a:schemeClr val="tx1">
                    <a:tint val="75000"/>
                  </a:schemeClr>
                </a:solidFill>
              </a:defRPr>
            </a:lvl1pPr>
          </a:lstStyle>
          <a:p>
            <a:fld id="{AF66E960-69C0-41FF-B590-9DE31E1AB595}" type="datetimeFigureOut">
              <a:rPr lang="en-PH" smtClean="0"/>
              <a:t>02/09/2022</a:t>
            </a:fld>
            <a:endParaRPr lang="en-PH" dirty="0"/>
          </a:p>
        </p:txBody>
      </p:sp>
      <p:sp>
        <p:nvSpPr>
          <p:cNvPr id="5" name="Footer Placeholder 4"/>
          <p:cNvSpPr>
            <a:spLocks noGrp="1"/>
          </p:cNvSpPr>
          <p:nvPr>
            <p:ph type="ftr" sz="quarter" idx="3"/>
          </p:nvPr>
        </p:nvSpPr>
        <p:spPr>
          <a:xfrm>
            <a:off x="5535692" y="8676713"/>
            <a:ext cx="5130641" cy="498413"/>
          </a:xfrm>
          <a:prstGeom prst="rect">
            <a:avLst/>
          </a:prstGeom>
        </p:spPr>
        <p:txBody>
          <a:bodyPr vert="horz" lIns="146075" tIns="73038" rIns="146075" bIns="73038" rtlCol="0" anchor="ctr"/>
          <a:lstStyle>
            <a:lvl1pPr algn="ctr">
              <a:defRPr sz="1900">
                <a:solidFill>
                  <a:schemeClr val="tx1">
                    <a:tint val="75000"/>
                  </a:schemeClr>
                </a:solidFill>
              </a:defRPr>
            </a:lvl1pPr>
          </a:lstStyle>
          <a:p>
            <a:endParaRPr lang="en-PH" dirty="0"/>
          </a:p>
        </p:txBody>
      </p:sp>
      <p:sp>
        <p:nvSpPr>
          <p:cNvPr id="6" name="Slide Number Placeholder 5"/>
          <p:cNvSpPr>
            <a:spLocks noGrp="1"/>
          </p:cNvSpPr>
          <p:nvPr>
            <p:ph type="sldNum" sz="quarter" idx="4"/>
          </p:nvPr>
        </p:nvSpPr>
        <p:spPr>
          <a:xfrm>
            <a:off x="11611451" y="8676713"/>
            <a:ext cx="3780473" cy="498413"/>
          </a:xfrm>
          <a:prstGeom prst="rect">
            <a:avLst/>
          </a:prstGeom>
        </p:spPr>
        <p:txBody>
          <a:bodyPr vert="horz" lIns="146075" tIns="73038" rIns="146075" bIns="73038" rtlCol="0" anchor="ctr"/>
          <a:lstStyle>
            <a:lvl1pPr algn="r">
              <a:defRPr sz="1900">
                <a:solidFill>
                  <a:schemeClr val="tx1">
                    <a:tint val="75000"/>
                  </a:schemeClr>
                </a:solidFill>
              </a:defRPr>
            </a:lvl1pPr>
          </a:lstStyle>
          <a:p>
            <a:fld id="{938CFE3E-F608-4623-80B1-3DE46EE21283}" type="slidenum">
              <a:rPr lang="en-PH" smtClean="0"/>
              <a:t>‹#›</a:t>
            </a:fld>
            <a:endParaRPr lang="en-PH" dirty="0"/>
          </a:p>
        </p:txBody>
      </p:sp>
    </p:spTree>
    <p:extLst>
      <p:ext uri="{BB962C8B-B14F-4D97-AF65-F5344CB8AC3E}">
        <p14:creationId xmlns:p14="http://schemas.microsoft.com/office/powerpoint/2010/main" val="2373259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460754" rtl="0" eaLnBrk="1" latinLnBrk="0" hangingPunct="1">
        <a:spcBef>
          <a:spcPct val="0"/>
        </a:spcBef>
        <a:buNone/>
        <a:defRPr sz="7000" kern="1200">
          <a:solidFill>
            <a:schemeClr val="tx1"/>
          </a:solidFill>
          <a:latin typeface="+mj-lt"/>
          <a:ea typeface="+mj-ea"/>
          <a:cs typeface="+mj-cs"/>
        </a:defRPr>
      </a:lvl1pPr>
    </p:titleStyle>
    <p:bodyStyle>
      <a:lvl1pPr marL="547783" indent="-547783" algn="l" defTabSz="1460754" rtl="0" eaLnBrk="1" latinLnBrk="0" hangingPunct="1">
        <a:spcBef>
          <a:spcPct val="20000"/>
        </a:spcBef>
        <a:buFont typeface="Arial" pitchFamily="34" charset="0"/>
        <a:buChar char="•"/>
        <a:defRPr sz="5100" kern="1200">
          <a:solidFill>
            <a:schemeClr val="tx1"/>
          </a:solidFill>
          <a:latin typeface="+mn-lt"/>
          <a:ea typeface="+mn-ea"/>
          <a:cs typeface="+mn-cs"/>
        </a:defRPr>
      </a:lvl1pPr>
      <a:lvl2pPr marL="1186863" indent="-456486" algn="l" defTabSz="1460754" rtl="0" eaLnBrk="1" latinLnBrk="0" hangingPunct="1">
        <a:spcBef>
          <a:spcPct val="20000"/>
        </a:spcBef>
        <a:buFont typeface="Arial" pitchFamily="34" charset="0"/>
        <a:buChar char="–"/>
        <a:defRPr sz="4500" kern="1200">
          <a:solidFill>
            <a:schemeClr val="tx1"/>
          </a:solidFill>
          <a:latin typeface="+mn-lt"/>
          <a:ea typeface="+mn-ea"/>
          <a:cs typeface="+mn-cs"/>
        </a:defRPr>
      </a:lvl2pPr>
      <a:lvl3pPr marL="1825943" indent="-365189" algn="l" defTabSz="1460754" rtl="0" eaLnBrk="1" latinLnBrk="0" hangingPunct="1">
        <a:spcBef>
          <a:spcPct val="20000"/>
        </a:spcBef>
        <a:buFont typeface="Arial" pitchFamily="34" charset="0"/>
        <a:buChar char="•"/>
        <a:defRPr sz="3800" kern="1200">
          <a:solidFill>
            <a:schemeClr val="tx1"/>
          </a:solidFill>
          <a:latin typeface="+mn-lt"/>
          <a:ea typeface="+mn-ea"/>
          <a:cs typeface="+mn-cs"/>
        </a:defRPr>
      </a:lvl3pPr>
      <a:lvl4pPr marL="2556320" indent="-365189" algn="l" defTabSz="1460754" rtl="0" eaLnBrk="1" latinLnBrk="0" hangingPunct="1">
        <a:spcBef>
          <a:spcPct val="20000"/>
        </a:spcBef>
        <a:buFont typeface="Arial" pitchFamily="34" charset="0"/>
        <a:buChar char="–"/>
        <a:defRPr sz="3200" kern="1200">
          <a:solidFill>
            <a:schemeClr val="tx1"/>
          </a:solidFill>
          <a:latin typeface="+mn-lt"/>
          <a:ea typeface="+mn-ea"/>
          <a:cs typeface="+mn-cs"/>
        </a:defRPr>
      </a:lvl4pPr>
      <a:lvl5pPr marL="3286697" indent="-365189" algn="l" defTabSz="1460754" rtl="0" eaLnBrk="1" latinLnBrk="0" hangingPunct="1">
        <a:spcBef>
          <a:spcPct val="20000"/>
        </a:spcBef>
        <a:buFont typeface="Arial" pitchFamily="34" charset="0"/>
        <a:buChar char="»"/>
        <a:defRPr sz="3200" kern="1200">
          <a:solidFill>
            <a:schemeClr val="tx1"/>
          </a:solidFill>
          <a:latin typeface="+mn-lt"/>
          <a:ea typeface="+mn-ea"/>
          <a:cs typeface="+mn-cs"/>
        </a:defRPr>
      </a:lvl5pPr>
      <a:lvl6pPr marL="4017074" indent="-365189" algn="l" defTabSz="1460754" rtl="0" eaLnBrk="1" latinLnBrk="0" hangingPunct="1">
        <a:spcBef>
          <a:spcPct val="20000"/>
        </a:spcBef>
        <a:buFont typeface="Arial" pitchFamily="34" charset="0"/>
        <a:buChar char="•"/>
        <a:defRPr sz="3200" kern="1200">
          <a:solidFill>
            <a:schemeClr val="tx1"/>
          </a:solidFill>
          <a:latin typeface="+mn-lt"/>
          <a:ea typeface="+mn-ea"/>
          <a:cs typeface="+mn-cs"/>
        </a:defRPr>
      </a:lvl6pPr>
      <a:lvl7pPr marL="4747451" indent="-365189" algn="l" defTabSz="1460754" rtl="0" eaLnBrk="1" latinLnBrk="0" hangingPunct="1">
        <a:spcBef>
          <a:spcPct val="20000"/>
        </a:spcBef>
        <a:buFont typeface="Arial" pitchFamily="34" charset="0"/>
        <a:buChar char="•"/>
        <a:defRPr sz="3200" kern="1200">
          <a:solidFill>
            <a:schemeClr val="tx1"/>
          </a:solidFill>
          <a:latin typeface="+mn-lt"/>
          <a:ea typeface="+mn-ea"/>
          <a:cs typeface="+mn-cs"/>
        </a:defRPr>
      </a:lvl7pPr>
      <a:lvl8pPr marL="5477828" indent="-365189" algn="l" defTabSz="1460754" rtl="0" eaLnBrk="1" latinLnBrk="0" hangingPunct="1">
        <a:spcBef>
          <a:spcPct val="20000"/>
        </a:spcBef>
        <a:buFont typeface="Arial" pitchFamily="34" charset="0"/>
        <a:buChar char="•"/>
        <a:defRPr sz="3200" kern="1200">
          <a:solidFill>
            <a:schemeClr val="tx1"/>
          </a:solidFill>
          <a:latin typeface="+mn-lt"/>
          <a:ea typeface="+mn-ea"/>
          <a:cs typeface="+mn-cs"/>
        </a:defRPr>
      </a:lvl8pPr>
      <a:lvl9pPr marL="6208205" indent="-365189" algn="l" defTabSz="1460754" rtl="0" eaLnBrk="1" latinLnBrk="0" hangingPunct="1">
        <a:spcBef>
          <a:spcPct val="20000"/>
        </a:spcBef>
        <a:buFont typeface="Arial" pitchFamily="34" charset="0"/>
        <a:buChar char="•"/>
        <a:defRPr sz="3200" kern="1200">
          <a:solidFill>
            <a:schemeClr val="tx1"/>
          </a:solidFill>
          <a:latin typeface="+mn-lt"/>
          <a:ea typeface="+mn-ea"/>
          <a:cs typeface="+mn-cs"/>
        </a:defRPr>
      </a:lvl9pPr>
    </p:bodyStyle>
    <p:otherStyle>
      <a:defPPr>
        <a:defRPr lang="en-US"/>
      </a:defPPr>
      <a:lvl1pPr marL="0" algn="l" defTabSz="1460754" rtl="0" eaLnBrk="1" latinLnBrk="0" hangingPunct="1">
        <a:defRPr sz="2900" kern="1200">
          <a:solidFill>
            <a:schemeClr val="tx1"/>
          </a:solidFill>
          <a:latin typeface="+mn-lt"/>
          <a:ea typeface="+mn-ea"/>
          <a:cs typeface="+mn-cs"/>
        </a:defRPr>
      </a:lvl1pPr>
      <a:lvl2pPr marL="730377" algn="l" defTabSz="1460754" rtl="0" eaLnBrk="1" latinLnBrk="0" hangingPunct="1">
        <a:defRPr sz="2900" kern="1200">
          <a:solidFill>
            <a:schemeClr val="tx1"/>
          </a:solidFill>
          <a:latin typeface="+mn-lt"/>
          <a:ea typeface="+mn-ea"/>
          <a:cs typeface="+mn-cs"/>
        </a:defRPr>
      </a:lvl2pPr>
      <a:lvl3pPr marL="1460754" algn="l" defTabSz="1460754" rtl="0" eaLnBrk="1" latinLnBrk="0" hangingPunct="1">
        <a:defRPr sz="2900" kern="1200">
          <a:solidFill>
            <a:schemeClr val="tx1"/>
          </a:solidFill>
          <a:latin typeface="+mn-lt"/>
          <a:ea typeface="+mn-ea"/>
          <a:cs typeface="+mn-cs"/>
        </a:defRPr>
      </a:lvl3pPr>
      <a:lvl4pPr marL="2191131" algn="l" defTabSz="1460754" rtl="0" eaLnBrk="1" latinLnBrk="0" hangingPunct="1">
        <a:defRPr sz="2900" kern="1200">
          <a:solidFill>
            <a:schemeClr val="tx1"/>
          </a:solidFill>
          <a:latin typeface="+mn-lt"/>
          <a:ea typeface="+mn-ea"/>
          <a:cs typeface="+mn-cs"/>
        </a:defRPr>
      </a:lvl4pPr>
      <a:lvl5pPr marL="2921508" algn="l" defTabSz="1460754" rtl="0" eaLnBrk="1" latinLnBrk="0" hangingPunct="1">
        <a:defRPr sz="2900" kern="1200">
          <a:solidFill>
            <a:schemeClr val="tx1"/>
          </a:solidFill>
          <a:latin typeface="+mn-lt"/>
          <a:ea typeface="+mn-ea"/>
          <a:cs typeface="+mn-cs"/>
        </a:defRPr>
      </a:lvl5pPr>
      <a:lvl6pPr marL="3651885" algn="l" defTabSz="1460754" rtl="0" eaLnBrk="1" latinLnBrk="0" hangingPunct="1">
        <a:defRPr sz="2900" kern="1200">
          <a:solidFill>
            <a:schemeClr val="tx1"/>
          </a:solidFill>
          <a:latin typeface="+mn-lt"/>
          <a:ea typeface="+mn-ea"/>
          <a:cs typeface="+mn-cs"/>
        </a:defRPr>
      </a:lvl6pPr>
      <a:lvl7pPr marL="4382262" algn="l" defTabSz="1460754" rtl="0" eaLnBrk="1" latinLnBrk="0" hangingPunct="1">
        <a:defRPr sz="2900" kern="1200">
          <a:solidFill>
            <a:schemeClr val="tx1"/>
          </a:solidFill>
          <a:latin typeface="+mn-lt"/>
          <a:ea typeface="+mn-ea"/>
          <a:cs typeface="+mn-cs"/>
        </a:defRPr>
      </a:lvl7pPr>
      <a:lvl8pPr marL="5112639" algn="l" defTabSz="1460754" rtl="0" eaLnBrk="1" latinLnBrk="0" hangingPunct="1">
        <a:defRPr sz="2900" kern="1200">
          <a:solidFill>
            <a:schemeClr val="tx1"/>
          </a:solidFill>
          <a:latin typeface="+mn-lt"/>
          <a:ea typeface="+mn-ea"/>
          <a:cs typeface="+mn-cs"/>
        </a:defRPr>
      </a:lvl8pPr>
      <a:lvl9pPr marL="5843016" algn="l" defTabSz="1460754" rtl="0" eaLnBrk="1" latinLnBrk="0" hangingPunct="1">
        <a:defRPr sz="2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hyperlink" Target="https://www.tandfonline.com/doi/full/10.1080/23311908.2020.1824306" TargetMode="External"/><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hyperlink" Target="https://translationjournal.net/journal/63theory.htm" TargetMode="External"/><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jpe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hyperlink" Target="https://www.merriam-webster.com/dictionary/omniscient" TargetMode="Externa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hyperlink" Target="https://thewritepractice.com/exposition/" TargetMode="External"/><Relationship Id="rId2" Type="http://schemas.openxmlformats.org/officeDocument/2006/relationships/hyperlink" Target="https://thewritepractice.com/plot-structure/" TargetMode="External"/><Relationship Id="rId1" Type="http://schemas.openxmlformats.org/officeDocument/2006/relationships/slideLayout" Target="../slideLayouts/slideLayout2.xml"/><Relationship Id="rId5" Type="http://schemas.openxmlformats.org/officeDocument/2006/relationships/hyperlink" Target="https://thewritepractice.com/raise-the-stakes/" TargetMode="External"/><Relationship Id="rId4" Type="http://schemas.openxmlformats.org/officeDocument/2006/relationships/hyperlink" Target="https://thewritepractice.com/inciting-incident/" TargetMode="External"/></Relationships>
</file>

<file path=ppt/slides/_rels/slide140.xml.rels><?xml version="1.0" encoding="UTF-8" standalone="yes"?>
<Relationships xmlns="http://schemas.openxmlformats.org/package/2006/relationships"><Relationship Id="rId3" Type="http://schemas.openxmlformats.org/officeDocument/2006/relationships/hyperlink" Target="https://thewritepractice.com/climax-of-a-story/" TargetMode="External"/><Relationship Id="rId2" Type="http://schemas.openxmlformats.org/officeDocument/2006/relationships/hyperlink" Target="https://thewritepractice.com/?s=dilemma" TargetMode="External"/><Relationship Id="rId1" Type="http://schemas.openxmlformats.org/officeDocument/2006/relationships/slideLayout" Target="../slideLayouts/slideLayout2.xml"/><Relationship Id="rId4" Type="http://schemas.openxmlformats.org/officeDocument/2006/relationships/hyperlink" Target="https://blog.reedsy.com/what-is-a-denouement/" TargetMode="External"/></Relationships>
</file>

<file path=ppt/slides/_rels/slide141.xml.rels><?xml version="1.0" encoding="UTF-8" standalone="yes"?>
<Relationships xmlns="http://schemas.openxmlformats.org/package/2006/relationships"><Relationship Id="rId3" Type="http://schemas.openxmlformats.org/officeDocument/2006/relationships/hyperlink" Target="https://paragraffs.com/what-does-story-theme-mean/" TargetMode="External"/><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hyperlink" Target="https://paragraffs.com/what-are-the-elements-of-creative-writing/" TargetMode="External"/><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linguistics, rust writing on a grunge background Poster ID:129240635"/>
          <p:cNvPicPr>
            <a:picLocks noChangeAspect="1" noChangeArrowheads="1"/>
          </p:cNvPicPr>
          <p:nvPr/>
        </p:nvPicPr>
        <p:blipFill rotWithShape="1">
          <a:blip r:embed="rId2">
            <a:extLst>
              <a:ext uri="{28A0092B-C50C-407E-A947-70E740481C1C}">
                <a14:useLocalDpi xmlns:a14="http://schemas.microsoft.com/office/drawing/2010/main" val="0"/>
              </a:ext>
            </a:extLst>
          </a:blip>
          <a:srcRect t="31553" b="36894"/>
          <a:stretch/>
        </p:blipFill>
        <p:spPr bwMode="auto">
          <a:xfrm>
            <a:off x="393690" y="1941184"/>
            <a:ext cx="4971018" cy="1443416"/>
          </a:xfrm>
          <a:prstGeom prst="rect">
            <a:avLst/>
          </a:prstGeom>
          <a:noFill/>
          <a:extLst>
            <a:ext uri="{909E8E84-426E-40DD-AFC4-6F175D3DCCD1}">
              <a14:hiddenFill xmlns:a14="http://schemas.microsoft.com/office/drawing/2010/main">
                <a:solidFill>
                  <a:srgbClr val="FFFFFF"/>
                </a:solidFill>
              </a14:hiddenFill>
            </a:ext>
          </a:extLst>
        </p:spPr>
      </p:pic>
      <p:pic>
        <p:nvPicPr>
          <p:cNvPr id="124932" name="Picture 4" descr="brief history of stylistics"/>
          <p:cNvPicPr>
            <a:picLocks noChangeAspect="1" noChangeArrowheads="1"/>
          </p:cNvPicPr>
          <p:nvPr/>
        </p:nvPicPr>
        <p:blipFill rotWithShape="1">
          <a:blip r:embed="rId3">
            <a:extLst>
              <a:ext uri="{28A0092B-C50C-407E-A947-70E740481C1C}">
                <a14:useLocalDpi xmlns:a14="http://schemas.microsoft.com/office/drawing/2010/main" val="0"/>
              </a:ext>
            </a:extLst>
          </a:blip>
          <a:srcRect t="36729" b="35947"/>
          <a:stretch/>
        </p:blipFill>
        <p:spPr bwMode="auto">
          <a:xfrm>
            <a:off x="2916436" y="5060198"/>
            <a:ext cx="4943403" cy="1204722"/>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pic>
        <p:nvPicPr>
          <p:cNvPr id="124934" name="Picture 6" descr="CAMPUS JOURNALISM"/>
          <p:cNvPicPr>
            <a:picLocks noChangeAspect="1" noChangeArrowheads="1"/>
          </p:cNvPicPr>
          <p:nvPr/>
        </p:nvPicPr>
        <p:blipFill rotWithShape="1">
          <a:blip r:embed="rId4">
            <a:extLst>
              <a:ext uri="{28A0092B-C50C-407E-A947-70E740481C1C}">
                <a14:useLocalDpi xmlns:a14="http://schemas.microsoft.com/office/drawing/2010/main" val="0"/>
              </a:ext>
            </a:extLst>
          </a:blip>
          <a:srcRect b="18436"/>
          <a:stretch/>
        </p:blipFill>
        <p:spPr bwMode="auto">
          <a:xfrm>
            <a:off x="10142570" y="1941184"/>
            <a:ext cx="5493174" cy="1371408"/>
          </a:xfrm>
          <a:prstGeom prst="rect">
            <a:avLst/>
          </a:prstGeom>
          <a:noFill/>
          <a:extLst>
            <a:ext uri="{909E8E84-426E-40DD-AFC4-6F175D3DCCD1}">
              <a14:hiddenFill xmlns:a14="http://schemas.microsoft.com/office/drawing/2010/main">
                <a:solidFill>
                  <a:srgbClr val="FFFFFF"/>
                </a:solidFill>
              </a14:hiddenFill>
            </a:ext>
          </a:extLst>
        </p:spPr>
      </p:pic>
      <p:pic>
        <p:nvPicPr>
          <p:cNvPr id="124936" name="Picture 8" descr="Structure of English (A Definition)"/>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1439" t="21710" r="15124" b="50000"/>
          <a:stretch/>
        </p:blipFill>
        <p:spPr bwMode="auto">
          <a:xfrm>
            <a:off x="1764308" y="3600623"/>
            <a:ext cx="4611452" cy="1224137"/>
          </a:xfrm>
          <a:prstGeom prst="rect">
            <a:avLst/>
          </a:prstGeom>
          <a:noFill/>
          <a:extLst>
            <a:ext uri="{909E8E84-426E-40DD-AFC4-6F175D3DCCD1}">
              <a14:hiddenFill xmlns:a14="http://schemas.microsoft.com/office/drawing/2010/main">
                <a:solidFill>
                  <a:srgbClr val="FFFFFF"/>
                </a:solidFill>
              </a14:hiddenFill>
            </a:ext>
          </a:extLst>
        </p:spPr>
      </p:pic>
      <p:pic>
        <p:nvPicPr>
          <p:cNvPr id="124938" name="Picture 10" descr="Language of Research- Adrian Teves Divino"/>
          <p:cNvPicPr>
            <a:picLocks noChangeAspect="1" noChangeArrowheads="1"/>
          </p:cNvPicPr>
          <p:nvPr/>
        </p:nvPicPr>
        <p:blipFill rotWithShape="1">
          <a:blip r:embed="rId6">
            <a:extLst>
              <a:ext uri="{28A0092B-C50C-407E-A947-70E740481C1C}">
                <a14:useLocalDpi xmlns:a14="http://schemas.microsoft.com/office/drawing/2010/main" val="0"/>
              </a:ext>
            </a:extLst>
          </a:blip>
          <a:srcRect l="17807" t="11744" r="10794" b="29056"/>
          <a:stretch/>
        </p:blipFill>
        <p:spPr bwMode="auto">
          <a:xfrm>
            <a:off x="6217848" y="1962876"/>
            <a:ext cx="3107300" cy="1421724"/>
          </a:xfrm>
          <a:prstGeom prst="rect">
            <a:avLst/>
          </a:prstGeom>
          <a:noFill/>
          <a:extLst>
            <a:ext uri="{909E8E84-426E-40DD-AFC4-6F175D3DCCD1}">
              <a14:hiddenFill xmlns:a14="http://schemas.microsoft.com/office/drawing/2010/main">
                <a:solidFill>
                  <a:srgbClr val="FFFFFF"/>
                </a:solidFill>
              </a14:hiddenFill>
            </a:ext>
          </a:extLst>
        </p:spPr>
      </p:pic>
      <p:pic>
        <p:nvPicPr>
          <p:cNvPr id="124940" name="Picture 12" descr="Creative Writing - eDynamic Learnin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b="50000"/>
          <a:stretch/>
        </p:blipFill>
        <p:spPr bwMode="auto">
          <a:xfrm>
            <a:off x="9037116" y="3502713"/>
            <a:ext cx="4389553" cy="132204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492500" y="454919"/>
            <a:ext cx="8922635" cy="769441"/>
          </a:xfrm>
          <a:prstGeom prst="rect">
            <a:avLst/>
          </a:prstGeom>
          <a:noFill/>
        </p:spPr>
        <p:txBody>
          <a:bodyPr wrap="none" rtlCol="0">
            <a:spAutoFit/>
          </a:bodyPr>
          <a:lstStyle/>
          <a:p>
            <a:r>
              <a:rPr lang="en-PH" sz="4400" b="1" u="sng" dirty="0" smtClean="0">
                <a:latin typeface="AR JULIAN" pitchFamily="2" charset="0"/>
                <a:cs typeface="Times New Roman" pitchFamily="18" charset="0"/>
              </a:rPr>
              <a:t>LET REVIEW – ENGLISH MAJOR </a:t>
            </a:r>
            <a:endParaRPr lang="en-PH" sz="4400" b="1" u="sng" dirty="0">
              <a:latin typeface="AR JULIAN" pitchFamily="2" charset="0"/>
              <a:cs typeface="Times New Roman" pitchFamily="18" charset="0"/>
            </a:endParaRPr>
          </a:p>
        </p:txBody>
      </p:sp>
      <p:pic>
        <p:nvPicPr>
          <p:cNvPr id="124942" name="Picture 14" descr="Eng M20-Translation and Editing of Text.docx - SYLLABUS EngM20, TRANSLATION  AND EDITING OF TEXT College Vision USST Colleges is envisioned as a center  | Course Hero"/>
          <p:cNvPicPr>
            <a:picLocks noChangeAspect="1" noChangeArrowheads="1"/>
          </p:cNvPicPr>
          <p:nvPr/>
        </p:nvPicPr>
        <p:blipFill rotWithShape="1">
          <a:blip r:embed="rId8">
            <a:extLst>
              <a:ext uri="{28A0092B-C50C-407E-A947-70E740481C1C}">
                <a14:useLocalDpi xmlns:a14="http://schemas.microsoft.com/office/drawing/2010/main" val="0"/>
              </a:ext>
            </a:extLst>
          </a:blip>
          <a:srcRect l="7451" t="34234" r="6010" b="37369"/>
          <a:stretch/>
        </p:blipFill>
        <p:spPr bwMode="auto">
          <a:xfrm>
            <a:off x="8389044" y="5040784"/>
            <a:ext cx="4032448" cy="1223773"/>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0609154" y="7705080"/>
            <a:ext cx="5412738" cy="1508105"/>
          </a:xfrm>
          <a:prstGeom prst="rect">
            <a:avLst/>
          </a:prstGeom>
          <a:noFill/>
        </p:spPr>
        <p:txBody>
          <a:bodyPr wrap="square" rtlCol="0">
            <a:spAutoFit/>
          </a:bodyPr>
          <a:lstStyle/>
          <a:p>
            <a:r>
              <a:rPr lang="en-PH" sz="3200" b="1" dirty="0" smtClean="0">
                <a:solidFill>
                  <a:srgbClr val="FF0000"/>
                </a:solidFill>
                <a:latin typeface="Times New Roman" pitchFamily="18" charset="0"/>
                <a:cs typeface="Times New Roman" pitchFamily="18" charset="0"/>
              </a:rPr>
              <a:t>EDUARDO C. MIRA, Ph.D.</a:t>
            </a:r>
          </a:p>
          <a:p>
            <a:r>
              <a:rPr lang="en-PH" sz="2000" i="1" dirty="0" smtClean="0">
                <a:latin typeface="Arial" pitchFamily="34" charset="0"/>
                <a:cs typeface="Arial" pitchFamily="34" charset="0"/>
              </a:rPr>
              <a:t>Program Head, </a:t>
            </a:r>
            <a:r>
              <a:rPr lang="en-PH" sz="2000" dirty="0" smtClean="0">
                <a:latin typeface="Arial" pitchFamily="34" charset="0"/>
                <a:cs typeface="Arial" pitchFamily="34" charset="0"/>
              </a:rPr>
              <a:t>Bachelor of Arts in Journalism </a:t>
            </a:r>
          </a:p>
          <a:p>
            <a:r>
              <a:rPr lang="en-PH" sz="2000" i="1" dirty="0" smtClean="0">
                <a:latin typeface="Arial" pitchFamily="34" charset="0"/>
                <a:cs typeface="Arial" pitchFamily="34" charset="0"/>
              </a:rPr>
              <a:t>Student Publication Adviser</a:t>
            </a:r>
          </a:p>
          <a:p>
            <a:r>
              <a:rPr lang="en-PH" sz="2000" dirty="0" smtClean="0">
                <a:latin typeface="Arial" pitchFamily="34" charset="0"/>
                <a:cs typeface="Arial" pitchFamily="34" charset="0"/>
              </a:rPr>
              <a:t>JRMSU – </a:t>
            </a:r>
            <a:r>
              <a:rPr lang="en-PH" sz="2000" dirty="0" err="1" smtClean="0">
                <a:latin typeface="Arial" pitchFamily="34" charset="0"/>
                <a:cs typeface="Arial" pitchFamily="34" charset="0"/>
              </a:rPr>
              <a:t>Dipolog</a:t>
            </a:r>
            <a:r>
              <a:rPr lang="en-PH" sz="2000" dirty="0" smtClean="0">
                <a:latin typeface="Arial" pitchFamily="34" charset="0"/>
                <a:cs typeface="Arial" pitchFamily="34" charset="0"/>
              </a:rPr>
              <a:t> </a:t>
            </a:r>
            <a:endParaRPr lang="en-PH" sz="2000" dirty="0">
              <a:latin typeface="Arial" pitchFamily="34" charset="0"/>
              <a:cs typeface="Arial" pitchFamily="34" charset="0"/>
            </a:endParaRPr>
          </a:p>
        </p:txBody>
      </p:sp>
      <p:sp>
        <p:nvSpPr>
          <p:cNvPr id="3" name="Rectangle 2"/>
          <p:cNvSpPr/>
          <p:nvPr/>
        </p:nvSpPr>
        <p:spPr>
          <a:xfrm>
            <a:off x="393690" y="8595464"/>
            <a:ext cx="10215464" cy="45719"/>
          </a:xfrm>
          <a:prstGeom prst="rect">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528523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4930"/>
                                        </p:tgtEl>
                                        <p:attrNameLst>
                                          <p:attrName>style.visibility</p:attrName>
                                        </p:attrNameLst>
                                      </p:cBhvr>
                                      <p:to>
                                        <p:strVal val="visible"/>
                                      </p:to>
                                    </p:set>
                                    <p:anim calcmode="lin" valueType="num">
                                      <p:cBhvr additive="base">
                                        <p:cTn id="7" dur="500" fill="hold"/>
                                        <p:tgtEl>
                                          <p:spTgt spid="124930"/>
                                        </p:tgtEl>
                                        <p:attrNameLst>
                                          <p:attrName>ppt_x</p:attrName>
                                        </p:attrNameLst>
                                      </p:cBhvr>
                                      <p:tavLst>
                                        <p:tav tm="0">
                                          <p:val>
                                            <p:strVal val="#ppt_x"/>
                                          </p:val>
                                        </p:tav>
                                        <p:tav tm="100000">
                                          <p:val>
                                            <p:strVal val="#ppt_x"/>
                                          </p:val>
                                        </p:tav>
                                      </p:tavLst>
                                    </p:anim>
                                    <p:anim calcmode="lin" valueType="num">
                                      <p:cBhvr additive="base">
                                        <p:cTn id="8" dur="500" fill="hold"/>
                                        <p:tgtEl>
                                          <p:spTgt spid="1249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24936"/>
                                        </p:tgtEl>
                                        <p:attrNameLst>
                                          <p:attrName>style.visibility</p:attrName>
                                        </p:attrNameLst>
                                      </p:cBhvr>
                                      <p:to>
                                        <p:strVal val="visible"/>
                                      </p:to>
                                    </p:set>
                                    <p:animEffect transition="in" filter="barn(inVertical)">
                                      <p:cBhvr>
                                        <p:cTn id="13" dur="500"/>
                                        <p:tgtEl>
                                          <p:spTgt spid="12493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24932"/>
                                        </p:tgtEl>
                                        <p:attrNameLst>
                                          <p:attrName>style.visibility</p:attrName>
                                        </p:attrNameLst>
                                      </p:cBhvr>
                                      <p:to>
                                        <p:strVal val="visible"/>
                                      </p:to>
                                    </p:set>
                                    <p:animEffect transition="in" filter="wipe(down)">
                                      <p:cBhvr>
                                        <p:cTn id="18" dur="500"/>
                                        <p:tgtEl>
                                          <p:spTgt spid="12493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24938"/>
                                        </p:tgtEl>
                                        <p:attrNameLst>
                                          <p:attrName>style.visibility</p:attrName>
                                        </p:attrNameLst>
                                      </p:cBhvr>
                                      <p:to>
                                        <p:strVal val="visible"/>
                                      </p:to>
                                    </p:set>
                                    <p:animEffect transition="in" filter="wipe(down)">
                                      <p:cBhvr>
                                        <p:cTn id="23" dur="500"/>
                                        <p:tgtEl>
                                          <p:spTgt spid="124938"/>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124934"/>
                                        </p:tgtEl>
                                        <p:attrNameLst>
                                          <p:attrName>style.visibility</p:attrName>
                                        </p:attrNameLst>
                                      </p:cBhvr>
                                      <p:to>
                                        <p:strVal val="visible"/>
                                      </p:to>
                                    </p:set>
                                    <p:animEffect transition="in" filter="circle(in)">
                                      <p:cBhvr>
                                        <p:cTn id="28" dur="2000"/>
                                        <p:tgtEl>
                                          <p:spTgt spid="12493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124940"/>
                                        </p:tgtEl>
                                        <p:attrNameLst>
                                          <p:attrName>style.visibility</p:attrName>
                                        </p:attrNameLst>
                                      </p:cBhvr>
                                      <p:to>
                                        <p:strVal val="visible"/>
                                      </p:to>
                                    </p:set>
                                    <p:animEffect transition="in" filter="wipe(down)">
                                      <p:cBhvr>
                                        <p:cTn id="33" dur="500"/>
                                        <p:tgtEl>
                                          <p:spTgt spid="124940"/>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24942"/>
                                        </p:tgtEl>
                                        <p:attrNameLst>
                                          <p:attrName>style.visibility</p:attrName>
                                        </p:attrNameLst>
                                      </p:cBhvr>
                                      <p:to>
                                        <p:strVal val="visible"/>
                                      </p:to>
                                    </p:set>
                                    <p:animEffect transition="in" filter="fade">
                                      <p:cBhvr>
                                        <p:cTn id="38" dur="1000"/>
                                        <p:tgtEl>
                                          <p:spTgt spid="124942"/>
                                        </p:tgtEl>
                                      </p:cBhvr>
                                    </p:animEffect>
                                    <p:anim calcmode="lin" valueType="num">
                                      <p:cBhvr>
                                        <p:cTn id="39" dur="1000" fill="hold"/>
                                        <p:tgtEl>
                                          <p:spTgt spid="124942"/>
                                        </p:tgtEl>
                                        <p:attrNameLst>
                                          <p:attrName>ppt_x</p:attrName>
                                        </p:attrNameLst>
                                      </p:cBhvr>
                                      <p:tavLst>
                                        <p:tav tm="0">
                                          <p:val>
                                            <p:strVal val="#ppt_x"/>
                                          </p:val>
                                        </p:tav>
                                        <p:tav tm="100000">
                                          <p:val>
                                            <p:strVal val="#ppt_x"/>
                                          </p:val>
                                        </p:tav>
                                      </p:tavLst>
                                    </p:anim>
                                    <p:anim calcmode="lin" valueType="num">
                                      <p:cBhvr>
                                        <p:cTn id="40" dur="1000" fill="hold"/>
                                        <p:tgtEl>
                                          <p:spTgt spid="12494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circle(in)">
                                      <p:cBhvr>
                                        <p:cTn id="4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allpaper For Powerpoint Presentation Free Download posted by Zoey Simps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15" y="258316"/>
            <a:ext cx="15949885" cy="89589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51604" y="3816648"/>
            <a:ext cx="15708146" cy="1323439"/>
          </a:xfrm>
          <a:prstGeom prst="rect">
            <a:avLst/>
          </a:prstGeom>
          <a:noFill/>
        </p:spPr>
        <p:txBody>
          <a:bodyPr wrap="none" rtlCol="0">
            <a:spAutoFit/>
          </a:bodyPr>
          <a:lstStyle/>
          <a:p>
            <a:pPr algn="ctr"/>
            <a:r>
              <a:rPr lang="en-PH" sz="8000" b="1" dirty="0" smtClean="0">
                <a:solidFill>
                  <a:srgbClr val="FF0000"/>
                </a:solidFill>
                <a:latin typeface="Century Gothic" pitchFamily="34" charset="0"/>
              </a:rPr>
              <a:t>INTRODUCTION OF LINGUISTICS</a:t>
            </a:r>
            <a:r>
              <a:rPr lang="en-PH" sz="7200" b="1" dirty="0" smtClean="0">
                <a:solidFill>
                  <a:srgbClr val="FF0000"/>
                </a:solidFill>
                <a:latin typeface="Century Gothic" pitchFamily="34" charset="0"/>
              </a:rPr>
              <a:t> </a:t>
            </a:r>
            <a:endParaRPr lang="en-PH" sz="7200" b="1" dirty="0">
              <a:solidFill>
                <a:srgbClr val="FF0000"/>
              </a:solidFill>
              <a:latin typeface="Century Gothic" pitchFamily="34" charset="0"/>
            </a:endParaRPr>
          </a:p>
        </p:txBody>
      </p:sp>
    </p:spTree>
    <p:extLst>
      <p:ext uri="{BB962C8B-B14F-4D97-AF65-F5344CB8AC3E}">
        <p14:creationId xmlns:p14="http://schemas.microsoft.com/office/powerpoint/2010/main" val="441085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3852540" y="1224360"/>
            <a:ext cx="12025336" cy="6924973"/>
          </a:xfrm>
          <a:prstGeom prst="rect">
            <a:avLst/>
          </a:prstGeom>
        </p:spPr>
        <p:txBody>
          <a:bodyPr wrap="square">
            <a:spAutoFit/>
          </a:bodyPr>
          <a:lstStyle/>
          <a:p>
            <a:pPr marL="571500" indent="-571500" algn="just">
              <a:buFont typeface="Wingdings" pitchFamily="2" charset="2"/>
              <a:buChar char="v"/>
            </a:pPr>
            <a:r>
              <a:rPr lang="en-US" sz="3700" dirty="0" smtClean="0">
                <a:latin typeface="Arial" pitchFamily="34" charset="0"/>
                <a:cs typeface="Arial" pitchFamily="34" charset="0"/>
              </a:rPr>
              <a:t>It </a:t>
            </a:r>
            <a:r>
              <a:rPr lang="en-US" sz="3700" dirty="0">
                <a:latin typeface="Arial" pitchFamily="34" charset="0"/>
                <a:cs typeface="Arial" pitchFamily="34" charset="0"/>
              </a:rPr>
              <a:t>r</a:t>
            </a:r>
            <a:r>
              <a:rPr lang="en-US" sz="3700" dirty="0" smtClean="0">
                <a:latin typeface="Arial" pitchFamily="34" charset="0"/>
                <a:cs typeface="Arial" pitchFamily="34" charset="0"/>
              </a:rPr>
              <a:t>efers </a:t>
            </a:r>
            <a:r>
              <a:rPr lang="en-US" sz="3700" dirty="0">
                <a:latin typeface="Arial" pitchFamily="34" charset="0"/>
                <a:cs typeface="Arial" pitchFamily="34" charset="0"/>
              </a:rPr>
              <a:t>to the scientific study of </a:t>
            </a:r>
            <a:r>
              <a:rPr lang="en-US" sz="3700" dirty="0" smtClean="0">
                <a:latin typeface="Arial" pitchFamily="34" charset="0"/>
                <a:cs typeface="Arial" pitchFamily="34" charset="0"/>
              </a:rPr>
              <a:t>language</a:t>
            </a:r>
            <a:r>
              <a:rPr lang="en-US" sz="3700" dirty="0">
                <a:latin typeface="Arial" pitchFamily="34" charset="0"/>
                <a:cs typeface="Arial" pitchFamily="34" charset="0"/>
              </a:rPr>
              <a:t> </a:t>
            </a:r>
            <a:r>
              <a:rPr lang="en-US" sz="3700" dirty="0" smtClean="0">
                <a:latin typeface="Arial" pitchFamily="34" charset="0"/>
                <a:cs typeface="Arial" pitchFamily="34" charset="0"/>
              </a:rPr>
              <a:t>and how it works. </a:t>
            </a:r>
          </a:p>
          <a:p>
            <a:pPr marL="571500" indent="-571500" algn="just">
              <a:buFont typeface="Wingdings" pitchFamily="2" charset="2"/>
              <a:buChar char="v"/>
            </a:pPr>
            <a:r>
              <a:rPr lang="en-US" sz="3700" dirty="0" smtClean="0">
                <a:latin typeface="Arial" pitchFamily="34" charset="0"/>
                <a:cs typeface="Arial" pitchFamily="34" charset="0"/>
              </a:rPr>
              <a:t>The </a:t>
            </a:r>
            <a:r>
              <a:rPr lang="en-US" sz="3700" dirty="0">
                <a:latin typeface="Arial" pitchFamily="34" charset="0"/>
                <a:cs typeface="Arial" pitchFamily="34" charset="0"/>
              </a:rPr>
              <a:t>word ‘linguistics’ is derived from the Latin words ‘lingua’ meaning ‘tongue’ and ‘</a:t>
            </a:r>
            <a:r>
              <a:rPr lang="en-US" sz="3700" dirty="0" err="1">
                <a:latin typeface="Arial" pitchFamily="34" charset="0"/>
                <a:cs typeface="Arial" pitchFamily="34" charset="0"/>
              </a:rPr>
              <a:t>istics</a:t>
            </a:r>
            <a:r>
              <a:rPr lang="en-US" sz="3700" dirty="0">
                <a:latin typeface="Arial" pitchFamily="34" charset="0"/>
                <a:cs typeface="Arial" pitchFamily="34" charset="0"/>
              </a:rPr>
              <a:t>’ meaning ‘knowledge’.  </a:t>
            </a:r>
            <a:endParaRPr lang="en-US" sz="3700" dirty="0" smtClean="0">
              <a:latin typeface="Arial" pitchFamily="34" charset="0"/>
              <a:cs typeface="Arial" pitchFamily="34" charset="0"/>
            </a:endParaRPr>
          </a:p>
          <a:p>
            <a:pPr marL="571500" indent="-571500" algn="just">
              <a:buFont typeface="Wingdings" pitchFamily="2" charset="2"/>
              <a:buChar char="v"/>
            </a:pPr>
            <a:r>
              <a:rPr lang="en-US" sz="3700" dirty="0" smtClean="0">
                <a:latin typeface="Arial" pitchFamily="34" charset="0"/>
                <a:cs typeface="Arial" pitchFamily="34" charset="0"/>
              </a:rPr>
              <a:t>According </a:t>
            </a:r>
            <a:r>
              <a:rPr lang="en-US" sz="3700" dirty="0">
                <a:latin typeface="Arial" pitchFamily="34" charset="0"/>
                <a:cs typeface="Arial" pitchFamily="34" charset="0"/>
              </a:rPr>
              <a:t>to the Cambridge Dictionary, linguistics refers to ‘the scientific study of the structure and development of language in general or of particular languages’. </a:t>
            </a:r>
            <a:endParaRPr lang="en-US" sz="3700" dirty="0" smtClean="0">
              <a:latin typeface="Arial" pitchFamily="34" charset="0"/>
              <a:cs typeface="Arial" pitchFamily="34" charset="0"/>
            </a:endParaRPr>
          </a:p>
          <a:p>
            <a:pPr marL="571500" indent="-571500" algn="just">
              <a:buFont typeface="Wingdings" pitchFamily="2" charset="2"/>
              <a:buChar char="v"/>
            </a:pPr>
            <a:r>
              <a:rPr lang="en-US" sz="3700" dirty="0" smtClean="0">
                <a:latin typeface="Arial" pitchFamily="34" charset="0"/>
                <a:cs typeface="Arial" pitchFamily="34" charset="0"/>
              </a:rPr>
              <a:t>The </a:t>
            </a:r>
            <a:r>
              <a:rPr lang="en-US" sz="3700" dirty="0">
                <a:latin typeface="Arial" pitchFamily="34" charset="0"/>
                <a:cs typeface="Arial" pitchFamily="34" charset="0"/>
              </a:rPr>
              <a:t>study of linguistics comes from the natural curiosity of man about the particulars of the language he speaks, evaluated through different perspectives.</a:t>
            </a:r>
            <a:endParaRPr lang="en-PH" sz="3700" dirty="0">
              <a:latin typeface="Arial" pitchFamily="34" charset="0"/>
              <a:cs typeface="Arial" pitchFamily="34" charset="0"/>
            </a:endParaRPr>
          </a:p>
        </p:txBody>
      </p:sp>
      <p:sp>
        <p:nvSpPr>
          <p:cNvPr id="3" name="Rectangle 2"/>
          <p:cNvSpPr/>
          <p:nvPr/>
        </p:nvSpPr>
        <p:spPr>
          <a:xfrm>
            <a:off x="180132" y="288256"/>
            <a:ext cx="4456669" cy="1015663"/>
          </a:xfrm>
          <a:prstGeom prst="rect">
            <a:avLst/>
          </a:prstGeom>
        </p:spPr>
        <p:txBody>
          <a:bodyPr wrap="none">
            <a:spAutoFit/>
          </a:bodyPr>
          <a:lstStyle/>
          <a:p>
            <a:r>
              <a:rPr lang="en-US" sz="6000" b="1" dirty="0">
                <a:latin typeface="Arial" pitchFamily="34" charset="0"/>
                <a:cs typeface="Arial" pitchFamily="34" charset="0"/>
              </a:rPr>
              <a:t>Linguistics </a:t>
            </a:r>
            <a:endParaRPr lang="en-PH" sz="6000" b="1" dirty="0">
              <a:latin typeface="Arial" pitchFamily="34" charset="0"/>
              <a:cs typeface="Arial" pitchFamily="34" charset="0"/>
            </a:endParaRPr>
          </a:p>
        </p:txBody>
      </p:sp>
    </p:spTree>
    <p:extLst>
      <p:ext uri="{BB962C8B-B14F-4D97-AF65-F5344CB8AC3E}">
        <p14:creationId xmlns:p14="http://schemas.microsoft.com/office/powerpoint/2010/main" val="58051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8586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5292700" y="1008336"/>
            <a:ext cx="10423064" cy="3323987"/>
          </a:xfrm>
          <a:prstGeom prst="rect">
            <a:avLst/>
          </a:prstGeom>
        </p:spPr>
        <p:txBody>
          <a:bodyPr wrap="square">
            <a:spAutoFit/>
          </a:bodyPr>
          <a:lstStyle/>
          <a:p>
            <a:pPr algn="just"/>
            <a:r>
              <a:rPr lang="en-US" sz="3500" dirty="0" smtClean="0">
                <a:latin typeface="Arial" pitchFamily="34" charset="0"/>
                <a:cs typeface="Arial" pitchFamily="34" charset="0"/>
              </a:rPr>
              <a:t>Linguistics </a:t>
            </a:r>
            <a:r>
              <a:rPr lang="en-US" sz="3500" dirty="0">
                <a:latin typeface="Arial" pitchFamily="34" charset="0"/>
                <a:cs typeface="Arial" pitchFamily="34" charset="0"/>
              </a:rPr>
              <a:t>involves a vast, complex and systematic study, with different core areas such as </a:t>
            </a:r>
            <a:r>
              <a:rPr lang="en-US" sz="3500" b="1" dirty="0">
                <a:latin typeface="Arial" pitchFamily="34" charset="0"/>
                <a:cs typeface="Arial" pitchFamily="34" charset="0"/>
              </a:rPr>
              <a:t>phonology, phonetics, morphology, syntax</a:t>
            </a:r>
            <a:r>
              <a:rPr lang="en-US" sz="3500" dirty="0">
                <a:latin typeface="Arial" pitchFamily="34" charset="0"/>
                <a:cs typeface="Arial" pitchFamily="34" charset="0"/>
              </a:rPr>
              <a:t> and </a:t>
            </a:r>
            <a:r>
              <a:rPr lang="en-US" sz="3500" b="1" dirty="0">
                <a:latin typeface="Arial" pitchFamily="34" charset="0"/>
                <a:cs typeface="Arial" pitchFamily="34" charset="0"/>
              </a:rPr>
              <a:t>semantics</a:t>
            </a:r>
            <a:r>
              <a:rPr lang="en-US" sz="3500" dirty="0">
                <a:latin typeface="Arial" pitchFamily="34" charset="0"/>
                <a:cs typeface="Arial" pitchFamily="34" charset="0"/>
              </a:rPr>
              <a:t>. It is also intertwined with various other disciplines and contains fields like </a:t>
            </a:r>
            <a:r>
              <a:rPr lang="en-US" sz="3500" b="1" dirty="0">
                <a:latin typeface="Arial" pitchFamily="34" charset="0"/>
                <a:cs typeface="Arial" pitchFamily="34" charset="0"/>
              </a:rPr>
              <a:t>sociolinguistics</a:t>
            </a:r>
            <a:r>
              <a:rPr lang="en-US" sz="3500" dirty="0">
                <a:latin typeface="Arial" pitchFamily="34" charset="0"/>
                <a:cs typeface="Arial" pitchFamily="34" charset="0"/>
              </a:rPr>
              <a:t>, </a:t>
            </a:r>
            <a:r>
              <a:rPr lang="en-US" sz="3500" b="1" dirty="0">
                <a:latin typeface="Arial" pitchFamily="34" charset="0"/>
                <a:cs typeface="Arial" pitchFamily="34" charset="0"/>
              </a:rPr>
              <a:t>psycholinguistics</a:t>
            </a:r>
            <a:r>
              <a:rPr lang="en-US" sz="3500" dirty="0">
                <a:latin typeface="Arial" pitchFamily="34" charset="0"/>
                <a:cs typeface="Arial" pitchFamily="34" charset="0"/>
              </a:rPr>
              <a:t> </a:t>
            </a:r>
            <a:r>
              <a:rPr lang="en-US" sz="3500" dirty="0" smtClean="0">
                <a:latin typeface="Arial" pitchFamily="34" charset="0"/>
                <a:cs typeface="Arial" pitchFamily="34" charset="0"/>
              </a:rPr>
              <a:t>, and among others.</a:t>
            </a:r>
            <a:endParaRPr lang="en-PH" sz="3500" dirty="0">
              <a:latin typeface="Arial" pitchFamily="34" charset="0"/>
              <a:cs typeface="Arial" pitchFamily="34" charset="0"/>
            </a:endParaRPr>
          </a:p>
        </p:txBody>
      </p:sp>
      <p:sp>
        <p:nvSpPr>
          <p:cNvPr id="4" name="Rectangle 3"/>
          <p:cNvSpPr/>
          <p:nvPr/>
        </p:nvSpPr>
        <p:spPr>
          <a:xfrm>
            <a:off x="612683" y="144240"/>
            <a:ext cx="6955750" cy="923330"/>
          </a:xfrm>
          <a:prstGeom prst="rect">
            <a:avLst/>
          </a:prstGeom>
        </p:spPr>
        <p:txBody>
          <a:bodyPr wrap="none">
            <a:spAutoFit/>
          </a:bodyPr>
          <a:lstStyle/>
          <a:p>
            <a:r>
              <a:rPr lang="en-US" sz="5400" b="1" dirty="0">
                <a:latin typeface="Arial" pitchFamily="34" charset="0"/>
                <a:cs typeface="Arial" pitchFamily="34" charset="0"/>
              </a:rPr>
              <a:t>Scope of Linguistics</a:t>
            </a:r>
            <a:endParaRPr lang="en-PH" sz="5400" dirty="0">
              <a:latin typeface="Arial" pitchFamily="34" charset="0"/>
              <a:cs typeface="Arial" pitchFamily="34" charset="0"/>
            </a:endParaRPr>
          </a:p>
        </p:txBody>
      </p:sp>
      <p:sp>
        <p:nvSpPr>
          <p:cNvPr id="8" name="Rectangle 7"/>
          <p:cNvSpPr/>
          <p:nvPr/>
        </p:nvSpPr>
        <p:spPr>
          <a:xfrm>
            <a:off x="180132" y="3168576"/>
            <a:ext cx="2257349" cy="584775"/>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3200" b="1" dirty="0">
                <a:latin typeface="Arial" pitchFamily="34" charset="0"/>
                <a:cs typeface="Arial" pitchFamily="34" charset="0"/>
              </a:rPr>
              <a:t>Phonemes</a:t>
            </a:r>
            <a:endParaRPr lang="en-PH" sz="3200" b="1" dirty="0">
              <a:latin typeface="Arial" pitchFamily="34" charset="0"/>
              <a:cs typeface="Arial" pitchFamily="34" charset="0"/>
            </a:endParaRPr>
          </a:p>
        </p:txBody>
      </p:sp>
      <p:sp>
        <p:nvSpPr>
          <p:cNvPr id="10" name="Rectangle 9"/>
          <p:cNvSpPr/>
          <p:nvPr/>
        </p:nvSpPr>
        <p:spPr>
          <a:xfrm>
            <a:off x="1041951" y="3864556"/>
            <a:ext cx="2018501" cy="600164"/>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3300" b="1" dirty="0" smtClean="0">
                <a:latin typeface="Arial" pitchFamily="34" charset="0"/>
                <a:cs typeface="Arial" pitchFamily="34" charset="0"/>
              </a:rPr>
              <a:t>Syllables</a:t>
            </a:r>
            <a:endParaRPr lang="en-PH" sz="3300" b="1" dirty="0">
              <a:latin typeface="Arial" pitchFamily="34" charset="0"/>
              <a:cs typeface="Arial" pitchFamily="34" charset="0"/>
            </a:endParaRPr>
          </a:p>
        </p:txBody>
      </p:sp>
      <p:sp>
        <p:nvSpPr>
          <p:cNvPr id="9" name="Rectangle 8"/>
          <p:cNvSpPr/>
          <p:nvPr/>
        </p:nvSpPr>
        <p:spPr>
          <a:xfrm>
            <a:off x="1260252" y="4569247"/>
            <a:ext cx="2630848" cy="615553"/>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en-US" sz="3400" b="1" dirty="0">
                <a:latin typeface="Arial" pitchFamily="34" charset="0"/>
                <a:cs typeface="Arial" pitchFamily="34" charset="0"/>
              </a:rPr>
              <a:t>Morphemes</a:t>
            </a:r>
            <a:endParaRPr lang="en-PH" sz="3400" b="1" dirty="0">
              <a:latin typeface="Arial" pitchFamily="34" charset="0"/>
              <a:cs typeface="Arial" pitchFamily="34" charset="0"/>
            </a:endParaRPr>
          </a:p>
        </p:txBody>
      </p:sp>
      <p:sp>
        <p:nvSpPr>
          <p:cNvPr id="13" name="Rectangle 12"/>
          <p:cNvSpPr/>
          <p:nvPr/>
        </p:nvSpPr>
        <p:spPr>
          <a:xfrm>
            <a:off x="3132460" y="6120904"/>
            <a:ext cx="1980029" cy="646331"/>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r>
              <a:rPr lang="en-US" sz="3600" b="1" dirty="0" smtClean="0">
                <a:latin typeface="Arial" pitchFamily="34" charset="0"/>
                <a:cs typeface="Arial" pitchFamily="34" charset="0"/>
              </a:rPr>
              <a:t>Phrases</a:t>
            </a:r>
            <a:endParaRPr lang="en-PH" sz="3600" b="1" dirty="0">
              <a:latin typeface="Arial" pitchFamily="34" charset="0"/>
              <a:cs typeface="Arial" pitchFamily="34" charset="0"/>
            </a:endParaRPr>
          </a:p>
        </p:txBody>
      </p:sp>
      <p:sp>
        <p:nvSpPr>
          <p:cNvPr id="12" name="Rectangle 11"/>
          <p:cNvSpPr/>
          <p:nvPr/>
        </p:nvSpPr>
        <p:spPr>
          <a:xfrm>
            <a:off x="2844428" y="5345946"/>
            <a:ext cx="1572803" cy="63094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en-US" sz="3500" b="1" dirty="0" smtClean="0">
                <a:latin typeface="Arial" pitchFamily="34" charset="0"/>
                <a:cs typeface="Arial" pitchFamily="34" charset="0"/>
              </a:rPr>
              <a:t>Words</a:t>
            </a:r>
            <a:endParaRPr lang="en-PH" sz="3500" b="1" dirty="0">
              <a:latin typeface="Arial" pitchFamily="34" charset="0"/>
              <a:cs typeface="Arial" pitchFamily="34" charset="0"/>
            </a:endParaRPr>
          </a:p>
        </p:txBody>
      </p:sp>
      <p:sp>
        <p:nvSpPr>
          <p:cNvPr id="14" name="Rectangle 13"/>
          <p:cNvSpPr/>
          <p:nvPr/>
        </p:nvSpPr>
        <p:spPr>
          <a:xfrm>
            <a:off x="4068564" y="6912992"/>
            <a:ext cx="2007281" cy="661720"/>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r>
              <a:rPr lang="en-US" sz="3700" b="1" dirty="0" smtClean="0">
                <a:latin typeface="Arial" pitchFamily="34" charset="0"/>
                <a:cs typeface="Arial" pitchFamily="34" charset="0"/>
              </a:rPr>
              <a:t>Clauses</a:t>
            </a:r>
            <a:endParaRPr lang="en-PH" sz="3700" b="1" dirty="0">
              <a:latin typeface="Arial" pitchFamily="34" charset="0"/>
              <a:cs typeface="Arial" pitchFamily="34" charset="0"/>
            </a:endParaRPr>
          </a:p>
        </p:txBody>
      </p:sp>
      <p:sp>
        <p:nvSpPr>
          <p:cNvPr id="15" name="Rectangle 14"/>
          <p:cNvSpPr/>
          <p:nvPr/>
        </p:nvSpPr>
        <p:spPr>
          <a:xfrm>
            <a:off x="5203682" y="7727112"/>
            <a:ext cx="5545108" cy="677108"/>
          </a:xfrm>
          <a:prstGeom prst="rect">
            <a:avLst/>
          </a:prstGeom>
        </p:spPr>
        <p:style>
          <a:lnRef idx="1">
            <a:schemeClr val="accent4"/>
          </a:lnRef>
          <a:fillRef idx="3">
            <a:schemeClr val="accent4"/>
          </a:fillRef>
          <a:effectRef idx="2">
            <a:schemeClr val="accent4"/>
          </a:effectRef>
          <a:fontRef idx="minor">
            <a:schemeClr val="lt1"/>
          </a:fontRef>
        </p:style>
        <p:txBody>
          <a:bodyPr wrap="none">
            <a:spAutoFit/>
          </a:bodyPr>
          <a:lstStyle/>
          <a:p>
            <a:r>
              <a:rPr lang="en-US" sz="3800" b="1" dirty="0" smtClean="0">
                <a:latin typeface="Arial" pitchFamily="34" charset="0"/>
                <a:cs typeface="Arial" pitchFamily="34" charset="0"/>
              </a:rPr>
              <a:t>Sentences / Utterances</a:t>
            </a:r>
            <a:endParaRPr lang="en-PH" sz="3800" b="1" dirty="0">
              <a:latin typeface="Arial" pitchFamily="34" charset="0"/>
              <a:cs typeface="Arial" pitchFamily="34" charset="0"/>
            </a:endParaRPr>
          </a:p>
        </p:txBody>
      </p:sp>
      <p:sp>
        <p:nvSpPr>
          <p:cNvPr id="16" name="Rectangle 15"/>
          <p:cNvSpPr/>
          <p:nvPr/>
        </p:nvSpPr>
        <p:spPr>
          <a:xfrm>
            <a:off x="7691729" y="8524751"/>
            <a:ext cx="4297715" cy="692497"/>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en-US" sz="3900" b="1" dirty="0" smtClean="0">
                <a:latin typeface="Arial" pitchFamily="34" charset="0"/>
                <a:cs typeface="Arial" pitchFamily="34" charset="0"/>
              </a:rPr>
              <a:t>Text / Discourses</a:t>
            </a:r>
            <a:endParaRPr lang="en-PH" sz="3900" b="1" dirty="0">
              <a:latin typeface="Arial" pitchFamily="34" charset="0"/>
              <a:cs typeface="Arial" pitchFamily="34" charset="0"/>
            </a:endParaRPr>
          </a:p>
        </p:txBody>
      </p:sp>
      <p:sp>
        <p:nvSpPr>
          <p:cNvPr id="11" name="Oval 10"/>
          <p:cNvSpPr/>
          <p:nvPr/>
        </p:nvSpPr>
        <p:spPr>
          <a:xfrm>
            <a:off x="6228804" y="4392712"/>
            <a:ext cx="4176464" cy="3055858"/>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600" b="1" dirty="0" smtClean="0">
                <a:latin typeface="Arial" pitchFamily="34" charset="0"/>
                <a:cs typeface="Arial" pitchFamily="34" charset="0"/>
              </a:rPr>
              <a:t>HIERARCHY OF LANGUAGE </a:t>
            </a:r>
            <a:endParaRPr lang="en-PH" sz="3600" b="1" dirty="0">
              <a:latin typeface="Arial" pitchFamily="34" charset="0"/>
              <a:cs typeface="Arial" pitchFamily="34"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ircle(in)">
                                      <p:cBhvr>
                                        <p:cTn id="19" dur="20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arn(inVertical)">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circle(in)">
                                      <p:cBhvr>
                                        <p:cTn id="43" dur="20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circle(in)">
                                      <p:cBhvr>
                                        <p:cTn id="48" dur="20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anim calcmode="lin" valueType="num">
                                      <p:cBhvr>
                                        <p:cTn id="59" dur="1000" fill="hold"/>
                                        <p:tgtEl>
                                          <p:spTgt spid="15"/>
                                        </p:tgtEl>
                                        <p:attrNameLst>
                                          <p:attrName>ppt_x</p:attrName>
                                        </p:attrNameLst>
                                      </p:cBhvr>
                                      <p:tavLst>
                                        <p:tav tm="0">
                                          <p:val>
                                            <p:strVal val="#ppt_x"/>
                                          </p:val>
                                        </p:tav>
                                        <p:tav tm="100000">
                                          <p:val>
                                            <p:strVal val="#ppt_x"/>
                                          </p:val>
                                        </p:tav>
                                      </p:tavLst>
                                    </p:anim>
                                    <p:anim calcmode="lin" valueType="num">
                                      <p:cBhvr>
                                        <p:cTn id="6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1000"/>
                                        <p:tgtEl>
                                          <p:spTgt spid="16"/>
                                        </p:tgtEl>
                                      </p:cBhvr>
                                    </p:animEffect>
                                    <p:anim calcmode="lin" valueType="num">
                                      <p:cBhvr>
                                        <p:cTn id="66" dur="1000" fill="hold"/>
                                        <p:tgtEl>
                                          <p:spTgt spid="16"/>
                                        </p:tgtEl>
                                        <p:attrNameLst>
                                          <p:attrName>ppt_x</p:attrName>
                                        </p:attrNameLst>
                                      </p:cBhvr>
                                      <p:tavLst>
                                        <p:tav tm="0">
                                          <p:val>
                                            <p:strVal val="#ppt_x"/>
                                          </p:val>
                                        </p:tav>
                                        <p:tav tm="100000">
                                          <p:val>
                                            <p:strVal val="#ppt_x"/>
                                          </p:val>
                                        </p:tav>
                                      </p:tavLst>
                                    </p:anim>
                                    <p:anim calcmode="lin" valueType="num">
                                      <p:cBhvr>
                                        <p:cTn id="6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8" grpId="0" animBg="1"/>
      <p:bldP spid="10" grpId="0" animBg="1"/>
      <p:bldP spid="9" grpId="0" animBg="1"/>
      <p:bldP spid="13" grpId="0" animBg="1"/>
      <p:bldP spid="12" grpId="0" animBg="1"/>
      <p:bldP spid="14" grpId="0" animBg="1"/>
      <p:bldP spid="15" grpId="0" animBg="1"/>
      <p:bldP spid="16"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252140" y="216248"/>
            <a:ext cx="5553251" cy="830997"/>
          </a:xfrm>
          <a:prstGeom prst="rect">
            <a:avLst/>
          </a:prstGeom>
        </p:spPr>
        <p:txBody>
          <a:bodyPr wrap="none">
            <a:spAutoFit/>
          </a:bodyPr>
          <a:lstStyle/>
          <a:p>
            <a:r>
              <a:rPr lang="en-US" sz="4800" b="1" dirty="0">
                <a:latin typeface="Arial" pitchFamily="34" charset="0"/>
                <a:cs typeface="Arial" pitchFamily="34" charset="0"/>
              </a:rPr>
              <a:t>Language Viewed </a:t>
            </a:r>
            <a:endParaRPr lang="en-PH" sz="4800" dirty="0">
              <a:latin typeface="Arial" pitchFamily="34" charset="0"/>
              <a:cs typeface="Arial" pitchFamily="34" charset="0"/>
            </a:endParaRPr>
          </a:p>
        </p:txBody>
      </p:sp>
      <p:sp>
        <p:nvSpPr>
          <p:cNvPr id="4" name="Rectangle 3"/>
          <p:cNvSpPr/>
          <p:nvPr/>
        </p:nvSpPr>
        <p:spPr>
          <a:xfrm>
            <a:off x="252140" y="1296368"/>
            <a:ext cx="15769752" cy="1077218"/>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en-US" sz="3200" b="1" dirty="0" smtClean="0">
                <a:solidFill>
                  <a:srgbClr val="FF0000"/>
                </a:solidFill>
                <a:latin typeface="Arial" pitchFamily="34" charset="0"/>
                <a:cs typeface="Arial" pitchFamily="34" charset="0"/>
              </a:rPr>
              <a:t>Structuralists. </a:t>
            </a:r>
            <a:r>
              <a:rPr lang="en-US" sz="3000" dirty="0" smtClean="0">
                <a:latin typeface="Arial" pitchFamily="34" charset="0"/>
                <a:cs typeface="Arial" pitchFamily="34" charset="0"/>
              </a:rPr>
              <a:t>They</a:t>
            </a:r>
            <a:r>
              <a:rPr lang="en-US" sz="3000" b="1" dirty="0" smtClean="0">
                <a:latin typeface="Arial" pitchFamily="34" charset="0"/>
                <a:cs typeface="Arial" pitchFamily="34" charset="0"/>
              </a:rPr>
              <a:t> </a:t>
            </a:r>
            <a:r>
              <a:rPr lang="en-US" sz="3000" dirty="0" smtClean="0">
                <a:latin typeface="Arial" pitchFamily="34" charset="0"/>
                <a:cs typeface="Arial" pitchFamily="34" charset="0"/>
              </a:rPr>
              <a:t>believe </a:t>
            </a:r>
            <a:r>
              <a:rPr lang="en-US" sz="3000" dirty="0">
                <a:latin typeface="Arial" pitchFamily="34" charset="0"/>
                <a:cs typeface="Arial" pitchFamily="34" charset="0"/>
              </a:rPr>
              <a:t>that language is a structured system of components, an idea with a specific framework</a:t>
            </a:r>
            <a:r>
              <a:rPr lang="en-US" sz="3200" dirty="0">
                <a:latin typeface="Arial" pitchFamily="34" charset="0"/>
                <a:cs typeface="Arial" pitchFamily="34" charset="0"/>
              </a:rPr>
              <a:t>.</a:t>
            </a:r>
            <a:endParaRPr lang="en-PH" sz="3200" dirty="0">
              <a:latin typeface="Arial" pitchFamily="34" charset="0"/>
              <a:cs typeface="Arial" pitchFamily="34" charset="0"/>
            </a:endParaRPr>
          </a:p>
        </p:txBody>
      </p:sp>
      <p:sp>
        <p:nvSpPr>
          <p:cNvPr id="6" name="Rectangle 5"/>
          <p:cNvSpPr/>
          <p:nvPr/>
        </p:nvSpPr>
        <p:spPr>
          <a:xfrm>
            <a:off x="828204" y="2520504"/>
            <a:ext cx="15193688" cy="150810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just"/>
            <a:r>
              <a:rPr lang="en-US" sz="3000" b="1" dirty="0" smtClean="0">
                <a:solidFill>
                  <a:srgbClr val="FF0000"/>
                </a:solidFill>
                <a:latin typeface="Arial" pitchFamily="34" charset="0"/>
                <a:cs typeface="Arial" pitchFamily="34" charset="0"/>
              </a:rPr>
              <a:t>T</a:t>
            </a:r>
            <a:r>
              <a:rPr lang="en-US" sz="3200" b="1" dirty="0" smtClean="0">
                <a:solidFill>
                  <a:srgbClr val="FF0000"/>
                </a:solidFill>
                <a:latin typeface="Arial" pitchFamily="34" charset="0"/>
                <a:cs typeface="Arial" pitchFamily="34" charset="0"/>
              </a:rPr>
              <a:t>ransformationalists</a:t>
            </a:r>
            <a:r>
              <a:rPr lang="en-US" sz="3000" b="1" dirty="0" smtClean="0">
                <a:solidFill>
                  <a:srgbClr val="FF0000"/>
                </a:solidFill>
                <a:latin typeface="Arial" pitchFamily="34" charset="0"/>
                <a:cs typeface="Arial" pitchFamily="34" charset="0"/>
              </a:rPr>
              <a:t>. </a:t>
            </a:r>
            <a:r>
              <a:rPr lang="en-US" sz="3000" dirty="0" smtClean="0">
                <a:latin typeface="Arial" pitchFamily="34" charset="0"/>
                <a:cs typeface="Arial" pitchFamily="34" charset="0"/>
              </a:rPr>
              <a:t>Language </a:t>
            </a:r>
            <a:r>
              <a:rPr lang="en-US" sz="3000" dirty="0">
                <a:latin typeface="Arial" pitchFamily="34" charset="0"/>
                <a:cs typeface="Arial" pitchFamily="34" charset="0"/>
              </a:rPr>
              <a:t>for the transformationalists is a generative and creative process. Language pervades creativity since it is more abstract and has more reflective elements. </a:t>
            </a:r>
            <a:endParaRPr lang="en-PH" sz="3000" dirty="0">
              <a:latin typeface="Arial" pitchFamily="34" charset="0"/>
              <a:cs typeface="Arial" pitchFamily="34" charset="0"/>
            </a:endParaRPr>
          </a:p>
        </p:txBody>
      </p:sp>
      <p:sp>
        <p:nvSpPr>
          <p:cNvPr id="5" name="Rectangle 4"/>
          <p:cNvSpPr/>
          <p:nvPr/>
        </p:nvSpPr>
        <p:spPr>
          <a:xfrm>
            <a:off x="1708200" y="4176688"/>
            <a:ext cx="14329592" cy="150810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en-US" sz="3200" b="1" dirty="0" smtClean="0">
                <a:solidFill>
                  <a:srgbClr val="FF0000"/>
                </a:solidFill>
                <a:latin typeface="Arial" pitchFamily="34" charset="0"/>
                <a:cs typeface="Arial" pitchFamily="34" charset="0"/>
              </a:rPr>
              <a:t>Functionalists. </a:t>
            </a:r>
            <a:r>
              <a:rPr lang="en-US" sz="3000" dirty="0" smtClean="0">
                <a:latin typeface="Arial" pitchFamily="34" charset="0"/>
                <a:cs typeface="Arial" pitchFamily="34" charset="0"/>
              </a:rPr>
              <a:t>They view language </a:t>
            </a:r>
            <a:r>
              <a:rPr lang="en-US" sz="3000" dirty="0">
                <a:latin typeface="Arial" pitchFamily="34" charset="0"/>
                <a:cs typeface="Arial" pitchFamily="34" charset="0"/>
              </a:rPr>
              <a:t>as an instrument for communication and a vehicle for expression. They argue that structures can be best analyzed when referred to the functions they carry-out in a communicative context. </a:t>
            </a:r>
            <a:endParaRPr lang="en-PH" sz="3000" dirty="0">
              <a:latin typeface="Arial" pitchFamily="34" charset="0"/>
              <a:cs typeface="Arial" pitchFamily="34" charset="0"/>
            </a:endParaRPr>
          </a:p>
        </p:txBody>
      </p:sp>
      <p:sp>
        <p:nvSpPr>
          <p:cNvPr id="7" name="Rectangle 6"/>
          <p:cNvSpPr/>
          <p:nvPr/>
        </p:nvSpPr>
        <p:spPr>
          <a:xfrm>
            <a:off x="2340372" y="5832872"/>
            <a:ext cx="13681520" cy="243143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n-US" sz="3200" b="1" dirty="0" smtClean="0">
                <a:solidFill>
                  <a:srgbClr val="FF0000"/>
                </a:solidFill>
                <a:latin typeface="Arial" pitchFamily="34" charset="0"/>
                <a:cs typeface="Arial" pitchFamily="34" charset="0"/>
              </a:rPr>
              <a:t>Interactionists. </a:t>
            </a:r>
            <a:r>
              <a:rPr lang="en-US" sz="3000" dirty="0" smtClean="0">
                <a:latin typeface="Arial" pitchFamily="34" charset="0"/>
                <a:cs typeface="Arial" pitchFamily="34" charset="0"/>
              </a:rPr>
              <a:t>They </a:t>
            </a:r>
            <a:r>
              <a:rPr lang="en-US" sz="3000" dirty="0">
                <a:latin typeface="Arial" pitchFamily="34" charset="0"/>
                <a:cs typeface="Arial" pitchFamily="34" charset="0"/>
              </a:rPr>
              <a:t>view language as a product of a human desire to communicate with another and acquire the language with one desire to learn. </a:t>
            </a:r>
            <a:r>
              <a:rPr lang="en-US" sz="3000" dirty="0" smtClean="0">
                <a:latin typeface="Arial" pitchFamily="34" charset="0"/>
                <a:cs typeface="Arial" pitchFamily="34" charset="0"/>
              </a:rPr>
              <a:t>They believe </a:t>
            </a:r>
            <a:r>
              <a:rPr lang="en-US" sz="3000" dirty="0">
                <a:latin typeface="Arial" pitchFamily="34" charset="0"/>
                <a:cs typeface="Arial" pitchFamily="34" charset="0"/>
              </a:rPr>
              <a:t>that human genetics provides an individual the capability to produce language and his or her social interactions make him or her master the language. </a:t>
            </a:r>
            <a:endParaRPr lang="en-PH" sz="3000" dirty="0">
              <a:latin typeface="Arial" pitchFamily="34" charset="0"/>
              <a:cs typeface="Arial" pitchFamily="34"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ircle(in)">
                                      <p:cBhvr>
                                        <p:cTn id="24" dur="2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heel(1)">
                                      <p:cBhvr>
                                        <p:cTn id="2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animBg="1"/>
      <p:bldP spid="5"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365030" y="288256"/>
            <a:ext cx="6583854" cy="769441"/>
          </a:xfrm>
          <a:prstGeom prst="rect">
            <a:avLst/>
          </a:prstGeom>
        </p:spPr>
        <p:txBody>
          <a:bodyPr wrap="none">
            <a:spAutoFit/>
          </a:bodyPr>
          <a:lstStyle/>
          <a:p>
            <a:r>
              <a:rPr lang="en-US" sz="4400" b="1" dirty="0" smtClean="0">
                <a:latin typeface="Arial" pitchFamily="34" charset="0"/>
                <a:cs typeface="Arial" pitchFamily="34" charset="0"/>
              </a:rPr>
              <a:t>Branches </a:t>
            </a:r>
            <a:r>
              <a:rPr lang="en-US" sz="4400" b="1" dirty="0">
                <a:latin typeface="Arial" pitchFamily="34" charset="0"/>
                <a:cs typeface="Arial" pitchFamily="34" charset="0"/>
              </a:rPr>
              <a:t>of Linguistics</a:t>
            </a:r>
            <a:endParaRPr lang="en-PH" sz="4400" dirty="0">
              <a:latin typeface="Arial" pitchFamily="34" charset="0"/>
              <a:cs typeface="Arial" pitchFamily="34" charset="0"/>
            </a:endParaRPr>
          </a:p>
        </p:txBody>
      </p:sp>
      <p:sp>
        <p:nvSpPr>
          <p:cNvPr id="5" name="TextBox 4"/>
          <p:cNvSpPr txBox="1"/>
          <p:nvPr/>
        </p:nvSpPr>
        <p:spPr>
          <a:xfrm>
            <a:off x="5220692" y="1189807"/>
            <a:ext cx="6651180" cy="538609"/>
          </a:xfrm>
          <a:prstGeom prst="rect">
            <a:avLst/>
          </a:prstGeom>
          <a:noFill/>
        </p:spPr>
        <p:txBody>
          <a:bodyPr wrap="none" rtlCol="0">
            <a:spAutoFit/>
          </a:bodyPr>
          <a:lstStyle/>
          <a:p>
            <a:r>
              <a:rPr lang="en-PH" b="1" dirty="0" smtClean="0">
                <a:solidFill>
                  <a:schemeClr val="accent6">
                    <a:lumMod val="50000"/>
                  </a:schemeClr>
                </a:solidFill>
                <a:latin typeface="Arial" pitchFamily="34" charset="0"/>
                <a:cs typeface="Arial" pitchFamily="34" charset="0"/>
              </a:rPr>
              <a:t>DIVISIONS OF TWO BROAD FIELDS </a:t>
            </a:r>
            <a:endParaRPr lang="en-PH" b="1" dirty="0">
              <a:solidFill>
                <a:schemeClr val="accent6">
                  <a:lumMod val="50000"/>
                </a:schemeClr>
              </a:solidFill>
              <a:latin typeface="Arial" pitchFamily="34" charset="0"/>
              <a:cs typeface="Arial" pitchFamily="34" charset="0"/>
            </a:endParaRPr>
          </a:p>
        </p:txBody>
      </p:sp>
      <p:sp>
        <p:nvSpPr>
          <p:cNvPr id="10" name="Rectangle 9"/>
          <p:cNvSpPr/>
          <p:nvPr/>
        </p:nvSpPr>
        <p:spPr>
          <a:xfrm>
            <a:off x="2206210" y="1728416"/>
            <a:ext cx="3631122" cy="646331"/>
          </a:xfrm>
          <a:prstGeom prst="rect">
            <a:avLst/>
          </a:prstGeom>
        </p:spPr>
        <p:txBody>
          <a:bodyPr wrap="none">
            <a:spAutoFit/>
          </a:bodyPr>
          <a:lstStyle/>
          <a:p>
            <a:r>
              <a:rPr lang="en-US" sz="3600" b="1" dirty="0" smtClean="0">
                <a:solidFill>
                  <a:srgbClr val="FF0000"/>
                </a:solidFill>
                <a:latin typeface="Candara Light" pitchFamily="34" charset="0"/>
              </a:rPr>
              <a:t>I. Micro-linguistics</a:t>
            </a:r>
            <a:r>
              <a:rPr lang="en-US" sz="3600" dirty="0" smtClean="0">
                <a:latin typeface="Candara Light" pitchFamily="34" charset="0"/>
              </a:rPr>
              <a:t> </a:t>
            </a:r>
            <a:endParaRPr lang="en-PH" sz="3600" dirty="0">
              <a:latin typeface="Candara Light" pitchFamily="34" charset="0"/>
            </a:endParaRPr>
          </a:p>
        </p:txBody>
      </p:sp>
      <p:sp>
        <p:nvSpPr>
          <p:cNvPr id="11" name="Rectangle 10"/>
          <p:cNvSpPr/>
          <p:nvPr/>
        </p:nvSpPr>
        <p:spPr>
          <a:xfrm>
            <a:off x="3204468" y="2558247"/>
            <a:ext cx="12474648" cy="2554545"/>
          </a:xfrm>
          <a:prstGeom prst="rect">
            <a:avLst/>
          </a:prstGeom>
        </p:spPr>
        <p:txBody>
          <a:bodyPr wrap="square">
            <a:spAutoFit/>
          </a:bodyPr>
          <a:lstStyle/>
          <a:p>
            <a:pPr algn="just"/>
            <a:r>
              <a:rPr lang="en-US" b="1" dirty="0">
                <a:latin typeface="Arial" pitchFamily="34" charset="0"/>
                <a:cs typeface="Arial" pitchFamily="34" charset="0"/>
              </a:rPr>
              <a:t>PHONOLOGY</a:t>
            </a:r>
            <a:r>
              <a:rPr lang="en-US" dirty="0">
                <a:latin typeface="Arial" pitchFamily="34" charset="0"/>
                <a:cs typeface="Arial" pitchFamily="34" charset="0"/>
              </a:rPr>
              <a:t> </a:t>
            </a:r>
            <a:r>
              <a:rPr lang="en-US" sz="3200" dirty="0" smtClean="0">
                <a:latin typeface="Times New Roman" pitchFamily="18" charset="0"/>
                <a:cs typeface="Times New Roman" pitchFamily="18" charset="0"/>
              </a:rPr>
              <a:t>studies </a:t>
            </a:r>
            <a:r>
              <a:rPr lang="en-US" sz="3200" dirty="0">
                <a:latin typeface="Times New Roman" pitchFamily="18" charset="0"/>
                <a:cs typeface="Times New Roman" pitchFamily="18" charset="0"/>
              </a:rPr>
              <a:t>the system of sounds within a language or between different languages. It is primarily concerned with the systematic organization of sounds especially in spoken languages. It studies the patterns of sounds in a language, how speech sounds are organized, an how they are used to convey meaning. </a:t>
            </a:r>
            <a:endParaRPr lang="en-PH" sz="3200" dirty="0">
              <a:latin typeface="Times New Roman" pitchFamily="18" charset="0"/>
              <a:cs typeface="Times New Roman" pitchFamily="18" charset="0"/>
            </a:endParaRPr>
          </a:p>
        </p:txBody>
      </p:sp>
      <p:sp>
        <p:nvSpPr>
          <p:cNvPr id="12" name="Rectangle 11"/>
          <p:cNvSpPr/>
          <p:nvPr/>
        </p:nvSpPr>
        <p:spPr>
          <a:xfrm>
            <a:off x="4212580" y="5328816"/>
            <a:ext cx="11305256" cy="2554545"/>
          </a:xfrm>
          <a:prstGeom prst="rect">
            <a:avLst/>
          </a:prstGeom>
        </p:spPr>
        <p:txBody>
          <a:bodyPr wrap="square">
            <a:spAutoFit/>
          </a:bodyPr>
          <a:lstStyle/>
          <a:p>
            <a:pPr algn="just"/>
            <a:r>
              <a:rPr lang="en-US" sz="3200" b="1" dirty="0">
                <a:latin typeface="Arial" pitchFamily="34" charset="0"/>
                <a:cs typeface="Arial" pitchFamily="34" charset="0"/>
              </a:rPr>
              <a:t>MORPHOLOGY </a:t>
            </a:r>
            <a:r>
              <a:rPr lang="en-US" sz="3200" dirty="0">
                <a:latin typeface="Times New Roman" pitchFamily="18" charset="0"/>
                <a:cs typeface="Times New Roman" pitchFamily="18" charset="0"/>
              </a:rPr>
              <a:t>studies the forms of words in different uses and constructions. </a:t>
            </a:r>
            <a:r>
              <a:rPr lang="en-US" sz="3200" dirty="0" smtClean="0">
                <a:latin typeface="Times New Roman" pitchFamily="18" charset="0"/>
                <a:cs typeface="Times New Roman" pitchFamily="18" charset="0"/>
              </a:rPr>
              <a:t>It </a:t>
            </a:r>
            <a:r>
              <a:rPr lang="en-US" sz="3200" dirty="0">
                <a:latin typeface="Times New Roman" pitchFamily="18" charset="0"/>
                <a:cs typeface="Times New Roman" pitchFamily="18" charset="0"/>
              </a:rPr>
              <a:t>is studied under two fields, namely, inflectional morphology and derivational morphology. On the other hand, morphology focuses on the study of morphemes, the smallest meaningful unit of a </a:t>
            </a:r>
            <a:r>
              <a:rPr lang="en-US" sz="3200" dirty="0" smtClean="0">
                <a:latin typeface="Times New Roman" pitchFamily="18" charset="0"/>
                <a:cs typeface="Times New Roman" pitchFamily="18" charset="0"/>
              </a:rPr>
              <a:t>language0</a:t>
            </a:r>
            <a:endParaRPr lang="en-PH" sz="3200" dirty="0">
              <a:latin typeface="Times New Roman" pitchFamily="18" charset="0"/>
              <a:cs typeface="Times New Roman" pitchFamily="18"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0"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2988444" y="936328"/>
            <a:ext cx="12745416" cy="2062103"/>
          </a:xfrm>
          <a:prstGeom prst="rect">
            <a:avLst/>
          </a:prstGeom>
        </p:spPr>
        <p:txBody>
          <a:bodyPr wrap="square">
            <a:spAutoFit/>
          </a:bodyPr>
          <a:lstStyle/>
          <a:p>
            <a:pPr algn="just"/>
            <a:r>
              <a:rPr lang="en-US" sz="3200" b="1" dirty="0">
                <a:latin typeface="Arial" pitchFamily="34" charset="0"/>
                <a:cs typeface="Arial" pitchFamily="34" charset="0"/>
              </a:rPr>
              <a:t>SYNTAX</a:t>
            </a:r>
            <a:r>
              <a:rPr lang="en-US" sz="3200" dirty="0">
                <a:latin typeface="Times New Roman" pitchFamily="18" charset="0"/>
                <a:cs typeface="Times New Roman" pitchFamily="18" charset="0"/>
              </a:rPr>
              <a:t> studies the construction of phrases, clauses and sentences in a language. It analyses the basic word order followed in languages. If morphology studies how words are formed, syntax deals with how sentences are structured</a:t>
            </a:r>
            <a:r>
              <a:rPr lang="en-US" dirty="0"/>
              <a:t>. </a:t>
            </a:r>
            <a:endParaRPr lang="en-PH" dirty="0"/>
          </a:p>
        </p:txBody>
      </p:sp>
      <p:sp>
        <p:nvSpPr>
          <p:cNvPr id="5" name="Rectangle 4"/>
          <p:cNvSpPr/>
          <p:nvPr/>
        </p:nvSpPr>
        <p:spPr>
          <a:xfrm>
            <a:off x="180132" y="217989"/>
            <a:ext cx="3631122" cy="646331"/>
          </a:xfrm>
          <a:prstGeom prst="rect">
            <a:avLst/>
          </a:prstGeom>
        </p:spPr>
        <p:txBody>
          <a:bodyPr wrap="none">
            <a:spAutoFit/>
          </a:bodyPr>
          <a:lstStyle/>
          <a:p>
            <a:r>
              <a:rPr lang="en-US" sz="3600" b="1" dirty="0" smtClean="0">
                <a:solidFill>
                  <a:srgbClr val="FF0000"/>
                </a:solidFill>
                <a:latin typeface="Candara Light" pitchFamily="34" charset="0"/>
              </a:rPr>
              <a:t>I. Micro-linguistics</a:t>
            </a:r>
            <a:r>
              <a:rPr lang="en-US" sz="3600" dirty="0" smtClean="0">
                <a:latin typeface="Candara Light" pitchFamily="34" charset="0"/>
              </a:rPr>
              <a:t> </a:t>
            </a:r>
            <a:endParaRPr lang="en-PH" sz="3600" dirty="0">
              <a:latin typeface="Candara Light" pitchFamily="34" charset="0"/>
            </a:endParaRPr>
          </a:p>
        </p:txBody>
      </p:sp>
      <p:sp>
        <p:nvSpPr>
          <p:cNvPr id="4" name="Rectangle 3"/>
          <p:cNvSpPr/>
          <p:nvPr/>
        </p:nvSpPr>
        <p:spPr>
          <a:xfrm>
            <a:off x="3799670" y="3240584"/>
            <a:ext cx="11934190" cy="2062103"/>
          </a:xfrm>
          <a:prstGeom prst="rect">
            <a:avLst/>
          </a:prstGeom>
        </p:spPr>
        <p:txBody>
          <a:bodyPr wrap="square">
            <a:spAutoFit/>
          </a:bodyPr>
          <a:lstStyle/>
          <a:p>
            <a:pPr algn="just"/>
            <a:r>
              <a:rPr lang="en-US" sz="3200" b="1" dirty="0">
                <a:latin typeface="Arial" pitchFamily="34" charset="0"/>
                <a:cs typeface="Arial" pitchFamily="34" charset="0"/>
              </a:rPr>
              <a:t>SEMANTICS</a:t>
            </a:r>
            <a:r>
              <a:rPr lang="en-US" sz="3200" dirty="0">
                <a:latin typeface="Arial" pitchFamily="34" charset="0"/>
                <a:cs typeface="Arial" pitchFamily="34" charset="0"/>
              </a:rPr>
              <a:t> </a:t>
            </a:r>
            <a:r>
              <a:rPr lang="en-US" sz="3200" dirty="0">
                <a:latin typeface="Times New Roman" pitchFamily="18" charset="0"/>
                <a:cs typeface="Times New Roman" pitchFamily="18" charset="0"/>
              </a:rPr>
              <a:t>is a study of meaning. It focuses on studying the structure of meaning in a language and in giving an account of word and sentence meaning. It encompasses morphological meaning and the combined meaning of syntactical structures.</a:t>
            </a:r>
            <a:endParaRPr lang="en-PH" sz="3200" dirty="0">
              <a:latin typeface="Times New Roman" pitchFamily="18" charset="0"/>
              <a:cs typeface="Times New Roman" pitchFamily="18" charset="0"/>
            </a:endParaRPr>
          </a:p>
        </p:txBody>
      </p:sp>
      <p:sp>
        <p:nvSpPr>
          <p:cNvPr id="6" name="Rectangle 5"/>
          <p:cNvSpPr/>
          <p:nvPr/>
        </p:nvSpPr>
        <p:spPr>
          <a:xfrm>
            <a:off x="4500612" y="5594196"/>
            <a:ext cx="11089232" cy="3046988"/>
          </a:xfrm>
          <a:prstGeom prst="rect">
            <a:avLst/>
          </a:prstGeom>
        </p:spPr>
        <p:txBody>
          <a:bodyPr wrap="square">
            <a:spAutoFit/>
          </a:bodyPr>
          <a:lstStyle/>
          <a:p>
            <a:pPr algn="just"/>
            <a:r>
              <a:rPr lang="en-US" sz="3200" b="1" dirty="0">
                <a:latin typeface="Arial" pitchFamily="34" charset="0"/>
                <a:cs typeface="Arial" pitchFamily="34" charset="0"/>
              </a:rPr>
              <a:t>PRAGMATICS</a:t>
            </a:r>
            <a:r>
              <a:rPr lang="en-US" sz="3200" b="1" dirty="0">
                <a:latin typeface="Times New Roman" pitchFamily="18" charset="0"/>
                <a:cs typeface="Times New Roman" pitchFamily="18" charset="0"/>
              </a:rPr>
              <a:t> </a:t>
            </a:r>
            <a:r>
              <a:rPr lang="en-US" sz="3200" dirty="0">
                <a:latin typeface="Times New Roman" pitchFamily="18" charset="0"/>
                <a:cs typeface="Times New Roman" pitchFamily="18" charset="0"/>
              </a:rPr>
              <a:t>is an extension of semantic and deals with the study on how meaning changes with different </a:t>
            </a:r>
            <a:r>
              <a:rPr lang="en-US" sz="3200" dirty="0" smtClean="0">
                <a:latin typeface="Times New Roman" pitchFamily="18" charset="0"/>
                <a:cs typeface="Times New Roman" pitchFamily="18" charset="0"/>
              </a:rPr>
              <a:t>contexts It focuses </a:t>
            </a:r>
            <a:r>
              <a:rPr lang="en-US" sz="3200" dirty="0">
                <a:latin typeface="Times New Roman" pitchFamily="18" charset="0"/>
                <a:cs typeface="Times New Roman" pitchFamily="18" charset="0"/>
              </a:rPr>
              <a:t>on their contextual meaning. Pragmatics deals with meaning beyond the surface or literal level - - - that is, it focuses more on the intended meaning for the speaker rather than what the sentences literally mean. </a:t>
            </a:r>
            <a:endParaRPr lang="en-PH" sz="3200" dirty="0">
              <a:latin typeface="Times New Roman" pitchFamily="18" charset="0"/>
              <a:cs typeface="Times New Roman" pitchFamily="18"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ircle(in)">
                                      <p:cBhvr>
                                        <p:cTn id="19" dur="20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4"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4" name="Rectangle 3"/>
          <p:cNvSpPr/>
          <p:nvPr/>
        </p:nvSpPr>
        <p:spPr>
          <a:xfrm>
            <a:off x="365030" y="288256"/>
            <a:ext cx="6583854" cy="769441"/>
          </a:xfrm>
          <a:prstGeom prst="rect">
            <a:avLst/>
          </a:prstGeom>
        </p:spPr>
        <p:txBody>
          <a:bodyPr wrap="none">
            <a:spAutoFit/>
          </a:bodyPr>
          <a:lstStyle/>
          <a:p>
            <a:r>
              <a:rPr lang="en-US" sz="4400" b="1" dirty="0" smtClean="0">
                <a:latin typeface="Arial" pitchFamily="34" charset="0"/>
                <a:cs typeface="Arial" pitchFamily="34" charset="0"/>
              </a:rPr>
              <a:t>Branches </a:t>
            </a:r>
            <a:r>
              <a:rPr lang="en-US" sz="4400" b="1" dirty="0">
                <a:latin typeface="Arial" pitchFamily="34" charset="0"/>
                <a:cs typeface="Arial" pitchFamily="34" charset="0"/>
              </a:rPr>
              <a:t>of Linguistics</a:t>
            </a:r>
            <a:endParaRPr lang="en-PH" sz="4400" dirty="0">
              <a:latin typeface="Arial" pitchFamily="34" charset="0"/>
              <a:cs typeface="Arial" pitchFamily="34" charset="0"/>
            </a:endParaRPr>
          </a:p>
        </p:txBody>
      </p:sp>
      <p:sp>
        <p:nvSpPr>
          <p:cNvPr id="5" name="TextBox 4"/>
          <p:cNvSpPr txBox="1"/>
          <p:nvPr/>
        </p:nvSpPr>
        <p:spPr>
          <a:xfrm>
            <a:off x="5220692" y="1189807"/>
            <a:ext cx="6651180" cy="538609"/>
          </a:xfrm>
          <a:prstGeom prst="rect">
            <a:avLst/>
          </a:prstGeom>
          <a:noFill/>
        </p:spPr>
        <p:txBody>
          <a:bodyPr wrap="none" rtlCol="0">
            <a:spAutoFit/>
          </a:bodyPr>
          <a:lstStyle/>
          <a:p>
            <a:r>
              <a:rPr lang="en-PH" b="1" dirty="0" smtClean="0">
                <a:solidFill>
                  <a:schemeClr val="accent6">
                    <a:lumMod val="50000"/>
                  </a:schemeClr>
                </a:solidFill>
                <a:latin typeface="Arial" pitchFamily="34" charset="0"/>
                <a:cs typeface="Arial" pitchFamily="34" charset="0"/>
              </a:rPr>
              <a:t>DIVISIONS OF TWO BROAD FIELDS </a:t>
            </a:r>
            <a:endParaRPr lang="en-PH" b="1" dirty="0">
              <a:solidFill>
                <a:schemeClr val="accent6">
                  <a:lumMod val="50000"/>
                </a:schemeClr>
              </a:solidFill>
              <a:latin typeface="Arial" pitchFamily="34" charset="0"/>
              <a:cs typeface="Arial" pitchFamily="34" charset="0"/>
            </a:endParaRPr>
          </a:p>
        </p:txBody>
      </p:sp>
      <p:sp>
        <p:nvSpPr>
          <p:cNvPr id="6" name="Rectangle 5"/>
          <p:cNvSpPr/>
          <p:nvPr/>
        </p:nvSpPr>
        <p:spPr>
          <a:xfrm>
            <a:off x="2206210" y="1728416"/>
            <a:ext cx="3889206" cy="646331"/>
          </a:xfrm>
          <a:prstGeom prst="rect">
            <a:avLst/>
          </a:prstGeom>
        </p:spPr>
        <p:txBody>
          <a:bodyPr wrap="none">
            <a:spAutoFit/>
          </a:bodyPr>
          <a:lstStyle/>
          <a:p>
            <a:r>
              <a:rPr lang="en-US" sz="3600" b="1" dirty="0" smtClean="0">
                <a:solidFill>
                  <a:srgbClr val="FF0000"/>
                </a:solidFill>
                <a:latin typeface="Candara Light" pitchFamily="34" charset="0"/>
              </a:rPr>
              <a:t>II. Macro-linguistics</a:t>
            </a:r>
            <a:r>
              <a:rPr lang="en-US" sz="3600" dirty="0" smtClean="0">
                <a:latin typeface="Candara Light" pitchFamily="34" charset="0"/>
              </a:rPr>
              <a:t> </a:t>
            </a:r>
            <a:endParaRPr lang="en-PH" sz="3600" dirty="0">
              <a:latin typeface="Candara Light" pitchFamily="34" charset="0"/>
            </a:endParaRPr>
          </a:p>
        </p:txBody>
      </p:sp>
      <p:sp>
        <p:nvSpPr>
          <p:cNvPr id="2" name="Rectangle 1"/>
          <p:cNvSpPr/>
          <p:nvPr/>
        </p:nvSpPr>
        <p:spPr>
          <a:xfrm>
            <a:off x="3204468" y="2376488"/>
            <a:ext cx="12529392" cy="1523494"/>
          </a:xfrm>
          <a:prstGeom prst="rect">
            <a:avLst/>
          </a:prstGeom>
        </p:spPr>
        <p:txBody>
          <a:bodyPr wrap="square">
            <a:spAutoFit/>
          </a:bodyPr>
          <a:lstStyle/>
          <a:p>
            <a:pPr algn="just"/>
            <a:r>
              <a:rPr lang="en-US" sz="3100" b="1" dirty="0" smtClean="0">
                <a:latin typeface="Arial" pitchFamily="34" charset="0"/>
                <a:cs typeface="Arial" pitchFamily="34" charset="0"/>
              </a:rPr>
              <a:t>Sociolinguisitcs</a:t>
            </a:r>
            <a:r>
              <a:rPr lang="en-US" sz="3100" dirty="0" smtClean="0">
                <a:latin typeface="Times New Roman" pitchFamily="18" charset="0"/>
                <a:cs typeface="Times New Roman" pitchFamily="18" charset="0"/>
              </a:rPr>
              <a:t>, </a:t>
            </a:r>
            <a:r>
              <a:rPr lang="en-US" sz="3100" dirty="0">
                <a:latin typeface="Times New Roman" pitchFamily="18" charset="0"/>
                <a:cs typeface="Times New Roman" pitchFamily="18" charset="0"/>
              </a:rPr>
              <a:t>deals with the study of the effects of the different social and cultural factors on the use of language. It examines the patterns and variation in language within a society or community. </a:t>
            </a:r>
            <a:endParaRPr lang="en-PH" sz="3100" dirty="0">
              <a:latin typeface="Times New Roman" pitchFamily="18" charset="0"/>
              <a:cs typeface="Times New Roman" pitchFamily="18" charset="0"/>
            </a:endParaRPr>
          </a:p>
        </p:txBody>
      </p:sp>
      <p:sp>
        <p:nvSpPr>
          <p:cNvPr id="7" name="Rectangle 6"/>
          <p:cNvSpPr/>
          <p:nvPr/>
        </p:nvSpPr>
        <p:spPr>
          <a:xfrm>
            <a:off x="3924548" y="3949338"/>
            <a:ext cx="11809312" cy="1523494"/>
          </a:xfrm>
          <a:prstGeom prst="rect">
            <a:avLst/>
          </a:prstGeom>
        </p:spPr>
        <p:txBody>
          <a:bodyPr wrap="square">
            <a:spAutoFit/>
          </a:bodyPr>
          <a:lstStyle/>
          <a:p>
            <a:pPr algn="just"/>
            <a:r>
              <a:rPr lang="en-US" sz="3100" b="1" dirty="0">
                <a:latin typeface="Arial" pitchFamily="34" charset="0"/>
                <a:cs typeface="Arial" pitchFamily="34" charset="0"/>
              </a:rPr>
              <a:t>Psycholinguistics</a:t>
            </a:r>
            <a:r>
              <a:rPr lang="en-US" sz="3100" b="1" i="1" dirty="0">
                <a:latin typeface="Times New Roman" pitchFamily="18" charset="0"/>
                <a:cs typeface="Times New Roman" pitchFamily="18" charset="0"/>
              </a:rPr>
              <a:t> </a:t>
            </a:r>
            <a:r>
              <a:rPr lang="en-US" sz="3100" dirty="0" smtClean="0">
                <a:latin typeface="Times New Roman" pitchFamily="18" charset="0"/>
                <a:cs typeface="Times New Roman" pitchFamily="18" charset="0"/>
              </a:rPr>
              <a:t>focuses </a:t>
            </a:r>
            <a:r>
              <a:rPr lang="en-US" sz="3100" dirty="0">
                <a:latin typeface="Times New Roman" pitchFamily="18" charset="0"/>
                <a:cs typeface="Times New Roman" pitchFamily="18" charset="0"/>
              </a:rPr>
              <a:t>on the interrelation between linguistic and psychological factors that enable humans to understand, acquire, and use language. </a:t>
            </a:r>
            <a:endParaRPr lang="en-PH" sz="3100" dirty="0">
              <a:latin typeface="Times New Roman" pitchFamily="18" charset="0"/>
              <a:cs typeface="Times New Roman" pitchFamily="18" charset="0"/>
            </a:endParaRPr>
          </a:p>
        </p:txBody>
      </p:sp>
      <p:sp>
        <p:nvSpPr>
          <p:cNvPr id="8" name="Rectangle 7"/>
          <p:cNvSpPr/>
          <p:nvPr/>
        </p:nvSpPr>
        <p:spPr>
          <a:xfrm>
            <a:off x="4932660" y="5461506"/>
            <a:ext cx="10801200" cy="1523494"/>
          </a:xfrm>
          <a:prstGeom prst="rect">
            <a:avLst/>
          </a:prstGeom>
        </p:spPr>
        <p:txBody>
          <a:bodyPr wrap="square">
            <a:spAutoFit/>
          </a:bodyPr>
          <a:lstStyle/>
          <a:p>
            <a:pPr algn="just"/>
            <a:r>
              <a:rPr lang="en-US" sz="3100" b="1" dirty="0">
                <a:latin typeface="Arial" pitchFamily="34" charset="0"/>
                <a:cs typeface="Arial" pitchFamily="34" charset="0"/>
              </a:rPr>
              <a:t>Computational linguistics </a:t>
            </a:r>
            <a:r>
              <a:rPr lang="en-US" sz="3100" dirty="0" smtClean="0">
                <a:latin typeface="Times New Roman" pitchFamily="18" charset="0"/>
                <a:cs typeface="Times New Roman" pitchFamily="18" charset="0"/>
              </a:rPr>
              <a:t>studies </a:t>
            </a:r>
            <a:r>
              <a:rPr lang="en-US" sz="3100" dirty="0">
                <a:latin typeface="Times New Roman" pitchFamily="18" charset="0"/>
                <a:cs typeface="Times New Roman" pitchFamily="18" charset="0"/>
              </a:rPr>
              <a:t>the application of computer science in the analysis of language and speech and other linguistic studies. </a:t>
            </a:r>
            <a:endParaRPr lang="en-PH" sz="3100" dirty="0">
              <a:latin typeface="Times New Roman" pitchFamily="18" charset="0"/>
              <a:cs typeface="Times New Roman" pitchFamily="18" charset="0"/>
            </a:endParaRPr>
          </a:p>
        </p:txBody>
      </p:sp>
      <p:sp>
        <p:nvSpPr>
          <p:cNvPr id="10" name="Rectangle 9"/>
          <p:cNvSpPr/>
          <p:nvPr/>
        </p:nvSpPr>
        <p:spPr>
          <a:xfrm>
            <a:off x="5851499" y="7000676"/>
            <a:ext cx="9954369" cy="2000548"/>
          </a:xfrm>
          <a:prstGeom prst="rect">
            <a:avLst/>
          </a:prstGeom>
        </p:spPr>
        <p:txBody>
          <a:bodyPr wrap="square">
            <a:spAutoFit/>
          </a:bodyPr>
          <a:lstStyle/>
          <a:p>
            <a:pPr algn="just"/>
            <a:r>
              <a:rPr lang="en-US" sz="3100" b="1" dirty="0">
                <a:latin typeface="Arial" pitchFamily="34" charset="0"/>
                <a:cs typeface="Arial" pitchFamily="34" charset="0"/>
              </a:rPr>
              <a:t>Historical linguistics </a:t>
            </a:r>
            <a:r>
              <a:rPr lang="en-US" sz="3100" dirty="0">
                <a:latin typeface="Times New Roman" pitchFamily="18" charset="0"/>
                <a:cs typeface="Times New Roman" pitchFamily="18" charset="0"/>
              </a:rPr>
              <a:t>is a branch of linguistics that is also known as diachronic which deals with the study of language change or change of a group of languages over time, including phonological, grammatical, and semantic changes.</a:t>
            </a:r>
            <a:endParaRPr lang="en-PH" sz="3100" dirty="0">
              <a:latin typeface="Times New Roman" pitchFamily="18" charset="0"/>
              <a:cs typeface="Times New Roman" pitchFamily="18"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arn(inVertical)">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circle(in)">
                                      <p:cBhvr>
                                        <p:cTn id="36" dur="20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2" grpId="0"/>
      <p:bldP spid="7" grpId="0"/>
      <p:bldP spid="8"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55583"/>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4" name="TextBox 3"/>
          <p:cNvSpPr txBox="1"/>
          <p:nvPr/>
        </p:nvSpPr>
        <p:spPr>
          <a:xfrm>
            <a:off x="170757" y="8755583"/>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180132" y="217989"/>
            <a:ext cx="3889206" cy="646331"/>
          </a:xfrm>
          <a:prstGeom prst="rect">
            <a:avLst/>
          </a:prstGeom>
        </p:spPr>
        <p:txBody>
          <a:bodyPr wrap="none">
            <a:spAutoFit/>
          </a:bodyPr>
          <a:lstStyle/>
          <a:p>
            <a:r>
              <a:rPr lang="en-US" sz="3600" b="1" dirty="0" smtClean="0">
                <a:solidFill>
                  <a:srgbClr val="FF0000"/>
                </a:solidFill>
                <a:latin typeface="Candara Light" pitchFamily="34" charset="0"/>
              </a:rPr>
              <a:t>II. Macro-linguistics</a:t>
            </a:r>
            <a:r>
              <a:rPr lang="en-US" sz="3600" dirty="0" smtClean="0">
                <a:latin typeface="Candara Light" pitchFamily="34" charset="0"/>
              </a:rPr>
              <a:t> </a:t>
            </a:r>
            <a:endParaRPr lang="en-PH" sz="3600" dirty="0">
              <a:latin typeface="Candara Light" pitchFamily="34" charset="0"/>
            </a:endParaRPr>
          </a:p>
        </p:txBody>
      </p:sp>
      <p:sp>
        <p:nvSpPr>
          <p:cNvPr id="7" name="Rectangle 6"/>
          <p:cNvSpPr/>
          <p:nvPr/>
        </p:nvSpPr>
        <p:spPr>
          <a:xfrm>
            <a:off x="4788644" y="7057008"/>
            <a:ext cx="10945216" cy="2000548"/>
          </a:xfrm>
          <a:prstGeom prst="rect">
            <a:avLst/>
          </a:prstGeom>
        </p:spPr>
        <p:txBody>
          <a:bodyPr wrap="square">
            <a:spAutoFit/>
          </a:bodyPr>
          <a:lstStyle/>
          <a:p>
            <a:pPr algn="just"/>
            <a:r>
              <a:rPr lang="en-US" sz="3100" b="1" dirty="0" smtClean="0">
                <a:latin typeface="Arial" pitchFamily="34" charset="0"/>
                <a:cs typeface="Arial" pitchFamily="34" charset="0"/>
              </a:rPr>
              <a:t>Biolinguistics </a:t>
            </a:r>
            <a:r>
              <a:rPr lang="en-US" sz="3100" dirty="0">
                <a:latin typeface="Times New Roman" pitchFamily="18" charset="0"/>
                <a:cs typeface="Times New Roman" pitchFamily="18" charset="0"/>
              </a:rPr>
              <a:t>is an interdisciplinary study involving other disciplines such as biology, linguistics, psychology, and neurolinguistics, primarily aims to explain the evolution and formation of language. </a:t>
            </a:r>
            <a:endParaRPr lang="en-PH" sz="3100" dirty="0">
              <a:latin typeface="Times New Roman" pitchFamily="18" charset="0"/>
              <a:cs typeface="Times New Roman" pitchFamily="18" charset="0"/>
            </a:endParaRPr>
          </a:p>
        </p:txBody>
      </p:sp>
      <p:sp>
        <p:nvSpPr>
          <p:cNvPr id="8" name="Rectangle 7"/>
          <p:cNvSpPr/>
          <p:nvPr/>
        </p:nvSpPr>
        <p:spPr>
          <a:xfrm>
            <a:off x="3276476" y="2952552"/>
            <a:ext cx="12474648" cy="2000548"/>
          </a:xfrm>
          <a:prstGeom prst="rect">
            <a:avLst/>
          </a:prstGeom>
        </p:spPr>
        <p:txBody>
          <a:bodyPr wrap="square">
            <a:spAutoFit/>
          </a:bodyPr>
          <a:lstStyle/>
          <a:p>
            <a:pPr algn="just"/>
            <a:r>
              <a:rPr lang="en-US" sz="3100" b="1" dirty="0">
                <a:latin typeface="Arial" pitchFamily="34" charset="0"/>
                <a:cs typeface="Arial" pitchFamily="34" charset="0"/>
              </a:rPr>
              <a:t>Comparative linguistics </a:t>
            </a:r>
            <a:r>
              <a:rPr lang="en-US" sz="3100" dirty="0">
                <a:latin typeface="Times New Roman" pitchFamily="18" charset="0"/>
                <a:cs typeface="Times New Roman" pitchFamily="18" charset="0"/>
              </a:rPr>
              <a:t>is a sub-field of historical linguistics that is primarily concerned with comparing languages to establish their similarities especially in identifying whether or not they have a common ancestral language</a:t>
            </a:r>
            <a:r>
              <a:rPr lang="en-US" sz="3100" dirty="0"/>
              <a:t>. </a:t>
            </a:r>
            <a:endParaRPr lang="en-PH" sz="3100" dirty="0"/>
          </a:p>
        </p:txBody>
      </p:sp>
      <p:sp>
        <p:nvSpPr>
          <p:cNvPr id="9" name="Rectangle 8"/>
          <p:cNvSpPr/>
          <p:nvPr/>
        </p:nvSpPr>
        <p:spPr>
          <a:xfrm>
            <a:off x="4069338" y="4968776"/>
            <a:ext cx="11681786" cy="2000548"/>
          </a:xfrm>
          <a:prstGeom prst="rect">
            <a:avLst/>
          </a:prstGeom>
        </p:spPr>
        <p:txBody>
          <a:bodyPr wrap="square">
            <a:spAutoFit/>
          </a:bodyPr>
          <a:lstStyle/>
          <a:p>
            <a:pPr algn="just"/>
            <a:r>
              <a:rPr lang="en-US" sz="3100" b="1" dirty="0">
                <a:latin typeface="Arial" pitchFamily="34" charset="0"/>
                <a:cs typeface="Arial" pitchFamily="34" charset="0"/>
              </a:rPr>
              <a:t>Structural linguistics </a:t>
            </a:r>
            <a:r>
              <a:rPr lang="en-US" sz="3100" dirty="0" smtClean="0">
                <a:latin typeface="Times New Roman" pitchFamily="18" charset="0"/>
                <a:cs typeface="Times New Roman" pitchFamily="18" charset="0"/>
              </a:rPr>
              <a:t>focuses </a:t>
            </a:r>
            <a:r>
              <a:rPr lang="en-US" sz="3100" dirty="0">
                <a:latin typeface="Times New Roman" pitchFamily="18" charset="0"/>
                <a:cs typeface="Times New Roman" pitchFamily="18" charset="0"/>
              </a:rPr>
              <a:t>on the study of language as an independent network of formal systems or structures. It is based o theories and principles that language is composed of structural units such as lexical and syntactic elements. </a:t>
            </a:r>
            <a:r>
              <a:rPr lang="en-US" sz="3100" i="1" dirty="0">
                <a:latin typeface="Times New Roman" pitchFamily="18" charset="0"/>
                <a:cs typeface="Times New Roman" pitchFamily="18" charset="0"/>
              </a:rPr>
              <a:t> </a:t>
            </a:r>
            <a:endParaRPr lang="en-PH" sz="3100" dirty="0">
              <a:latin typeface="Times New Roman" pitchFamily="18" charset="0"/>
              <a:cs typeface="Times New Roman" pitchFamily="18" charset="0"/>
            </a:endParaRPr>
          </a:p>
        </p:txBody>
      </p:sp>
      <p:sp>
        <p:nvSpPr>
          <p:cNvPr id="10" name="Rectangle 9"/>
          <p:cNvSpPr/>
          <p:nvPr/>
        </p:nvSpPr>
        <p:spPr>
          <a:xfrm>
            <a:off x="2772420" y="864320"/>
            <a:ext cx="12961440" cy="2000548"/>
          </a:xfrm>
          <a:prstGeom prst="rect">
            <a:avLst/>
          </a:prstGeom>
        </p:spPr>
        <p:txBody>
          <a:bodyPr wrap="square">
            <a:spAutoFit/>
          </a:bodyPr>
          <a:lstStyle/>
          <a:p>
            <a:r>
              <a:rPr lang="en-US" sz="3100" b="1" dirty="0">
                <a:latin typeface="Arial" pitchFamily="34" charset="0"/>
                <a:cs typeface="Arial" pitchFamily="34" charset="0"/>
              </a:rPr>
              <a:t>Applied linguistics </a:t>
            </a:r>
            <a:r>
              <a:rPr lang="en-US" sz="3100" dirty="0" smtClean="0">
                <a:latin typeface="Times New Roman" pitchFamily="18" charset="0"/>
                <a:cs typeface="Times New Roman" pitchFamily="18" charset="0"/>
              </a:rPr>
              <a:t>concerns </a:t>
            </a:r>
            <a:r>
              <a:rPr lang="en-US" sz="3100" dirty="0">
                <a:latin typeface="Times New Roman" pitchFamily="18" charset="0"/>
                <a:cs typeface="Times New Roman" pitchFamily="18" charset="0"/>
              </a:rPr>
              <a:t>with the application of language studies in real life, such as in language teaching and learning. It is a broad term referring to the range of activities that involve in the solving of some language-related problems and concerns. </a:t>
            </a:r>
            <a:endParaRPr lang="en-PH" sz="3100" dirty="0">
              <a:latin typeface="Times New Roman" pitchFamily="18" charset="0"/>
              <a:cs typeface="Times New Roman" pitchFamily="18"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ircle(in)">
                                      <p:cBhvr>
                                        <p:cTn id="19" dur="20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heel(1)">
                                      <p:cBhvr>
                                        <p:cTn id="24" dur="2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4" name="Rectangle 3"/>
          <p:cNvSpPr/>
          <p:nvPr/>
        </p:nvSpPr>
        <p:spPr>
          <a:xfrm>
            <a:off x="180132" y="217989"/>
            <a:ext cx="3889206" cy="646331"/>
          </a:xfrm>
          <a:prstGeom prst="rect">
            <a:avLst/>
          </a:prstGeom>
        </p:spPr>
        <p:txBody>
          <a:bodyPr wrap="none">
            <a:spAutoFit/>
          </a:bodyPr>
          <a:lstStyle/>
          <a:p>
            <a:r>
              <a:rPr lang="en-US" sz="3600" b="1" dirty="0" smtClean="0">
                <a:solidFill>
                  <a:srgbClr val="FF0000"/>
                </a:solidFill>
                <a:latin typeface="Candara Light" pitchFamily="34" charset="0"/>
              </a:rPr>
              <a:t>II. Macro-linguistics</a:t>
            </a:r>
            <a:r>
              <a:rPr lang="en-US" sz="3600" dirty="0" smtClean="0">
                <a:latin typeface="Candara Light" pitchFamily="34" charset="0"/>
              </a:rPr>
              <a:t> </a:t>
            </a:r>
            <a:endParaRPr lang="en-PH" sz="3600" dirty="0">
              <a:latin typeface="Candara Light" pitchFamily="34" charset="0"/>
            </a:endParaRPr>
          </a:p>
        </p:txBody>
      </p:sp>
      <p:sp>
        <p:nvSpPr>
          <p:cNvPr id="2" name="Rectangle 1"/>
          <p:cNvSpPr/>
          <p:nvPr/>
        </p:nvSpPr>
        <p:spPr>
          <a:xfrm>
            <a:off x="4572620" y="5760864"/>
            <a:ext cx="11161240" cy="2000548"/>
          </a:xfrm>
          <a:prstGeom prst="rect">
            <a:avLst/>
          </a:prstGeom>
        </p:spPr>
        <p:txBody>
          <a:bodyPr wrap="square">
            <a:spAutoFit/>
          </a:bodyPr>
          <a:lstStyle/>
          <a:p>
            <a:pPr algn="just"/>
            <a:r>
              <a:rPr lang="en-US" sz="3100" b="1" dirty="0" smtClean="0">
                <a:latin typeface="Arial" pitchFamily="34" charset="0"/>
                <a:cs typeface="Arial" pitchFamily="34" charset="0"/>
              </a:rPr>
              <a:t>Linguistic </a:t>
            </a:r>
            <a:r>
              <a:rPr lang="en-US" sz="3100" b="1" dirty="0">
                <a:latin typeface="Arial" pitchFamily="34" charset="0"/>
                <a:cs typeface="Arial" pitchFamily="34" charset="0"/>
              </a:rPr>
              <a:t>typology </a:t>
            </a:r>
            <a:r>
              <a:rPr lang="en-US" sz="3100" dirty="0" smtClean="0">
                <a:latin typeface="Times New Roman" pitchFamily="18" charset="0"/>
                <a:cs typeface="Times New Roman" pitchFamily="18" charset="0"/>
              </a:rPr>
              <a:t>aims </a:t>
            </a:r>
            <a:r>
              <a:rPr lang="en-US" sz="3100" dirty="0">
                <a:latin typeface="Times New Roman" pitchFamily="18" charset="0"/>
                <a:cs typeface="Times New Roman" pitchFamily="18" charset="0"/>
              </a:rPr>
              <a:t>to classify languages based on their structural and functional components. It focuses on describing the diversity of the language in the world especially in terms of their properties and structures. </a:t>
            </a:r>
            <a:endParaRPr lang="en-PH" sz="3100" dirty="0">
              <a:latin typeface="Times New Roman" pitchFamily="18" charset="0"/>
              <a:cs typeface="Times New Roman" pitchFamily="18" charset="0"/>
            </a:endParaRPr>
          </a:p>
        </p:txBody>
      </p:sp>
      <p:sp>
        <p:nvSpPr>
          <p:cNvPr id="5" name="Rectangle 4"/>
          <p:cNvSpPr/>
          <p:nvPr/>
        </p:nvSpPr>
        <p:spPr>
          <a:xfrm>
            <a:off x="2916436" y="1512392"/>
            <a:ext cx="12817424" cy="2000548"/>
          </a:xfrm>
          <a:prstGeom prst="rect">
            <a:avLst/>
          </a:prstGeom>
        </p:spPr>
        <p:txBody>
          <a:bodyPr wrap="square">
            <a:spAutoFit/>
          </a:bodyPr>
          <a:lstStyle/>
          <a:p>
            <a:pPr algn="just"/>
            <a:r>
              <a:rPr lang="en-US" sz="3100" b="1" dirty="0">
                <a:latin typeface="Arial" pitchFamily="34" charset="0"/>
                <a:cs typeface="Arial" pitchFamily="34" charset="0"/>
              </a:rPr>
              <a:t>Clinical linguistics</a:t>
            </a:r>
            <a:r>
              <a:rPr lang="en-US" sz="3100" dirty="0">
                <a:latin typeface="Arial" pitchFamily="34" charset="0"/>
                <a:cs typeface="Arial" pitchFamily="34" charset="0"/>
              </a:rPr>
              <a:t> </a:t>
            </a:r>
            <a:r>
              <a:rPr lang="en-US" sz="3100" dirty="0">
                <a:latin typeface="Times New Roman" pitchFamily="18" charset="0"/>
                <a:cs typeface="Times New Roman" pitchFamily="18" charset="0"/>
              </a:rPr>
              <a:t>is a sub-discipline of applied linguistics that focuses on the application of linguistic concepts and theories in the field of Speech-Language Pathology. It involves the description, analysis, and treatment of language disabilities and disorders. </a:t>
            </a:r>
            <a:endParaRPr lang="en-PH" sz="3100" dirty="0">
              <a:latin typeface="Times New Roman" pitchFamily="18" charset="0"/>
              <a:cs typeface="Times New Roman" pitchFamily="18" charset="0"/>
            </a:endParaRPr>
          </a:p>
        </p:txBody>
      </p:sp>
      <p:sp>
        <p:nvSpPr>
          <p:cNvPr id="6" name="Rectangle 5"/>
          <p:cNvSpPr/>
          <p:nvPr/>
        </p:nvSpPr>
        <p:spPr>
          <a:xfrm>
            <a:off x="3708524" y="3657080"/>
            <a:ext cx="12025336" cy="2000548"/>
          </a:xfrm>
          <a:prstGeom prst="rect">
            <a:avLst/>
          </a:prstGeom>
        </p:spPr>
        <p:txBody>
          <a:bodyPr wrap="square">
            <a:spAutoFit/>
          </a:bodyPr>
          <a:lstStyle/>
          <a:p>
            <a:pPr algn="just"/>
            <a:r>
              <a:rPr lang="en-US" sz="3100" b="1" dirty="0">
                <a:latin typeface="Arial" pitchFamily="34" charset="0"/>
                <a:cs typeface="Arial" pitchFamily="34" charset="0"/>
              </a:rPr>
              <a:t>Development linguistics </a:t>
            </a:r>
            <a:r>
              <a:rPr lang="en-US" sz="3100" dirty="0" smtClean="0">
                <a:latin typeface="Times New Roman" pitchFamily="18" charset="0"/>
                <a:cs typeface="Times New Roman" pitchFamily="18" charset="0"/>
              </a:rPr>
              <a:t>studies </a:t>
            </a:r>
            <a:r>
              <a:rPr lang="en-US" sz="3100" dirty="0">
                <a:latin typeface="Times New Roman" pitchFamily="18" charset="0"/>
                <a:cs typeface="Times New Roman" pitchFamily="18" charset="0"/>
              </a:rPr>
              <a:t>the development of the linguistic ability of an individual especially children. It focuses on how children </a:t>
            </a:r>
            <a:r>
              <a:rPr lang="en-US" sz="3100" b="1" dirty="0">
                <a:latin typeface="Times New Roman" pitchFamily="18" charset="0"/>
                <a:cs typeface="Times New Roman" pitchFamily="18" charset="0"/>
              </a:rPr>
              <a:t>acquire</a:t>
            </a:r>
            <a:r>
              <a:rPr lang="en-US" sz="3100" dirty="0">
                <a:latin typeface="Times New Roman" pitchFamily="18" charset="0"/>
                <a:cs typeface="Times New Roman" pitchFamily="18" charset="0"/>
              </a:rPr>
              <a:t> language in childhood, such as acquisition of syntax and other linguistic elements. </a:t>
            </a:r>
            <a:endParaRPr lang="en-PH" sz="3100" dirty="0">
              <a:latin typeface="Times New Roman" pitchFamily="18" charset="0"/>
              <a:cs typeface="Times New Roman" pitchFamily="18"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circle(in)">
                                      <p:cBhvr>
                                        <p:cTn id="15" dur="2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827" y="19089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4" name="Rectangle 3"/>
          <p:cNvSpPr/>
          <p:nvPr/>
        </p:nvSpPr>
        <p:spPr>
          <a:xfrm>
            <a:off x="180132" y="217989"/>
            <a:ext cx="3889206" cy="646331"/>
          </a:xfrm>
          <a:prstGeom prst="rect">
            <a:avLst/>
          </a:prstGeom>
        </p:spPr>
        <p:txBody>
          <a:bodyPr wrap="none">
            <a:spAutoFit/>
          </a:bodyPr>
          <a:lstStyle/>
          <a:p>
            <a:r>
              <a:rPr lang="en-US" sz="3600" b="1" dirty="0" smtClean="0">
                <a:solidFill>
                  <a:srgbClr val="FF0000"/>
                </a:solidFill>
                <a:latin typeface="Candara Light" pitchFamily="34" charset="0"/>
              </a:rPr>
              <a:t>II. Macro-linguistics</a:t>
            </a:r>
            <a:r>
              <a:rPr lang="en-US" sz="3600" dirty="0" smtClean="0">
                <a:latin typeface="Candara Light" pitchFamily="34" charset="0"/>
              </a:rPr>
              <a:t> </a:t>
            </a:r>
            <a:endParaRPr lang="en-PH" sz="3600" dirty="0">
              <a:latin typeface="Candara Light" pitchFamily="34" charset="0"/>
            </a:endParaRPr>
          </a:p>
        </p:txBody>
      </p:sp>
      <p:sp>
        <p:nvSpPr>
          <p:cNvPr id="2" name="Rectangle 1"/>
          <p:cNvSpPr/>
          <p:nvPr/>
        </p:nvSpPr>
        <p:spPr>
          <a:xfrm>
            <a:off x="4860652" y="6840984"/>
            <a:ext cx="11017224" cy="1523494"/>
          </a:xfrm>
          <a:prstGeom prst="rect">
            <a:avLst/>
          </a:prstGeom>
        </p:spPr>
        <p:txBody>
          <a:bodyPr wrap="square">
            <a:spAutoFit/>
          </a:bodyPr>
          <a:lstStyle/>
          <a:p>
            <a:pPr algn="just"/>
            <a:r>
              <a:rPr lang="en-US" sz="3100" b="1" dirty="0" smtClean="0">
                <a:latin typeface="Times New Roman" pitchFamily="18" charset="0"/>
                <a:cs typeface="Times New Roman" pitchFamily="18" charset="0"/>
              </a:rPr>
              <a:t>Etymology</a:t>
            </a:r>
            <a:r>
              <a:rPr lang="en-US" sz="3100" b="1" i="1" dirty="0" smtClean="0">
                <a:latin typeface="Times New Roman" pitchFamily="18" charset="0"/>
                <a:cs typeface="Times New Roman" pitchFamily="18" charset="0"/>
              </a:rPr>
              <a:t> </a:t>
            </a:r>
            <a:r>
              <a:rPr lang="en-US" sz="3100" dirty="0" smtClean="0">
                <a:latin typeface="Times New Roman" pitchFamily="18" charset="0"/>
                <a:cs typeface="Times New Roman" pitchFamily="18" charset="0"/>
              </a:rPr>
              <a:t>investigates </a:t>
            </a:r>
            <a:r>
              <a:rPr lang="en-US" sz="3100" dirty="0">
                <a:latin typeface="Times New Roman" pitchFamily="18" charset="0"/>
                <a:cs typeface="Times New Roman" pitchFamily="18" charset="0"/>
              </a:rPr>
              <a:t>the origins of words, their birth, and development, often delineating their spread from one language to another and their evolving changes in form and meaning. </a:t>
            </a:r>
            <a:r>
              <a:rPr lang="en-US" sz="3100" b="1" i="1" dirty="0">
                <a:latin typeface="Times New Roman" pitchFamily="18" charset="0"/>
                <a:cs typeface="Times New Roman" pitchFamily="18" charset="0"/>
              </a:rPr>
              <a:t> </a:t>
            </a:r>
            <a:endParaRPr lang="en-PH" sz="3100" dirty="0">
              <a:latin typeface="Times New Roman" pitchFamily="18" charset="0"/>
              <a:cs typeface="Times New Roman" pitchFamily="18" charset="0"/>
            </a:endParaRPr>
          </a:p>
        </p:txBody>
      </p:sp>
      <p:sp>
        <p:nvSpPr>
          <p:cNvPr id="5" name="Rectangle 4"/>
          <p:cNvSpPr/>
          <p:nvPr/>
        </p:nvSpPr>
        <p:spPr>
          <a:xfrm>
            <a:off x="2916436" y="1152352"/>
            <a:ext cx="12961440" cy="2000548"/>
          </a:xfrm>
          <a:prstGeom prst="rect">
            <a:avLst/>
          </a:prstGeom>
        </p:spPr>
        <p:txBody>
          <a:bodyPr wrap="square">
            <a:spAutoFit/>
          </a:bodyPr>
          <a:lstStyle/>
          <a:p>
            <a:pPr algn="just"/>
            <a:r>
              <a:rPr lang="en-US" sz="3100" b="1" dirty="0">
                <a:latin typeface="Arial" pitchFamily="34" charset="0"/>
                <a:cs typeface="Arial" pitchFamily="34" charset="0"/>
              </a:rPr>
              <a:t>Neurolinguistics</a:t>
            </a:r>
            <a:r>
              <a:rPr lang="en-US" sz="3100" b="1" i="1" dirty="0">
                <a:latin typeface="Times New Roman" pitchFamily="18" charset="0"/>
                <a:cs typeface="Times New Roman" pitchFamily="18" charset="0"/>
              </a:rPr>
              <a:t> </a:t>
            </a:r>
            <a:r>
              <a:rPr lang="en-US" sz="3100" dirty="0" smtClean="0">
                <a:latin typeface="Times New Roman" pitchFamily="18" charset="0"/>
                <a:cs typeface="Times New Roman" pitchFamily="18" charset="0"/>
              </a:rPr>
              <a:t>studies </a:t>
            </a:r>
            <a:r>
              <a:rPr lang="en-US" sz="3100" dirty="0">
                <a:latin typeface="Times New Roman" pitchFamily="18" charset="0"/>
                <a:cs typeface="Times New Roman" pitchFamily="18" charset="0"/>
              </a:rPr>
              <a:t>the relationship between language and the structures and functions of the brain. It aims to analyze the different brain functions and mechanisms that are related to language comprehension, production, and acquisition. </a:t>
            </a:r>
            <a:endParaRPr lang="en-PH" sz="3100" dirty="0">
              <a:latin typeface="Times New Roman" pitchFamily="18" charset="0"/>
              <a:cs typeface="Times New Roman" pitchFamily="18" charset="0"/>
            </a:endParaRPr>
          </a:p>
        </p:txBody>
      </p:sp>
      <p:sp>
        <p:nvSpPr>
          <p:cNvPr id="6" name="Rectangle 5"/>
          <p:cNvSpPr/>
          <p:nvPr/>
        </p:nvSpPr>
        <p:spPr>
          <a:xfrm>
            <a:off x="3780532" y="3240584"/>
            <a:ext cx="12025336" cy="3431709"/>
          </a:xfrm>
          <a:prstGeom prst="rect">
            <a:avLst/>
          </a:prstGeom>
        </p:spPr>
        <p:txBody>
          <a:bodyPr wrap="square">
            <a:spAutoFit/>
          </a:bodyPr>
          <a:lstStyle/>
          <a:p>
            <a:pPr algn="just"/>
            <a:r>
              <a:rPr lang="en-US" sz="3100" b="1" dirty="0">
                <a:latin typeface="Arial" pitchFamily="34" charset="0"/>
                <a:cs typeface="Arial" pitchFamily="34" charset="0"/>
              </a:rPr>
              <a:t>Stylistics </a:t>
            </a:r>
            <a:r>
              <a:rPr lang="en-US" sz="3100" dirty="0" smtClean="0">
                <a:latin typeface="Times New Roman" pitchFamily="18" charset="0"/>
                <a:cs typeface="Times New Roman" pitchFamily="18" charset="0"/>
              </a:rPr>
              <a:t>deals </a:t>
            </a:r>
            <a:r>
              <a:rPr lang="en-US" sz="3100" dirty="0">
                <a:latin typeface="Times New Roman" pitchFamily="18" charset="0"/>
                <a:cs typeface="Times New Roman" pitchFamily="18" charset="0"/>
              </a:rPr>
              <a:t>with the study on how different individuals or social group use language in all types or forms, spoken or written in their communication. Stylistics is also called a literary linguistics because it studies the different authors and writers especially on their writing styles as they use a variety of literary techniques and devices to provide distinctiveness and variety in their writing especially, but not exclusively, in different literary works and genres. </a:t>
            </a:r>
            <a:endParaRPr lang="en-PH" sz="3100" dirty="0">
              <a:latin typeface="Times New Roman" pitchFamily="18" charset="0"/>
              <a:cs typeface="Times New Roman" pitchFamily="18"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24"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180132" y="288256"/>
            <a:ext cx="7989688" cy="707886"/>
          </a:xfrm>
          <a:prstGeom prst="rect">
            <a:avLst/>
          </a:prstGeom>
        </p:spPr>
        <p:txBody>
          <a:bodyPr wrap="none">
            <a:spAutoFit/>
          </a:bodyPr>
          <a:lstStyle/>
          <a:p>
            <a:r>
              <a:rPr lang="en-US" sz="4000" b="1" dirty="0" smtClean="0">
                <a:latin typeface="Arial" pitchFamily="34" charset="0"/>
                <a:cs typeface="Arial" pitchFamily="34" charset="0"/>
              </a:rPr>
              <a:t>Linguistic </a:t>
            </a:r>
            <a:r>
              <a:rPr lang="en-US" sz="4000" b="1" dirty="0">
                <a:latin typeface="Arial" pitchFamily="34" charset="0"/>
                <a:cs typeface="Arial" pitchFamily="34" charset="0"/>
              </a:rPr>
              <a:t>Theories and Models </a:t>
            </a:r>
            <a:endParaRPr lang="en-PH" sz="4000" b="1" dirty="0">
              <a:latin typeface="Arial" pitchFamily="34" charset="0"/>
              <a:cs typeface="Arial" pitchFamily="34" charset="0"/>
            </a:endParaRPr>
          </a:p>
        </p:txBody>
      </p:sp>
      <p:sp>
        <p:nvSpPr>
          <p:cNvPr id="4" name="Rectangle 3"/>
          <p:cNvSpPr/>
          <p:nvPr/>
        </p:nvSpPr>
        <p:spPr>
          <a:xfrm>
            <a:off x="324148" y="1296368"/>
            <a:ext cx="15674826" cy="247760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3200" b="1" dirty="0" smtClean="0">
                <a:latin typeface="Arial" pitchFamily="34" charset="0"/>
                <a:cs typeface="Arial" pitchFamily="34" charset="0"/>
              </a:rPr>
              <a:t>BEHAVIORISM</a:t>
            </a:r>
            <a:endParaRPr lang="en-PH" sz="3200" dirty="0" smtClean="0">
              <a:latin typeface="Arial" pitchFamily="34" charset="0"/>
              <a:cs typeface="Arial" pitchFamily="34" charset="0"/>
            </a:endParaRPr>
          </a:p>
          <a:p>
            <a:pPr algn="just"/>
            <a:r>
              <a:rPr lang="en-PH" sz="3100" dirty="0">
                <a:latin typeface="Arial" pitchFamily="34" charset="0"/>
                <a:cs typeface="Arial" pitchFamily="34" charset="0"/>
              </a:rPr>
              <a:t>	</a:t>
            </a:r>
            <a:r>
              <a:rPr lang="en-US" dirty="0" smtClean="0">
                <a:latin typeface="Arial" pitchFamily="34" charset="0"/>
                <a:cs typeface="Arial" pitchFamily="34" charset="0"/>
              </a:rPr>
              <a:t>The </a:t>
            </a:r>
            <a:r>
              <a:rPr lang="en-US" dirty="0">
                <a:latin typeface="Arial" pitchFamily="34" charset="0"/>
                <a:cs typeface="Arial" pitchFamily="34" charset="0"/>
              </a:rPr>
              <a:t>behaviorists, most notably BF Skinner, believe that for language learning to occur, imitation, drills, and constant practice are very vital. Behaviorists demand that language teachers must be proficient enough or possess native-like fluency so that what will be taught to the learners are only the perfect ones. </a:t>
            </a:r>
            <a:endParaRPr lang="en-PH" dirty="0">
              <a:latin typeface="Arial" pitchFamily="34" charset="0"/>
              <a:cs typeface="Arial" pitchFamily="34" charset="0"/>
            </a:endParaRPr>
          </a:p>
        </p:txBody>
      </p:sp>
      <p:sp>
        <p:nvSpPr>
          <p:cNvPr id="5" name="Rectangle 4"/>
          <p:cNvSpPr/>
          <p:nvPr/>
        </p:nvSpPr>
        <p:spPr>
          <a:xfrm>
            <a:off x="252140" y="4104680"/>
            <a:ext cx="15746834" cy="415498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r>
              <a:rPr lang="en-US" sz="3200" b="1" dirty="0" smtClean="0">
                <a:latin typeface="Arial" pitchFamily="34" charset="0"/>
                <a:cs typeface="Arial" pitchFamily="34" charset="0"/>
              </a:rPr>
              <a:t>NATIVISM / INNATISM</a:t>
            </a:r>
            <a:endParaRPr lang="en-PH" sz="3200" dirty="0" smtClean="0">
              <a:latin typeface="Arial" pitchFamily="34" charset="0"/>
              <a:cs typeface="Arial" pitchFamily="34" charset="0"/>
            </a:endParaRPr>
          </a:p>
          <a:p>
            <a:pPr algn="just"/>
            <a:r>
              <a:rPr lang="en-US" b="1" dirty="0">
                <a:latin typeface="Arial" pitchFamily="34" charset="0"/>
                <a:cs typeface="Arial" pitchFamily="34" charset="0"/>
              </a:rPr>
              <a:t> </a:t>
            </a:r>
            <a:r>
              <a:rPr lang="en-PH" dirty="0">
                <a:latin typeface="Arial" pitchFamily="34" charset="0"/>
                <a:cs typeface="Arial" pitchFamily="34" charset="0"/>
              </a:rPr>
              <a:t>	</a:t>
            </a:r>
            <a:r>
              <a:rPr lang="en-US" dirty="0" smtClean="0">
                <a:latin typeface="Arial" pitchFamily="34" charset="0"/>
                <a:cs typeface="Arial" pitchFamily="34" charset="0"/>
              </a:rPr>
              <a:t>Noam </a:t>
            </a:r>
            <a:r>
              <a:rPr lang="en-US" dirty="0">
                <a:latin typeface="Arial" pitchFamily="34" charset="0"/>
                <a:cs typeface="Arial" pitchFamily="34" charset="0"/>
              </a:rPr>
              <a:t>Chomsky, the main proponent of nativism, criticized the imitation and stimulus-response learning principles of behaviorism for its failure to explain why, with limited knowledge of grammatical rule, people are able to generate limitless number of sentences. With this notion, Chomsky hypothesized that humans must be born with Language Acquisition Device (LAD) in their brain which is the reason why children can acquire language quickly. He argued that LAD contains the universal rules by which human languages operate. He called this set of rule as a Universal Grammar (UG) or mental grammar which allows us to “feel” unconsciously whether or not our utterance or sentence is well-formed. </a:t>
            </a:r>
            <a:endParaRPr lang="en-PH" dirty="0">
              <a:latin typeface="Arial" pitchFamily="34" charset="0"/>
              <a:cs typeface="Arial" pitchFamily="34"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ircle(in)">
                                      <p:cBhvr>
                                        <p:cTn id="1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4" name="Rectangle 3"/>
          <p:cNvSpPr/>
          <p:nvPr/>
        </p:nvSpPr>
        <p:spPr>
          <a:xfrm>
            <a:off x="180132" y="288256"/>
            <a:ext cx="7989688" cy="707886"/>
          </a:xfrm>
          <a:prstGeom prst="rect">
            <a:avLst/>
          </a:prstGeom>
        </p:spPr>
        <p:txBody>
          <a:bodyPr wrap="none">
            <a:spAutoFit/>
          </a:bodyPr>
          <a:lstStyle/>
          <a:p>
            <a:r>
              <a:rPr lang="en-US" sz="4000" b="1" dirty="0" smtClean="0">
                <a:latin typeface="Arial" pitchFamily="34" charset="0"/>
                <a:cs typeface="Arial" pitchFamily="34" charset="0"/>
              </a:rPr>
              <a:t>Linguistic </a:t>
            </a:r>
            <a:r>
              <a:rPr lang="en-US" sz="4000" b="1" dirty="0">
                <a:latin typeface="Arial" pitchFamily="34" charset="0"/>
                <a:cs typeface="Arial" pitchFamily="34" charset="0"/>
              </a:rPr>
              <a:t>Theories and Models </a:t>
            </a:r>
            <a:endParaRPr lang="en-PH" sz="4000" b="1" dirty="0">
              <a:latin typeface="Arial" pitchFamily="34" charset="0"/>
              <a:cs typeface="Arial" pitchFamily="34" charset="0"/>
            </a:endParaRPr>
          </a:p>
        </p:txBody>
      </p:sp>
      <p:sp>
        <p:nvSpPr>
          <p:cNvPr id="2" name="Rectangle 1"/>
          <p:cNvSpPr/>
          <p:nvPr/>
        </p:nvSpPr>
        <p:spPr>
          <a:xfrm>
            <a:off x="324148" y="1518776"/>
            <a:ext cx="15697744" cy="236988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3200" b="1" dirty="0" smtClean="0">
                <a:latin typeface="Arial" pitchFamily="34" charset="0"/>
                <a:cs typeface="Arial" pitchFamily="34" charset="0"/>
              </a:rPr>
              <a:t>INTERACTIONISM </a:t>
            </a:r>
            <a:endParaRPr lang="en-PH" sz="3200" dirty="0" smtClean="0">
              <a:latin typeface="Arial" pitchFamily="34" charset="0"/>
              <a:cs typeface="Arial" pitchFamily="34" charset="0"/>
            </a:endParaRPr>
          </a:p>
          <a:p>
            <a:pPr algn="just"/>
            <a:r>
              <a:rPr lang="en-US" b="1" dirty="0">
                <a:latin typeface="Arial" pitchFamily="34" charset="0"/>
                <a:cs typeface="Arial" pitchFamily="34" charset="0"/>
              </a:rPr>
              <a:t>	</a:t>
            </a:r>
            <a:r>
              <a:rPr lang="en-US" dirty="0" smtClean="0">
                <a:latin typeface="Arial" pitchFamily="34" charset="0"/>
                <a:cs typeface="Arial" pitchFamily="34" charset="0"/>
              </a:rPr>
              <a:t>Proponents </a:t>
            </a:r>
            <a:r>
              <a:rPr lang="en-US" dirty="0">
                <a:latin typeface="Arial" pitchFamily="34" charset="0"/>
                <a:cs typeface="Arial" pitchFamily="34" charset="0"/>
              </a:rPr>
              <a:t>of interactionism assert that language acquisition has both biological and social components - - - that is, it is the result the application of the principles propounded by the behaviorists and nativists. The </a:t>
            </a:r>
            <a:r>
              <a:rPr lang="en-US" dirty="0" err="1">
                <a:latin typeface="Arial" pitchFamily="34" charset="0"/>
                <a:cs typeface="Arial" pitchFamily="34" charset="0"/>
              </a:rPr>
              <a:t>interactionists</a:t>
            </a:r>
            <a:r>
              <a:rPr lang="en-US" dirty="0">
                <a:latin typeface="Arial" pitchFamily="34" charset="0"/>
                <a:cs typeface="Arial" pitchFamily="34" charset="0"/>
              </a:rPr>
              <a:t> believe that there must be a good interplay between the biological and environmental factors for language acquisition to occur. </a:t>
            </a:r>
            <a:endParaRPr lang="en-PH" dirty="0">
              <a:latin typeface="Arial" pitchFamily="34" charset="0"/>
              <a:cs typeface="Arial" pitchFamily="34" charset="0"/>
            </a:endParaRPr>
          </a:p>
        </p:txBody>
      </p:sp>
      <p:sp>
        <p:nvSpPr>
          <p:cNvPr id="5" name="Rectangle 4"/>
          <p:cNvSpPr/>
          <p:nvPr/>
        </p:nvSpPr>
        <p:spPr>
          <a:xfrm>
            <a:off x="348382" y="4416807"/>
            <a:ext cx="15673510" cy="321626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just"/>
            <a:r>
              <a:rPr lang="en-US" b="1" dirty="0" smtClean="0">
                <a:latin typeface="Arial" pitchFamily="34" charset="0"/>
                <a:cs typeface="Arial" pitchFamily="34" charset="0"/>
              </a:rPr>
              <a:t>MONITOR MODEL </a:t>
            </a:r>
            <a:endParaRPr lang="en-PH" dirty="0" smtClean="0">
              <a:latin typeface="Arial" pitchFamily="34" charset="0"/>
              <a:cs typeface="Arial" pitchFamily="34" charset="0"/>
            </a:endParaRPr>
          </a:p>
          <a:p>
            <a:pPr algn="just"/>
            <a:r>
              <a:rPr lang="en-US" i="1" dirty="0">
                <a:latin typeface="Arial" pitchFamily="34" charset="0"/>
                <a:cs typeface="Arial" pitchFamily="34" charset="0"/>
              </a:rPr>
              <a:t>	</a:t>
            </a:r>
            <a:r>
              <a:rPr lang="en-US" dirty="0" smtClean="0">
                <a:latin typeface="Arial" pitchFamily="34" charset="0"/>
                <a:cs typeface="Arial" pitchFamily="34" charset="0"/>
              </a:rPr>
              <a:t>Another </a:t>
            </a:r>
            <a:r>
              <a:rPr lang="en-US" dirty="0">
                <a:latin typeface="Arial" pitchFamily="34" charset="0"/>
                <a:cs typeface="Arial" pitchFamily="34" charset="0"/>
              </a:rPr>
              <a:t>idea supporting the principle that acquiring a language has both biological and social components is Stephen Krashen’s monitor model, also known as the input hypothesis, which is composed of five hypothesis or components expounding the process of language </a:t>
            </a:r>
            <a:r>
              <a:rPr lang="en-US" dirty="0" smtClean="0">
                <a:latin typeface="Arial" pitchFamily="34" charset="0"/>
                <a:cs typeface="Arial" pitchFamily="34" charset="0"/>
              </a:rPr>
              <a:t>acquisition</a:t>
            </a:r>
            <a:r>
              <a:rPr lang="en-US" dirty="0">
                <a:latin typeface="Arial" pitchFamily="34" charset="0"/>
                <a:cs typeface="Arial" pitchFamily="34" charset="0"/>
              </a:rPr>
              <a:t> </a:t>
            </a:r>
            <a:r>
              <a:rPr lang="en-US" dirty="0" smtClean="0">
                <a:latin typeface="Arial" pitchFamily="34" charset="0"/>
                <a:cs typeface="Arial" pitchFamily="34" charset="0"/>
              </a:rPr>
              <a:t>namely; </a:t>
            </a:r>
            <a:r>
              <a:rPr lang="en-US" i="1" dirty="0">
                <a:latin typeface="Arial" pitchFamily="34" charset="0"/>
                <a:cs typeface="Arial" pitchFamily="34" charset="0"/>
              </a:rPr>
              <a:t>The Acquisition–Learning </a:t>
            </a:r>
            <a:r>
              <a:rPr lang="en-US" i="1" dirty="0" smtClean="0">
                <a:latin typeface="Arial" pitchFamily="34" charset="0"/>
                <a:cs typeface="Arial" pitchFamily="34" charset="0"/>
              </a:rPr>
              <a:t>Hypothesis, Natural </a:t>
            </a:r>
            <a:r>
              <a:rPr lang="en-US" i="1" dirty="0">
                <a:latin typeface="Arial" pitchFamily="34" charset="0"/>
                <a:cs typeface="Arial" pitchFamily="34" charset="0"/>
              </a:rPr>
              <a:t>order </a:t>
            </a:r>
            <a:r>
              <a:rPr lang="en-US" i="1" dirty="0" smtClean="0">
                <a:latin typeface="Arial" pitchFamily="34" charset="0"/>
                <a:cs typeface="Arial" pitchFamily="34" charset="0"/>
              </a:rPr>
              <a:t>Hypothesis, </a:t>
            </a:r>
            <a:endParaRPr lang="en-PH" i="1" dirty="0">
              <a:latin typeface="Arial" pitchFamily="34" charset="0"/>
              <a:cs typeface="Arial" pitchFamily="34" charset="0"/>
            </a:endParaRPr>
          </a:p>
          <a:p>
            <a:pPr algn="just"/>
            <a:r>
              <a:rPr lang="en-US" i="1" dirty="0">
                <a:latin typeface="Arial" pitchFamily="34" charset="0"/>
                <a:cs typeface="Arial" pitchFamily="34" charset="0"/>
              </a:rPr>
              <a:t>The Monitor </a:t>
            </a:r>
            <a:r>
              <a:rPr lang="en-US" i="1" dirty="0" smtClean="0">
                <a:latin typeface="Arial" pitchFamily="34" charset="0"/>
                <a:cs typeface="Arial" pitchFamily="34" charset="0"/>
              </a:rPr>
              <a:t>Hypothesis, The </a:t>
            </a:r>
            <a:r>
              <a:rPr lang="en-US" i="1" dirty="0">
                <a:latin typeface="Arial" pitchFamily="34" charset="0"/>
                <a:cs typeface="Arial" pitchFamily="34" charset="0"/>
              </a:rPr>
              <a:t>Input </a:t>
            </a:r>
            <a:r>
              <a:rPr lang="en-US" i="1" dirty="0" smtClean="0">
                <a:latin typeface="Arial" pitchFamily="34" charset="0"/>
                <a:cs typeface="Arial" pitchFamily="34" charset="0"/>
              </a:rPr>
              <a:t>Hypothesis, and Affective-filter Hypothesis). </a:t>
            </a:r>
            <a:endParaRPr lang="en-PH" i="1" dirty="0">
              <a:latin typeface="Arial" pitchFamily="34" charset="0"/>
              <a:cs typeface="Arial" pitchFamily="34" charset="0"/>
            </a:endParaRPr>
          </a:p>
          <a:p>
            <a:endParaRPr lang="en-PH" i="1" dirty="0">
              <a:latin typeface="Arial" pitchFamily="34" charset="0"/>
              <a:cs typeface="Arial" pitchFamily="34"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173311"/>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252140" y="288256"/>
            <a:ext cx="9538380" cy="707886"/>
          </a:xfrm>
          <a:prstGeom prst="rect">
            <a:avLst/>
          </a:prstGeom>
        </p:spPr>
        <p:txBody>
          <a:bodyPr wrap="none">
            <a:spAutoFit/>
          </a:bodyPr>
          <a:lstStyle/>
          <a:p>
            <a:r>
              <a:rPr lang="en-US" sz="4000" b="1" dirty="0" smtClean="0">
                <a:latin typeface="Arial" pitchFamily="34" charset="0"/>
                <a:cs typeface="Arial" pitchFamily="34" charset="0"/>
              </a:rPr>
              <a:t>Distinctions </a:t>
            </a:r>
            <a:r>
              <a:rPr lang="en-US" sz="4000" b="1" dirty="0">
                <a:latin typeface="Arial" pitchFamily="34" charset="0"/>
                <a:cs typeface="Arial" pitchFamily="34" charset="0"/>
              </a:rPr>
              <a:t>of Linguistic Approaches </a:t>
            </a:r>
            <a:endParaRPr lang="en-PH" sz="4000" dirty="0">
              <a:latin typeface="Arial" pitchFamily="34" charset="0"/>
              <a:cs typeface="Arial" pitchFamily="34" charset="0"/>
            </a:endParaRPr>
          </a:p>
        </p:txBody>
      </p:sp>
      <p:sp>
        <p:nvSpPr>
          <p:cNvPr id="4" name="Rectangle 3"/>
          <p:cNvSpPr/>
          <p:nvPr/>
        </p:nvSpPr>
        <p:spPr>
          <a:xfrm>
            <a:off x="4716636" y="1097474"/>
            <a:ext cx="6218305" cy="630942"/>
          </a:xfrm>
          <a:prstGeom prst="rect">
            <a:avLst/>
          </a:prstGeom>
        </p:spPr>
        <p:txBody>
          <a:bodyPr wrap="none">
            <a:spAutoFit/>
          </a:bodyPr>
          <a:lstStyle/>
          <a:p>
            <a:r>
              <a:rPr lang="en-US" sz="3500" b="1" dirty="0">
                <a:solidFill>
                  <a:srgbClr val="FF0000"/>
                </a:solidFill>
                <a:latin typeface="Times New Roman" pitchFamily="18" charset="0"/>
                <a:cs typeface="Times New Roman" pitchFamily="18" charset="0"/>
              </a:rPr>
              <a:t>Descriptive versus Prescriptive </a:t>
            </a:r>
            <a:endParaRPr lang="en-PH" sz="3500" b="1" dirty="0">
              <a:solidFill>
                <a:srgbClr val="FF0000"/>
              </a:solidFill>
              <a:latin typeface="Times New Roman" pitchFamily="18" charset="0"/>
              <a:cs typeface="Times New Roman" pitchFamily="18" charset="0"/>
            </a:endParaRPr>
          </a:p>
        </p:txBody>
      </p:sp>
      <p:sp>
        <p:nvSpPr>
          <p:cNvPr id="5" name="Rectangle 4"/>
          <p:cNvSpPr/>
          <p:nvPr/>
        </p:nvSpPr>
        <p:spPr>
          <a:xfrm>
            <a:off x="5436716" y="1895659"/>
            <a:ext cx="8496944" cy="98488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1" dirty="0"/>
              <a:t>A. </a:t>
            </a:r>
            <a:r>
              <a:rPr lang="en-US" i="1" dirty="0"/>
              <a:t>Don’t say “I speak English.”</a:t>
            </a:r>
            <a:endParaRPr lang="en-PH" dirty="0"/>
          </a:p>
          <a:p>
            <a:r>
              <a:rPr lang="en-US" b="1" dirty="0" smtClean="0"/>
              <a:t>B</a:t>
            </a:r>
            <a:r>
              <a:rPr lang="en-US" b="1" dirty="0"/>
              <a:t>. </a:t>
            </a:r>
            <a:r>
              <a:rPr lang="en-US" i="1" dirty="0"/>
              <a:t>You don’t speak English, you say “I speak in English.”</a:t>
            </a:r>
            <a:endParaRPr lang="en-PH" dirty="0"/>
          </a:p>
        </p:txBody>
      </p:sp>
      <p:sp>
        <p:nvSpPr>
          <p:cNvPr id="6" name="Rectangle 5"/>
          <p:cNvSpPr/>
          <p:nvPr/>
        </p:nvSpPr>
        <p:spPr>
          <a:xfrm>
            <a:off x="4140572" y="3298071"/>
            <a:ext cx="11665296" cy="2246769"/>
          </a:xfrm>
          <a:prstGeom prst="rect">
            <a:avLst/>
          </a:prstGeom>
        </p:spPr>
        <p:txBody>
          <a:bodyPr wrap="square">
            <a:spAutoFit/>
          </a:bodyPr>
          <a:lstStyle/>
          <a:p>
            <a:pPr algn="just"/>
            <a:r>
              <a:rPr lang="en-US" sz="2800" dirty="0" smtClean="0">
                <a:latin typeface="Arial" pitchFamily="34" charset="0"/>
                <a:cs typeface="Arial" pitchFamily="34" charset="0"/>
              </a:rPr>
              <a:t>	Notice </a:t>
            </a:r>
            <a:r>
              <a:rPr lang="en-US" sz="2800" dirty="0">
                <a:latin typeface="Arial" pitchFamily="34" charset="0"/>
                <a:cs typeface="Arial" pitchFamily="34" charset="0"/>
              </a:rPr>
              <a:t>how sentence A is presented. This sentence is an example of </a:t>
            </a:r>
            <a:r>
              <a:rPr lang="en-US" sz="2800" b="1" dirty="0">
                <a:latin typeface="Arial" pitchFamily="34" charset="0"/>
                <a:cs typeface="Arial" pitchFamily="34" charset="0"/>
              </a:rPr>
              <a:t>descriptive language</a:t>
            </a:r>
            <a:r>
              <a:rPr lang="en-US" sz="2800" dirty="0">
                <a:latin typeface="Arial" pitchFamily="34" charset="0"/>
                <a:cs typeface="Arial" pitchFamily="34" charset="0"/>
              </a:rPr>
              <a:t> commonly and conventionally used by many speakers around the </a:t>
            </a:r>
            <a:r>
              <a:rPr lang="en-US" sz="2800" dirty="0" smtClean="0">
                <a:latin typeface="Arial" pitchFamily="34" charset="0"/>
                <a:cs typeface="Arial" pitchFamily="34" charset="0"/>
              </a:rPr>
              <a:t>world; thus,</a:t>
            </a:r>
            <a:r>
              <a:rPr lang="en-US" sz="2800" dirty="0">
                <a:latin typeface="Arial" pitchFamily="34" charset="0"/>
                <a:cs typeface="Arial" pitchFamily="34" charset="0"/>
              </a:rPr>
              <a:t> </a:t>
            </a:r>
            <a:r>
              <a:rPr lang="en-US" sz="2800" dirty="0" smtClean="0">
                <a:latin typeface="Arial" pitchFamily="34" charset="0"/>
                <a:cs typeface="Arial" pitchFamily="34" charset="0"/>
              </a:rPr>
              <a:t>descriptive </a:t>
            </a:r>
            <a:r>
              <a:rPr lang="en-US" sz="2800" dirty="0">
                <a:latin typeface="Arial" pitchFamily="34" charset="0"/>
                <a:cs typeface="Arial" pitchFamily="34" charset="0"/>
              </a:rPr>
              <a:t>approach is a linguistic distinction that describes and analyzes language according to how people verbally use it. </a:t>
            </a:r>
            <a:endParaRPr lang="en-PH" sz="2800" dirty="0">
              <a:latin typeface="Arial" pitchFamily="34" charset="0"/>
              <a:cs typeface="Arial" pitchFamily="34" charset="0"/>
            </a:endParaRPr>
          </a:p>
        </p:txBody>
      </p:sp>
      <p:sp>
        <p:nvSpPr>
          <p:cNvPr id="7" name="Rectangle 6"/>
          <p:cNvSpPr/>
          <p:nvPr/>
        </p:nvSpPr>
        <p:spPr>
          <a:xfrm>
            <a:off x="4284588" y="5616848"/>
            <a:ext cx="11521280" cy="3108543"/>
          </a:xfrm>
          <a:prstGeom prst="rect">
            <a:avLst/>
          </a:prstGeom>
        </p:spPr>
        <p:txBody>
          <a:bodyPr wrap="square">
            <a:spAutoFit/>
          </a:bodyPr>
          <a:lstStyle/>
          <a:p>
            <a:pPr algn="just"/>
            <a:r>
              <a:rPr lang="en-US" sz="2800" dirty="0" smtClean="0">
                <a:latin typeface="Arial" pitchFamily="34" charset="0"/>
                <a:cs typeface="Arial" pitchFamily="34" charset="0"/>
              </a:rPr>
              <a:t>	The </a:t>
            </a:r>
            <a:r>
              <a:rPr lang="en-US" sz="2800" b="1" dirty="0">
                <a:latin typeface="Arial" pitchFamily="34" charset="0"/>
                <a:cs typeface="Arial" pitchFamily="34" charset="0"/>
              </a:rPr>
              <a:t>prescriptive approach</a:t>
            </a:r>
            <a:r>
              <a:rPr lang="en-US" sz="2800" dirty="0">
                <a:latin typeface="Arial" pitchFamily="34" charset="0"/>
                <a:cs typeface="Arial" pitchFamily="34" charset="0"/>
              </a:rPr>
              <a:t>, on the other hand, lays down the correct way of the structural arrangement of the words in the sentence. It is an approach based on what is considered to be structurally correct and accurate as determined by the group of academic. </a:t>
            </a:r>
            <a:r>
              <a:rPr lang="en-US" sz="2800" dirty="0" smtClean="0">
                <a:latin typeface="Arial" pitchFamily="34" charset="0"/>
                <a:cs typeface="Arial" pitchFamily="34" charset="0"/>
              </a:rPr>
              <a:t>This </a:t>
            </a:r>
            <a:r>
              <a:rPr lang="en-US" sz="2800" dirty="0">
                <a:latin typeface="Arial" pitchFamily="34" charset="0"/>
                <a:cs typeface="Arial" pitchFamily="34" charset="0"/>
              </a:rPr>
              <a:t>approach shows a </a:t>
            </a:r>
            <a:r>
              <a:rPr lang="en-US" sz="2800" dirty="0" smtClean="0">
                <a:latin typeface="Arial" pitchFamily="34" charset="0"/>
                <a:cs typeface="Arial" pitchFamily="34" charset="0"/>
              </a:rPr>
              <a:t>complete </a:t>
            </a:r>
            <a:r>
              <a:rPr lang="en-US" sz="2800" dirty="0">
                <a:latin typeface="Arial" pitchFamily="34" charset="0"/>
                <a:cs typeface="Arial" pitchFamily="34" charset="0"/>
              </a:rPr>
              <a:t>disregard of how language community speaks. Certain forms of language are more “accurate” than others based on the social prestige of the users.</a:t>
            </a:r>
            <a:endParaRPr lang="en-PH" sz="2800" dirty="0">
              <a:latin typeface="Arial" pitchFamily="34" charset="0"/>
              <a:cs typeface="Arial" pitchFamily="34"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6156796" y="1152352"/>
            <a:ext cx="6016262" cy="630942"/>
          </a:xfrm>
          <a:prstGeom prst="rect">
            <a:avLst/>
          </a:prstGeom>
        </p:spPr>
        <p:txBody>
          <a:bodyPr wrap="none">
            <a:spAutoFit/>
          </a:bodyPr>
          <a:lstStyle/>
          <a:p>
            <a:r>
              <a:rPr lang="en-US" sz="3500" b="1" dirty="0">
                <a:solidFill>
                  <a:srgbClr val="FF0000"/>
                </a:solidFill>
                <a:latin typeface="Times New Roman" pitchFamily="18" charset="0"/>
                <a:cs typeface="Times New Roman" pitchFamily="18" charset="0"/>
              </a:rPr>
              <a:t>Synchronic versus Diachronic </a:t>
            </a:r>
            <a:endParaRPr lang="en-PH" sz="3500" dirty="0">
              <a:solidFill>
                <a:srgbClr val="FF0000"/>
              </a:solidFill>
              <a:latin typeface="Times New Roman" pitchFamily="18" charset="0"/>
              <a:cs typeface="Times New Roman" pitchFamily="18" charset="0"/>
            </a:endParaRPr>
          </a:p>
        </p:txBody>
      </p:sp>
      <p:sp>
        <p:nvSpPr>
          <p:cNvPr id="5" name="Rectangle 4"/>
          <p:cNvSpPr/>
          <p:nvPr/>
        </p:nvSpPr>
        <p:spPr>
          <a:xfrm>
            <a:off x="252140" y="288256"/>
            <a:ext cx="9538380" cy="707886"/>
          </a:xfrm>
          <a:prstGeom prst="rect">
            <a:avLst/>
          </a:prstGeom>
        </p:spPr>
        <p:txBody>
          <a:bodyPr wrap="none">
            <a:spAutoFit/>
          </a:bodyPr>
          <a:lstStyle/>
          <a:p>
            <a:r>
              <a:rPr lang="en-US" sz="4000" b="1" dirty="0" smtClean="0">
                <a:latin typeface="Arial" pitchFamily="34" charset="0"/>
                <a:cs typeface="Arial" pitchFamily="34" charset="0"/>
              </a:rPr>
              <a:t>Distinctions </a:t>
            </a:r>
            <a:r>
              <a:rPr lang="en-US" sz="4000" b="1" dirty="0">
                <a:latin typeface="Arial" pitchFamily="34" charset="0"/>
                <a:cs typeface="Arial" pitchFamily="34" charset="0"/>
              </a:rPr>
              <a:t>of Linguistic Approaches </a:t>
            </a:r>
            <a:endParaRPr lang="en-PH" sz="4000" dirty="0">
              <a:latin typeface="Arial" pitchFamily="34" charset="0"/>
              <a:cs typeface="Arial" pitchFamily="34" charset="0"/>
            </a:endParaRPr>
          </a:p>
        </p:txBody>
      </p:sp>
      <p:sp>
        <p:nvSpPr>
          <p:cNvPr id="4" name="Rectangle 3"/>
          <p:cNvSpPr/>
          <p:nvPr/>
        </p:nvSpPr>
        <p:spPr>
          <a:xfrm>
            <a:off x="3492500" y="1872432"/>
            <a:ext cx="12211308" cy="3431709"/>
          </a:xfrm>
          <a:prstGeom prst="rect">
            <a:avLst/>
          </a:prstGeom>
        </p:spPr>
        <p:txBody>
          <a:bodyPr wrap="square">
            <a:spAutoFit/>
          </a:bodyPr>
          <a:lstStyle/>
          <a:p>
            <a:pPr marL="457200" indent="-457200" algn="just">
              <a:buFont typeface="Wingdings" pitchFamily="2" charset="2"/>
              <a:buChar char="v"/>
            </a:pPr>
            <a:r>
              <a:rPr lang="en-PH" b="1" dirty="0" smtClean="0"/>
              <a:t> </a:t>
            </a:r>
            <a:r>
              <a:rPr lang="en-PH" sz="2800" b="1" dirty="0" smtClean="0">
                <a:latin typeface="Arial" pitchFamily="34" charset="0"/>
                <a:cs typeface="Arial" pitchFamily="34" charset="0"/>
              </a:rPr>
              <a:t>Synchronic </a:t>
            </a:r>
            <a:r>
              <a:rPr lang="en-PH" sz="2800" dirty="0" smtClean="0">
                <a:latin typeface="Arial" pitchFamily="34" charset="0"/>
                <a:cs typeface="Arial" pitchFamily="34" charset="0"/>
              </a:rPr>
              <a:t>manifests w</a:t>
            </a:r>
            <a:r>
              <a:rPr lang="en-US" sz="2800" dirty="0" smtClean="0">
                <a:latin typeface="Arial" pitchFamily="34" charset="0"/>
                <a:cs typeface="Arial" pitchFamily="34" charset="0"/>
              </a:rPr>
              <a:t>hen </a:t>
            </a:r>
            <a:r>
              <a:rPr lang="en-US" sz="2800" dirty="0">
                <a:latin typeface="Arial" pitchFamily="34" charset="0"/>
                <a:cs typeface="Arial" pitchFamily="34" charset="0"/>
              </a:rPr>
              <a:t>studying the language structures or when exploring how words are </a:t>
            </a:r>
            <a:r>
              <a:rPr lang="en-US" sz="2800" dirty="0" smtClean="0">
                <a:latin typeface="Arial" pitchFamily="34" charset="0"/>
                <a:cs typeface="Arial" pitchFamily="34" charset="0"/>
              </a:rPr>
              <a:t>combined.</a:t>
            </a:r>
          </a:p>
          <a:p>
            <a:pPr marL="457200" indent="-457200" algn="just">
              <a:buFont typeface="Wingdings" pitchFamily="2" charset="2"/>
              <a:buChar char="v"/>
            </a:pPr>
            <a:r>
              <a:rPr lang="en-US" sz="2800" b="1" dirty="0" smtClean="0">
                <a:latin typeface="Arial" pitchFamily="34" charset="0"/>
                <a:cs typeface="Arial" pitchFamily="34" charset="0"/>
              </a:rPr>
              <a:t>Diachronic</a:t>
            </a:r>
            <a:r>
              <a:rPr lang="en-US" sz="2800" dirty="0" smtClean="0">
                <a:latin typeface="Arial" pitchFamily="34" charset="0"/>
                <a:cs typeface="Arial" pitchFamily="34" charset="0"/>
              </a:rPr>
              <a:t> </a:t>
            </a:r>
            <a:r>
              <a:rPr lang="en-US" sz="2800" dirty="0">
                <a:latin typeface="Arial" pitchFamily="34" charset="0"/>
                <a:cs typeface="Arial" pitchFamily="34" charset="0"/>
              </a:rPr>
              <a:t>is focused on historical linguistics. It also concentrates on the difference between two or more two languages over the centuries or decades. </a:t>
            </a:r>
            <a:endParaRPr lang="en-US" sz="2800" dirty="0" smtClean="0">
              <a:latin typeface="Arial" pitchFamily="34" charset="0"/>
              <a:cs typeface="Arial" pitchFamily="34" charset="0"/>
            </a:endParaRPr>
          </a:p>
          <a:p>
            <a:pPr algn="just"/>
            <a:r>
              <a:rPr lang="en-US" sz="2800" dirty="0">
                <a:latin typeface="Arial" pitchFamily="34" charset="0"/>
                <a:cs typeface="Arial" pitchFamily="34" charset="0"/>
              </a:rPr>
              <a:t>	</a:t>
            </a:r>
            <a:r>
              <a:rPr lang="en-US" sz="2400" dirty="0" smtClean="0">
                <a:latin typeface="Arial" pitchFamily="34" charset="0"/>
                <a:cs typeface="Arial" pitchFamily="34" charset="0"/>
              </a:rPr>
              <a:t>For </a:t>
            </a:r>
            <a:r>
              <a:rPr lang="en-US" sz="2400" dirty="0">
                <a:latin typeface="Arial" pitchFamily="34" charset="0"/>
                <a:cs typeface="Arial" pitchFamily="34" charset="0"/>
              </a:rPr>
              <a:t>instance, when you study how language evolves through time, and make a comparative analysis of old English and the present English language, the study us diachronic. It involves exploring how historical events affect the language.</a:t>
            </a:r>
            <a:endParaRPr lang="en-PH" sz="2400" dirty="0">
              <a:latin typeface="Arial" pitchFamily="34" charset="0"/>
              <a:cs typeface="Arial" pitchFamily="34" charset="0"/>
            </a:endParaRPr>
          </a:p>
        </p:txBody>
      </p:sp>
      <p:sp>
        <p:nvSpPr>
          <p:cNvPr id="6" name="Rectangle 5"/>
          <p:cNvSpPr/>
          <p:nvPr/>
        </p:nvSpPr>
        <p:spPr>
          <a:xfrm>
            <a:off x="4026754" y="6015211"/>
            <a:ext cx="11677054" cy="2769989"/>
          </a:xfrm>
          <a:prstGeom prst="rect">
            <a:avLst/>
          </a:prstGeom>
        </p:spPr>
        <p:txBody>
          <a:bodyPr wrap="square">
            <a:spAutoFit/>
          </a:bodyPr>
          <a:lstStyle/>
          <a:p>
            <a:pPr marL="457200" indent="-457200" algn="just">
              <a:buFont typeface="Wingdings" pitchFamily="2" charset="2"/>
              <a:buChar char="q"/>
            </a:pPr>
            <a:r>
              <a:rPr lang="en-US" sz="2800" b="1" dirty="0" smtClean="0">
                <a:latin typeface="Arial" pitchFamily="34" charset="0"/>
                <a:cs typeface="Arial" pitchFamily="34" charset="0"/>
              </a:rPr>
              <a:t>Langue </a:t>
            </a:r>
            <a:r>
              <a:rPr lang="en-US" sz="2800" dirty="0">
                <a:latin typeface="Arial" pitchFamily="34" charset="0"/>
                <a:cs typeface="Arial" pitchFamily="34" charset="0"/>
              </a:rPr>
              <a:t>is the intangible linguistic scheme used by all the members of a speech community. It refers to the set of rules and patterns which people need to follow. </a:t>
            </a:r>
            <a:endParaRPr lang="en-US" sz="2800" dirty="0" smtClean="0">
              <a:latin typeface="Arial" pitchFamily="34" charset="0"/>
              <a:cs typeface="Arial" pitchFamily="34" charset="0"/>
            </a:endParaRPr>
          </a:p>
          <a:p>
            <a:pPr marL="457200" indent="-457200" algn="just">
              <a:buFont typeface="Wingdings" pitchFamily="2" charset="2"/>
              <a:buChar char="q"/>
            </a:pPr>
            <a:r>
              <a:rPr lang="en-US" sz="2800" b="1" dirty="0" smtClean="0">
                <a:latin typeface="Arial" pitchFamily="34" charset="0"/>
                <a:cs typeface="Arial" pitchFamily="34" charset="0"/>
              </a:rPr>
              <a:t>Parole </a:t>
            </a:r>
            <a:r>
              <a:rPr lang="en-US" sz="2800" dirty="0" smtClean="0">
                <a:latin typeface="Arial" pitchFamily="34" charset="0"/>
                <a:cs typeface="Arial" pitchFamily="34" charset="0"/>
              </a:rPr>
              <a:t>is </a:t>
            </a:r>
            <a:r>
              <a:rPr lang="en-US" sz="2800" dirty="0">
                <a:latin typeface="Arial" pitchFamily="34" charset="0"/>
                <a:cs typeface="Arial" pitchFamily="34" charset="0"/>
              </a:rPr>
              <a:t>the concretization of language through the actual use. Language is concretized using the rules and set of conventions, while parole is naturally occurring and concrete</a:t>
            </a:r>
            <a:r>
              <a:rPr lang="en-US" sz="2800" dirty="0"/>
              <a:t>.</a:t>
            </a:r>
            <a:endParaRPr lang="en-PH" sz="2800" dirty="0"/>
          </a:p>
        </p:txBody>
      </p:sp>
      <p:sp>
        <p:nvSpPr>
          <p:cNvPr id="7" name="Rectangle 6"/>
          <p:cNvSpPr/>
          <p:nvPr/>
        </p:nvSpPr>
        <p:spPr>
          <a:xfrm>
            <a:off x="7319889" y="5330557"/>
            <a:ext cx="4549322" cy="646331"/>
          </a:xfrm>
          <a:prstGeom prst="rect">
            <a:avLst/>
          </a:prstGeom>
        </p:spPr>
        <p:txBody>
          <a:bodyPr wrap="none">
            <a:spAutoFit/>
          </a:bodyPr>
          <a:lstStyle/>
          <a:p>
            <a:r>
              <a:rPr lang="en-US" sz="3500" b="1" dirty="0">
                <a:solidFill>
                  <a:srgbClr val="FF0000"/>
                </a:solidFill>
                <a:latin typeface="Times New Roman" pitchFamily="18" charset="0"/>
                <a:cs typeface="Times New Roman" pitchFamily="18" charset="0"/>
              </a:rPr>
              <a:t>Langue versus Parole </a:t>
            </a:r>
            <a:endParaRPr lang="en-PH" sz="35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61" y="235050"/>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3636516" y="1080344"/>
            <a:ext cx="10513168" cy="1077218"/>
          </a:xfrm>
          <a:prstGeom prst="rect">
            <a:avLst/>
          </a:prstGeom>
        </p:spPr>
        <p:txBody>
          <a:bodyPr wrap="square">
            <a:spAutoFit/>
          </a:bodyPr>
          <a:lstStyle/>
          <a:p>
            <a:r>
              <a:rPr lang="en-US" sz="3500" b="1" dirty="0">
                <a:solidFill>
                  <a:srgbClr val="FF0000"/>
                </a:solidFill>
                <a:latin typeface="Times New Roman" pitchFamily="18" charset="0"/>
                <a:cs typeface="Times New Roman" pitchFamily="18" charset="0"/>
              </a:rPr>
              <a:t>Language Competence versus Language </a:t>
            </a:r>
            <a:r>
              <a:rPr lang="en-US" sz="3500" b="1" dirty="0" smtClean="0">
                <a:solidFill>
                  <a:srgbClr val="FF0000"/>
                </a:solidFill>
                <a:latin typeface="Times New Roman" pitchFamily="18" charset="0"/>
                <a:cs typeface="Times New Roman" pitchFamily="18" charset="0"/>
              </a:rPr>
              <a:t>Performance</a:t>
            </a:r>
            <a:endParaRPr lang="en-PH" sz="3500" dirty="0">
              <a:solidFill>
                <a:srgbClr val="FF0000"/>
              </a:solidFill>
              <a:latin typeface="Times New Roman" pitchFamily="18" charset="0"/>
              <a:cs typeface="Times New Roman" pitchFamily="18" charset="0"/>
            </a:endParaRPr>
          </a:p>
          <a:p>
            <a:r>
              <a:rPr lang="en-US" b="1" dirty="0"/>
              <a:t> </a:t>
            </a:r>
            <a:endParaRPr lang="en-PH" dirty="0"/>
          </a:p>
        </p:txBody>
      </p:sp>
      <p:sp>
        <p:nvSpPr>
          <p:cNvPr id="5" name="Rectangle 4"/>
          <p:cNvSpPr/>
          <p:nvPr/>
        </p:nvSpPr>
        <p:spPr>
          <a:xfrm>
            <a:off x="252140" y="288256"/>
            <a:ext cx="9538380" cy="707886"/>
          </a:xfrm>
          <a:prstGeom prst="rect">
            <a:avLst/>
          </a:prstGeom>
        </p:spPr>
        <p:txBody>
          <a:bodyPr wrap="none">
            <a:spAutoFit/>
          </a:bodyPr>
          <a:lstStyle/>
          <a:p>
            <a:r>
              <a:rPr lang="en-US" sz="4000" b="1" dirty="0" smtClean="0">
                <a:latin typeface="Arial" pitchFamily="34" charset="0"/>
                <a:cs typeface="Arial" pitchFamily="34" charset="0"/>
              </a:rPr>
              <a:t>Distinctions </a:t>
            </a:r>
            <a:r>
              <a:rPr lang="en-US" sz="4000" b="1" dirty="0">
                <a:latin typeface="Arial" pitchFamily="34" charset="0"/>
                <a:cs typeface="Arial" pitchFamily="34" charset="0"/>
              </a:rPr>
              <a:t>of Linguistic Approaches </a:t>
            </a:r>
            <a:endParaRPr lang="en-PH" sz="4000" dirty="0">
              <a:latin typeface="Arial" pitchFamily="34" charset="0"/>
              <a:cs typeface="Arial" pitchFamily="34" charset="0"/>
            </a:endParaRPr>
          </a:p>
        </p:txBody>
      </p:sp>
      <p:sp>
        <p:nvSpPr>
          <p:cNvPr id="4" name="Rectangle 3"/>
          <p:cNvSpPr/>
          <p:nvPr/>
        </p:nvSpPr>
        <p:spPr>
          <a:xfrm>
            <a:off x="3132459" y="1800424"/>
            <a:ext cx="12957251" cy="3385542"/>
          </a:xfrm>
          <a:prstGeom prst="rect">
            <a:avLst/>
          </a:prstGeom>
        </p:spPr>
        <p:txBody>
          <a:bodyPr wrap="square">
            <a:spAutoFit/>
          </a:bodyPr>
          <a:lstStyle/>
          <a:p>
            <a:pPr algn="just"/>
            <a:r>
              <a:rPr lang="en-US" sz="2800" dirty="0">
                <a:latin typeface="Arial" pitchFamily="34" charset="0"/>
                <a:cs typeface="Arial" pitchFamily="34" charset="0"/>
              </a:rPr>
              <a:t>According to Chomsky</a:t>
            </a:r>
            <a:r>
              <a:rPr lang="en-US" sz="2800" b="1" i="1" dirty="0">
                <a:latin typeface="Arial" pitchFamily="34" charset="0"/>
                <a:cs typeface="Arial" pitchFamily="34" charset="0"/>
              </a:rPr>
              <a:t>, competence</a:t>
            </a:r>
            <a:r>
              <a:rPr lang="en-US" sz="2800" dirty="0">
                <a:latin typeface="Arial" pitchFamily="34" charset="0"/>
                <a:cs typeface="Arial" pitchFamily="34" charset="0"/>
              </a:rPr>
              <a:t> is the speaker’s knowledge of the grammatical rules of language while </a:t>
            </a:r>
            <a:r>
              <a:rPr lang="en-US" sz="2800" b="1" i="1" dirty="0">
                <a:latin typeface="Arial" pitchFamily="34" charset="0"/>
                <a:cs typeface="Arial" pitchFamily="34" charset="0"/>
              </a:rPr>
              <a:t>performance</a:t>
            </a:r>
            <a:r>
              <a:rPr lang="en-US" sz="2800" dirty="0">
                <a:latin typeface="Arial" pitchFamily="34" charset="0"/>
                <a:cs typeface="Arial" pitchFamily="34" charset="0"/>
              </a:rPr>
              <a:t> is the actual use of language and application of the grammatical rules. </a:t>
            </a:r>
            <a:endParaRPr lang="en-US" sz="2800" dirty="0" smtClean="0">
              <a:latin typeface="Arial" pitchFamily="34" charset="0"/>
              <a:cs typeface="Arial" pitchFamily="34" charset="0"/>
            </a:endParaRPr>
          </a:p>
          <a:p>
            <a:pPr algn="just"/>
            <a:r>
              <a:rPr lang="en-US" sz="2400" dirty="0" smtClean="0">
                <a:latin typeface="Arial" pitchFamily="34" charset="0"/>
                <a:cs typeface="Arial" pitchFamily="34" charset="0"/>
              </a:rPr>
              <a:t>	</a:t>
            </a:r>
            <a:r>
              <a:rPr lang="en-US" sz="2600" dirty="0" smtClean="0">
                <a:latin typeface="Arial" pitchFamily="34" charset="0"/>
                <a:cs typeface="Arial" pitchFamily="34" charset="0"/>
              </a:rPr>
              <a:t>Language </a:t>
            </a:r>
            <a:r>
              <a:rPr lang="en-US" sz="2600" dirty="0">
                <a:latin typeface="Arial" pitchFamily="34" charset="0"/>
                <a:cs typeface="Arial" pitchFamily="34" charset="0"/>
              </a:rPr>
              <a:t>competence makes the speakers compose a chain of sentences in different structural patterns and allows them to recognize errors when they are committed as well as vague constructions and fragments. </a:t>
            </a:r>
            <a:r>
              <a:rPr lang="en-US" sz="2600" dirty="0" smtClean="0">
                <a:latin typeface="Arial" pitchFamily="34" charset="0"/>
                <a:cs typeface="Arial" pitchFamily="34" charset="0"/>
              </a:rPr>
              <a:t>Language Performance </a:t>
            </a:r>
            <a:r>
              <a:rPr lang="en-US" sz="2600" dirty="0">
                <a:latin typeface="Arial" pitchFamily="34" charset="0"/>
                <a:cs typeface="Arial" pitchFamily="34" charset="0"/>
              </a:rPr>
              <a:t>is not stable in the sense that it is always dependent on the circumstances of the speaker, which includes social, psychological, and physical factors</a:t>
            </a:r>
            <a:r>
              <a:rPr lang="en-US" sz="2400" dirty="0">
                <a:latin typeface="Arial" pitchFamily="34" charset="0"/>
                <a:cs typeface="Arial" pitchFamily="34" charset="0"/>
              </a:rPr>
              <a:t>. </a:t>
            </a:r>
            <a:endParaRPr lang="en-PH" sz="2400" dirty="0">
              <a:latin typeface="Arial" pitchFamily="34" charset="0"/>
              <a:cs typeface="Arial" pitchFamily="34" charset="0"/>
            </a:endParaRPr>
          </a:p>
        </p:txBody>
      </p:sp>
      <p:sp>
        <p:nvSpPr>
          <p:cNvPr id="6" name="Rectangle 5"/>
          <p:cNvSpPr/>
          <p:nvPr/>
        </p:nvSpPr>
        <p:spPr>
          <a:xfrm>
            <a:off x="7251029" y="5273938"/>
            <a:ext cx="4594399" cy="630942"/>
          </a:xfrm>
          <a:prstGeom prst="rect">
            <a:avLst/>
          </a:prstGeom>
        </p:spPr>
        <p:txBody>
          <a:bodyPr wrap="none">
            <a:spAutoFit/>
          </a:bodyPr>
          <a:lstStyle/>
          <a:p>
            <a:r>
              <a:rPr lang="en-US" sz="3500" b="1" dirty="0">
                <a:solidFill>
                  <a:srgbClr val="FF0000"/>
                </a:solidFill>
                <a:latin typeface="Times New Roman" pitchFamily="18" charset="0"/>
                <a:cs typeface="Times New Roman" pitchFamily="18" charset="0"/>
              </a:rPr>
              <a:t>Speech versus Writing </a:t>
            </a:r>
            <a:endParaRPr lang="en-PH" sz="3500" dirty="0">
              <a:solidFill>
                <a:srgbClr val="FF0000"/>
              </a:solidFill>
              <a:latin typeface="Times New Roman" pitchFamily="18" charset="0"/>
              <a:cs typeface="Times New Roman" pitchFamily="18" charset="0"/>
            </a:endParaRPr>
          </a:p>
        </p:txBody>
      </p:sp>
      <p:sp>
        <p:nvSpPr>
          <p:cNvPr id="7" name="Rectangle 6"/>
          <p:cNvSpPr/>
          <p:nvPr/>
        </p:nvSpPr>
        <p:spPr>
          <a:xfrm>
            <a:off x="4535072" y="5976888"/>
            <a:ext cx="11554637" cy="3016210"/>
          </a:xfrm>
          <a:prstGeom prst="rect">
            <a:avLst/>
          </a:prstGeom>
        </p:spPr>
        <p:txBody>
          <a:bodyPr wrap="square">
            <a:spAutoFit/>
          </a:bodyPr>
          <a:lstStyle/>
          <a:p>
            <a:pPr algn="just"/>
            <a:r>
              <a:rPr lang="en-US" sz="2800" b="1" dirty="0" smtClean="0">
                <a:latin typeface="Arial" pitchFamily="34" charset="0"/>
                <a:cs typeface="Arial" pitchFamily="34" charset="0"/>
              </a:rPr>
              <a:t>Speech</a:t>
            </a:r>
            <a:r>
              <a:rPr lang="en-US" sz="2800" dirty="0" smtClean="0">
                <a:latin typeface="Arial" pitchFamily="34" charset="0"/>
                <a:cs typeface="Arial" pitchFamily="34" charset="0"/>
              </a:rPr>
              <a:t> </a:t>
            </a:r>
            <a:r>
              <a:rPr lang="en-US" sz="2800" dirty="0">
                <a:latin typeface="Arial" pitchFamily="34" charset="0"/>
                <a:cs typeface="Arial" pitchFamily="34" charset="0"/>
              </a:rPr>
              <a:t>is </a:t>
            </a:r>
            <a:r>
              <a:rPr lang="en-US" sz="2800" dirty="0" smtClean="0">
                <a:latin typeface="Arial" pitchFamily="34" charset="0"/>
                <a:cs typeface="Arial" pitchFamily="34" charset="0"/>
              </a:rPr>
              <a:t>primary; </a:t>
            </a:r>
            <a:r>
              <a:rPr lang="en-US" sz="2800" b="1" dirty="0">
                <a:latin typeface="Arial" pitchFamily="34" charset="0"/>
                <a:cs typeface="Arial" pitchFamily="34" charset="0"/>
              </a:rPr>
              <a:t>writing</a:t>
            </a:r>
            <a:r>
              <a:rPr lang="en-US" sz="2800" dirty="0">
                <a:latin typeface="Arial" pitchFamily="34" charset="0"/>
                <a:cs typeface="Arial" pitchFamily="34" charset="0"/>
              </a:rPr>
              <a:t> is secondary. Writing the record of the language represented in letters. Speech involves the articulation of language using the speech organs and the reception of the message. </a:t>
            </a:r>
            <a:r>
              <a:rPr lang="en-US" sz="2800" dirty="0" smtClean="0">
                <a:latin typeface="Arial" pitchFamily="34" charset="0"/>
                <a:cs typeface="Arial" pitchFamily="34" charset="0"/>
              </a:rPr>
              <a:t>	</a:t>
            </a:r>
            <a:r>
              <a:rPr lang="en-US" sz="2600" dirty="0" smtClean="0">
                <a:latin typeface="Arial" pitchFamily="34" charset="0"/>
                <a:cs typeface="Arial" pitchFamily="34" charset="0"/>
              </a:rPr>
              <a:t>Writing </a:t>
            </a:r>
            <a:r>
              <a:rPr lang="en-US" sz="2600" dirty="0">
                <a:latin typeface="Arial" pitchFamily="34" charset="0"/>
                <a:cs typeface="Arial" pitchFamily="34" charset="0"/>
              </a:rPr>
              <a:t>follows a written code, which gives the language a different characteristics and scope that speech does not have. In writing, the message is carried through a certain space or channel, which is preserved and used through time.</a:t>
            </a:r>
            <a:endParaRPr lang="en-PH" sz="2600" dirty="0">
              <a:latin typeface="Arial" pitchFamily="34" charset="0"/>
              <a:cs typeface="Arial" pitchFamily="34"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River PPT Print Master | Powerpoint background design, Powerpoint  background template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42" y="72008"/>
            <a:ext cx="15890850" cy="9145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757"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8" name="TextBox 7"/>
          <p:cNvSpPr txBox="1"/>
          <p:nvPr/>
        </p:nvSpPr>
        <p:spPr>
          <a:xfrm>
            <a:off x="1044228" y="288256"/>
            <a:ext cx="2775119" cy="646331"/>
          </a:xfrm>
          <a:prstGeom prst="rect">
            <a:avLst/>
          </a:prstGeom>
          <a:noFill/>
        </p:spPr>
        <p:txBody>
          <a:bodyPr wrap="none" rtlCol="0">
            <a:spAutoFit/>
          </a:bodyPr>
          <a:lstStyle/>
          <a:p>
            <a:r>
              <a:rPr lang="en-PH" sz="3600" b="1" dirty="0" smtClean="0">
                <a:solidFill>
                  <a:srgbClr val="002060"/>
                </a:solidFill>
                <a:latin typeface="Arial" pitchFamily="34" charset="0"/>
                <a:cs typeface="Arial" pitchFamily="34" charset="0"/>
              </a:rPr>
              <a:t>References</a:t>
            </a:r>
            <a:r>
              <a:rPr lang="en-PH" b="1" dirty="0" smtClean="0">
                <a:solidFill>
                  <a:srgbClr val="002060"/>
                </a:solidFill>
                <a:latin typeface="Arial" pitchFamily="34" charset="0"/>
                <a:cs typeface="Arial" pitchFamily="34" charset="0"/>
              </a:rPr>
              <a:t> </a:t>
            </a:r>
            <a:endParaRPr lang="en-PH" b="1" dirty="0">
              <a:solidFill>
                <a:srgbClr val="002060"/>
              </a:solidFill>
              <a:latin typeface="Arial" pitchFamily="34" charset="0"/>
              <a:cs typeface="Arial" pitchFamily="34" charset="0"/>
            </a:endParaRPr>
          </a:p>
        </p:txBody>
      </p:sp>
      <p:sp>
        <p:nvSpPr>
          <p:cNvPr id="9" name="Rectangle 8"/>
          <p:cNvSpPr/>
          <p:nvPr/>
        </p:nvSpPr>
        <p:spPr>
          <a:xfrm>
            <a:off x="3708524" y="611421"/>
            <a:ext cx="10708083" cy="45719"/>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p:cNvSpPr txBox="1"/>
          <p:nvPr/>
        </p:nvSpPr>
        <p:spPr>
          <a:xfrm>
            <a:off x="2967288" y="2592512"/>
            <a:ext cx="12766572" cy="492443"/>
          </a:xfrm>
          <a:prstGeom prst="rect">
            <a:avLst/>
          </a:prstGeom>
          <a:noFill/>
        </p:spPr>
        <p:txBody>
          <a:bodyPr wrap="square" rtlCol="0">
            <a:spAutoFit/>
          </a:bodyPr>
          <a:lstStyle/>
          <a:p>
            <a:r>
              <a:rPr lang="en-PH" sz="2600" dirty="0" smtClean="0"/>
              <a:t>Gonzales, J. </a:t>
            </a:r>
            <a:r>
              <a:rPr lang="en-PH" sz="2600" dirty="0"/>
              <a:t>&amp;</a:t>
            </a:r>
            <a:r>
              <a:rPr lang="en-PH" sz="2600" dirty="0" smtClean="0"/>
              <a:t> </a:t>
            </a:r>
            <a:r>
              <a:rPr lang="en-PH" sz="2600" dirty="0" err="1" smtClean="0"/>
              <a:t>Enoc</a:t>
            </a:r>
            <a:r>
              <a:rPr lang="en-PH" sz="2600" dirty="0" smtClean="0"/>
              <a:t>, J. 2021). </a:t>
            </a:r>
            <a:r>
              <a:rPr lang="en-PH" sz="2600" i="1" dirty="0" smtClean="0"/>
              <a:t>Introduction to linguistics</a:t>
            </a:r>
            <a:r>
              <a:rPr lang="en-PH" sz="2600" dirty="0" smtClean="0"/>
              <a:t>. Quezon City: Lorimar Publishing, Inc.</a:t>
            </a:r>
            <a:endParaRPr lang="en-PH" sz="2600" dirty="0"/>
          </a:p>
        </p:txBody>
      </p:sp>
      <p:sp>
        <p:nvSpPr>
          <p:cNvPr id="10" name="TextBox 9"/>
          <p:cNvSpPr txBox="1"/>
          <p:nvPr/>
        </p:nvSpPr>
        <p:spPr>
          <a:xfrm>
            <a:off x="2982540" y="1656408"/>
            <a:ext cx="13039352" cy="892552"/>
          </a:xfrm>
          <a:prstGeom prst="rect">
            <a:avLst/>
          </a:prstGeom>
          <a:noFill/>
        </p:spPr>
        <p:txBody>
          <a:bodyPr wrap="square" rtlCol="0">
            <a:spAutoFit/>
          </a:bodyPr>
          <a:lstStyle/>
          <a:p>
            <a:r>
              <a:rPr lang="en-PH" sz="2600" dirty="0" smtClean="0"/>
              <a:t>Franklin, V., Rodman, R., &amp; </a:t>
            </a:r>
            <a:r>
              <a:rPr lang="en-PH" sz="2600" dirty="0" err="1" smtClean="0"/>
              <a:t>Hyams</a:t>
            </a:r>
            <a:r>
              <a:rPr lang="en-PH" sz="2600" dirty="0" smtClean="0"/>
              <a:t>, N. (2014). </a:t>
            </a:r>
            <a:r>
              <a:rPr lang="en-PH" sz="2600" i="1" dirty="0" smtClean="0"/>
              <a:t>An Introduction to language </a:t>
            </a:r>
            <a:r>
              <a:rPr lang="en-PH" sz="2600" dirty="0" smtClean="0"/>
              <a:t>(10 b.). Boston:</a:t>
            </a:r>
          </a:p>
          <a:p>
            <a:r>
              <a:rPr lang="en-PH" sz="2600" dirty="0" smtClean="0"/>
              <a:t>	</a:t>
            </a:r>
            <a:r>
              <a:rPr lang="en-PH" sz="2600" dirty="0" err="1" smtClean="0"/>
              <a:t>Cengage</a:t>
            </a:r>
            <a:r>
              <a:rPr lang="en-PH" sz="2600" dirty="0" smtClean="0"/>
              <a:t> Learning. </a:t>
            </a:r>
            <a:endParaRPr lang="en-PH" sz="2600" dirty="0"/>
          </a:p>
        </p:txBody>
      </p:sp>
      <p:sp>
        <p:nvSpPr>
          <p:cNvPr id="11" name="TextBox 10"/>
          <p:cNvSpPr txBox="1"/>
          <p:nvPr/>
        </p:nvSpPr>
        <p:spPr>
          <a:xfrm>
            <a:off x="3007220" y="4796304"/>
            <a:ext cx="12510616" cy="892552"/>
          </a:xfrm>
          <a:prstGeom prst="rect">
            <a:avLst/>
          </a:prstGeom>
          <a:noFill/>
        </p:spPr>
        <p:txBody>
          <a:bodyPr wrap="square" rtlCol="0">
            <a:spAutoFit/>
          </a:bodyPr>
          <a:lstStyle/>
          <a:p>
            <a:r>
              <a:rPr lang="en-PH" sz="2600" dirty="0" err="1" smtClean="0"/>
              <a:t>Krashen</a:t>
            </a:r>
            <a:r>
              <a:rPr lang="en-PH" sz="2600" dirty="0" smtClean="0"/>
              <a:t>, S. D. (1981). </a:t>
            </a:r>
            <a:r>
              <a:rPr lang="en-PH" sz="2600" i="1" dirty="0" smtClean="0"/>
              <a:t>Second language acquisition and second language learning</a:t>
            </a:r>
            <a:r>
              <a:rPr lang="en-PH" sz="2600" dirty="0" smtClean="0"/>
              <a:t>. University </a:t>
            </a:r>
          </a:p>
          <a:p>
            <a:r>
              <a:rPr lang="en-PH" sz="2600" dirty="0"/>
              <a:t>	</a:t>
            </a:r>
            <a:r>
              <a:rPr lang="en-PH" sz="2600" dirty="0" smtClean="0"/>
              <a:t>of Southern California.</a:t>
            </a:r>
            <a:endParaRPr lang="en-PH" sz="2600" dirty="0"/>
          </a:p>
        </p:txBody>
      </p:sp>
      <p:sp>
        <p:nvSpPr>
          <p:cNvPr id="12" name="TextBox 11"/>
          <p:cNvSpPr txBox="1"/>
          <p:nvPr/>
        </p:nvSpPr>
        <p:spPr>
          <a:xfrm>
            <a:off x="2968711" y="4076224"/>
            <a:ext cx="9380773" cy="492443"/>
          </a:xfrm>
          <a:prstGeom prst="rect">
            <a:avLst/>
          </a:prstGeom>
          <a:noFill/>
        </p:spPr>
        <p:txBody>
          <a:bodyPr wrap="none" rtlCol="0">
            <a:spAutoFit/>
          </a:bodyPr>
          <a:lstStyle/>
          <a:p>
            <a:r>
              <a:rPr lang="en-PH" sz="2600" dirty="0" err="1" smtClean="0"/>
              <a:t>Jakobson</a:t>
            </a:r>
            <a:r>
              <a:rPr lang="en-PH" sz="2600" dirty="0" smtClean="0"/>
              <a:t> R. &amp; Halle, M. (1956). </a:t>
            </a:r>
            <a:r>
              <a:rPr lang="en-PH" sz="2600" i="1" dirty="0" smtClean="0"/>
              <a:t>Fundamentals of language</a:t>
            </a:r>
            <a:r>
              <a:rPr lang="en-PH" sz="2600" dirty="0" smtClean="0"/>
              <a:t>. Mouton.</a:t>
            </a:r>
            <a:endParaRPr lang="en-PH" sz="2600" dirty="0"/>
          </a:p>
        </p:txBody>
      </p:sp>
      <p:sp>
        <p:nvSpPr>
          <p:cNvPr id="13" name="TextBox 12"/>
          <p:cNvSpPr txBox="1"/>
          <p:nvPr/>
        </p:nvSpPr>
        <p:spPr>
          <a:xfrm>
            <a:off x="3032099" y="5804416"/>
            <a:ext cx="12485738" cy="892552"/>
          </a:xfrm>
          <a:prstGeom prst="rect">
            <a:avLst/>
          </a:prstGeom>
          <a:noFill/>
        </p:spPr>
        <p:txBody>
          <a:bodyPr wrap="square" rtlCol="0">
            <a:spAutoFit/>
          </a:bodyPr>
          <a:lstStyle/>
          <a:p>
            <a:r>
              <a:rPr lang="en-PH" sz="2600" dirty="0" smtClean="0"/>
              <a:t>Larsen-Freeman, D. &amp; </a:t>
            </a:r>
            <a:r>
              <a:rPr lang="en-PH" sz="2600" dirty="0" err="1" smtClean="0"/>
              <a:t>Celce</a:t>
            </a:r>
            <a:r>
              <a:rPr lang="en-PH" sz="2600" dirty="0" smtClean="0"/>
              <a:t>-Murcia, M. (1999). </a:t>
            </a:r>
            <a:r>
              <a:rPr lang="en-PH" sz="2600" i="1" dirty="0" smtClean="0"/>
              <a:t>The grammar book: an ESL, EFL Teacher’s</a:t>
            </a:r>
          </a:p>
          <a:p>
            <a:r>
              <a:rPr lang="en-PH" sz="2600" i="1" dirty="0"/>
              <a:t>	</a:t>
            </a:r>
            <a:r>
              <a:rPr lang="en-PH" sz="2600" i="1" dirty="0" smtClean="0"/>
              <a:t>Course.</a:t>
            </a:r>
            <a:endParaRPr lang="en-PH" sz="2600" i="1" dirty="0"/>
          </a:p>
        </p:txBody>
      </p:sp>
      <p:sp>
        <p:nvSpPr>
          <p:cNvPr id="14" name="TextBox 13"/>
          <p:cNvSpPr txBox="1"/>
          <p:nvPr/>
        </p:nvSpPr>
        <p:spPr>
          <a:xfrm>
            <a:off x="2988444" y="3192190"/>
            <a:ext cx="12403340" cy="892552"/>
          </a:xfrm>
          <a:prstGeom prst="rect">
            <a:avLst/>
          </a:prstGeom>
          <a:noFill/>
        </p:spPr>
        <p:txBody>
          <a:bodyPr wrap="square" rtlCol="0">
            <a:spAutoFit/>
          </a:bodyPr>
          <a:lstStyle/>
          <a:p>
            <a:r>
              <a:rPr lang="en-PH" sz="2600" dirty="0" smtClean="0"/>
              <a:t>Hebert, L. (2011). </a:t>
            </a:r>
            <a:r>
              <a:rPr lang="en-PH" sz="2600" i="1" dirty="0" smtClean="0"/>
              <a:t>The functions of language</a:t>
            </a:r>
            <a:r>
              <a:rPr lang="en-PH" sz="2600" dirty="0" smtClean="0"/>
              <a:t>. </a:t>
            </a:r>
            <a:r>
              <a:rPr lang="en-PH" sz="2600" dirty="0" err="1" smtClean="0"/>
              <a:t>Signo</a:t>
            </a:r>
            <a:r>
              <a:rPr lang="en-PH" sz="2600" dirty="0" smtClean="0"/>
              <a:t>. Rimouski. Quebec </a:t>
            </a:r>
            <a:r>
              <a:rPr lang="en-PH" sz="2600" dirty="0" err="1" smtClean="0"/>
              <a:t>Universite</a:t>
            </a:r>
            <a:r>
              <a:rPr lang="en-PH" sz="2600" dirty="0" smtClean="0"/>
              <a:t> de </a:t>
            </a:r>
          </a:p>
          <a:p>
            <a:r>
              <a:rPr lang="en-PH" sz="2600" dirty="0"/>
              <a:t>	</a:t>
            </a:r>
            <a:r>
              <a:rPr lang="en-PH" sz="2600" dirty="0" smtClean="0"/>
              <a:t>Quebec a Rimouski</a:t>
            </a:r>
            <a:endParaRPr lang="en-PH" sz="2600" dirty="0"/>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Ppt Minimalistic Geometric Background | Powerpoint background design,  Geometric background, Background pp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88255"/>
            <a:ext cx="15769752" cy="88704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120164" y="3816648"/>
            <a:ext cx="11758348" cy="1323439"/>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pPr algn="ctr"/>
            <a:r>
              <a:rPr lang="en-PH" sz="8000" b="1" dirty="0" smtClean="0">
                <a:latin typeface="Century Gothic" pitchFamily="34" charset="0"/>
              </a:rPr>
              <a:t>STRUCTURE OF ENGLISH </a:t>
            </a:r>
            <a:endParaRPr lang="en-PH" sz="8000" b="1" dirty="0">
              <a:latin typeface="Century Gothic" pitchFamily="34"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396156" y="360264"/>
            <a:ext cx="3837910" cy="92333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PH" sz="5400" b="1" dirty="0" smtClean="0">
                <a:solidFill>
                  <a:srgbClr val="FF0000"/>
                </a:solidFill>
                <a:latin typeface="AR JULIAN" pitchFamily="2" charset="0"/>
              </a:rPr>
              <a:t>Phonology </a:t>
            </a:r>
            <a:endParaRPr lang="en-PH" sz="5400" b="1" dirty="0">
              <a:solidFill>
                <a:srgbClr val="FF0000"/>
              </a:solidFill>
              <a:latin typeface="AR JULIAN" pitchFamily="2" charset="0"/>
            </a:endParaRPr>
          </a:p>
        </p:txBody>
      </p:sp>
      <p:sp>
        <p:nvSpPr>
          <p:cNvPr id="3" name="Rectangle 2"/>
          <p:cNvSpPr/>
          <p:nvPr/>
        </p:nvSpPr>
        <p:spPr>
          <a:xfrm>
            <a:off x="1116236" y="1512392"/>
            <a:ext cx="14617624" cy="532453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571500" indent="-571500" algn="just">
              <a:buFont typeface="Wingdings" pitchFamily="2" charset="2"/>
              <a:buChar char="q"/>
            </a:pPr>
            <a:r>
              <a:rPr lang="en-US" sz="3400" dirty="0" smtClean="0">
                <a:latin typeface="Arial" pitchFamily="34" charset="0"/>
                <a:cs typeface="Arial" pitchFamily="34" charset="0"/>
              </a:rPr>
              <a:t>It is </a:t>
            </a:r>
            <a:r>
              <a:rPr lang="en-US" sz="3400" dirty="0">
                <a:latin typeface="Arial" pitchFamily="34" charset="0"/>
                <a:cs typeface="Arial" pitchFamily="34" charset="0"/>
              </a:rPr>
              <a:t>the study of speech sounds</a:t>
            </a:r>
            <a:r>
              <a:rPr lang="en-US" sz="3400" dirty="0" smtClean="0">
                <a:latin typeface="Arial" pitchFamily="34" charset="0"/>
                <a:cs typeface="Arial" pitchFamily="34" charset="0"/>
              </a:rPr>
              <a:t>.</a:t>
            </a:r>
          </a:p>
          <a:p>
            <a:pPr marL="571500" indent="-571500" algn="just">
              <a:buFont typeface="Wingdings" pitchFamily="2" charset="2"/>
              <a:buChar char="q"/>
            </a:pPr>
            <a:r>
              <a:rPr lang="en-US" sz="3400" dirty="0" smtClean="0">
                <a:latin typeface="Arial" pitchFamily="34" charset="0"/>
                <a:cs typeface="Arial" pitchFamily="34" charset="0"/>
              </a:rPr>
              <a:t>It </a:t>
            </a:r>
            <a:r>
              <a:rPr lang="en-US" sz="3400" dirty="0">
                <a:latin typeface="Arial" pitchFamily="34" charset="0"/>
                <a:cs typeface="Arial" pitchFamily="34" charset="0"/>
              </a:rPr>
              <a:t>looks into the patterns of sounds in a particular utterance and across languages. </a:t>
            </a:r>
            <a:endParaRPr lang="en-US" sz="3400" dirty="0" smtClean="0">
              <a:latin typeface="Arial" pitchFamily="34" charset="0"/>
              <a:cs typeface="Arial" pitchFamily="34" charset="0"/>
            </a:endParaRPr>
          </a:p>
          <a:p>
            <a:pPr marL="571500" indent="-571500" algn="just">
              <a:buFont typeface="Wingdings" pitchFamily="2" charset="2"/>
              <a:buChar char="q"/>
            </a:pPr>
            <a:r>
              <a:rPr lang="en-US" sz="3400" dirty="0" smtClean="0">
                <a:latin typeface="Arial" pitchFamily="34" charset="0"/>
                <a:cs typeface="Arial" pitchFamily="34" charset="0"/>
              </a:rPr>
              <a:t>It </a:t>
            </a:r>
            <a:r>
              <a:rPr lang="en-US" sz="3400" dirty="0">
                <a:latin typeface="Arial" pitchFamily="34" charset="0"/>
                <a:cs typeface="Arial" pitchFamily="34" charset="0"/>
              </a:rPr>
              <a:t>scrutinizes the difference between languages by exploring what sounds what sounds could go together to make patterns and form into words. </a:t>
            </a:r>
            <a:endParaRPr lang="en-US" sz="3400" dirty="0" smtClean="0">
              <a:latin typeface="Arial" pitchFamily="34" charset="0"/>
              <a:cs typeface="Arial" pitchFamily="34" charset="0"/>
            </a:endParaRPr>
          </a:p>
          <a:p>
            <a:pPr marL="571500" indent="-571500" algn="just">
              <a:buFont typeface="Wingdings" pitchFamily="2" charset="2"/>
              <a:buChar char="q"/>
            </a:pPr>
            <a:r>
              <a:rPr lang="en-US" sz="3400" dirty="0" smtClean="0">
                <a:latin typeface="Arial" pitchFamily="34" charset="0"/>
                <a:cs typeface="Arial" pitchFamily="34" charset="0"/>
              </a:rPr>
              <a:t>It </a:t>
            </a:r>
            <a:r>
              <a:rPr lang="en-US" sz="3400" dirty="0">
                <a:latin typeface="Arial" pitchFamily="34" charset="0"/>
                <a:cs typeface="Arial" pitchFamily="34" charset="0"/>
              </a:rPr>
              <a:t>investigates the different processes such as how objects and sounds are mentally presented in human brains. It identifies some categorical organizations of speech sounds in the minds and how they are used to convey messages. </a:t>
            </a:r>
            <a:endParaRPr lang="en-US" sz="3400" dirty="0" smtClean="0">
              <a:latin typeface="Arial" pitchFamily="34" charset="0"/>
              <a:cs typeface="Arial" pitchFamily="34" charset="0"/>
            </a:endParaRPr>
          </a:p>
        </p:txBody>
      </p:sp>
      <p:sp>
        <p:nvSpPr>
          <p:cNvPr id="5" name="Rectangle 4"/>
          <p:cNvSpPr/>
          <p:nvPr/>
        </p:nvSpPr>
        <p:spPr>
          <a:xfrm>
            <a:off x="4428604" y="7215540"/>
            <a:ext cx="11305256" cy="1569660"/>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just"/>
            <a:r>
              <a:rPr lang="en-US" sz="3200" dirty="0" smtClean="0">
                <a:latin typeface="Times New Roman" pitchFamily="18" charset="0"/>
                <a:cs typeface="Times New Roman" pitchFamily="18" charset="0"/>
              </a:rPr>
              <a:t>Note: Through </a:t>
            </a:r>
            <a:r>
              <a:rPr lang="en-US" sz="3200" dirty="0">
                <a:latin typeface="Times New Roman" pitchFamily="18" charset="0"/>
                <a:cs typeface="Times New Roman" pitchFamily="18" charset="0"/>
              </a:rPr>
              <a:t>the study of phonology, we understand how language is decoded in human brains when we are producing or receiving messages. </a:t>
            </a:r>
            <a:endParaRPr lang="en-PH" sz="3200" dirty="0">
              <a:latin typeface="Times New Roman" pitchFamily="18" charset="0"/>
              <a:cs typeface="Times New Roman" pitchFamily="18" charset="0"/>
            </a:endParaRPr>
          </a:p>
        </p:txBody>
      </p:sp>
    </p:spTree>
    <p:extLst>
      <p:ext uri="{BB962C8B-B14F-4D97-AF65-F5344CB8AC3E}">
        <p14:creationId xmlns:p14="http://schemas.microsoft.com/office/powerpoint/2010/main" val="321031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24" y="216248"/>
            <a:ext cx="16021893" cy="90010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396156" y="360264"/>
            <a:ext cx="15553728" cy="19389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3000" b="1" dirty="0" smtClean="0">
                <a:latin typeface="Arial" pitchFamily="34" charset="0"/>
                <a:cs typeface="Arial" pitchFamily="34" charset="0"/>
              </a:rPr>
              <a:t>Phonetics</a:t>
            </a:r>
            <a:r>
              <a:rPr lang="en-US" sz="3000" dirty="0" smtClean="0">
                <a:latin typeface="Arial" pitchFamily="34" charset="0"/>
                <a:cs typeface="Arial" pitchFamily="34" charset="0"/>
              </a:rPr>
              <a:t> deals with the definite production and acoustics of the sounds of language. It looks into the speech production and the interaction of the different organs of speech such as the teeth, the tongue, the lips to articulate a certain sound. It is the study of the physical qualities of speech.  </a:t>
            </a:r>
            <a:endParaRPr lang="en-PH" dirty="0">
              <a:latin typeface="Arial" pitchFamily="34" charset="0"/>
              <a:cs typeface="Arial" pitchFamily="34" charset="0"/>
            </a:endParaRPr>
          </a:p>
        </p:txBody>
      </p:sp>
      <p:sp>
        <p:nvSpPr>
          <p:cNvPr id="3" name="Rectangle 2"/>
          <p:cNvSpPr/>
          <p:nvPr/>
        </p:nvSpPr>
        <p:spPr>
          <a:xfrm>
            <a:off x="396156" y="2520504"/>
            <a:ext cx="15545890" cy="193899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r>
              <a:rPr lang="en-US" sz="3000" b="1" dirty="0" smtClean="0">
                <a:latin typeface="Arial" pitchFamily="34" charset="0"/>
                <a:cs typeface="Arial" pitchFamily="34" charset="0"/>
              </a:rPr>
              <a:t>Phonemics</a:t>
            </a:r>
            <a:r>
              <a:rPr lang="en-US" sz="3000" dirty="0" smtClean="0">
                <a:latin typeface="Arial" pitchFamily="34" charset="0"/>
                <a:cs typeface="Arial" pitchFamily="34" charset="0"/>
              </a:rPr>
              <a:t> </a:t>
            </a:r>
            <a:r>
              <a:rPr lang="en-US" sz="3000" dirty="0">
                <a:latin typeface="Arial" pitchFamily="34" charset="0"/>
                <a:cs typeface="Arial" pitchFamily="34" charset="0"/>
              </a:rPr>
              <a:t>looks into the structure of language in terms of phonemes or its distinct units of sounds. A </a:t>
            </a:r>
            <a:r>
              <a:rPr lang="en-US" sz="3000" b="1" dirty="0">
                <a:latin typeface="Arial" pitchFamily="34" charset="0"/>
                <a:cs typeface="Arial" pitchFamily="34" charset="0"/>
              </a:rPr>
              <a:t>phoneme </a:t>
            </a:r>
            <a:r>
              <a:rPr lang="en-US" sz="3000" dirty="0">
                <a:latin typeface="Arial" pitchFamily="34" charset="0"/>
                <a:cs typeface="Arial" pitchFamily="34" charset="0"/>
              </a:rPr>
              <a:t>is the smallest unit of sound in a specific language that differentiates one word from another, as examples, the sounds of /p/, /d/, /b/, /t/ in words pat, dab, pad, bad, and tab. </a:t>
            </a:r>
            <a:endParaRPr lang="en-PH" sz="3000" dirty="0">
              <a:latin typeface="Arial" pitchFamily="34" charset="0"/>
              <a:cs typeface="Arial" pitchFamily="34" charset="0"/>
            </a:endParaRPr>
          </a:p>
        </p:txBody>
      </p:sp>
      <p:sp>
        <p:nvSpPr>
          <p:cNvPr id="5" name="Rectangle 4"/>
          <p:cNvSpPr/>
          <p:nvPr/>
        </p:nvSpPr>
        <p:spPr>
          <a:xfrm>
            <a:off x="424582" y="4680744"/>
            <a:ext cx="15517464"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3000" dirty="0" smtClean="0">
                <a:latin typeface="Arial" pitchFamily="34" charset="0"/>
                <a:cs typeface="Arial" pitchFamily="34" charset="0"/>
              </a:rPr>
              <a:t>An</a:t>
            </a:r>
            <a:r>
              <a:rPr lang="en-US" sz="3000" b="1" dirty="0" smtClean="0">
                <a:latin typeface="Arial" pitchFamily="34" charset="0"/>
                <a:cs typeface="Arial" pitchFamily="34" charset="0"/>
              </a:rPr>
              <a:t> </a:t>
            </a:r>
            <a:r>
              <a:rPr lang="en-US" sz="3000" b="1" dirty="0">
                <a:latin typeface="Arial" pitchFamily="34" charset="0"/>
                <a:cs typeface="Arial" pitchFamily="34" charset="0"/>
              </a:rPr>
              <a:t>allophone </a:t>
            </a:r>
            <a:r>
              <a:rPr lang="en-US" sz="3000" dirty="0">
                <a:latin typeface="Arial" pitchFamily="34" charset="0"/>
                <a:cs typeface="Arial" pitchFamily="34" charset="0"/>
              </a:rPr>
              <a:t>is predictable phonetic variations or any speech sounds that stand as a single phoneme, such as the aspirated /</a:t>
            </a:r>
            <a:r>
              <a:rPr lang="en-US" sz="3000" i="1" dirty="0">
                <a:latin typeface="Arial" pitchFamily="34" charset="0"/>
                <a:cs typeface="Arial" pitchFamily="34" charset="0"/>
              </a:rPr>
              <a:t>k/ </a:t>
            </a:r>
            <a:r>
              <a:rPr lang="en-US" sz="3000" dirty="0">
                <a:latin typeface="Arial" pitchFamily="34" charset="0"/>
                <a:cs typeface="Arial" pitchFamily="34" charset="0"/>
              </a:rPr>
              <a:t>in “kit”, and the unaspirated /k/ in “skit”, which are allophones of the phoneme /k/, or the aspirated /t/ in “top” and unaspirated /t/ in “stop” and the flap sound of the /</a:t>
            </a:r>
            <a:r>
              <a:rPr lang="en-US" sz="3000" dirty="0" err="1">
                <a:latin typeface="Arial" pitchFamily="34" charset="0"/>
                <a:cs typeface="Arial" pitchFamily="34" charset="0"/>
              </a:rPr>
              <a:t>tt</a:t>
            </a:r>
            <a:r>
              <a:rPr lang="en-US" sz="3000" dirty="0">
                <a:latin typeface="Arial" pitchFamily="34" charset="0"/>
                <a:cs typeface="Arial" pitchFamily="34" charset="0"/>
              </a:rPr>
              <a:t>/ in &lt;&lt;battery&gt;&gt; are allophones of phoneme /t/. </a:t>
            </a:r>
            <a:endParaRPr lang="en-PH" sz="3000" dirty="0">
              <a:latin typeface="Arial" pitchFamily="34" charset="0"/>
              <a:cs typeface="Arial" pitchFamily="34" charset="0"/>
            </a:endParaRPr>
          </a:p>
        </p:txBody>
      </p:sp>
      <p:sp>
        <p:nvSpPr>
          <p:cNvPr id="6" name="Rectangle 5"/>
          <p:cNvSpPr/>
          <p:nvPr/>
        </p:nvSpPr>
        <p:spPr>
          <a:xfrm>
            <a:off x="3420492" y="6768976"/>
            <a:ext cx="12521554" cy="2062103"/>
          </a:xfrm>
          <a:prstGeom prst="rect">
            <a:avLst/>
          </a:prstGeom>
        </p:spPr>
        <p:txBody>
          <a:bodyPr wrap="square">
            <a:spAutoFit/>
          </a:bodyPr>
          <a:lstStyle/>
          <a:p>
            <a:pPr algn="just"/>
            <a:r>
              <a:rPr lang="en-PH" sz="3100" dirty="0">
                <a:solidFill>
                  <a:srgbClr val="FFFF00"/>
                </a:solidFill>
                <a:latin typeface="Arial" pitchFamily="34" charset="0"/>
                <a:cs typeface="Arial" pitchFamily="34" charset="0"/>
              </a:rPr>
              <a:t>In English </a:t>
            </a:r>
            <a:r>
              <a:rPr lang="en-PH" sz="3100" b="1" dirty="0">
                <a:solidFill>
                  <a:srgbClr val="FFFF00"/>
                </a:solidFill>
                <a:latin typeface="Arial" pitchFamily="34" charset="0"/>
                <a:cs typeface="Arial" pitchFamily="34" charset="0"/>
              </a:rPr>
              <a:t>the </a:t>
            </a:r>
            <a:r>
              <a:rPr lang="en-PH" sz="3100" b="1" i="1" dirty="0">
                <a:solidFill>
                  <a:srgbClr val="FFFF00"/>
                </a:solidFill>
                <a:latin typeface="Arial" pitchFamily="34" charset="0"/>
                <a:cs typeface="Arial" pitchFamily="34" charset="0"/>
              </a:rPr>
              <a:t>t</a:t>
            </a:r>
            <a:r>
              <a:rPr lang="en-PH" sz="3100" b="1" dirty="0">
                <a:solidFill>
                  <a:srgbClr val="FFFF00"/>
                </a:solidFill>
                <a:latin typeface="Arial" pitchFamily="34" charset="0"/>
                <a:cs typeface="Arial" pitchFamily="34" charset="0"/>
              </a:rPr>
              <a:t> sounds in the words “hit,” “tip,” and “little”</a:t>
            </a:r>
            <a:r>
              <a:rPr lang="en-PH" sz="3100" dirty="0">
                <a:solidFill>
                  <a:srgbClr val="FFFF00"/>
                </a:solidFill>
                <a:latin typeface="Arial" pitchFamily="34" charset="0"/>
                <a:cs typeface="Arial" pitchFamily="34" charset="0"/>
              </a:rPr>
              <a:t> are allophones; phonemically they are considered to be the same sound although they are different phonetically in terms of aspiration, voicing, and point of articulation.</a:t>
            </a:r>
          </a:p>
        </p:txBody>
      </p:sp>
    </p:spTree>
    <p:extLst>
      <p:ext uri="{BB962C8B-B14F-4D97-AF65-F5344CB8AC3E}">
        <p14:creationId xmlns:p14="http://schemas.microsoft.com/office/powerpoint/2010/main" val="109289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2"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468164" y="432272"/>
            <a:ext cx="15409712" cy="107721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sz="3100" b="1" dirty="0" smtClean="0">
                <a:latin typeface="Arial" pitchFamily="34" charset="0"/>
                <a:cs typeface="Arial" pitchFamily="34" charset="0"/>
              </a:rPr>
              <a:t>Articulation</a:t>
            </a:r>
            <a:r>
              <a:rPr lang="en-US" sz="3100" dirty="0" smtClean="0">
                <a:latin typeface="Arial" pitchFamily="34" charset="0"/>
                <a:cs typeface="Arial" pitchFamily="34" charset="0"/>
              </a:rPr>
              <a:t> </a:t>
            </a:r>
            <a:r>
              <a:rPr lang="en-US" sz="3100" dirty="0">
                <a:latin typeface="Arial" pitchFamily="34" charset="0"/>
                <a:cs typeface="Arial" pitchFamily="34" charset="0"/>
              </a:rPr>
              <a:t>is the production of sounds using the vocal tract, such as the articulation of the sounds of vowels and consonants. </a:t>
            </a:r>
            <a:endParaRPr lang="en-PH" sz="3100" dirty="0">
              <a:latin typeface="Arial" pitchFamily="34" charset="0"/>
              <a:cs typeface="Arial" pitchFamily="34" charset="0"/>
            </a:endParaRPr>
          </a:p>
        </p:txBody>
      </p:sp>
      <p:sp>
        <p:nvSpPr>
          <p:cNvPr id="7" name="Rectangle 6"/>
          <p:cNvSpPr/>
          <p:nvPr/>
        </p:nvSpPr>
        <p:spPr>
          <a:xfrm>
            <a:off x="468164" y="1728416"/>
            <a:ext cx="15409712" cy="104644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n-US" sz="3100" b="1" dirty="0">
                <a:latin typeface="Arial" pitchFamily="34" charset="0"/>
                <a:cs typeface="Arial" pitchFamily="34" charset="0"/>
              </a:rPr>
              <a:t>Phonation</a:t>
            </a:r>
            <a:r>
              <a:rPr lang="en-US" sz="3100" dirty="0">
                <a:latin typeface="Arial" pitchFamily="34" charset="0"/>
                <a:cs typeface="Arial" pitchFamily="34" charset="0"/>
              </a:rPr>
              <a:t> occurs when the air is carried into the lungs. The air passes through the glottis and the larynx. </a:t>
            </a:r>
            <a:endParaRPr lang="en-PH" sz="3100" dirty="0">
              <a:latin typeface="Arial" pitchFamily="34" charset="0"/>
              <a:cs typeface="Arial" pitchFamily="34" charset="0"/>
            </a:endParaRPr>
          </a:p>
        </p:txBody>
      </p:sp>
      <p:sp>
        <p:nvSpPr>
          <p:cNvPr id="8" name="Rectangle 7"/>
          <p:cNvSpPr/>
          <p:nvPr/>
        </p:nvSpPr>
        <p:spPr>
          <a:xfrm>
            <a:off x="3420492" y="3652302"/>
            <a:ext cx="12313368" cy="3908762"/>
          </a:xfrm>
          <a:prstGeom prst="rect">
            <a:avLst/>
          </a:prstGeom>
        </p:spPr>
        <p:txBody>
          <a:bodyPr wrap="square">
            <a:spAutoFit/>
          </a:bodyPr>
          <a:lstStyle/>
          <a:p>
            <a:pPr algn="just"/>
            <a:r>
              <a:rPr lang="en-PH" sz="3100" b="1" dirty="0" smtClean="0">
                <a:solidFill>
                  <a:srgbClr val="FFFF00"/>
                </a:solidFill>
                <a:latin typeface="Arial" pitchFamily="34" charset="0"/>
                <a:cs typeface="Arial" pitchFamily="34" charset="0"/>
              </a:rPr>
              <a:t>Phone </a:t>
            </a:r>
            <a:r>
              <a:rPr lang="en-PH" sz="3100" dirty="0" smtClean="0">
                <a:solidFill>
                  <a:srgbClr val="FFFF00"/>
                </a:solidFill>
                <a:latin typeface="Arial" pitchFamily="34" charset="0"/>
                <a:cs typeface="Arial" pitchFamily="34" charset="0"/>
              </a:rPr>
              <a:t> </a:t>
            </a:r>
            <a:r>
              <a:rPr lang="en-PH" sz="3100" dirty="0">
                <a:solidFill>
                  <a:schemeClr val="bg1"/>
                </a:solidFill>
                <a:latin typeface="Arial" pitchFamily="34" charset="0"/>
                <a:cs typeface="Arial" pitchFamily="34" charset="0"/>
              </a:rPr>
              <a:t>the actual sound of a word that you can hear and is represented in phonology with square brackets surrounding it. </a:t>
            </a:r>
            <a:endParaRPr lang="en-PH" sz="3100" dirty="0" smtClean="0">
              <a:solidFill>
                <a:schemeClr val="bg1"/>
              </a:solidFill>
              <a:latin typeface="Arial" pitchFamily="34" charset="0"/>
              <a:cs typeface="Arial" pitchFamily="34" charset="0"/>
            </a:endParaRPr>
          </a:p>
          <a:p>
            <a:pPr algn="just"/>
            <a:r>
              <a:rPr lang="en-PH" sz="3100" dirty="0" smtClean="0">
                <a:solidFill>
                  <a:schemeClr val="bg1"/>
                </a:solidFill>
                <a:latin typeface="Arial" pitchFamily="34" charset="0"/>
                <a:cs typeface="Arial" pitchFamily="34" charset="0"/>
              </a:rPr>
              <a:t>	An </a:t>
            </a:r>
            <a:r>
              <a:rPr lang="en-PH" sz="3100" dirty="0">
                <a:solidFill>
                  <a:schemeClr val="bg1"/>
                </a:solidFill>
                <a:latin typeface="Arial" pitchFamily="34" charset="0"/>
                <a:cs typeface="Arial" pitchFamily="34" charset="0"/>
              </a:rPr>
              <a:t>example can be the word </a:t>
            </a:r>
            <a:r>
              <a:rPr lang="en-PH" sz="3100" i="1" dirty="0">
                <a:solidFill>
                  <a:schemeClr val="bg1"/>
                </a:solidFill>
                <a:latin typeface="Arial" pitchFamily="34" charset="0"/>
                <a:cs typeface="Arial" pitchFamily="34" charset="0"/>
              </a:rPr>
              <a:t>puff, </a:t>
            </a:r>
            <a:r>
              <a:rPr lang="en-PH" sz="3100" dirty="0">
                <a:solidFill>
                  <a:schemeClr val="bg1"/>
                </a:solidFill>
                <a:latin typeface="Arial" pitchFamily="34" charset="0"/>
                <a:cs typeface="Arial" pitchFamily="34" charset="0"/>
              </a:rPr>
              <a:t>so when you speak the word aloud, that sound is called the phone. So you are speaking out the word’s mental presentation, the phoneme, which is a symbol representing the sound and makes an actual </a:t>
            </a:r>
            <a:r>
              <a:rPr lang="en-PH" sz="3100" dirty="0" smtClean="0">
                <a:solidFill>
                  <a:schemeClr val="bg1"/>
                </a:solidFill>
                <a:latin typeface="Arial" pitchFamily="34" charset="0"/>
                <a:cs typeface="Arial" pitchFamily="34" charset="0"/>
              </a:rPr>
              <a:t>sound.</a:t>
            </a:r>
          </a:p>
          <a:p>
            <a:pPr algn="just"/>
            <a:r>
              <a:rPr lang="en-PH" sz="3100" dirty="0" smtClean="0">
                <a:solidFill>
                  <a:schemeClr val="bg1"/>
                </a:solidFill>
                <a:latin typeface="Arial" pitchFamily="34" charset="0"/>
                <a:cs typeface="Arial" pitchFamily="34" charset="0"/>
              </a:rPr>
              <a:t>	This </a:t>
            </a:r>
            <a:r>
              <a:rPr lang="en-PH" sz="3100" dirty="0">
                <a:solidFill>
                  <a:schemeClr val="bg1"/>
                </a:solidFill>
                <a:latin typeface="Arial" pitchFamily="34" charset="0"/>
                <a:cs typeface="Arial" pitchFamily="34" charset="0"/>
              </a:rPr>
              <a:t>is represented in the symbol that is written in the square brackets, and it is written as it sounds, like this: [</a:t>
            </a:r>
            <a:r>
              <a:rPr lang="en-PH" sz="3100" dirty="0" err="1">
                <a:solidFill>
                  <a:schemeClr val="bg1"/>
                </a:solidFill>
                <a:latin typeface="Arial" pitchFamily="34" charset="0"/>
                <a:cs typeface="Arial" pitchFamily="34" charset="0"/>
              </a:rPr>
              <a:t>pʌf</a:t>
            </a:r>
            <a:r>
              <a:rPr lang="en-PH" sz="3100" dirty="0" smtClean="0">
                <a:solidFill>
                  <a:schemeClr val="bg1"/>
                </a:solidFill>
                <a:latin typeface="Arial" pitchFamily="34" charset="0"/>
                <a:cs typeface="Arial" pitchFamily="34" charset="0"/>
              </a:rPr>
              <a:t>]</a:t>
            </a:r>
            <a:endParaRPr lang="en-PH" sz="31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30895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55583"/>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6"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40172" y="432272"/>
            <a:ext cx="15257968" cy="104644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3100" b="1" dirty="0" smtClean="0">
                <a:latin typeface="Arial" pitchFamily="34" charset="0"/>
                <a:cs typeface="Arial" pitchFamily="34" charset="0"/>
              </a:rPr>
              <a:t>Nasalization </a:t>
            </a:r>
            <a:r>
              <a:rPr lang="en-US" sz="3100" dirty="0" smtClean="0">
                <a:latin typeface="Arial" pitchFamily="34" charset="0"/>
                <a:cs typeface="Arial" pitchFamily="34" charset="0"/>
              </a:rPr>
              <a:t>occurs </a:t>
            </a:r>
            <a:r>
              <a:rPr lang="en-US" sz="3100" dirty="0">
                <a:latin typeface="Arial" pitchFamily="34" charset="0"/>
                <a:cs typeface="Arial" pitchFamily="34" charset="0"/>
              </a:rPr>
              <a:t>when the sound is expelled partly through the nose and the mouth, such as the sound of /n/. </a:t>
            </a:r>
            <a:endParaRPr lang="en-PH" sz="3100" dirty="0">
              <a:latin typeface="Arial" pitchFamily="34" charset="0"/>
              <a:cs typeface="Arial" pitchFamily="34" charset="0"/>
            </a:endParaRPr>
          </a:p>
        </p:txBody>
      </p:sp>
      <p:sp>
        <p:nvSpPr>
          <p:cNvPr id="8" name="Rectangle 7"/>
          <p:cNvSpPr/>
          <p:nvPr/>
        </p:nvSpPr>
        <p:spPr>
          <a:xfrm>
            <a:off x="540172" y="1728416"/>
            <a:ext cx="15265696" cy="2854628"/>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PH" sz="3200" b="1" dirty="0" smtClean="0">
                <a:solidFill>
                  <a:srgbClr val="FFFF00"/>
                </a:solidFill>
                <a:latin typeface="Arial" pitchFamily="34" charset="0"/>
                <a:cs typeface="Arial" pitchFamily="34" charset="0"/>
              </a:rPr>
              <a:t>THREE BRANCHES OF PHONETICS</a:t>
            </a:r>
          </a:p>
          <a:p>
            <a:pPr marL="457200" indent="-457200" algn="just">
              <a:buFont typeface="Wingdings" pitchFamily="2" charset="2"/>
              <a:buChar char="q"/>
            </a:pPr>
            <a:r>
              <a:rPr lang="en-PH" sz="2950" b="1" dirty="0" smtClean="0">
                <a:latin typeface="Arial" pitchFamily="34" charset="0"/>
                <a:cs typeface="Arial" pitchFamily="34" charset="0"/>
              </a:rPr>
              <a:t>Articulatory </a:t>
            </a:r>
            <a:r>
              <a:rPr lang="en-PH" sz="2950" b="1" dirty="0">
                <a:latin typeface="Arial" pitchFamily="34" charset="0"/>
                <a:cs typeface="Arial" pitchFamily="34" charset="0"/>
              </a:rPr>
              <a:t>phonetics </a:t>
            </a:r>
            <a:r>
              <a:rPr lang="en-PH" sz="2950" dirty="0">
                <a:latin typeface="Arial" pitchFamily="34" charset="0"/>
                <a:cs typeface="Arial" pitchFamily="34" charset="0"/>
              </a:rPr>
              <a:t>studies the production of speech sounds by the human vocal tract.</a:t>
            </a:r>
          </a:p>
          <a:p>
            <a:pPr marL="457200" indent="-457200" algn="just">
              <a:buFont typeface="Wingdings" pitchFamily="2" charset="2"/>
              <a:buChar char="q"/>
            </a:pPr>
            <a:r>
              <a:rPr lang="en-PH" sz="2950" b="1" dirty="0">
                <a:latin typeface="Arial" pitchFamily="34" charset="0"/>
                <a:cs typeface="Arial" pitchFamily="34" charset="0"/>
              </a:rPr>
              <a:t>Auditory phonetics </a:t>
            </a:r>
            <a:r>
              <a:rPr lang="en-PH" sz="2950" dirty="0">
                <a:latin typeface="Arial" pitchFamily="34" charset="0"/>
                <a:cs typeface="Arial" pitchFamily="34" charset="0"/>
              </a:rPr>
              <a:t>studies the perception of speech sounds by the human perceptual system.</a:t>
            </a:r>
          </a:p>
          <a:p>
            <a:pPr marL="457200" indent="-457200" algn="just">
              <a:buFont typeface="Wingdings" pitchFamily="2" charset="2"/>
              <a:buChar char="q"/>
            </a:pPr>
            <a:r>
              <a:rPr lang="en-PH" sz="2950" b="1" dirty="0">
                <a:latin typeface="Arial" pitchFamily="34" charset="0"/>
                <a:cs typeface="Arial" pitchFamily="34" charset="0"/>
              </a:rPr>
              <a:t>Acoustic phonetics </a:t>
            </a:r>
            <a:r>
              <a:rPr lang="en-PH" sz="2950" dirty="0">
                <a:latin typeface="Arial" pitchFamily="34" charset="0"/>
                <a:cs typeface="Arial" pitchFamily="34" charset="0"/>
              </a:rPr>
              <a:t>studies the physical properties of speech sounds.</a:t>
            </a:r>
          </a:p>
        </p:txBody>
      </p:sp>
      <p:sp>
        <p:nvSpPr>
          <p:cNvPr id="2" name="TextBox 1"/>
          <p:cNvSpPr txBox="1"/>
          <p:nvPr/>
        </p:nvSpPr>
        <p:spPr>
          <a:xfrm>
            <a:off x="540172" y="4888057"/>
            <a:ext cx="3637534" cy="58477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PH" sz="3200" b="1" dirty="0" smtClean="0">
                <a:latin typeface="Arial" pitchFamily="34" charset="0"/>
                <a:cs typeface="Arial" pitchFamily="34" charset="0"/>
              </a:rPr>
              <a:t>Two main classes</a:t>
            </a:r>
            <a:endParaRPr lang="en-PH" sz="3200" b="1" dirty="0">
              <a:latin typeface="Arial" pitchFamily="34" charset="0"/>
              <a:cs typeface="Arial" pitchFamily="34" charset="0"/>
            </a:endParaRPr>
          </a:p>
        </p:txBody>
      </p:sp>
      <p:sp>
        <p:nvSpPr>
          <p:cNvPr id="3" name="Rectangle 2"/>
          <p:cNvSpPr/>
          <p:nvPr/>
        </p:nvSpPr>
        <p:spPr>
          <a:xfrm>
            <a:off x="1188244" y="5688856"/>
            <a:ext cx="14609896" cy="304698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3600" b="1" dirty="0" smtClean="0">
                <a:latin typeface="Arial" pitchFamily="34" charset="0"/>
                <a:cs typeface="Arial" pitchFamily="34" charset="0"/>
              </a:rPr>
              <a:t>I. Vowels </a:t>
            </a:r>
            <a:endParaRPr lang="en-PH" sz="3600" dirty="0">
              <a:latin typeface="Arial" pitchFamily="34" charset="0"/>
              <a:cs typeface="Arial" pitchFamily="34" charset="0"/>
            </a:endParaRPr>
          </a:p>
          <a:p>
            <a:pPr algn="just"/>
            <a:r>
              <a:rPr lang="en-US" sz="3100" b="1" dirty="0">
                <a:latin typeface="Arial" pitchFamily="34" charset="0"/>
                <a:cs typeface="Arial" pitchFamily="34" charset="0"/>
              </a:rPr>
              <a:t>	</a:t>
            </a:r>
            <a:r>
              <a:rPr lang="en-US" sz="3100" dirty="0">
                <a:latin typeface="Arial" pitchFamily="34" charset="0"/>
                <a:cs typeface="Arial" pitchFamily="34" charset="0"/>
              </a:rPr>
              <a:t>A </a:t>
            </a:r>
            <a:r>
              <a:rPr lang="en-US" sz="3100" b="1" dirty="0">
                <a:latin typeface="Arial" pitchFamily="34" charset="0"/>
                <a:cs typeface="Arial" pitchFamily="34" charset="0"/>
              </a:rPr>
              <a:t>vowel</a:t>
            </a:r>
            <a:r>
              <a:rPr lang="en-US" sz="3100" dirty="0">
                <a:latin typeface="Arial" pitchFamily="34" charset="0"/>
                <a:cs typeface="Arial" pitchFamily="34" charset="0"/>
              </a:rPr>
              <a:t> is a speech sound that is syllabic and pronounced without any restrictions in the organs. It is one of the major classifications of sound. It varies in loudness, quality and length. Vowels are voiced. It is involved in prosodic distinction including stress, tone and intonation. Vowels are primarily represented by letters:</a:t>
            </a:r>
            <a:r>
              <a:rPr lang="en-US" sz="3200" b="1" dirty="0">
                <a:solidFill>
                  <a:srgbClr val="FFFF00"/>
                </a:solidFill>
                <a:latin typeface="Arial" pitchFamily="34" charset="0"/>
                <a:cs typeface="Arial" pitchFamily="34" charset="0"/>
              </a:rPr>
              <a:t> </a:t>
            </a:r>
            <a:r>
              <a:rPr lang="en-US" sz="3200" b="1" dirty="0">
                <a:solidFill>
                  <a:srgbClr val="002060"/>
                </a:solidFill>
                <a:latin typeface="Arial" pitchFamily="34" charset="0"/>
                <a:cs typeface="Arial" pitchFamily="34" charset="0"/>
              </a:rPr>
              <a:t>a, e, i, o, u. </a:t>
            </a:r>
            <a:endParaRPr lang="en-PH" sz="3200" b="1" dirty="0">
              <a:solidFill>
                <a:srgbClr val="002060"/>
              </a:solidFill>
              <a:latin typeface="Arial" pitchFamily="34" charset="0"/>
              <a:cs typeface="Arial" pitchFamily="34" charset="0"/>
            </a:endParaRPr>
          </a:p>
        </p:txBody>
      </p:sp>
    </p:spTree>
    <p:extLst>
      <p:ext uri="{BB962C8B-B14F-4D97-AF65-F5344CB8AC3E}">
        <p14:creationId xmlns:p14="http://schemas.microsoft.com/office/powerpoint/2010/main" val="220788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396156" y="360264"/>
            <a:ext cx="15481720" cy="458587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3600" b="1" dirty="0" smtClean="0">
                <a:solidFill>
                  <a:srgbClr val="FF0000"/>
                </a:solidFill>
                <a:latin typeface="Arial" pitchFamily="34" charset="0"/>
                <a:cs typeface="Arial" pitchFamily="34" charset="0"/>
              </a:rPr>
              <a:t>II. Consonants</a:t>
            </a:r>
            <a:endParaRPr lang="en-PH" sz="3600" dirty="0">
              <a:solidFill>
                <a:srgbClr val="FF0000"/>
              </a:solidFill>
              <a:latin typeface="Arial" pitchFamily="34" charset="0"/>
              <a:cs typeface="Arial" pitchFamily="34" charset="0"/>
            </a:endParaRPr>
          </a:p>
          <a:p>
            <a:pPr algn="just"/>
            <a:r>
              <a:rPr lang="en-US" b="1" dirty="0">
                <a:solidFill>
                  <a:srgbClr val="002060"/>
                </a:solidFill>
                <a:latin typeface="Arial" pitchFamily="34" charset="0"/>
                <a:cs typeface="Arial" pitchFamily="34" charset="0"/>
              </a:rPr>
              <a:t>	</a:t>
            </a:r>
            <a:r>
              <a:rPr lang="en-US" sz="2750" dirty="0" smtClean="0">
                <a:solidFill>
                  <a:srgbClr val="002060"/>
                </a:solidFill>
                <a:latin typeface="Arial" pitchFamily="34" charset="0"/>
                <a:cs typeface="Arial" pitchFamily="34" charset="0"/>
              </a:rPr>
              <a:t>Consonants </a:t>
            </a:r>
            <a:r>
              <a:rPr lang="en-US" sz="2750" dirty="0">
                <a:solidFill>
                  <a:srgbClr val="002060"/>
                </a:solidFill>
                <a:latin typeface="Arial" pitchFamily="34" charset="0"/>
                <a:cs typeface="Arial" pitchFamily="34" charset="0"/>
              </a:rPr>
              <a:t>are speech sounds that are articulated with partial or complete closure of the vocal tract. </a:t>
            </a:r>
            <a:endParaRPr lang="en-PH" sz="2750" dirty="0">
              <a:solidFill>
                <a:srgbClr val="002060"/>
              </a:solidFill>
              <a:latin typeface="Arial" pitchFamily="34" charset="0"/>
              <a:cs typeface="Arial" pitchFamily="34" charset="0"/>
            </a:endParaRPr>
          </a:p>
          <a:p>
            <a:r>
              <a:rPr lang="en-US" sz="2750" dirty="0">
                <a:solidFill>
                  <a:srgbClr val="002060"/>
                </a:solidFill>
                <a:latin typeface="Arial" pitchFamily="34" charset="0"/>
                <a:cs typeface="Arial" pitchFamily="34" charset="0"/>
              </a:rPr>
              <a:t>	</a:t>
            </a:r>
            <a:r>
              <a:rPr lang="en-US" sz="2750" i="1" dirty="0">
                <a:solidFill>
                  <a:srgbClr val="002060"/>
                </a:solidFill>
                <a:latin typeface="Arial" pitchFamily="34" charset="0"/>
                <a:cs typeface="Arial" pitchFamily="34" charset="0"/>
              </a:rPr>
              <a:t>Examples of consonants are</a:t>
            </a:r>
            <a:r>
              <a:rPr lang="en-US" sz="2750" i="1" dirty="0" smtClean="0">
                <a:solidFill>
                  <a:srgbClr val="002060"/>
                </a:solidFill>
                <a:latin typeface="Arial" pitchFamily="34" charset="0"/>
                <a:cs typeface="Arial" pitchFamily="34" charset="0"/>
              </a:rPr>
              <a:t>:</a:t>
            </a:r>
          </a:p>
          <a:p>
            <a:endParaRPr lang="en-PH" sz="800" i="1" dirty="0">
              <a:solidFill>
                <a:srgbClr val="002060"/>
              </a:solidFill>
              <a:latin typeface="Arial" pitchFamily="34" charset="0"/>
              <a:cs typeface="Arial" pitchFamily="34" charset="0"/>
            </a:endParaRPr>
          </a:p>
          <a:p>
            <a:pPr marL="3378708" lvl="4" indent="-457200">
              <a:buFont typeface="Wingdings" pitchFamily="2" charset="2"/>
              <a:buChar char="v"/>
            </a:pPr>
            <a:r>
              <a:rPr lang="en-US" sz="2700" dirty="0">
                <a:solidFill>
                  <a:schemeClr val="tx1"/>
                </a:solidFill>
                <a:latin typeface="Arial" pitchFamily="34" charset="0"/>
                <a:cs typeface="Arial" pitchFamily="34" charset="0"/>
              </a:rPr>
              <a:t>[p]</a:t>
            </a:r>
            <a:r>
              <a:rPr lang="en-US" sz="2700" dirty="0">
                <a:solidFill>
                  <a:srgbClr val="002060"/>
                </a:solidFill>
                <a:latin typeface="Arial" pitchFamily="34" charset="0"/>
                <a:cs typeface="Arial" pitchFamily="34" charset="0"/>
              </a:rPr>
              <a:t> – (produced with the lips)</a:t>
            </a:r>
            <a:endParaRPr lang="en-PH" sz="2700" dirty="0">
              <a:solidFill>
                <a:srgbClr val="002060"/>
              </a:solidFill>
              <a:latin typeface="Arial" pitchFamily="34" charset="0"/>
              <a:cs typeface="Arial" pitchFamily="34" charset="0"/>
            </a:endParaRPr>
          </a:p>
          <a:p>
            <a:pPr marL="3378708" lvl="4" indent="-457200">
              <a:buFont typeface="Wingdings" pitchFamily="2" charset="2"/>
              <a:buChar char="v"/>
            </a:pPr>
            <a:r>
              <a:rPr lang="en-US" sz="2700" dirty="0">
                <a:solidFill>
                  <a:schemeClr val="tx1"/>
                </a:solidFill>
                <a:latin typeface="Arial" pitchFamily="34" charset="0"/>
                <a:cs typeface="Arial" pitchFamily="34" charset="0"/>
              </a:rPr>
              <a:t>[t] </a:t>
            </a:r>
            <a:r>
              <a:rPr lang="en-US" sz="2700" dirty="0">
                <a:solidFill>
                  <a:srgbClr val="002060"/>
                </a:solidFill>
                <a:latin typeface="Arial" pitchFamily="34" charset="0"/>
                <a:cs typeface="Arial" pitchFamily="34" charset="0"/>
              </a:rPr>
              <a:t>– (produced with the front of the tongue)</a:t>
            </a:r>
            <a:endParaRPr lang="en-PH" sz="2700" dirty="0">
              <a:solidFill>
                <a:srgbClr val="002060"/>
              </a:solidFill>
              <a:latin typeface="Arial" pitchFamily="34" charset="0"/>
              <a:cs typeface="Arial" pitchFamily="34" charset="0"/>
            </a:endParaRPr>
          </a:p>
          <a:p>
            <a:pPr marL="3378708" lvl="4" indent="-457200">
              <a:buFont typeface="Wingdings" pitchFamily="2" charset="2"/>
              <a:buChar char="v"/>
            </a:pPr>
            <a:r>
              <a:rPr lang="en-US" sz="2700" dirty="0">
                <a:solidFill>
                  <a:schemeClr val="tx1"/>
                </a:solidFill>
                <a:latin typeface="Arial" pitchFamily="34" charset="0"/>
                <a:cs typeface="Arial" pitchFamily="34" charset="0"/>
              </a:rPr>
              <a:t>[k] </a:t>
            </a:r>
            <a:r>
              <a:rPr lang="en-US" sz="2700" dirty="0">
                <a:solidFill>
                  <a:srgbClr val="002060"/>
                </a:solidFill>
                <a:latin typeface="Arial" pitchFamily="34" charset="0"/>
                <a:cs typeface="Arial" pitchFamily="34" charset="0"/>
              </a:rPr>
              <a:t>– (produced with the back of the tongue)</a:t>
            </a:r>
            <a:endParaRPr lang="en-PH" sz="2700" dirty="0">
              <a:solidFill>
                <a:srgbClr val="002060"/>
              </a:solidFill>
              <a:latin typeface="Arial" pitchFamily="34" charset="0"/>
              <a:cs typeface="Arial" pitchFamily="34" charset="0"/>
            </a:endParaRPr>
          </a:p>
          <a:p>
            <a:pPr marL="3378708" lvl="4" indent="-457200">
              <a:buFont typeface="Wingdings" pitchFamily="2" charset="2"/>
              <a:buChar char="v"/>
            </a:pPr>
            <a:r>
              <a:rPr lang="en-US" sz="2700" dirty="0">
                <a:solidFill>
                  <a:schemeClr val="tx1"/>
                </a:solidFill>
                <a:latin typeface="Arial" pitchFamily="34" charset="0"/>
                <a:cs typeface="Arial" pitchFamily="34" charset="0"/>
              </a:rPr>
              <a:t>[h] </a:t>
            </a:r>
            <a:r>
              <a:rPr lang="en-US" sz="2700" dirty="0">
                <a:solidFill>
                  <a:srgbClr val="002060"/>
                </a:solidFill>
                <a:latin typeface="Arial" pitchFamily="34" charset="0"/>
                <a:cs typeface="Arial" pitchFamily="34" charset="0"/>
              </a:rPr>
              <a:t>– (produced in the throat)</a:t>
            </a:r>
            <a:endParaRPr lang="en-PH" sz="2700" dirty="0">
              <a:solidFill>
                <a:srgbClr val="002060"/>
              </a:solidFill>
              <a:latin typeface="Arial" pitchFamily="34" charset="0"/>
              <a:cs typeface="Arial" pitchFamily="34" charset="0"/>
            </a:endParaRPr>
          </a:p>
          <a:p>
            <a:pPr marL="3378708" lvl="4" indent="-457200">
              <a:buFont typeface="Wingdings" pitchFamily="2" charset="2"/>
              <a:buChar char="v"/>
            </a:pPr>
            <a:r>
              <a:rPr lang="en-US" sz="2700" dirty="0">
                <a:solidFill>
                  <a:schemeClr val="tx1"/>
                </a:solidFill>
                <a:latin typeface="Arial" pitchFamily="34" charset="0"/>
                <a:cs typeface="Arial" pitchFamily="34" charset="0"/>
              </a:rPr>
              <a:t>[f] </a:t>
            </a:r>
            <a:r>
              <a:rPr lang="en-US" sz="2700" dirty="0">
                <a:solidFill>
                  <a:srgbClr val="002060"/>
                </a:solidFill>
                <a:latin typeface="Arial" pitchFamily="34" charset="0"/>
                <a:cs typeface="Arial" pitchFamily="34" charset="0"/>
              </a:rPr>
              <a:t>and</a:t>
            </a:r>
            <a:r>
              <a:rPr lang="en-US" sz="2700" dirty="0">
                <a:solidFill>
                  <a:schemeClr val="tx1"/>
                </a:solidFill>
                <a:latin typeface="Arial" pitchFamily="34" charset="0"/>
                <a:cs typeface="Arial" pitchFamily="34" charset="0"/>
              </a:rPr>
              <a:t> [s], </a:t>
            </a:r>
            <a:r>
              <a:rPr lang="en-US" sz="2700" dirty="0">
                <a:solidFill>
                  <a:srgbClr val="002060"/>
                </a:solidFill>
                <a:latin typeface="Arial" pitchFamily="34" charset="0"/>
                <a:cs typeface="Arial" pitchFamily="34" charset="0"/>
              </a:rPr>
              <a:t>– (produced forcing air through a narrow channel)</a:t>
            </a:r>
            <a:endParaRPr lang="en-PH" sz="2700" dirty="0">
              <a:solidFill>
                <a:srgbClr val="002060"/>
              </a:solidFill>
              <a:latin typeface="Arial" pitchFamily="34" charset="0"/>
              <a:cs typeface="Arial" pitchFamily="34" charset="0"/>
            </a:endParaRPr>
          </a:p>
          <a:p>
            <a:pPr marL="3378708" lvl="4" indent="-457200">
              <a:buFont typeface="Wingdings" pitchFamily="2" charset="2"/>
              <a:buChar char="v"/>
            </a:pPr>
            <a:r>
              <a:rPr lang="en-US" sz="2700" dirty="0">
                <a:solidFill>
                  <a:schemeClr val="tx1"/>
                </a:solidFill>
                <a:latin typeface="Arial" pitchFamily="34" charset="0"/>
                <a:cs typeface="Arial" pitchFamily="34" charset="0"/>
              </a:rPr>
              <a:t>[m] </a:t>
            </a:r>
            <a:r>
              <a:rPr lang="en-US" sz="2700" dirty="0">
                <a:solidFill>
                  <a:srgbClr val="002060"/>
                </a:solidFill>
                <a:latin typeface="Arial" pitchFamily="34" charset="0"/>
                <a:cs typeface="Arial" pitchFamily="34" charset="0"/>
              </a:rPr>
              <a:t>and </a:t>
            </a:r>
            <a:r>
              <a:rPr lang="en-US" sz="2700" dirty="0">
                <a:solidFill>
                  <a:schemeClr val="tx1"/>
                </a:solidFill>
                <a:latin typeface="Arial" pitchFamily="34" charset="0"/>
                <a:cs typeface="Arial" pitchFamily="34" charset="0"/>
              </a:rPr>
              <a:t>[n], </a:t>
            </a:r>
            <a:r>
              <a:rPr lang="en-US" sz="2700" dirty="0">
                <a:solidFill>
                  <a:srgbClr val="002060"/>
                </a:solidFill>
                <a:latin typeface="Arial" pitchFamily="34" charset="0"/>
                <a:cs typeface="Arial" pitchFamily="34" charset="0"/>
              </a:rPr>
              <a:t>- the air goes through the nose. </a:t>
            </a:r>
            <a:endParaRPr lang="en-PH" sz="2700" dirty="0">
              <a:solidFill>
                <a:srgbClr val="002060"/>
              </a:solidFill>
              <a:latin typeface="Arial" pitchFamily="34" charset="0"/>
              <a:cs typeface="Arial" pitchFamily="34" charset="0"/>
            </a:endParaRPr>
          </a:p>
        </p:txBody>
      </p:sp>
      <p:sp>
        <p:nvSpPr>
          <p:cNvPr id="3" name="Rectangle 2"/>
          <p:cNvSpPr/>
          <p:nvPr/>
        </p:nvSpPr>
        <p:spPr>
          <a:xfrm>
            <a:off x="1260252" y="5112792"/>
            <a:ext cx="14617624" cy="332398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3600" b="1" dirty="0">
                <a:latin typeface="Arial" pitchFamily="34" charset="0"/>
                <a:cs typeface="Arial" pitchFamily="34" charset="0"/>
              </a:rPr>
              <a:t>Suprasegmental Features</a:t>
            </a:r>
            <a:endParaRPr lang="en-PH" sz="3600" dirty="0">
              <a:latin typeface="Arial" pitchFamily="34" charset="0"/>
              <a:cs typeface="Arial" pitchFamily="34" charset="0"/>
            </a:endParaRPr>
          </a:p>
          <a:p>
            <a:pPr marL="1917954" lvl="2" indent="-457200">
              <a:buFont typeface="Wingdings" pitchFamily="2" charset="2"/>
              <a:buChar char="v"/>
            </a:pPr>
            <a:r>
              <a:rPr lang="en-US" b="1" dirty="0" smtClean="0">
                <a:solidFill>
                  <a:schemeClr val="tx1"/>
                </a:solidFill>
                <a:latin typeface="Arial" pitchFamily="34" charset="0"/>
                <a:cs typeface="Arial" pitchFamily="34" charset="0"/>
              </a:rPr>
              <a:t>Suprasegmental </a:t>
            </a:r>
            <a:r>
              <a:rPr lang="en-US" b="1" dirty="0">
                <a:solidFill>
                  <a:schemeClr val="tx1"/>
                </a:solidFill>
                <a:latin typeface="Arial" pitchFamily="34" charset="0"/>
                <a:cs typeface="Arial" pitchFamily="34" charset="0"/>
              </a:rPr>
              <a:t>features </a:t>
            </a:r>
            <a:r>
              <a:rPr lang="en-US" dirty="0">
                <a:latin typeface="Arial" pitchFamily="34" charset="0"/>
                <a:cs typeface="Arial" pitchFamily="34" charset="0"/>
              </a:rPr>
              <a:t>are prosodic features which include stress, tone, pitch, juncture, and intonation. 	</a:t>
            </a:r>
            <a:endParaRPr lang="en-US" dirty="0" smtClean="0">
              <a:latin typeface="Arial" pitchFamily="34" charset="0"/>
              <a:cs typeface="Arial" pitchFamily="34" charset="0"/>
            </a:endParaRPr>
          </a:p>
          <a:p>
            <a:pPr marL="1917954" lvl="2" indent="-457200">
              <a:buFont typeface="Wingdings" pitchFamily="2" charset="2"/>
              <a:buChar char="v"/>
            </a:pPr>
            <a:r>
              <a:rPr lang="en-US" b="1" dirty="0" smtClean="0">
                <a:solidFill>
                  <a:schemeClr val="tx1"/>
                </a:solidFill>
                <a:latin typeface="Arial" pitchFamily="34" charset="0"/>
                <a:cs typeface="Arial" pitchFamily="34" charset="0"/>
              </a:rPr>
              <a:t>Transcription</a:t>
            </a:r>
            <a:r>
              <a:rPr lang="en-US" dirty="0" smtClean="0">
                <a:latin typeface="Arial" pitchFamily="34" charset="0"/>
                <a:cs typeface="Arial" pitchFamily="34" charset="0"/>
              </a:rPr>
              <a:t> </a:t>
            </a:r>
            <a:r>
              <a:rPr lang="en-US" dirty="0">
                <a:latin typeface="Arial" pitchFamily="34" charset="0"/>
                <a:cs typeface="Arial" pitchFamily="34" charset="0"/>
              </a:rPr>
              <a:t>refers to the symbolic and visual representation of speech sounds. The International Phonetic Alphabet is usually the most common transcription that us utilized by many linguistics. Below is the guide for transcription</a:t>
            </a:r>
            <a:endParaRPr lang="en-PH" dirty="0">
              <a:latin typeface="Arial" pitchFamily="34" charset="0"/>
              <a:cs typeface="Arial" pitchFamily="34" charset="0"/>
            </a:endParaRPr>
          </a:p>
        </p:txBody>
      </p:sp>
    </p:spTree>
    <p:extLst>
      <p:ext uri="{BB962C8B-B14F-4D97-AF65-F5344CB8AC3E}">
        <p14:creationId xmlns:p14="http://schemas.microsoft.com/office/powerpoint/2010/main" val="400571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8435" t="24943" r="47681" b="8131"/>
          <a:stretch/>
        </p:blipFill>
        <p:spPr bwMode="auto">
          <a:xfrm>
            <a:off x="1548285" y="576286"/>
            <a:ext cx="4890616" cy="770485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27270" t="25348" r="47987" b="12934"/>
          <a:stretch/>
        </p:blipFill>
        <p:spPr bwMode="auto">
          <a:xfrm>
            <a:off x="7668964" y="576286"/>
            <a:ext cx="5494180" cy="770485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767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5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1000"/>
                                        <p:tgtEl>
                                          <p:spTgt spid="1028"/>
                                        </p:tgtEl>
                                      </p:cBhvr>
                                    </p:animEffect>
                                    <p:anim calcmode="lin" valueType="num">
                                      <p:cBhvr>
                                        <p:cTn id="13" dur="1000" fill="hold"/>
                                        <p:tgtEl>
                                          <p:spTgt spid="1028"/>
                                        </p:tgtEl>
                                        <p:attrNameLst>
                                          <p:attrName>ppt_x</p:attrName>
                                        </p:attrNameLst>
                                      </p:cBhvr>
                                      <p:tavLst>
                                        <p:tav tm="0">
                                          <p:val>
                                            <p:strVal val="#ppt_x"/>
                                          </p:val>
                                        </p:tav>
                                        <p:tav tm="100000">
                                          <p:val>
                                            <p:strVal val="#ppt_x"/>
                                          </p:val>
                                        </p:tav>
                                      </p:tavLst>
                                    </p:anim>
                                    <p:anim calcmode="lin" valueType="num">
                                      <p:cBhvr>
                                        <p:cTn id="14"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144240"/>
            <a:ext cx="15769752" cy="91450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5220" t="24305" r="30271" b="6425"/>
          <a:stretch/>
        </p:blipFill>
        <p:spPr bwMode="auto">
          <a:xfrm>
            <a:off x="396156" y="841816"/>
            <a:ext cx="7843730" cy="68632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29319" t="24566" r="30564" b="11291"/>
          <a:stretch/>
        </p:blipFill>
        <p:spPr bwMode="auto">
          <a:xfrm>
            <a:off x="8317036" y="864320"/>
            <a:ext cx="7609867" cy="684076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876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additive="base">
                                        <p:cTn id="7" dur="500" fill="hold"/>
                                        <p:tgtEl>
                                          <p:spTgt spid="2051"/>
                                        </p:tgtEl>
                                        <p:attrNameLst>
                                          <p:attrName>ppt_x</p:attrName>
                                        </p:attrNameLst>
                                      </p:cBhvr>
                                      <p:tavLst>
                                        <p:tav tm="0">
                                          <p:val>
                                            <p:strVal val="#ppt_x"/>
                                          </p:val>
                                        </p:tav>
                                        <p:tav tm="100000">
                                          <p:val>
                                            <p:strVal val="#ppt_x"/>
                                          </p:val>
                                        </p:tav>
                                      </p:tavLst>
                                    </p:anim>
                                    <p:anim calcmode="lin" valueType="num">
                                      <p:cBhvr additive="base">
                                        <p:cTn id="8"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052"/>
                                        </p:tgtEl>
                                        <p:attrNameLst>
                                          <p:attrName>style.visibility</p:attrName>
                                        </p:attrNameLst>
                                      </p:cBhvr>
                                      <p:to>
                                        <p:strVal val="visible"/>
                                      </p:to>
                                    </p:set>
                                    <p:animEffect transition="in" filter="barn(inVertical)">
                                      <p:cBhvr>
                                        <p:cTn id="13"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idx="1"/>
          </p:nvPr>
        </p:nvSpPr>
        <p:spPr/>
        <p:txBody>
          <a:bodyPr/>
          <a:lstStyle/>
          <a:p>
            <a:endParaRPr lang="en-PH" dirty="0"/>
          </a:p>
        </p:txBody>
      </p:sp>
      <p:pic>
        <p:nvPicPr>
          <p:cNvPr id="4" name="Picture 2" descr="1,050 Powerpoint Template Blue Illustrations &amp; Clip Art - iSt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0051" t="30069" r="25000" b="10851"/>
          <a:stretch/>
        </p:blipFill>
        <p:spPr bwMode="auto">
          <a:xfrm>
            <a:off x="4284588" y="504280"/>
            <a:ext cx="11521280" cy="8514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1036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6684" t="28212" r="22218" b="29340"/>
          <a:stretch/>
        </p:blipFill>
        <p:spPr bwMode="auto">
          <a:xfrm>
            <a:off x="624550" y="648296"/>
            <a:ext cx="15109310" cy="7056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432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307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7270" t="36545" r="21779" b="31727"/>
          <a:stretch/>
        </p:blipFill>
        <p:spPr bwMode="auto">
          <a:xfrm>
            <a:off x="540172" y="428347"/>
            <a:ext cx="11089232" cy="359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26830" t="36843" r="21339" b="17323"/>
          <a:stretch/>
        </p:blipFill>
        <p:spPr bwMode="auto">
          <a:xfrm>
            <a:off x="5724748" y="4176688"/>
            <a:ext cx="9649072"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8076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additive="base">
                                        <p:cTn id="7" dur="500" fill="hold"/>
                                        <p:tgtEl>
                                          <p:spTgt spid="3075"/>
                                        </p:tgtEl>
                                        <p:attrNameLst>
                                          <p:attrName>ppt_x</p:attrName>
                                        </p:attrNameLst>
                                      </p:cBhvr>
                                      <p:tavLst>
                                        <p:tav tm="0">
                                          <p:val>
                                            <p:strVal val="#ppt_x"/>
                                          </p:val>
                                        </p:tav>
                                        <p:tav tm="100000">
                                          <p:val>
                                            <p:strVal val="#ppt_x"/>
                                          </p:val>
                                        </p:tav>
                                      </p:tavLst>
                                    </p:anim>
                                    <p:anim calcmode="lin" valueType="num">
                                      <p:cBhvr additive="base">
                                        <p:cTn id="8"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76"/>
                                        </p:tgtEl>
                                        <p:attrNameLst>
                                          <p:attrName>style.visibility</p:attrName>
                                        </p:attrNameLst>
                                      </p:cBhvr>
                                      <p:to>
                                        <p:strVal val="visible"/>
                                      </p:to>
                                    </p:set>
                                    <p:animEffect transition="in" filter="fade">
                                      <p:cBhvr>
                                        <p:cTn id="13"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3902" t="24827" r="19582" b="25694"/>
          <a:stretch/>
        </p:blipFill>
        <p:spPr bwMode="auto">
          <a:xfrm>
            <a:off x="612180" y="288256"/>
            <a:ext cx="11096187" cy="5025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23609" t="47743" r="19729" b="11893"/>
          <a:stretch/>
        </p:blipFill>
        <p:spPr bwMode="auto">
          <a:xfrm>
            <a:off x="4644628" y="5386016"/>
            <a:ext cx="10513168" cy="3759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495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 calcmode="lin" valueType="num">
                                      <p:cBhvr additive="base">
                                        <p:cTn id="7" dur="500" fill="hold"/>
                                        <p:tgtEl>
                                          <p:spTgt spid="4099"/>
                                        </p:tgtEl>
                                        <p:attrNameLst>
                                          <p:attrName>ppt_x</p:attrName>
                                        </p:attrNameLst>
                                      </p:cBhvr>
                                      <p:tavLst>
                                        <p:tav tm="0">
                                          <p:val>
                                            <p:strVal val="#ppt_x"/>
                                          </p:val>
                                        </p:tav>
                                        <p:tav tm="100000">
                                          <p:val>
                                            <p:strVal val="#ppt_x"/>
                                          </p:val>
                                        </p:tav>
                                      </p:tavLst>
                                    </p:anim>
                                    <p:anim calcmode="lin" valueType="num">
                                      <p:cBhvr additive="base">
                                        <p:cTn id="8" dur="500" fill="hold"/>
                                        <p:tgtEl>
                                          <p:spTgt spid="40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00"/>
                                        </p:tgtEl>
                                        <p:attrNameLst>
                                          <p:attrName>style.visibility</p:attrName>
                                        </p:attrNameLst>
                                      </p:cBhvr>
                                      <p:to>
                                        <p:strVal val="visible"/>
                                      </p:to>
                                    </p:set>
                                    <p:anim calcmode="lin" valueType="num">
                                      <p:cBhvr additive="base">
                                        <p:cTn id="13" dur="500" fill="hold"/>
                                        <p:tgtEl>
                                          <p:spTgt spid="4100"/>
                                        </p:tgtEl>
                                        <p:attrNameLst>
                                          <p:attrName>ppt_x</p:attrName>
                                        </p:attrNameLst>
                                      </p:cBhvr>
                                      <p:tavLst>
                                        <p:tav tm="0">
                                          <p:val>
                                            <p:strVal val="#ppt_x"/>
                                          </p:val>
                                        </p:tav>
                                        <p:tav tm="100000">
                                          <p:val>
                                            <p:strVal val="#ppt_x"/>
                                          </p:val>
                                        </p:tav>
                                      </p:tavLst>
                                    </p:anim>
                                    <p:anim calcmode="lin" valueType="num">
                                      <p:cBhvr additive="base">
                                        <p:cTn id="14" dur="500" fill="hold"/>
                                        <p:tgtEl>
                                          <p:spTgt spid="4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512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2482" r="12848"/>
          <a:stretch/>
        </p:blipFill>
        <p:spPr bwMode="auto">
          <a:xfrm>
            <a:off x="4068564" y="360264"/>
            <a:ext cx="11457150" cy="8626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4193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additive="base">
                                        <p:cTn id="7" dur="500" fill="hold"/>
                                        <p:tgtEl>
                                          <p:spTgt spid="5123"/>
                                        </p:tgtEl>
                                        <p:attrNameLst>
                                          <p:attrName>ppt_x</p:attrName>
                                        </p:attrNameLst>
                                      </p:cBhvr>
                                      <p:tavLst>
                                        <p:tav tm="0">
                                          <p:val>
                                            <p:strVal val="#ppt_x"/>
                                          </p:val>
                                        </p:tav>
                                        <p:tav tm="100000">
                                          <p:val>
                                            <p:strVal val="#ppt_x"/>
                                          </p:val>
                                        </p:tav>
                                      </p:tavLst>
                                    </p:anim>
                                    <p:anim calcmode="lin" valueType="num">
                                      <p:cBhvr additive="base">
                                        <p:cTn id="8" dur="500" fill="hold"/>
                                        <p:tgtEl>
                                          <p:spTgt spid="51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614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2775" r="11823" b="22569"/>
          <a:stretch/>
        </p:blipFill>
        <p:spPr bwMode="auto">
          <a:xfrm>
            <a:off x="2700412" y="458514"/>
            <a:ext cx="13029008" cy="789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707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717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7123" t="30294" r="17467" b="14137"/>
          <a:stretch/>
        </p:blipFill>
        <p:spPr bwMode="auto">
          <a:xfrm>
            <a:off x="1332260" y="288256"/>
            <a:ext cx="14531332" cy="8193167"/>
          </a:xfrm>
          <a:prstGeom prst="rect">
            <a:avLst/>
          </a:prstGeom>
          <a:ln/>
        </p:spPr>
        <p:style>
          <a:lnRef idx="2">
            <a:schemeClr val="accent2">
              <a:shade val="50000"/>
            </a:schemeClr>
          </a:lnRef>
          <a:fillRef idx="1">
            <a:schemeClr val="accent2"/>
          </a:fillRef>
          <a:effectRef idx="0">
            <a:schemeClr val="accent2"/>
          </a:effectRef>
          <a:fontRef idx="minor">
            <a:schemeClr val="lt1"/>
          </a:fontRef>
        </p:style>
      </p:pic>
    </p:spTree>
    <p:extLst>
      <p:ext uri="{BB962C8B-B14F-4D97-AF65-F5344CB8AC3E}">
        <p14:creationId xmlns:p14="http://schemas.microsoft.com/office/powerpoint/2010/main" val="99226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fade">
                                      <p:cBhvr>
                                        <p:cTn id="7" dur="1000"/>
                                        <p:tgtEl>
                                          <p:spTgt spid="7171"/>
                                        </p:tgtEl>
                                      </p:cBhvr>
                                    </p:animEffect>
                                    <p:anim calcmode="lin" valueType="num">
                                      <p:cBhvr>
                                        <p:cTn id="8" dur="1000" fill="hold"/>
                                        <p:tgtEl>
                                          <p:spTgt spid="7171"/>
                                        </p:tgtEl>
                                        <p:attrNameLst>
                                          <p:attrName>ppt_x</p:attrName>
                                        </p:attrNameLst>
                                      </p:cBhvr>
                                      <p:tavLst>
                                        <p:tav tm="0">
                                          <p:val>
                                            <p:strVal val="#ppt_x"/>
                                          </p:val>
                                        </p:tav>
                                        <p:tav tm="100000">
                                          <p:val>
                                            <p:strVal val="#ppt_x"/>
                                          </p:val>
                                        </p:tav>
                                      </p:tavLst>
                                    </p:anim>
                                    <p:anim calcmode="lin" valueType="num">
                                      <p:cBhvr>
                                        <p:cTn id="9" dur="1000" fill="hold"/>
                                        <p:tgtEl>
                                          <p:spTgt spid="71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3420492" y="288256"/>
            <a:ext cx="10273390" cy="769441"/>
          </a:xfrm>
          <a:prstGeom prst="rect">
            <a:avLst/>
          </a:prstGeom>
        </p:spPr>
        <p:txBody>
          <a:bodyPr wrap="none">
            <a:spAutoFit/>
          </a:bodyPr>
          <a:lstStyle/>
          <a:p>
            <a:pPr fontAlgn="base"/>
            <a:r>
              <a:rPr lang="en-US" sz="4400" b="1" cap="all" dirty="0">
                <a:solidFill>
                  <a:srgbClr val="FFFF00"/>
                </a:solidFill>
                <a:latin typeface="Arial" pitchFamily="34" charset="0"/>
                <a:cs typeface="Arial" pitchFamily="34" charset="0"/>
              </a:rPr>
              <a:t>7 TYPES OF PHONOLOGICAL RULES</a:t>
            </a:r>
            <a:endParaRPr lang="en-PH" sz="4400" dirty="0">
              <a:solidFill>
                <a:srgbClr val="FFFF00"/>
              </a:solidFill>
              <a:latin typeface="Arial" pitchFamily="34" charset="0"/>
              <a:cs typeface="Arial" pitchFamily="34" charset="0"/>
            </a:endParaRPr>
          </a:p>
        </p:txBody>
      </p:sp>
      <p:sp>
        <p:nvSpPr>
          <p:cNvPr id="3" name="Rectangle 2"/>
          <p:cNvSpPr/>
          <p:nvPr/>
        </p:nvSpPr>
        <p:spPr>
          <a:xfrm>
            <a:off x="612180" y="1224360"/>
            <a:ext cx="15049672" cy="255454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3200" dirty="0">
                <a:latin typeface="Arial" pitchFamily="34" charset="0"/>
                <a:cs typeface="Arial" pitchFamily="34" charset="0"/>
              </a:rPr>
              <a:t>1.</a:t>
            </a:r>
            <a:r>
              <a:rPr lang="en-US" sz="3200" b="1" dirty="0">
                <a:latin typeface="Arial" pitchFamily="34" charset="0"/>
                <a:cs typeface="Arial" pitchFamily="34" charset="0"/>
              </a:rPr>
              <a:t> </a:t>
            </a:r>
            <a:r>
              <a:rPr lang="en-US" sz="3200" b="1" dirty="0" smtClean="0">
                <a:solidFill>
                  <a:srgbClr val="FF0000"/>
                </a:solidFill>
                <a:latin typeface="Arial" pitchFamily="34" charset="0"/>
                <a:cs typeface="Arial" pitchFamily="34" charset="0"/>
              </a:rPr>
              <a:t>ASSIMILATION</a:t>
            </a:r>
            <a:r>
              <a:rPr lang="en-US" sz="3200" dirty="0">
                <a:latin typeface="Arial" pitchFamily="34" charset="0"/>
                <a:cs typeface="Arial" pitchFamily="34" charset="0"/>
              </a:rPr>
              <a:t> – </a:t>
            </a:r>
            <a:r>
              <a:rPr lang="en-US" sz="3100" dirty="0">
                <a:latin typeface="Arial" pitchFamily="34" charset="0"/>
                <a:cs typeface="Arial" pitchFamily="34" charset="0"/>
              </a:rPr>
              <a:t>phonological process in which a sound changes to resemble a nearby sound and can occur both forward and backward.</a:t>
            </a:r>
            <a:endParaRPr lang="en-PH" sz="3100" dirty="0">
              <a:latin typeface="Arial" pitchFamily="34" charset="0"/>
              <a:cs typeface="Arial" pitchFamily="34" charset="0"/>
            </a:endParaRPr>
          </a:p>
          <a:p>
            <a:pPr algn="just"/>
            <a:r>
              <a:rPr lang="en-US" sz="3200" dirty="0" smtClean="0">
                <a:latin typeface="Arial" pitchFamily="34" charset="0"/>
                <a:cs typeface="Arial" pitchFamily="34" charset="0"/>
              </a:rPr>
              <a:t>	</a:t>
            </a:r>
            <a:r>
              <a:rPr lang="en-US" sz="3100" dirty="0" smtClean="0">
                <a:latin typeface="Times New Roman" pitchFamily="18" charset="0"/>
                <a:cs typeface="Times New Roman" pitchFamily="18" charset="0"/>
              </a:rPr>
              <a:t>Ex</a:t>
            </a:r>
            <a:r>
              <a:rPr lang="en-US" sz="3100" dirty="0">
                <a:latin typeface="Times New Roman" pitchFamily="18" charset="0"/>
                <a:cs typeface="Times New Roman" pitchFamily="18" charset="0"/>
              </a:rPr>
              <a:t>. The prefix in- where sometimes it appears as </a:t>
            </a:r>
            <a:r>
              <a:rPr lang="en-US" sz="3100" i="1" dirty="0">
                <a:latin typeface="Times New Roman" pitchFamily="18" charset="0"/>
                <a:cs typeface="Times New Roman" pitchFamily="18" charset="0"/>
              </a:rPr>
              <a:t>in</a:t>
            </a:r>
            <a:r>
              <a:rPr lang="en-US" sz="3100" dirty="0">
                <a:latin typeface="Times New Roman" pitchFamily="18" charset="0"/>
                <a:cs typeface="Times New Roman" pitchFamily="18" charset="0"/>
              </a:rPr>
              <a:t>– and others as </a:t>
            </a:r>
            <a:r>
              <a:rPr lang="en-US" sz="3100" i="1" dirty="0">
                <a:latin typeface="Times New Roman" pitchFamily="18" charset="0"/>
                <a:cs typeface="Times New Roman" pitchFamily="18" charset="0"/>
              </a:rPr>
              <a:t>im</a:t>
            </a:r>
            <a:r>
              <a:rPr lang="en-US" sz="3100" dirty="0">
                <a:latin typeface="Times New Roman" pitchFamily="18" charset="0"/>
                <a:cs typeface="Times New Roman" pitchFamily="18" charset="0"/>
              </a:rPr>
              <a:t>-. In front of bilabial words, </a:t>
            </a:r>
            <a:r>
              <a:rPr lang="en-US" sz="3100" i="1" dirty="0">
                <a:latin typeface="Times New Roman" pitchFamily="18" charset="0"/>
                <a:cs typeface="Times New Roman" pitchFamily="18" charset="0"/>
              </a:rPr>
              <a:t>in</a:t>
            </a:r>
            <a:r>
              <a:rPr lang="en-US" sz="3100" dirty="0">
                <a:latin typeface="Times New Roman" pitchFamily="18" charset="0"/>
                <a:cs typeface="Times New Roman" pitchFamily="18" charset="0"/>
              </a:rPr>
              <a:t>– becomes </a:t>
            </a:r>
            <a:r>
              <a:rPr lang="en-US" sz="3100" i="1" dirty="0">
                <a:latin typeface="Times New Roman" pitchFamily="18" charset="0"/>
                <a:cs typeface="Times New Roman" pitchFamily="18" charset="0"/>
              </a:rPr>
              <a:t>im</a:t>
            </a:r>
            <a:r>
              <a:rPr lang="en-US" sz="3100" dirty="0">
                <a:latin typeface="Times New Roman" pitchFamily="18" charset="0"/>
                <a:cs typeface="Times New Roman" pitchFamily="18" charset="0"/>
              </a:rPr>
              <a:t>-. This also happens across word boundaries, like </a:t>
            </a:r>
            <a:r>
              <a:rPr lang="en-US" sz="3100" i="1" dirty="0">
                <a:latin typeface="Times New Roman" pitchFamily="18" charset="0"/>
                <a:cs typeface="Times New Roman" pitchFamily="18" charset="0"/>
              </a:rPr>
              <a:t>in between</a:t>
            </a:r>
            <a:r>
              <a:rPr lang="en-US" sz="3100" dirty="0">
                <a:latin typeface="Times New Roman" pitchFamily="18" charset="0"/>
                <a:cs typeface="Times New Roman" pitchFamily="18" charset="0"/>
              </a:rPr>
              <a:t> pronounced with an m.</a:t>
            </a:r>
            <a:endParaRPr lang="en-PH" sz="3100" dirty="0">
              <a:latin typeface="Times New Roman" pitchFamily="18" charset="0"/>
              <a:cs typeface="Times New Roman" pitchFamily="18" charset="0"/>
            </a:endParaRPr>
          </a:p>
        </p:txBody>
      </p:sp>
      <p:sp>
        <p:nvSpPr>
          <p:cNvPr id="6" name="Rectangle 5"/>
          <p:cNvSpPr/>
          <p:nvPr/>
        </p:nvSpPr>
        <p:spPr>
          <a:xfrm>
            <a:off x="639068" y="4104680"/>
            <a:ext cx="15022784" cy="206210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sz="3200" dirty="0">
                <a:latin typeface="Arial" pitchFamily="34" charset="0"/>
                <a:cs typeface="Arial" pitchFamily="34" charset="0"/>
              </a:rPr>
              <a:t>2.</a:t>
            </a:r>
            <a:r>
              <a:rPr lang="en-US" sz="3200" b="1" dirty="0">
                <a:latin typeface="Arial" pitchFamily="34" charset="0"/>
                <a:cs typeface="Arial" pitchFamily="34" charset="0"/>
              </a:rPr>
              <a:t> </a:t>
            </a:r>
            <a:r>
              <a:rPr lang="en-US" sz="3200" b="1" dirty="0" smtClean="0">
                <a:solidFill>
                  <a:srgbClr val="FF0000"/>
                </a:solidFill>
                <a:latin typeface="Arial" pitchFamily="34" charset="0"/>
                <a:cs typeface="Arial" pitchFamily="34" charset="0"/>
              </a:rPr>
              <a:t>DISSIMILATION</a:t>
            </a:r>
            <a:r>
              <a:rPr lang="en-US" sz="3200" dirty="0" smtClean="0">
                <a:solidFill>
                  <a:srgbClr val="FF0000"/>
                </a:solidFill>
                <a:latin typeface="Arial" pitchFamily="34" charset="0"/>
                <a:cs typeface="Arial" pitchFamily="34" charset="0"/>
              </a:rPr>
              <a:t> </a:t>
            </a:r>
            <a:r>
              <a:rPr lang="en-US" sz="3200" dirty="0" smtClean="0">
                <a:latin typeface="Arial" pitchFamily="34" charset="0"/>
                <a:cs typeface="Arial" pitchFamily="34" charset="0"/>
              </a:rPr>
              <a:t>– </a:t>
            </a:r>
            <a:r>
              <a:rPr lang="en-US" sz="3100" dirty="0">
                <a:latin typeface="Arial" pitchFamily="34" charset="0"/>
                <a:cs typeface="Arial" pitchFamily="34" charset="0"/>
              </a:rPr>
              <a:t>phonological process in which two close sounds changes to become less alike.</a:t>
            </a:r>
            <a:endParaRPr lang="en-PH" sz="3100" dirty="0">
              <a:latin typeface="Arial" pitchFamily="34" charset="0"/>
              <a:cs typeface="Arial" pitchFamily="34" charset="0"/>
            </a:endParaRPr>
          </a:p>
          <a:p>
            <a:r>
              <a:rPr lang="en-US" sz="3200" dirty="0" smtClean="0">
                <a:latin typeface="Arial" pitchFamily="34" charset="0"/>
                <a:cs typeface="Arial" pitchFamily="34" charset="0"/>
              </a:rPr>
              <a:t>	</a:t>
            </a:r>
            <a:r>
              <a:rPr lang="en-US" sz="3100" dirty="0" smtClean="0">
                <a:latin typeface="Times New Roman" pitchFamily="18" charset="0"/>
                <a:cs typeface="Times New Roman" pitchFamily="18" charset="0"/>
              </a:rPr>
              <a:t>Ex</a:t>
            </a:r>
            <a:r>
              <a:rPr lang="en-US" sz="3100" dirty="0">
                <a:latin typeface="Times New Roman" pitchFamily="18" charset="0"/>
                <a:cs typeface="Times New Roman" pitchFamily="18" charset="0"/>
              </a:rPr>
              <a:t>. Manner dissimilation where a stop becomes a fricative when followed by another stop. The word sixth is pronounced sikst, /sθ/ becomes /st/.</a:t>
            </a:r>
            <a:endParaRPr lang="en-PH" sz="3100" dirty="0">
              <a:latin typeface="Times New Roman" pitchFamily="18" charset="0"/>
              <a:cs typeface="Times New Roman" pitchFamily="18" charset="0"/>
            </a:endParaRPr>
          </a:p>
        </p:txBody>
      </p:sp>
      <p:sp>
        <p:nvSpPr>
          <p:cNvPr id="7" name="Rectangle 6"/>
          <p:cNvSpPr/>
          <p:nvPr/>
        </p:nvSpPr>
        <p:spPr>
          <a:xfrm>
            <a:off x="644252" y="6483351"/>
            <a:ext cx="15017600" cy="20313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en-US" sz="3200" dirty="0">
                <a:latin typeface="Arial" pitchFamily="34" charset="0"/>
                <a:cs typeface="Arial" pitchFamily="34" charset="0"/>
              </a:rPr>
              <a:t>3</a:t>
            </a:r>
            <a:r>
              <a:rPr lang="en-US" sz="3200" dirty="0" smtClean="0">
                <a:latin typeface="Arial" pitchFamily="34" charset="0"/>
                <a:cs typeface="Arial" pitchFamily="34" charset="0"/>
              </a:rPr>
              <a:t>.</a:t>
            </a:r>
            <a:r>
              <a:rPr lang="en-US" sz="3200" b="1" dirty="0" smtClean="0">
                <a:solidFill>
                  <a:srgbClr val="FF0000"/>
                </a:solidFill>
                <a:latin typeface="Arial" pitchFamily="34" charset="0"/>
                <a:cs typeface="Arial" pitchFamily="34" charset="0"/>
              </a:rPr>
              <a:t> INSERTION</a:t>
            </a:r>
            <a:r>
              <a:rPr lang="en-US" sz="3200" dirty="0" smtClean="0">
                <a:solidFill>
                  <a:srgbClr val="FF0000"/>
                </a:solidFill>
                <a:latin typeface="Arial" pitchFamily="34" charset="0"/>
                <a:cs typeface="Arial" pitchFamily="34" charset="0"/>
              </a:rPr>
              <a:t> </a:t>
            </a:r>
            <a:r>
              <a:rPr lang="en-US" sz="3200" dirty="0" smtClean="0">
                <a:latin typeface="Arial" pitchFamily="34" charset="0"/>
                <a:cs typeface="Arial" pitchFamily="34" charset="0"/>
              </a:rPr>
              <a:t>– </a:t>
            </a:r>
            <a:r>
              <a:rPr lang="en-US" sz="3100" dirty="0">
                <a:latin typeface="Arial" pitchFamily="34" charset="0"/>
                <a:cs typeface="Arial" pitchFamily="34" charset="0"/>
              </a:rPr>
              <a:t>phonological process in which a sound is added to a word.</a:t>
            </a:r>
            <a:endParaRPr lang="en-PH" sz="3100" dirty="0">
              <a:latin typeface="Arial" pitchFamily="34" charset="0"/>
              <a:cs typeface="Arial" pitchFamily="34" charset="0"/>
            </a:endParaRPr>
          </a:p>
          <a:p>
            <a:pPr algn="just"/>
            <a:r>
              <a:rPr lang="en-US" sz="3200" dirty="0" smtClean="0">
                <a:latin typeface="Arial" pitchFamily="34" charset="0"/>
                <a:cs typeface="Arial" pitchFamily="34" charset="0"/>
              </a:rPr>
              <a:t>	</a:t>
            </a:r>
            <a:r>
              <a:rPr lang="en-US" sz="3100" dirty="0" smtClean="0">
                <a:latin typeface="Times New Roman" pitchFamily="18" charset="0"/>
                <a:cs typeface="Times New Roman" pitchFamily="18" charset="0"/>
              </a:rPr>
              <a:t>Ex</a:t>
            </a:r>
            <a:r>
              <a:rPr lang="en-US" sz="3100" dirty="0">
                <a:latin typeface="Times New Roman" pitchFamily="18" charset="0"/>
                <a:cs typeface="Times New Roman" pitchFamily="18" charset="0"/>
              </a:rPr>
              <a:t>. Voiceless stop insertion where between a nasal consonant and a voiceless fricative, a voiceless stop with the same place of articulation as the nasal consonant is inserted. In English, many say hampster instead of hamster, a /p/ is added</a:t>
            </a:r>
            <a:r>
              <a:rPr lang="en-US" sz="3100" dirty="0" smtClean="0">
                <a:latin typeface="Times New Roman" pitchFamily="18" charset="0"/>
                <a:cs typeface="Times New Roman" pitchFamily="18" charset="0"/>
              </a:rPr>
              <a:t>.</a:t>
            </a:r>
            <a:r>
              <a:rPr lang="en-US" sz="3100" dirty="0">
                <a:latin typeface="Times New Roman" pitchFamily="18" charset="0"/>
                <a:cs typeface="Times New Roman" pitchFamily="18" charset="0"/>
              </a:rPr>
              <a:t> </a:t>
            </a:r>
            <a:endParaRPr lang="en-PH" sz="3100" dirty="0">
              <a:latin typeface="Times New Roman" pitchFamily="18" charset="0"/>
              <a:cs typeface="Times New Roman" pitchFamily="18" charset="0"/>
            </a:endParaRPr>
          </a:p>
        </p:txBody>
      </p:sp>
    </p:spTree>
    <p:extLst>
      <p:ext uri="{BB962C8B-B14F-4D97-AF65-F5344CB8AC3E}">
        <p14:creationId xmlns:p14="http://schemas.microsoft.com/office/powerpoint/2010/main" val="4240300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6"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540172" y="432272"/>
            <a:ext cx="15265696" cy="236988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3200" dirty="0">
                <a:latin typeface="Arial" pitchFamily="34" charset="0"/>
                <a:cs typeface="Arial" pitchFamily="34" charset="0"/>
              </a:rPr>
              <a:t>4.</a:t>
            </a:r>
            <a:r>
              <a:rPr lang="en-US" sz="3200" b="1" dirty="0">
                <a:solidFill>
                  <a:srgbClr val="FF0000"/>
                </a:solidFill>
                <a:latin typeface="Arial" pitchFamily="34" charset="0"/>
                <a:cs typeface="Arial" pitchFamily="34" charset="0"/>
              </a:rPr>
              <a:t> </a:t>
            </a:r>
            <a:r>
              <a:rPr lang="en-US" sz="3200" b="1" dirty="0" smtClean="0">
                <a:solidFill>
                  <a:srgbClr val="FF0000"/>
                </a:solidFill>
                <a:latin typeface="Arial" pitchFamily="34" charset="0"/>
                <a:cs typeface="Arial" pitchFamily="34" charset="0"/>
              </a:rPr>
              <a:t>DELETION</a:t>
            </a:r>
            <a:r>
              <a:rPr lang="en-US" sz="3200" dirty="0" smtClean="0">
                <a:latin typeface="Arial" pitchFamily="34" charset="0"/>
                <a:cs typeface="Arial" pitchFamily="34" charset="0"/>
              </a:rPr>
              <a:t> – </a:t>
            </a:r>
            <a:r>
              <a:rPr lang="en-US" sz="3200" dirty="0">
                <a:latin typeface="Arial" pitchFamily="34" charset="0"/>
                <a:cs typeface="Arial" pitchFamily="34" charset="0"/>
              </a:rPr>
              <a:t>phonological process in which speech sounds disappear from words.</a:t>
            </a:r>
            <a:endParaRPr lang="en-PH" sz="2800" dirty="0">
              <a:latin typeface="Arial" pitchFamily="34" charset="0"/>
              <a:cs typeface="Arial" pitchFamily="34" charset="0"/>
            </a:endParaRPr>
          </a:p>
          <a:p>
            <a:pPr algn="just"/>
            <a:r>
              <a:rPr lang="en-US" sz="2800" dirty="0" smtClean="0">
                <a:latin typeface="Arial" pitchFamily="34" charset="0"/>
                <a:cs typeface="Arial" pitchFamily="34" charset="0"/>
              </a:rPr>
              <a:t>	</a:t>
            </a:r>
            <a:r>
              <a:rPr lang="en-US" sz="2800" dirty="0" smtClean="0">
                <a:latin typeface="Times New Roman" pitchFamily="18" charset="0"/>
                <a:cs typeface="Times New Roman" pitchFamily="18" charset="0"/>
              </a:rPr>
              <a:t>Ex</a:t>
            </a:r>
            <a:r>
              <a:rPr lang="en-US" sz="2800" dirty="0">
                <a:latin typeface="Times New Roman" pitchFamily="18" charset="0"/>
                <a:cs typeface="Times New Roman" pitchFamily="18" charset="0"/>
              </a:rPr>
              <a:t>. English is a fast/common speech language, so vowels can be deleted to make the word one syllable, and easier to pronounce in a fast manner. </a:t>
            </a:r>
            <a:r>
              <a:rPr lang="en-US" sz="2800" i="1" dirty="0">
                <a:latin typeface="Times New Roman" pitchFamily="18" charset="0"/>
                <a:cs typeface="Times New Roman" pitchFamily="18" charset="0"/>
              </a:rPr>
              <a:t>Police</a:t>
            </a:r>
            <a:r>
              <a:rPr lang="en-US" sz="2800" dirty="0">
                <a:latin typeface="Times New Roman" pitchFamily="18" charset="0"/>
                <a:cs typeface="Times New Roman" pitchFamily="18" charset="0"/>
              </a:rPr>
              <a:t> becomes plice, and </a:t>
            </a:r>
            <a:r>
              <a:rPr lang="en-US" sz="2800" i="1" dirty="0">
                <a:latin typeface="Times New Roman" pitchFamily="18" charset="0"/>
                <a:cs typeface="Times New Roman" pitchFamily="18" charset="0"/>
              </a:rPr>
              <a:t>friendship</a:t>
            </a:r>
            <a:r>
              <a:rPr lang="en-US" sz="2800" dirty="0">
                <a:latin typeface="Times New Roman" pitchFamily="18" charset="0"/>
                <a:cs typeface="Times New Roman" pitchFamily="18" charset="0"/>
              </a:rPr>
              <a:t> is said as </a:t>
            </a:r>
            <a:r>
              <a:rPr lang="en-US" sz="2800" dirty="0" smtClean="0">
                <a:latin typeface="Times New Roman" pitchFamily="18" charset="0"/>
                <a:cs typeface="Times New Roman" pitchFamily="18" charset="0"/>
              </a:rPr>
              <a:t>frienship.</a:t>
            </a:r>
            <a:r>
              <a:rPr lang="en-US" sz="2800" dirty="0">
                <a:latin typeface="Times New Roman" pitchFamily="18" charset="0"/>
                <a:cs typeface="Times New Roman" pitchFamily="18" charset="0"/>
              </a:rPr>
              <a:t> </a:t>
            </a:r>
            <a:endParaRPr lang="en-PH" sz="2800" dirty="0">
              <a:latin typeface="Times New Roman" pitchFamily="18" charset="0"/>
              <a:cs typeface="Times New Roman" pitchFamily="18" charset="0"/>
            </a:endParaRPr>
          </a:p>
        </p:txBody>
      </p:sp>
      <p:sp>
        <p:nvSpPr>
          <p:cNvPr id="3" name="Rectangle 2"/>
          <p:cNvSpPr/>
          <p:nvPr/>
        </p:nvSpPr>
        <p:spPr>
          <a:xfrm>
            <a:off x="544984" y="2952552"/>
            <a:ext cx="15260884" cy="201593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just"/>
            <a:r>
              <a:rPr lang="en-US" sz="3200" dirty="0">
                <a:latin typeface="Arial" pitchFamily="34" charset="0"/>
                <a:cs typeface="Arial" pitchFamily="34" charset="0"/>
              </a:rPr>
              <a:t>5.</a:t>
            </a:r>
            <a:r>
              <a:rPr lang="en-US" sz="3200" b="1" dirty="0">
                <a:latin typeface="Arial" pitchFamily="34" charset="0"/>
                <a:cs typeface="Arial" pitchFamily="34" charset="0"/>
              </a:rPr>
              <a:t> </a:t>
            </a:r>
            <a:r>
              <a:rPr lang="en-US" sz="3200" b="1" dirty="0" smtClean="0">
                <a:solidFill>
                  <a:srgbClr val="FF0000"/>
                </a:solidFill>
                <a:latin typeface="Arial" pitchFamily="34" charset="0"/>
                <a:cs typeface="Arial" pitchFamily="34" charset="0"/>
              </a:rPr>
              <a:t>METATHESIS</a:t>
            </a:r>
            <a:r>
              <a:rPr lang="en-US" sz="3200" dirty="0">
                <a:solidFill>
                  <a:srgbClr val="FF0000"/>
                </a:solidFill>
                <a:latin typeface="Arial" pitchFamily="34" charset="0"/>
                <a:cs typeface="Arial" pitchFamily="34" charset="0"/>
              </a:rPr>
              <a:t> </a:t>
            </a:r>
            <a:r>
              <a:rPr lang="en-US" sz="3200" dirty="0">
                <a:latin typeface="Arial" pitchFamily="34" charset="0"/>
                <a:cs typeface="Arial" pitchFamily="34" charset="0"/>
              </a:rPr>
              <a:t>– phonological process in which sounds switch places in the phonemic structure of a word.</a:t>
            </a:r>
            <a:endParaRPr lang="en-PH" sz="3200" dirty="0">
              <a:latin typeface="Arial" pitchFamily="34" charset="0"/>
              <a:cs typeface="Arial" pitchFamily="34" charset="0"/>
            </a:endParaRPr>
          </a:p>
          <a:p>
            <a:pPr algn="just"/>
            <a:r>
              <a:rPr lang="en-US" sz="3200" dirty="0" smtClean="0">
                <a:latin typeface="Arial" pitchFamily="34" charset="0"/>
                <a:cs typeface="Arial" pitchFamily="34" charset="0"/>
              </a:rPr>
              <a:t>	</a:t>
            </a:r>
            <a:r>
              <a:rPr lang="en-US" sz="2800" dirty="0" smtClean="0">
                <a:latin typeface="Times New Roman" pitchFamily="18" charset="0"/>
                <a:cs typeface="Times New Roman" pitchFamily="18" charset="0"/>
              </a:rPr>
              <a:t>Ex</a:t>
            </a:r>
            <a:r>
              <a:rPr lang="en-US" sz="2800" dirty="0">
                <a:latin typeface="Times New Roman" pitchFamily="18" charset="0"/>
                <a:cs typeface="Times New Roman" pitchFamily="18" charset="0"/>
              </a:rPr>
              <a:t>. To make words easier to pronounce and understand, letters are switched. Two historical examples include Old English (brid and aks) becoming Modern English (</a:t>
            </a:r>
            <a:r>
              <a:rPr lang="en-US" sz="2800" i="1" dirty="0">
                <a:latin typeface="Times New Roman" pitchFamily="18" charset="0"/>
                <a:cs typeface="Times New Roman" pitchFamily="18" charset="0"/>
              </a:rPr>
              <a:t>bird</a:t>
            </a:r>
            <a:r>
              <a:rPr lang="en-US" sz="2800" dirty="0">
                <a:latin typeface="Times New Roman" pitchFamily="18" charset="0"/>
                <a:cs typeface="Times New Roman" pitchFamily="18" charset="0"/>
              </a:rPr>
              <a:t> and </a:t>
            </a:r>
            <a:r>
              <a:rPr lang="en-US" sz="2800" i="1" dirty="0">
                <a:latin typeface="Times New Roman" pitchFamily="18" charset="0"/>
                <a:cs typeface="Times New Roman" pitchFamily="18" charset="0"/>
              </a:rPr>
              <a:t>ask</a:t>
            </a:r>
            <a:r>
              <a:rPr lang="en-US" sz="2800" dirty="0" smtClean="0">
                <a:latin typeface="Times New Roman" pitchFamily="18" charset="0"/>
                <a:cs typeface="Times New Roman" pitchFamily="18" charset="0"/>
              </a:rPr>
              <a:t>).</a:t>
            </a:r>
            <a:r>
              <a:rPr lang="en-US" sz="2800" dirty="0">
                <a:latin typeface="Times New Roman" pitchFamily="18" charset="0"/>
                <a:cs typeface="Times New Roman" pitchFamily="18" charset="0"/>
              </a:rPr>
              <a:t> </a:t>
            </a:r>
            <a:endParaRPr lang="en-PH" sz="2800" dirty="0">
              <a:latin typeface="Times New Roman" pitchFamily="18" charset="0"/>
              <a:cs typeface="Times New Roman" pitchFamily="18" charset="0"/>
            </a:endParaRPr>
          </a:p>
        </p:txBody>
      </p:sp>
      <p:sp>
        <p:nvSpPr>
          <p:cNvPr id="6" name="Rectangle 5"/>
          <p:cNvSpPr/>
          <p:nvPr/>
        </p:nvSpPr>
        <p:spPr>
          <a:xfrm>
            <a:off x="544984" y="5112792"/>
            <a:ext cx="15260884" cy="141577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just"/>
            <a:r>
              <a:rPr lang="en-US" dirty="0" smtClean="0">
                <a:latin typeface="Arial" pitchFamily="34" charset="0"/>
                <a:cs typeface="Arial" pitchFamily="34" charset="0"/>
              </a:rPr>
              <a:t>6. </a:t>
            </a:r>
            <a:r>
              <a:rPr lang="en-US" b="1" dirty="0" smtClean="0">
                <a:solidFill>
                  <a:srgbClr val="FF0000"/>
                </a:solidFill>
                <a:latin typeface="Arial" pitchFamily="34" charset="0"/>
                <a:cs typeface="Arial" pitchFamily="34" charset="0"/>
              </a:rPr>
              <a:t>STRENGTHENING</a:t>
            </a:r>
            <a:r>
              <a:rPr lang="en-US" dirty="0" smtClean="0">
                <a:latin typeface="Arial" pitchFamily="34" charset="0"/>
                <a:cs typeface="Arial" pitchFamily="34" charset="0"/>
              </a:rPr>
              <a:t> (</a:t>
            </a:r>
            <a:r>
              <a:rPr lang="en-US" dirty="0">
                <a:latin typeface="Arial" pitchFamily="34" charset="0"/>
                <a:cs typeface="Arial" pitchFamily="34" charset="0"/>
              </a:rPr>
              <a:t>fortition) – phonological process in which a sound is made stronger.</a:t>
            </a:r>
            <a:endParaRPr lang="en-PH" dirty="0">
              <a:latin typeface="Arial" pitchFamily="34" charset="0"/>
              <a:cs typeface="Arial" pitchFamily="34" charset="0"/>
            </a:endParaRPr>
          </a:p>
          <a:p>
            <a:pPr algn="just"/>
            <a:r>
              <a:rPr lang="en-US" dirty="0" smtClean="0">
                <a:latin typeface="Arial" pitchFamily="34" charset="0"/>
                <a:cs typeface="Arial" pitchFamily="34" charset="0"/>
              </a:rPr>
              <a:t>	</a:t>
            </a:r>
            <a:r>
              <a:rPr lang="en-US" sz="2800" dirty="0" smtClean="0">
                <a:latin typeface="Times New Roman" pitchFamily="18" charset="0"/>
                <a:cs typeface="Times New Roman" pitchFamily="18" charset="0"/>
              </a:rPr>
              <a:t>Ex</a:t>
            </a:r>
            <a:r>
              <a:rPr lang="en-US" sz="2800" dirty="0">
                <a:latin typeface="Times New Roman" pitchFamily="18" charset="0"/>
                <a:cs typeface="Times New Roman" pitchFamily="18" charset="0"/>
              </a:rPr>
              <a:t>. Aspiration is where voiceless stops become aspirated when they occur at the beginning of a stressed syllable. </a:t>
            </a:r>
            <a:r>
              <a:rPr lang="en-US" sz="2800" i="1" dirty="0">
                <a:latin typeface="Times New Roman" pitchFamily="18" charset="0"/>
                <a:cs typeface="Times New Roman" pitchFamily="18" charset="0"/>
              </a:rPr>
              <a:t>Top</a:t>
            </a:r>
            <a:r>
              <a:rPr lang="en-US" sz="2800" dirty="0">
                <a:latin typeface="Times New Roman" pitchFamily="18" charset="0"/>
                <a:cs typeface="Times New Roman" pitchFamily="18" charset="0"/>
              </a:rPr>
              <a:t> is said with as h.</a:t>
            </a:r>
            <a:endParaRPr lang="en-PH" sz="2800" dirty="0">
              <a:latin typeface="Times New Roman" pitchFamily="18" charset="0"/>
              <a:cs typeface="Times New Roman" pitchFamily="18" charset="0"/>
            </a:endParaRPr>
          </a:p>
        </p:txBody>
      </p:sp>
      <p:sp>
        <p:nvSpPr>
          <p:cNvPr id="7" name="Rectangle 6"/>
          <p:cNvSpPr/>
          <p:nvPr/>
        </p:nvSpPr>
        <p:spPr>
          <a:xfrm>
            <a:off x="547092" y="6624960"/>
            <a:ext cx="15258776" cy="192360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sz="3100" dirty="0">
                <a:latin typeface="Arial" pitchFamily="34" charset="0"/>
                <a:cs typeface="Arial" pitchFamily="34" charset="0"/>
              </a:rPr>
              <a:t>7. </a:t>
            </a:r>
            <a:r>
              <a:rPr lang="en-US" sz="3100" b="1" dirty="0" smtClean="0">
                <a:solidFill>
                  <a:srgbClr val="FF0000"/>
                </a:solidFill>
                <a:latin typeface="Arial" pitchFamily="34" charset="0"/>
                <a:cs typeface="Arial" pitchFamily="34" charset="0"/>
              </a:rPr>
              <a:t>WEAKENING</a:t>
            </a:r>
            <a:r>
              <a:rPr lang="en-US" sz="3100" dirty="0">
                <a:latin typeface="Arial" pitchFamily="34" charset="0"/>
                <a:cs typeface="Arial" pitchFamily="34" charset="0"/>
              </a:rPr>
              <a:t> (lenition) – phonological process in which a sound becomes weaker.</a:t>
            </a:r>
            <a:endParaRPr lang="en-PH" sz="3100" dirty="0">
              <a:latin typeface="Arial" pitchFamily="34" charset="0"/>
              <a:cs typeface="Arial" pitchFamily="34" charset="0"/>
            </a:endParaRPr>
          </a:p>
          <a:p>
            <a:pPr algn="just"/>
            <a:r>
              <a:rPr lang="en-US" sz="3100" dirty="0" smtClean="0">
                <a:latin typeface="Arial" pitchFamily="34" charset="0"/>
                <a:cs typeface="Arial" pitchFamily="34" charset="0"/>
              </a:rPr>
              <a:t>	</a:t>
            </a:r>
            <a:r>
              <a:rPr lang="en-US" sz="2800" dirty="0" smtClean="0">
                <a:latin typeface="Times New Roman" pitchFamily="18" charset="0"/>
                <a:cs typeface="Times New Roman" pitchFamily="18" charset="0"/>
              </a:rPr>
              <a:t>Ex</a:t>
            </a:r>
            <a:r>
              <a:rPr lang="en-US" sz="2800" dirty="0">
                <a:latin typeface="Times New Roman" pitchFamily="18" charset="0"/>
                <a:cs typeface="Times New Roman" pitchFamily="18" charset="0"/>
              </a:rPr>
              <a:t>. The definition of flapping is before a stressed vowel and before and unstressed vowel where the sound is pronounced with articulation resembling a flap. The word kitty is an example where the alveolar stop is realized as /r</a:t>
            </a:r>
            <a:r>
              <a:rPr lang="en-US" sz="2800" dirty="0" smtClean="0">
                <a:latin typeface="Times New Roman" pitchFamily="18" charset="0"/>
                <a:cs typeface="Times New Roman" pitchFamily="18" charset="0"/>
              </a:rPr>
              <a:t>/.</a:t>
            </a:r>
            <a:endParaRPr lang="en-PH" dirty="0"/>
          </a:p>
        </p:txBody>
      </p:sp>
    </p:spTree>
    <p:extLst>
      <p:ext uri="{BB962C8B-B14F-4D97-AF65-F5344CB8AC3E}">
        <p14:creationId xmlns:p14="http://schemas.microsoft.com/office/powerpoint/2010/main" val="222895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765" y="141239"/>
            <a:ext cx="15779127" cy="903361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612180" y="864320"/>
            <a:ext cx="15265696" cy="19389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457200" indent="-457200" algn="just">
              <a:buFont typeface="Arial" pitchFamily="34" charset="0"/>
              <a:buChar char="•"/>
            </a:pPr>
            <a:r>
              <a:rPr lang="en-US" sz="3000" dirty="0" smtClean="0">
                <a:latin typeface="Times New Roman" pitchFamily="18" charset="0"/>
                <a:cs typeface="Times New Roman" pitchFamily="18" charset="0"/>
              </a:rPr>
              <a:t>Stress </a:t>
            </a:r>
            <a:r>
              <a:rPr lang="en-US" sz="3000" dirty="0">
                <a:latin typeface="Times New Roman" pitchFamily="18" charset="0"/>
                <a:cs typeface="Times New Roman" pitchFamily="18" charset="0"/>
              </a:rPr>
              <a:t>is putting relative emphasis to a certain syllable of a word or to a certain word in a phrase or sentences. In words, the stress falls on the vowels sounds, which is affected by the articulation of vowel sounds such as length and pitch. Some dictionaries use stress symbols such as ( ‘ ) that indicate primary stress, and ( ^ ) or ( , ) as secondary stress. </a:t>
            </a:r>
            <a:endParaRPr lang="en-PH" sz="3000" dirty="0">
              <a:latin typeface="Times New Roman" pitchFamily="18" charset="0"/>
              <a:cs typeface="Times New Roman" pitchFamily="18" charset="0"/>
            </a:endParaRPr>
          </a:p>
        </p:txBody>
      </p:sp>
      <p:sp>
        <p:nvSpPr>
          <p:cNvPr id="3" name="Rectangle 2"/>
          <p:cNvSpPr/>
          <p:nvPr/>
        </p:nvSpPr>
        <p:spPr>
          <a:xfrm>
            <a:off x="324148" y="216248"/>
            <a:ext cx="15121680" cy="646331"/>
          </a:xfrm>
          <a:prstGeom prst="rect">
            <a:avLst/>
          </a:prstGeom>
        </p:spPr>
        <p:txBody>
          <a:bodyPr wrap="square">
            <a:spAutoFit/>
          </a:bodyPr>
          <a:lstStyle/>
          <a:p>
            <a:r>
              <a:rPr lang="en-US" sz="3600" b="1" dirty="0" smtClean="0">
                <a:solidFill>
                  <a:srgbClr val="FFFF00"/>
                </a:solidFill>
              </a:rPr>
              <a:t>SUPRASEGMENTAL</a:t>
            </a:r>
            <a:r>
              <a:rPr lang="en-US" b="1" dirty="0" smtClean="0">
                <a:solidFill>
                  <a:srgbClr val="FFFF00"/>
                </a:solidFill>
              </a:rPr>
              <a:t> </a:t>
            </a:r>
            <a:r>
              <a:rPr lang="en-US" sz="3100" dirty="0">
                <a:solidFill>
                  <a:srgbClr val="FFFF00"/>
                </a:solidFill>
                <a:latin typeface="Times New Roman" pitchFamily="18" charset="0"/>
                <a:cs typeface="Times New Roman" pitchFamily="18" charset="0"/>
              </a:rPr>
              <a:t>includes stress, pitch, intonation, juncture, and blending.</a:t>
            </a:r>
            <a:endParaRPr lang="en-PH" sz="3100" dirty="0">
              <a:solidFill>
                <a:srgbClr val="FFFF00"/>
              </a:solidFill>
              <a:latin typeface="Times New Roman" pitchFamily="18" charset="0"/>
              <a:cs typeface="Times New Roman" pitchFamily="18" charset="0"/>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8733" t="30323" r="23682" b="13976"/>
          <a:stretch/>
        </p:blipFill>
        <p:spPr bwMode="auto">
          <a:xfrm>
            <a:off x="4356596" y="2880543"/>
            <a:ext cx="9433048" cy="620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332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1515" t="30816" r="23536" b="26475"/>
          <a:stretch/>
        </p:blipFill>
        <p:spPr bwMode="auto">
          <a:xfrm>
            <a:off x="1563871" y="720304"/>
            <a:ext cx="13146290" cy="7022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434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390778" y="373038"/>
            <a:ext cx="4685898" cy="923330"/>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spAutoFit/>
          </a:bodyPr>
          <a:lstStyle/>
          <a:p>
            <a:r>
              <a:rPr lang="en-US" sz="5400" b="1" dirty="0">
                <a:solidFill>
                  <a:srgbClr val="FFFF00"/>
                </a:solidFill>
                <a:latin typeface="Times New Roman" pitchFamily="18" charset="0"/>
                <a:cs typeface="Times New Roman" pitchFamily="18" charset="0"/>
              </a:rPr>
              <a:t>A. Morphology</a:t>
            </a:r>
            <a:endParaRPr lang="en-PH" sz="5400" b="1" dirty="0">
              <a:solidFill>
                <a:srgbClr val="FFFF00"/>
              </a:solidFill>
              <a:latin typeface="Times New Roman" pitchFamily="18" charset="0"/>
              <a:cs typeface="Times New Roman" pitchFamily="18" charset="0"/>
            </a:endParaRPr>
          </a:p>
        </p:txBody>
      </p:sp>
      <p:sp>
        <p:nvSpPr>
          <p:cNvPr id="7" name="Rectangle 6"/>
          <p:cNvSpPr/>
          <p:nvPr/>
        </p:nvSpPr>
        <p:spPr>
          <a:xfrm>
            <a:off x="1188244" y="1435155"/>
            <a:ext cx="14617624" cy="187743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en-US" dirty="0" smtClean="0">
                <a:latin typeface="Arial" pitchFamily="34" charset="0"/>
                <a:cs typeface="Arial" pitchFamily="34" charset="0"/>
              </a:rPr>
              <a:t>It is </a:t>
            </a:r>
            <a:r>
              <a:rPr lang="en-US" dirty="0">
                <a:latin typeface="Arial" pitchFamily="34" charset="0"/>
                <a:cs typeface="Arial" pitchFamily="34" charset="0"/>
              </a:rPr>
              <a:t>referred to as the study of patterns of word formations. It looks into the meaningful structural unity of words. In greater sense, it comprises the analysis, identification and categorization of the lexical grammatically of a certain language, its specific linguistic units, the morphemes, the roots words, the affixes, and other means of word creation. </a:t>
            </a:r>
            <a:endParaRPr lang="en-PH" dirty="0">
              <a:latin typeface="Arial" pitchFamily="34" charset="0"/>
              <a:cs typeface="Arial" pitchFamily="34" charset="0"/>
            </a:endParaRPr>
          </a:p>
        </p:txBody>
      </p:sp>
      <p:sp>
        <p:nvSpPr>
          <p:cNvPr id="8" name="Rectangle 7"/>
          <p:cNvSpPr/>
          <p:nvPr/>
        </p:nvSpPr>
        <p:spPr>
          <a:xfrm>
            <a:off x="2047652" y="3600624"/>
            <a:ext cx="13758216" cy="232371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n-US" b="1" dirty="0">
                <a:latin typeface="Arial" pitchFamily="34" charset="0"/>
                <a:cs typeface="Arial" pitchFamily="34" charset="0"/>
              </a:rPr>
              <a:t>Morpheme</a:t>
            </a:r>
            <a:endParaRPr lang="en-PH" b="1" dirty="0">
              <a:latin typeface="Arial" pitchFamily="34" charset="0"/>
              <a:cs typeface="Arial" pitchFamily="34" charset="0"/>
            </a:endParaRPr>
          </a:p>
          <a:p>
            <a:pPr algn="just"/>
            <a:r>
              <a:rPr lang="en-US" b="1" dirty="0">
                <a:latin typeface="Arial" pitchFamily="34" charset="0"/>
                <a:cs typeface="Arial" pitchFamily="34" charset="0"/>
              </a:rPr>
              <a:t>	</a:t>
            </a:r>
            <a:r>
              <a:rPr lang="en-US" b="1" dirty="0" smtClean="0">
                <a:latin typeface="Arial" pitchFamily="34" charset="0"/>
                <a:cs typeface="Arial" pitchFamily="34" charset="0"/>
              </a:rPr>
              <a:t>It </a:t>
            </a:r>
            <a:r>
              <a:rPr lang="en-US" dirty="0" smtClean="0">
                <a:latin typeface="Arial" pitchFamily="34" charset="0"/>
                <a:cs typeface="Arial" pitchFamily="34" charset="0"/>
              </a:rPr>
              <a:t>is </a:t>
            </a:r>
            <a:r>
              <a:rPr lang="en-US" dirty="0">
                <a:latin typeface="Arial" pitchFamily="34" charset="0"/>
                <a:cs typeface="Arial" pitchFamily="34" charset="0"/>
              </a:rPr>
              <a:t>the smallest unit of language meaning. It is not further dividable or separate into smaller forms. It could either be added to another morpheme to form a specific meaning, such as affixes, or it could mean something by itself. When a morpheme carries its meaning, it is called a </a:t>
            </a:r>
            <a:r>
              <a:rPr lang="en-US" i="1" dirty="0">
                <a:latin typeface="Arial" pitchFamily="34" charset="0"/>
                <a:cs typeface="Arial" pitchFamily="34" charset="0"/>
              </a:rPr>
              <a:t>root.</a:t>
            </a:r>
            <a:r>
              <a:rPr lang="en-US" dirty="0">
                <a:latin typeface="Arial" pitchFamily="34" charset="0"/>
                <a:cs typeface="Arial" pitchFamily="34" charset="0"/>
              </a:rPr>
              <a:t> </a:t>
            </a:r>
            <a:endParaRPr lang="en-PH" dirty="0">
              <a:latin typeface="Arial" pitchFamily="34" charset="0"/>
              <a:cs typeface="Arial" pitchFamily="34" charset="0"/>
            </a:endParaRPr>
          </a:p>
        </p:txBody>
      </p:sp>
      <p:sp>
        <p:nvSpPr>
          <p:cNvPr id="9" name="Rectangle 8"/>
          <p:cNvSpPr/>
          <p:nvPr/>
        </p:nvSpPr>
        <p:spPr>
          <a:xfrm>
            <a:off x="4500612" y="6331699"/>
            <a:ext cx="9865096" cy="206210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3200" b="1" i="1" dirty="0">
                <a:latin typeface="Times New Roman" pitchFamily="18" charset="0"/>
                <a:cs typeface="Times New Roman" pitchFamily="18" charset="0"/>
              </a:rPr>
              <a:t>Examples: </a:t>
            </a:r>
            <a:endParaRPr lang="en-PH" sz="3200" b="1" dirty="0">
              <a:latin typeface="Times New Roman" pitchFamily="18" charset="0"/>
              <a:cs typeface="Times New Roman" pitchFamily="18" charset="0"/>
            </a:endParaRPr>
          </a:p>
          <a:p>
            <a:r>
              <a:rPr lang="en-US" sz="3200" dirty="0">
                <a:latin typeface="Times New Roman" pitchFamily="18" charset="0"/>
                <a:cs typeface="Times New Roman" pitchFamily="18" charset="0"/>
              </a:rPr>
              <a:t>	Impurity 		</a:t>
            </a:r>
            <a:r>
              <a:rPr lang="en-US" sz="3200" dirty="0" smtClean="0">
                <a:latin typeface="Times New Roman" pitchFamily="18" charset="0"/>
                <a:cs typeface="Times New Roman" pitchFamily="18" charset="0"/>
              </a:rPr>
              <a:t>(</a:t>
            </a:r>
            <a:r>
              <a:rPr lang="en-US" sz="3200" dirty="0">
                <a:latin typeface="Times New Roman" pitchFamily="18" charset="0"/>
                <a:cs typeface="Times New Roman" pitchFamily="18" charset="0"/>
              </a:rPr>
              <a:t>Im+pure+ity)</a:t>
            </a:r>
            <a:endParaRPr lang="en-PH"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	Unmanly		(Un+man+ly</a:t>
            </a:r>
            <a:r>
              <a:rPr lang="en-US" sz="3200" dirty="0" smtClean="0">
                <a:latin typeface="Times New Roman" pitchFamily="18" charset="0"/>
                <a:cs typeface="Times New Roman" pitchFamily="18" charset="0"/>
              </a:rPr>
              <a:t>)</a:t>
            </a:r>
            <a:endParaRPr lang="en-PH" sz="3200" dirty="0" smtClean="0">
              <a:latin typeface="Times New Roman" pitchFamily="18" charset="0"/>
              <a:cs typeface="Times New Roman" pitchFamily="18" charset="0"/>
            </a:endParaRPr>
          </a:p>
          <a:p>
            <a:r>
              <a:rPr lang="en-US" sz="3200" dirty="0" smtClean="0">
                <a:latin typeface="Times New Roman" pitchFamily="18" charset="0"/>
                <a:cs typeface="Times New Roman" pitchFamily="18" charset="0"/>
              </a:rPr>
              <a:t>	Encouragement		(En+courage+ment)</a:t>
            </a:r>
            <a:endParaRPr lang="en-PH" sz="3200" dirty="0">
              <a:latin typeface="Times New Roman" pitchFamily="18" charset="0"/>
              <a:cs typeface="Times New Roman" pitchFamily="18" charset="0"/>
            </a:endParaRPr>
          </a:p>
        </p:txBody>
      </p:sp>
    </p:spTree>
    <p:extLst>
      <p:ext uri="{BB962C8B-B14F-4D97-AF65-F5344CB8AC3E}">
        <p14:creationId xmlns:p14="http://schemas.microsoft.com/office/powerpoint/2010/main" val="300769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0637" t="32118" r="17972" b="46442"/>
          <a:stretch/>
        </p:blipFill>
        <p:spPr bwMode="auto">
          <a:xfrm>
            <a:off x="2124348" y="360263"/>
            <a:ext cx="12817424" cy="2935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700412" y="3672632"/>
            <a:ext cx="13105456" cy="470898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1187577" lvl="1" indent="-457200" algn="just">
              <a:buFont typeface="Wingdings" pitchFamily="2" charset="2"/>
              <a:buChar char="q"/>
            </a:pPr>
            <a:r>
              <a:rPr lang="en-US" sz="3000" dirty="0" smtClean="0">
                <a:latin typeface="Times New Roman" pitchFamily="18" charset="0"/>
                <a:cs typeface="Times New Roman" pitchFamily="18" charset="0"/>
              </a:rPr>
              <a:t>It is </a:t>
            </a:r>
            <a:r>
              <a:rPr lang="en-US" sz="3000" dirty="0">
                <a:latin typeface="Times New Roman" pitchFamily="18" charset="0"/>
                <a:cs typeface="Times New Roman" pitchFamily="18" charset="0"/>
              </a:rPr>
              <a:t>the phonetic realization of a morpheme or the way a morpheme is formed. </a:t>
            </a:r>
            <a:endParaRPr lang="en-US" sz="3000" dirty="0" smtClean="0">
              <a:latin typeface="Times New Roman" pitchFamily="18" charset="0"/>
              <a:cs typeface="Times New Roman" pitchFamily="18" charset="0"/>
            </a:endParaRPr>
          </a:p>
          <a:p>
            <a:pPr marL="1187577" lvl="1" indent="-457200" algn="just">
              <a:buFont typeface="Wingdings" pitchFamily="2" charset="2"/>
              <a:buChar char="q"/>
            </a:pPr>
            <a:r>
              <a:rPr lang="en-US" sz="3000" dirty="0" smtClean="0">
                <a:latin typeface="Times New Roman" pitchFamily="18" charset="0"/>
                <a:cs typeface="Times New Roman" pitchFamily="18" charset="0"/>
              </a:rPr>
              <a:t>It is </a:t>
            </a:r>
            <a:r>
              <a:rPr lang="en-US" sz="3000" dirty="0">
                <a:latin typeface="Times New Roman" pitchFamily="18" charset="0"/>
                <a:cs typeface="Times New Roman" pitchFamily="18" charset="0"/>
              </a:rPr>
              <a:t>a concrete while a morpheme is abstract. A morph is also seen as a sequence of phonemes. </a:t>
            </a:r>
            <a:endParaRPr lang="en-US" sz="3000" dirty="0" smtClean="0">
              <a:latin typeface="Times New Roman" pitchFamily="18" charset="0"/>
              <a:cs typeface="Times New Roman" pitchFamily="18" charset="0"/>
            </a:endParaRPr>
          </a:p>
          <a:p>
            <a:pPr marL="1187577" lvl="1" indent="-457200" algn="just">
              <a:buFont typeface="Wingdings" pitchFamily="2" charset="2"/>
              <a:buChar char="q"/>
            </a:pPr>
            <a:r>
              <a:rPr lang="en-US" sz="3000" dirty="0" smtClean="0">
                <a:latin typeface="Times New Roman" pitchFamily="18" charset="0"/>
                <a:cs typeface="Times New Roman" pitchFamily="18" charset="0"/>
              </a:rPr>
              <a:t>It </a:t>
            </a:r>
            <a:r>
              <a:rPr lang="en-US" sz="3000" dirty="0">
                <a:latin typeface="Times New Roman" pitchFamily="18" charset="0"/>
                <a:cs typeface="Times New Roman" pitchFamily="18" charset="0"/>
              </a:rPr>
              <a:t>is a string of phonemes that cannot be divided into smaller units. </a:t>
            </a:r>
            <a:endParaRPr lang="en-US" sz="3000" dirty="0" smtClean="0">
              <a:latin typeface="Times New Roman" pitchFamily="18" charset="0"/>
              <a:cs typeface="Times New Roman" pitchFamily="18" charset="0"/>
            </a:endParaRPr>
          </a:p>
          <a:p>
            <a:pPr marL="1187577" lvl="1" indent="-457200" algn="just">
              <a:buFont typeface="Wingdings" pitchFamily="2" charset="2"/>
              <a:buChar char="q"/>
            </a:pPr>
            <a:r>
              <a:rPr lang="en-US" sz="3000" dirty="0" smtClean="0">
                <a:latin typeface="Times New Roman" pitchFamily="18" charset="0"/>
                <a:cs typeface="Times New Roman" pitchFamily="18" charset="0"/>
              </a:rPr>
              <a:t>It is </a:t>
            </a:r>
            <a:r>
              <a:rPr lang="en-US" sz="3000" dirty="0">
                <a:latin typeface="Times New Roman" pitchFamily="18" charset="0"/>
                <a:cs typeface="Times New Roman" pitchFamily="18" charset="0"/>
              </a:rPr>
              <a:t>the smallest unit that carries meaning both in writing and in sound. </a:t>
            </a:r>
            <a:endParaRPr lang="en-US" sz="3000" dirty="0" smtClean="0">
              <a:latin typeface="Times New Roman" pitchFamily="18" charset="0"/>
              <a:cs typeface="Times New Roman" pitchFamily="18" charset="0"/>
            </a:endParaRPr>
          </a:p>
          <a:p>
            <a:pPr algn="just"/>
            <a:r>
              <a:rPr lang="en-US" sz="3000" dirty="0" smtClean="0">
                <a:latin typeface="Times New Roman" pitchFamily="18" charset="0"/>
                <a:cs typeface="Times New Roman" pitchFamily="18" charset="0"/>
              </a:rPr>
              <a:t>	   </a:t>
            </a:r>
            <a:r>
              <a:rPr lang="en-US" sz="3000" i="1" dirty="0" smtClean="0">
                <a:latin typeface="Times New Roman" pitchFamily="18" charset="0"/>
                <a:cs typeface="Times New Roman" pitchFamily="18" charset="0"/>
              </a:rPr>
              <a:t>Examples: </a:t>
            </a:r>
          </a:p>
          <a:p>
            <a:pPr algn="just"/>
            <a:r>
              <a:rPr lang="en-US" sz="3000"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It </a:t>
            </a:r>
            <a:r>
              <a:rPr lang="en-US" sz="3000" dirty="0">
                <a:latin typeface="Times New Roman" pitchFamily="18" charset="0"/>
                <a:cs typeface="Times New Roman" pitchFamily="18" charset="0"/>
              </a:rPr>
              <a:t>represents one morpheme such as the word “courageous</a:t>
            </a:r>
            <a:r>
              <a:rPr lang="en-US" sz="3000" dirty="0" smtClean="0">
                <a:latin typeface="Times New Roman" pitchFamily="18" charset="0"/>
                <a:cs typeface="Times New Roman" pitchFamily="18" charset="0"/>
              </a:rPr>
              <a:t>”, which 	consists 	of </a:t>
            </a:r>
            <a:r>
              <a:rPr lang="en-US" sz="3000" dirty="0">
                <a:latin typeface="Times New Roman" pitchFamily="18" charset="0"/>
                <a:cs typeface="Times New Roman" pitchFamily="18" charset="0"/>
              </a:rPr>
              <a:t>three morphs: “cou-ra-geous”. Each of these morphs </a:t>
            </a:r>
            <a:r>
              <a:rPr lang="en-US" sz="3000" dirty="0" smtClean="0">
                <a:latin typeface="Times New Roman" pitchFamily="18" charset="0"/>
                <a:cs typeface="Times New Roman" pitchFamily="18" charset="0"/>
              </a:rPr>
              <a:t>	represents one morpheme</a:t>
            </a:r>
            <a:r>
              <a:rPr lang="en-US" sz="3000" dirty="0">
                <a:latin typeface="Times New Roman" pitchFamily="18" charset="0"/>
                <a:cs typeface="Times New Roman" pitchFamily="18" charset="0"/>
              </a:rPr>
              <a:t>.</a:t>
            </a:r>
            <a:endParaRPr lang="en-PH" sz="3000" dirty="0">
              <a:latin typeface="Times New Roman" pitchFamily="18" charset="0"/>
              <a:cs typeface="Times New Roman" pitchFamily="18" charset="0"/>
            </a:endParaRPr>
          </a:p>
        </p:txBody>
      </p:sp>
      <p:sp>
        <p:nvSpPr>
          <p:cNvPr id="7" name="Rectangle 6"/>
          <p:cNvSpPr/>
          <p:nvPr/>
        </p:nvSpPr>
        <p:spPr>
          <a:xfrm>
            <a:off x="294238" y="3384600"/>
            <a:ext cx="2262158" cy="923330"/>
          </a:xfrm>
          <a:prstGeom prst="rect">
            <a:avLst/>
          </a:prstGeom>
        </p:spPr>
        <p:txBody>
          <a:bodyPr wrap="none">
            <a:spAutoFit/>
          </a:bodyPr>
          <a:lstStyle/>
          <a:p>
            <a:pPr algn="just"/>
            <a:r>
              <a:rPr lang="en-US" sz="5400" b="1" dirty="0">
                <a:solidFill>
                  <a:srgbClr val="FFFF00"/>
                </a:solidFill>
                <a:latin typeface="Times New Roman" pitchFamily="18" charset="0"/>
                <a:cs typeface="Times New Roman" pitchFamily="18" charset="0"/>
              </a:rPr>
              <a:t>Morph</a:t>
            </a:r>
          </a:p>
        </p:txBody>
      </p:sp>
    </p:spTree>
    <p:extLst>
      <p:ext uri="{BB962C8B-B14F-4D97-AF65-F5344CB8AC3E}">
        <p14:creationId xmlns:p14="http://schemas.microsoft.com/office/powerpoint/2010/main" val="128216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arn(inVertic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612180" y="326579"/>
            <a:ext cx="15071351" cy="276998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en-US" b="1" dirty="0">
                <a:solidFill>
                  <a:srgbClr val="FF0000"/>
                </a:solidFill>
                <a:latin typeface="Arial" pitchFamily="34" charset="0"/>
                <a:cs typeface="Arial" pitchFamily="34" charset="0"/>
              </a:rPr>
              <a:t>Allomorph</a:t>
            </a:r>
            <a:endParaRPr lang="en-PH" b="1" dirty="0">
              <a:solidFill>
                <a:srgbClr val="FF0000"/>
              </a:solidFill>
              <a:latin typeface="Arial" pitchFamily="34" charset="0"/>
              <a:cs typeface="Arial" pitchFamily="34" charset="0"/>
            </a:endParaRPr>
          </a:p>
          <a:p>
            <a:pPr marL="1187577" lvl="1" indent="-457200" algn="just">
              <a:buFont typeface="Wingdings" pitchFamily="2" charset="2"/>
              <a:buChar char="q"/>
            </a:pPr>
            <a:r>
              <a:rPr lang="en-US" sz="2800" dirty="0" smtClean="0">
                <a:latin typeface="Arial" pitchFamily="34" charset="0"/>
                <a:cs typeface="Arial" pitchFamily="34" charset="0"/>
              </a:rPr>
              <a:t>It is </a:t>
            </a:r>
            <a:r>
              <a:rPr lang="en-US" sz="2800" dirty="0">
                <a:latin typeface="Arial" pitchFamily="34" charset="0"/>
                <a:cs typeface="Arial" pitchFamily="34" charset="0"/>
              </a:rPr>
              <a:t>a morph that has a unique set of lexical features. </a:t>
            </a:r>
            <a:endParaRPr lang="en-US" sz="2800" dirty="0" smtClean="0">
              <a:latin typeface="Arial" pitchFamily="34" charset="0"/>
              <a:cs typeface="Arial" pitchFamily="34" charset="0"/>
            </a:endParaRPr>
          </a:p>
          <a:p>
            <a:pPr marL="1187577" lvl="1" indent="-457200" algn="just">
              <a:buFont typeface="Wingdings" pitchFamily="2" charset="2"/>
              <a:buChar char="q"/>
            </a:pPr>
            <a:r>
              <a:rPr lang="en-US" sz="2800" dirty="0" smtClean="0">
                <a:latin typeface="Arial" pitchFamily="34" charset="0"/>
                <a:cs typeface="Arial" pitchFamily="34" charset="0"/>
              </a:rPr>
              <a:t>Allomorphs </a:t>
            </a:r>
            <a:r>
              <a:rPr lang="en-US" sz="2800" dirty="0">
                <a:latin typeface="Arial" pitchFamily="34" charset="0"/>
                <a:cs typeface="Arial" pitchFamily="34" charset="0"/>
              </a:rPr>
              <a:t>are the distinct variant of the same morpheme. </a:t>
            </a:r>
            <a:endParaRPr lang="en-US" sz="2800" dirty="0" smtClean="0">
              <a:latin typeface="Arial" pitchFamily="34" charset="0"/>
              <a:cs typeface="Arial" pitchFamily="34" charset="0"/>
            </a:endParaRPr>
          </a:p>
          <a:p>
            <a:pPr marL="1187577" lvl="1" indent="-457200" algn="just">
              <a:buFont typeface="Wingdings" pitchFamily="2" charset="2"/>
              <a:buChar char="q"/>
            </a:pPr>
            <a:r>
              <a:rPr lang="en-US" sz="2800" dirty="0" smtClean="0">
                <a:latin typeface="Arial" pitchFamily="34" charset="0"/>
                <a:cs typeface="Arial" pitchFamily="34" charset="0"/>
              </a:rPr>
              <a:t>They </a:t>
            </a:r>
            <a:r>
              <a:rPr lang="en-US" sz="2800" dirty="0">
                <a:latin typeface="Arial" pitchFamily="34" charset="0"/>
                <a:cs typeface="Arial" pitchFamily="34" charset="0"/>
              </a:rPr>
              <a:t>differ in shape and pronunciation according to their conditions and functions</a:t>
            </a:r>
            <a:r>
              <a:rPr lang="en-US" sz="2800" dirty="0" smtClean="0">
                <a:latin typeface="Arial" pitchFamily="34" charset="0"/>
                <a:cs typeface="Arial" pitchFamily="34" charset="0"/>
              </a:rPr>
              <a:t>.</a:t>
            </a:r>
          </a:p>
          <a:p>
            <a:pPr marL="1187577" lvl="1" indent="-457200" algn="just">
              <a:buFont typeface="Wingdings" pitchFamily="2" charset="2"/>
              <a:buChar char="q"/>
            </a:pPr>
            <a:r>
              <a:rPr lang="en-US" sz="2800" dirty="0" smtClean="0">
                <a:latin typeface="Arial" pitchFamily="34" charset="0"/>
                <a:cs typeface="Arial" pitchFamily="34" charset="0"/>
              </a:rPr>
              <a:t>They </a:t>
            </a:r>
            <a:r>
              <a:rPr lang="en-US" sz="2800" dirty="0">
                <a:latin typeface="Arial" pitchFamily="34" charset="0"/>
                <a:cs typeface="Arial" pitchFamily="34" charset="0"/>
              </a:rPr>
              <a:t>are a class of morphs that are semantically identical like the morpheme[s], which is phonologically conditioned such as:</a:t>
            </a:r>
            <a:endParaRPr lang="en-PH" sz="2800" dirty="0">
              <a:latin typeface="Arial" pitchFamily="34" charset="0"/>
              <a:cs typeface="Arial" pitchFamily="34" charset="0"/>
            </a:endParaRPr>
          </a:p>
        </p:txBody>
      </p:sp>
      <p:pic>
        <p:nvPicPr>
          <p:cNvPr id="409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6830" t="32640" r="22218" b="13715"/>
          <a:stretch/>
        </p:blipFill>
        <p:spPr bwMode="auto">
          <a:xfrm>
            <a:off x="5689246" y="3240584"/>
            <a:ext cx="9756582" cy="577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0690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098"/>
                                        </p:tgtEl>
                                        <p:attrNameLst>
                                          <p:attrName>style.visibility</p:attrName>
                                        </p:attrNameLst>
                                      </p:cBhvr>
                                      <p:to>
                                        <p:strVal val="visible"/>
                                      </p:to>
                                    </p:set>
                                    <p:animEffect transition="in" filter="fade">
                                      <p:cBhvr>
                                        <p:cTn id="14" dur="1000"/>
                                        <p:tgtEl>
                                          <p:spTgt spid="4098"/>
                                        </p:tgtEl>
                                      </p:cBhvr>
                                    </p:animEffect>
                                    <p:anim calcmode="lin" valueType="num">
                                      <p:cBhvr>
                                        <p:cTn id="15" dur="1000" fill="hold"/>
                                        <p:tgtEl>
                                          <p:spTgt spid="4098"/>
                                        </p:tgtEl>
                                        <p:attrNameLst>
                                          <p:attrName>ppt_x</p:attrName>
                                        </p:attrNameLst>
                                      </p:cBhvr>
                                      <p:tavLst>
                                        <p:tav tm="0">
                                          <p:val>
                                            <p:strVal val="#ppt_x"/>
                                          </p:val>
                                        </p:tav>
                                        <p:tav tm="100000">
                                          <p:val>
                                            <p:strVal val="#ppt_x"/>
                                          </p:val>
                                        </p:tav>
                                      </p:tavLst>
                                    </p:anim>
                                    <p:anim calcmode="lin" valueType="num">
                                      <p:cBhvr>
                                        <p:cTn id="16"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TextBox 5"/>
          <p:cNvSpPr txBox="1"/>
          <p:nvPr/>
        </p:nvSpPr>
        <p:spPr>
          <a:xfrm>
            <a:off x="324148" y="360264"/>
            <a:ext cx="7030964" cy="76944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PH" sz="4400" b="1" dirty="0" smtClean="0">
                <a:solidFill>
                  <a:srgbClr val="FF0000"/>
                </a:solidFill>
                <a:latin typeface="Arial" pitchFamily="34" charset="0"/>
                <a:cs typeface="Arial" pitchFamily="34" charset="0"/>
              </a:rPr>
              <a:t>ROOT, STEM, AND BASE </a:t>
            </a:r>
            <a:endParaRPr lang="en-PH" sz="4400" b="1" dirty="0">
              <a:solidFill>
                <a:srgbClr val="FF0000"/>
              </a:solidFill>
              <a:latin typeface="Arial" pitchFamily="34" charset="0"/>
              <a:cs typeface="Arial" pitchFamily="34" charset="0"/>
            </a:endParaRPr>
          </a:p>
        </p:txBody>
      </p:sp>
      <p:sp>
        <p:nvSpPr>
          <p:cNvPr id="7" name="Rectangle 6"/>
          <p:cNvSpPr/>
          <p:nvPr/>
        </p:nvSpPr>
        <p:spPr>
          <a:xfrm>
            <a:off x="1116236" y="1296368"/>
            <a:ext cx="14761640" cy="187743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n-US" dirty="0">
                <a:latin typeface="Arial" pitchFamily="34" charset="0"/>
                <a:cs typeface="Arial" pitchFamily="34" charset="0"/>
              </a:rPr>
              <a:t>A </a:t>
            </a:r>
            <a:r>
              <a:rPr lang="en-US" b="1" dirty="0">
                <a:solidFill>
                  <a:srgbClr val="FF0000"/>
                </a:solidFill>
                <a:latin typeface="Arial" pitchFamily="34" charset="0"/>
                <a:cs typeface="Arial" pitchFamily="34" charset="0"/>
              </a:rPr>
              <a:t>root </a:t>
            </a:r>
            <a:r>
              <a:rPr lang="en-US" dirty="0">
                <a:latin typeface="Arial" pitchFamily="34" charset="0"/>
                <a:cs typeface="Arial" pitchFamily="34" charset="0"/>
              </a:rPr>
              <a:t>is a morph </a:t>
            </a:r>
            <a:r>
              <a:rPr lang="en-US" dirty="0" smtClean="0">
                <a:latin typeface="Arial" pitchFamily="34" charset="0"/>
                <a:cs typeface="Arial" pitchFamily="34" charset="0"/>
              </a:rPr>
              <a:t>which  the component </a:t>
            </a:r>
            <a:r>
              <a:rPr lang="en-US" dirty="0">
                <a:latin typeface="Arial" pitchFamily="34" charset="0"/>
                <a:cs typeface="Arial" pitchFamily="34" charset="0"/>
              </a:rPr>
              <a:t>of a word-form that is intact when all affixes are removed. </a:t>
            </a:r>
            <a:r>
              <a:rPr lang="en-US" i="1" dirty="0">
                <a:latin typeface="Arial" pitchFamily="34" charset="0"/>
                <a:cs typeface="Arial" pitchFamily="34" charset="0"/>
              </a:rPr>
              <a:t> </a:t>
            </a:r>
            <a:r>
              <a:rPr lang="en-US" dirty="0">
                <a:latin typeface="Arial" pitchFamily="34" charset="0"/>
                <a:cs typeface="Arial" pitchFamily="34" charset="0"/>
              </a:rPr>
              <a:t>Roots are always present in every meaningful linguistic unit. In the form “unstoppable”, the roots is “stop” where the affixes “un and able”, are attached. Significantly, there are two roots in the word “armchair”, the “arm” and the “chair”</a:t>
            </a:r>
            <a:endParaRPr lang="en-PH" dirty="0">
              <a:latin typeface="Arial" pitchFamily="34" charset="0"/>
              <a:cs typeface="Arial" pitchFamily="34" charset="0"/>
            </a:endParaRPr>
          </a:p>
        </p:txBody>
      </p:sp>
      <p:sp>
        <p:nvSpPr>
          <p:cNvPr id="8" name="Rectangle 7"/>
          <p:cNvSpPr/>
          <p:nvPr/>
        </p:nvSpPr>
        <p:spPr>
          <a:xfrm>
            <a:off x="900212" y="3510027"/>
            <a:ext cx="14617624" cy="455509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dirty="0" smtClean="0">
                <a:latin typeface="Arial" pitchFamily="34" charset="0"/>
                <a:cs typeface="Arial" pitchFamily="34" charset="0"/>
              </a:rPr>
              <a:t>A </a:t>
            </a:r>
            <a:r>
              <a:rPr lang="en-US" b="1" dirty="0">
                <a:solidFill>
                  <a:srgbClr val="FF0000"/>
                </a:solidFill>
                <a:latin typeface="Arial" pitchFamily="34" charset="0"/>
                <a:cs typeface="Arial" pitchFamily="34" charset="0"/>
              </a:rPr>
              <a:t>stem</a:t>
            </a:r>
            <a:r>
              <a:rPr lang="en-US" b="1" dirty="0">
                <a:latin typeface="Arial" pitchFamily="34" charset="0"/>
                <a:cs typeface="Arial" pitchFamily="34" charset="0"/>
              </a:rPr>
              <a:t> </a:t>
            </a:r>
            <a:r>
              <a:rPr lang="en-US" dirty="0">
                <a:latin typeface="Arial" pitchFamily="34" charset="0"/>
                <a:cs typeface="Arial" pitchFamily="34" charset="0"/>
              </a:rPr>
              <a:t>is concerned with inflectional morphology. Most words are stems, where affixes can be attached. In the word “unstoppable”, the stem is “stoppable”, which could be broken to a smaller stem “stop”. </a:t>
            </a:r>
            <a:endParaRPr lang="en-US" dirty="0" smtClean="0">
              <a:latin typeface="Arial" pitchFamily="34" charset="0"/>
              <a:cs typeface="Arial" pitchFamily="34" charset="0"/>
            </a:endParaRPr>
          </a:p>
          <a:p>
            <a:r>
              <a:rPr lang="en-US" dirty="0">
                <a:latin typeface="Arial" pitchFamily="34" charset="0"/>
                <a:cs typeface="Arial" pitchFamily="34" charset="0"/>
              </a:rPr>
              <a:t>	</a:t>
            </a:r>
            <a:r>
              <a:rPr lang="en-US" dirty="0" smtClean="0">
                <a:latin typeface="Arial" pitchFamily="34" charset="0"/>
                <a:cs typeface="Arial" pitchFamily="34" charset="0"/>
              </a:rPr>
              <a:t>	</a:t>
            </a:r>
            <a:r>
              <a:rPr lang="en-US" i="1" dirty="0" smtClean="0">
                <a:latin typeface="Arial" pitchFamily="34" charset="0"/>
                <a:cs typeface="Arial" pitchFamily="34" charset="0"/>
              </a:rPr>
              <a:t>Examples:</a:t>
            </a:r>
          </a:p>
          <a:p>
            <a:r>
              <a:rPr lang="en-US" i="1" dirty="0">
                <a:latin typeface="Arial" pitchFamily="34" charset="0"/>
                <a:cs typeface="Arial" pitchFamily="34" charset="0"/>
              </a:rPr>
              <a:t>	</a:t>
            </a:r>
            <a:r>
              <a:rPr lang="en-US" i="1" dirty="0" smtClean="0">
                <a:latin typeface="Arial" pitchFamily="34" charset="0"/>
                <a:cs typeface="Arial" pitchFamily="34" charset="0"/>
              </a:rPr>
              <a:t>		</a:t>
            </a:r>
            <a:r>
              <a:rPr lang="en-US" dirty="0" smtClean="0">
                <a:latin typeface="Times New Roman" pitchFamily="18" charset="0"/>
                <a:cs typeface="Times New Roman" pitchFamily="18" charset="0"/>
              </a:rPr>
              <a:t>stop</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infinitive)</a:t>
            </a:r>
            <a:endParaRPr lang="en-PH"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stop</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imperative)</a:t>
            </a:r>
            <a:endParaRPr lang="en-PH"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stops</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present, 3</a:t>
            </a:r>
            <a:r>
              <a:rPr lang="en-US" baseline="30000" dirty="0">
                <a:latin typeface="Times New Roman" pitchFamily="18" charset="0"/>
                <a:cs typeface="Times New Roman" pitchFamily="18" charset="0"/>
              </a:rPr>
              <a:t>rd</a:t>
            </a:r>
            <a:r>
              <a:rPr lang="en-US" dirty="0">
                <a:latin typeface="Times New Roman" pitchFamily="18" charset="0"/>
                <a:cs typeface="Times New Roman" pitchFamily="18" charset="0"/>
              </a:rPr>
              <a:t> person, singular)</a:t>
            </a:r>
            <a:endParaRPr lang="en-PH"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stopped</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simple past)</a:t>
            </a:r>
            <a:endParaRPr lang="en-PH"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stopped</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past participle)</a:t>
            </a:r>
            <a:endParaRPr lang="en-PH"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stopping</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progressive</a:t>
            </a:r>
            <a:r>
              <a:rPr lang="en-US" dirty="0" smtClean="0">
                <a:latin typeface="Times New Roman" pitchFamily="18" charset="0"/>
                <a:cs typeface="Times New Roman" pitchFamily="18" charset="0"/>
              </a:rPr>
              <a:t>)</a:t>
            </a:r>
            <a:endParaRPr lang="en-PH" i="1" dirty="0">
              <a:latin typeface="Times New Roman" pitchFamily="18" charset="0"/>
              <a:cs typeface="Times New Roman" pitchFamily="18" charset="0"/>
            </a:endParaRPr>
          </a:p>
        </p:txBody>
      </p:sp>
    </p:spTree>
    <p:extLst>
      <p:ext uri="{BB962C8B-B14F-4D97-AF65-F5344CB8AC3E}">
        <p14:creationId xmlns:p14="http://schemas.microsoft.com/office/powerpoint/2010/main" val="366584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7" name="Rectangle 6"/>
          <p:cNvSpPr/>
          <p:nvPr/>
        </p:nvSpPr>
        <p:spPr>
          <a:xfrm>
            <a:off x="900212" y="360264"/>
            <a:ext cx="14761640" cy="232371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n-US" dirty="0">
                <a:latin typeface="Arial" pitchFamily="34" charset="0"/>
                <a:cs typeface="Arial" pitchFamily="34" charset="0"/>
              </a:rPr>
              <a:t>A </a:t>
            </a:r>
            <a:r>
              <a:rPr lang="en-US" b="1" dirty="0">
                <a:solidFill>
                  <a:srgbClr val="FF0000"/>
                </a:solidFill>
                <a:latin typeface="Arial" pitchFamily="34" charset="0"/>
                <a:cs typeface="Arial" pitchFamily="34" charset="0"/>
              </a:rPr>
              <a:t>base</a:t>
            </a:r>
            <a:r>
              <a:rPr lang="en-US" b="1" dirty="0">
                <a:latin typeface="Arial" pitchFamily="34" charset="0"/>
                <a:cs typeface="Arial" pitchFamily="34" charset="0"/>
              </a:rPr>
              <a:t> </a:t>
            </a:r>
            <a:r>
              <a:rPr lang="en-US" dirty="0">
                <a:latin typeface="Arial" pitchFamily="34" charset="0"/>
                <a:cs typeface="Arial" pitchFamily="34" charset="0"/>
              </a:rPr>
              <a:t>is any form to which affixes can be attached. It is the core unit of each word that has no extra parts. This signifies that any stem or any root can be called a base, however, not all bases are stem or root. </a:t>
            </a:r>
            <a:endParaRPr lang="en-US" dirty="0" smtClean="0">
              <a:latin typeface="Arial" pitchFamily="34" charset="0"/>
              <a:cs typeface="Arial" pitchFamily="34" charset="0"/>
            </a:endParaRPr>
          </a:p>
          <a:p>
            <a:pPr algn="just"/>
            <a:r>
              <a:rPr lang="en-US" dirty="0">
                <a:latin typeface="Arial" pitchFamily="34" charset="0"/>
                <a:cs typeface="Arial" pitchFamily="34" charset="0"/>
              </a:rPr>
              <a:t>	</a:t>
            </a:r>
            <a:r>
              <a:rPr lang="en-US" dirty="0" smtClean="0">
                <a:latin typeface="Times New Roman" pitchFamily="18" charset="0"/>
                <a:cs typeface="Times New Roman" pitchFamily="18" charset="0"/>
              </a:rPr>
              <a:t>An </a:t>
            </a:r>
            <a:r>
              <a:rPr lang="en-US" dirty="0">
                <a:latin typeface="Times New Roman" pitchFamily="18" charset="0"/>
                <a:cs typeface="Times New Roman" pitchFamily="18" charset="0"/>
              </a:rPr>
              <a:t>example is the base “cycle”, which is a word with concrete meaning, but could also transform into motorcycle, cyclist, bicycle, which carry a different meaning. </a:t>
            </a:r>
            <a:endParaRPr lang="en-PH" dirty="0">
              <a:latin typeface="Times New Roman" pitchFamily="18" charset="0"/>
              <a:cs typeface="Times New Roman" pitchFamily="18" charset="0"/>
            </a:endParaRPr>
          </a:p>
        </p:txBody>
      </p:sp>
      <p:sp>
        <p:nvSpPr>
          <p:cNvPr id="9" name="Rectangle 8"/>
          <p:cNvSpPr/>
          <p:nvPr/>
        </p:nvSpPr>
        <p:spPr>
          <a:xfrm>
            <a:off x="1404268" y="2978095"/>
            <a:ext cx="14329592" cy="566308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dirty="0">
                <a:latin typeface="Arial" pitchFamily="34" charset="0"/>
                <a:cs typeface="Arial" pitchFamily="34" charset="0"/>
              </a:rPr>
              <a:t>In terms of </a:t>
            </a:r>
            <a:r>
              <a:rPr lang="en-US" sz="3200" b="1" dirty="0" smtClean="0">
                <a:latin typeface="Arial" pitchFamily="34" charset="0"/>
                <a:cs typeface="Arial" pitchFamily="34" charset="0"/>
              </a:rPr>
              <a:t>MORPHOLOGICAL AFFIXATION</a:t>
            </a:r>
            <a:r>
              <a:rPr lang="en-US" dirty="0" smtClean="0">
                <a:latin typeface="Arial" pitchFamily="34" charset="0"/>
                <a:cs typeface="Arial" pitchFamily="34" charset="0"/>
              </a:rPr>
              <a:t>, </a:t>
            </a:r>
            <a:r>
              <a:rPr lang="en-US" dirty="0">
                <a:latin typeface="Arial" pitchFamily="34" charset="0"/>
                <a:cs typeface="Arial" pitchFamily="34" charset="0"/>
              </a:rPr>
              <a:t>there two types</a:t>
            </a:r>
            <a:r>
              <a:rPr lang="en-US" dirty="0" smtClean="0">
                <a:latin typeface="Arial" pitchFamily="34" charset="0"/>
                <a:cs typeface="Arial" pitchFamily="34" charset="0"/>
              </a:rPr>
              <a:t>.</a:t>
            </a:r>
          </a:p>
          <a:p>
            <a:endParaRPr lang="en-PH" sz="1400" dirty="0">
              <a:latin typeface="Arial" pitchFamily="34" charset="0"/>
              <a:cs typeface="Arial" pitchFamily="34" charset="0"/>
            </a:endParaRPr>
          </a:p>
          <a:p>
            <a:r>
              <a:rPr lang="en-US" dirty="0">
                <a:latin typeface="Arial" pitchFamily="34" charset="0"/>
                <a:cs typeface="Arial" pitchFamily="34" charset="0"/>
              </a:rPr>
              <a:t> </a:t>
            </a:r>
            <a:r>
              <a:rPr lang="en-US" dirty="0" smtClean="0">
                <a:latin typeface="Arial" pitchFamily="34" charset="0"/>
                <a:cs typeface="Arial" pitchFamily="34" charset="0"/>
              </a:rPr>
              <a:t>	a</a:t>
            </a:r>
            <a:r>
              <a:rPr lang="en-US" dirty="0">
                <a:latin typeface="Arial" pitchFamily="34" charset="0"/>
                <a:cs typeface="Arial" pitchFamily="34" charset="0"/>
              </a:rPr>
              <a:t>. Bound morphemes which cannot stand alone (e.g. un-, -</a:t>
            </a:r>
            <a:r>
              <a:rPr lang="en-US" dirty="0" err="1">
                <a:latin typeface="Arial" pitchFamily="34" charset="0"/>
                <a:cs typeface="Arial" pitchFamily="34" charset="0"/>
              </a:rPr>
              <a:t>ly</a:t>
            </a:r>
            <a:r>
              <a:rPr lang="en-US" dirty="0">
                <a:latin typeface="Arial" pitchFamily="34" charset="0"/>
                <a:cs typeface="Arial" pitchFamily="34" charset="0"/>
              </a:rPr>
              <a:t>, -</a:t>
            </a:r>
            <a:r>
              <a:rPr lang="en-US" dirty="0" err="1">
                <a:latin typeface="Arial" pitchFamily="34" charset="0"/>
                <a:cs typeface="Arial" pitchFamily="34" charset="0"/>
              </a:rPr>
              <a:t>ed</a:t>
            </a:r>
            <a:r>
              <a:rPr lang="en-US" dirty="0">
                <a:latin typeface="Arial" pitchFamily="34" charset="0"/>
                <a:cs typeface="Arial" pitchFamily="34" charset="0"/>
              </a:rPr>
              <a:t>, re-. in-)  </a:t>
            </a:r>
            <a:endParaRPr lang="en-PH" dirty="0">
              <a:latin typeface="Arial" pitchFamily="34" charset="0"/>
              <a:cs typeface="Arial" pitchFamily="34" charset="0"/>
            </a:endParaRPr>
          </a:p>
          <a:p>
            <a:r>
              <a:rPr lang="en-US" dirty="0" smtClean="0">
                <a:latin typeface="Arial" pitchFamily="34" charset="0"/>
                <a:cs typeface="Arial" pitchFamily="34" charset="0"/>
              </a:rPr>
              <a:t>	b</a:t>
            </a:r>
            <a:r>
              <a:rPr lang="en-US" dirty="0">
                <a:latin typeface="Arial" pitchFamily="34" charset="0"/>
                <a:cs typeface="Arial" pitchFamily="34" charset="0"/>
              </a:rPr>
              <a:t>. Free Morphemes which can stand alone (e.g. like, happy, jump, write)</a:t>
            </a:r>
            <a:endParaRPr lang="en-PH" dirty="0">
              <a:latin typeface="Arial" pitchFamily="34" charset="0"/>
              <a:cs typeface="Arial" pitchFamily="34" charset="0"/>
            </a:endParaRPr>
          </a:p>
          <a:p>
            <a:r>
              <a:rPr lang="en-US" dirty="0" smtClean="0">
                <a:latin typeface="Arial" pitchFamily="34" charset="0"/>
                <a:cs typeface="Arial" pitchFamily="34" charset="0"/>
              </a:rPr>
              <a:t>		- </a:t>
            </a:r>
            <a:r>
              <a:rPr lang="en-US" b="1" dirty="0">
                <a:latin typeface="Arial" pitchFamily="34" charset="0"/>
                <a:cs typeface="Arial" pitchFamily="34" charset="0"/>
              </a:rPr>
              <a:t>Content words</a:t>
            </a:r>
            <a:r>
              <a:rPr lang="en-US" dirty="0">
                <a:latin typeface="Arial" pitchFamily="34" charset="0"/>
                <a:cs typeface="Arial" pitchFamily="34" charset="0"/>
              </a:rPr>
              <a:t> (open class) – noun, verb, adjective, and adverb)</a:t>
            </a:r>
            <a:endParaRPr lang="en-PH" dirty="0">
              <a:latin typeface="Arial" pitchFamily="34" charset="0"/>
              <a:cs typeface="Arial" pitchFamily="34" charset="0"/>
            </a:endParaRPr>
          </a:p>
          <a:p>
            <a:r>
              <a:rPr lang="en-US" dirty="0" smtClean="0">
                <a:latin typeface="Arial" pitchFamily="34" charset="0"/>
                <a:cs typeface="Arial" pitchFamily="34" charset="0"/>
              </a:rPr>
              <a:t>		-</a:t>
            </a:r>
            <a:r>
              <a:rPr lang="en-US" b="1" dirty="0">
                <a:latin typeface="Arial" pitchFamily="34" charset="0"/>
                <a:cs typeface="Arial" pitchFamily="34" charset="0"/>
              </a:rPr>
              <a:t>Function words</a:t>
            </a:r>
            <a:r>
              <a:rPr lang="en-US" dirty="0">
                <a:latin typeface="Arial" pitchFamily="34" charset="0"/>
                <a:cs typeface="Arial" pitchFamily="34" charset="0"/>
              </a:rPr>
              <a:t> (closed class) – pronoun, conjunction, preposition, </a:t>
            </a:r>
            <a:endParaRPr lang="en-US" dirty="0" smtClean="0">
              <a:latin typeface="Arial" pitchFamily="34" charset="0"/>
              <a:cs typeface="Arial" pitchFamily="34" charset="0"/>
            </a:endParaRPr>
          </a:p>
          <a:p>
            <a:r>
              <a:rPr lang="en-US" dirty="0" smtClean="0">
                <a:latin typeface="Arial" pitchFamily="34" charset="0"/>
                <a:cs typeface="Arial" pitchFamily="34" charset="0"/>
              </a:rPr>
              <a:t>		                                                          determiner</a:t>
            </a:r>
            <a:endParaRPr lang="en-PH" dirty="0">
              <a:latin typeface="Arial" pitchFamily="34" charset="0"/>
              <a:cs typeface="Arial" pitchFamily="34" charset="0"/>
            </a:endParaRPr>
          </a:p>
          <a:p>
            <a:pPr algn="just"/>
            <a:r>
              <a:rPr lang="en-US" dirty="0">
                <a:latin typeface="Arial" pitchFamily="34" charset="0"/>
                <a:cs typeface="Arial" pitchFamily="34" charset="0"/>
              </a:rPr>
              <a:t> </a:t>
            </a:r>
            <a:r>
              <a:rPr lang="en-US" dirty="0" smtClean="0">
                <a:latin typeface="Arial" pitchFamily="34" charset="0"/>
                <a:cs typeface="Arial" pitchFamily="34" charset="0"/>
              </a:rPr>
              <a:t>	When </a:t>
            </a:r>
            <a:r>
              <a:rPr lang="en-US" dirty="0">
                <a:latin typeface="Arial" pitchFamily="34" charset="0"/>
                <a:cs typeface="Arial" pitchFamily="34" charset="0"/>
              </a:rPr>
              <a:t>we talk about words, there are two groups: lexical (or content) and function (or grammatical) words. Lexical words are called open class words and include nouns, verbs, adjectives and adverbs. New words can regularly be added to this group. Function words, or closed class words, are conjunctions, prepositions, articles and pronouns; and new words cannot be (or are very rarely) added to this class.</a:t>
            </a:r>
            <a:endParaRPr lang="en-PH" dirty="0">
              <a:latin typeface="Arial" pitchFamily="34" charset="0"/>
              <a:cs typeface="Arial" pitchFamily="34" charset="0"/>
            </a:endParaRPr>
          </a:p>
        </p:txBody>
      </p:sp>
    </p:spTree>
    <p:extLst>
      <p:ext uri="{BB962C8B-B14F-4D97-AF65-F5344CB8AC3E}">
        <p14:creationId xmlns:p14="http://schemas.microsoft.com/office/powerpoint/2010/main" val="300992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900212" y="504280"/>
            <a:ext cx="14833648" cy="3662541"/>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en-US" dirty="0">
                <a:latin typeface="Arial" pitchFamily="34" charset="0"/>
                <a:cs typeface="Arial" pitchFamily="34" charset="0"/>
              </a:rPr>
              <a:t>Affixes are often the bound morpheme. This group includes prefixes, suffixes, infixes, and circumfixes. Prefixes are added to the beginning of another morpheme, suffixes are added to the end, infixes are inserted into other morphemes, and circumfixes are attached to another morpheme at the beginning and end. </a:t>
            </a:r>
            <a:endParaRPr lang="en-PH" dirty="0">
              <a:latin typeface="Arial" pitchFamily="34" charset="0"/>
              <a:cs typeface="Arial" pitchFamily="34" charset="0"/>
            </a:endParaRPr>
          </a:p>
          <a:p>
            <a:pPr marL="1917954" lvl="2" indent="-457200" algn="just">
              <a:buFont typeface="Wingdings" pitchFamily="2" charset="2"/>
              <a:buChar char="q"/>
            </a:pPr>
            <a:r>
              <a:rPr lang="en-US" dirty="0" smtClean="0">
                <a:latin typeface="Times New Roman" pitchFamily="18" charset="0"/>
                <a:cs typeface="Times New Roman" pitchFamily="18" charset="0"/>
              </a:rPr>
              <a:t>Prefix</a:t>
            </a:r>
            <a:r>
              <a:rPr lang="en-US" dirty="0">
                <a:latin typeface="Times New Roman" pitchFamily="18" charset="0"/>
                <a:cs typeface="Times New Roman" pitchFamily="18" charset="0"/>
              </a:rPr>
              <a:t>: re- added to do produces </a:t>
            </a:r>
            <a:r>
              <a:rPr lang="en-US" dirty="0" smtClean="0">
                <a:latin typeface="Times New Roman" pitchFamily="18" charset="0"/>
                <a:cs typeface="Times New Roman" pitchFamily="18" charset="0"/>
              </a:rPr>
              <a:t>redo</a:t>
            </a:r>
            <a:endParaRPr lang="en-PH" dirty="0">
              <a:latin typeface="Times New Roman" pitchFamily="18" charset="0"/>
              <a:cs typeface="Times New Roman" pitchFamily="18" charset="0"/>
            </a:endParaRPr>
          </a:p>
          <a:p>
            <a:pPr marL="1917954" lvl="2" indent="-457200" algn="just">
              <a:buFont typeface="Wingdings" pitchFamily="2" charset="2"/>
              <a:buChar char="q"/>
            </a:pPr>
            <a:r>
              <a:rPr lang="en-US" dirty="0" smtClean="0">
                <a:latin typeface="Times New Roman" pitchFamily="18" charset="0"/>
                <a:cs typeface="Times New Roman" pitchFamily="18" charset="0"/>
              </a:rPr>
              <a:t>Suffix</a:t>
            </a:r>
            <a:r>
              <a:rPr lang="en-US" dirty="0">
                <a:latin typeface="Times New Roman" pitchFamily="18" charset="0"/>
                <a:cs typeface="Times New Roman" pitchFamily="18" charset="0"/>
              </a:rPr>
              <a:t>: -or added to edit produces </a:t>
            </a:r>
            <a:r>
              <a:rPr lang="en-US" dirty="0" smtClean="0">
                <a:latin typeface="Times New Roman" pitchFamily="18" charset="0"/>
                <a:cs typeface="Times New Roman" pitchFamily="18" charset="0"/>
              </a:rPr>
              <a:t>editor</a:t>
            </a:r>
            <a:endParaRPr lang="en-PH" dirty="0">
              <a:latin typeface="Times New Roman" pitchFamily="18" charset="0"/>
              <a:cs typeface="Times New Roman" pitchFamily="18" charset="0"/>
            </a:endParaRPr>
          </a:p>
          <a:p>
            <a:pPr marL="1917954" lvl="2" indent="-457200" algn="just">
              <a:buFont typeface="Wingdings" pitchFamily="2" charset="2"/>
              <a:buChar char="q"/>
            </a:pPr>
            <a:r>
              <a:rPr lang="en-US" dirty="0" smtClean="0">
                <a:latin typeface="Times New Roman" pitchFamily="18" charset="0"/>
                <a:cs typeface="Times New Roman" pitchFamily="18" charset="0"/>
              </a:rPr>
              <a:t>Infix</a:t>
            </a:r>
            <a:r>
              <a:rPr lang="en-US" dirty="0">
                <a:latin typeface="Times New Roman" pitchFamily="18" charset="0"/>
                <a:cs typeface="Times New Roman" pitchFamily="18" charset="0"/>
              </a:rPr>
              <a:t>: -um- added to fikas (strong) produces fumikas (to be strong) in </a:t>
            </a:r>
            <a:r>
              <a:rPr lang="en-US" dirty="0" smtClean="0">
                <a:latin typeface="Times New Roman" pitchFamily="18" charset="0"/>
                <a:cs typeface="Times New Roman" pitchFamily="18" charset="0"/>
              </a:rPr>
              <a:t>Bontoc</a:t>
            </a:r>
            <a:endParaRPr lang="en-PH" dirty="0">
              <a:latin typeface="Times New Roman" pitchFamily="18" charset="0"/>
              <a:cs typeface="Times New Roman" pitchFamily="18" charset="0"/>
            </a:endParaRPr>
          </a:p>
          <a:p>
            <a:pPr marL="1917954" lvl="2" indent="-457200" algn="just">
              <a:buFont typeface="Wingdings" pitchFamily="2" charset="2"/>
              <a:buChar char="q"/>
            </a:pPr>
            <a:r>
              <a:rPr lang="en-US" dirty="0" smtClean="0">
                <a:latin typeface="Times New Roman" pitchFamily="18" charset="0"/>
                <a:cs typeface="Times New Roman" pitchFamily="18" charset="0"/>
              </a:rPr>
              <a:t>Circumfix</a:t>
            </a:r>
            <a:r>
              <a:rPr lang="en-US" dirty="0">
                <a:latin typeface="Times New Roman" pitchFamily="18" charset="0"/>
                <a:cs typeface="Times New Roman" pitchFamily="18" charset="0"/>
              </a:rPr>
              <a:t>: ge- and -t to lieb (love) produces geliebt (loved) in </a:t>
            </a:r>
            <a:r>
              <a:rPr lang="en-US" dirty="0" smtClean="0">
                <a:latin typeface="Times New Roman" pitchFamily="18" charset="0"/>
                <a:cs typeface="Times New Roman" pitchFamily="18" charset="0"/>
              </a:rPr>
              <a:t>German</a:t>
            </a:r>
            <a:r>
              <a:rPr lang="en-US" dirty="0">
                <a:latin typeface="Times New Roman" pitchFamily="18" charset="0"/>
                <a:cs typeface="Times New Roman" pitchFamily="18" charset="0"/>
              </a:rPr>
              <a:t>	</a:t>
            </a:r>
            <a:endParaRPr lang="en-PH" dirty="0">
              <a:latin typeface="Times New Roman" pitchFamily="18" charset="0"/>
              <a:cs typeface="Times New Roman" pitchFamily="18" charset="0"/>
            </a:endParaRPr>
          </a:p>
        </p:txBody>
      </p:sp>
      <p:pic>
        <p:nvPicPr>
          <p:cNvPr id="614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2979" t="35504" r="18705" b="20225"/>
          <a:stretch/>
        </p:blipFill>
        <p:spPr bwMode="auto">
          <a:xfrm>
            <a:off x="4374282" y="4330616"/>
            <a:ext cx="8551266" cy="4405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8402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146"/>
                                        </p:tgtEl>
                                        <p:attrNameLst>
                                          <p:attrName>style.visibility</p:attrName>
                                        </p:attrNameLst>
                                      </p:cBhvr>
                                      <p:to>
                                        <p:strVal val="visible"/>
                                      </p:to>
                                    </p:set>
                                    <p:animEffect transition="in" filter="fade">
                                      <p:cBhvr>
                                        <p:cTn id="14" dur="1000"/>
                                        <p:tgtEl>
                                          <p:spTgt spid="6146"/>
                                        </p:tgtEl>
                                      </p:cBhvr>
                                    </p:animEffect>
                                    <p:anim calcmode="lin" valueType="num">
                                      <p:cBhvr>
                                        <p:cTn id="15" dur="1000" fill="hold"/>
                                        <p:tgtEl>
                                          <p:spTgt spid="6146"/>
                                        </p:tgtEl>
                                        <p:attrNameLst>
                                          <p:attrName>ppt_x</p:attrName>
                                        </p:attrNameLst>
                                      </p:cBhvr>
                                      <p:tavLst>
                                        <p:tav tm="0">
                                          <p:val>
                                            <p:strVal val="#ppt_x"/>
                                          </p:val>
                                        </p:tav>
                                        <p:tav tm="100000">
                                          <p:val>
                                            <p:strVal val="#ppt_x"/>
                                          </p:val>
                                        </p:tav>
                                      </p:tavLst>
                                    </p:anim>
                                    <p:anim calcmode="lin" valueType="num">
                                      <p:cBhvr>
                                        <p:cTn id="16" dur="1000" fill="hold"/>
                                        <p:tgtEl>
                                          <p:spTgt spid="6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717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6098" t="35756" r="27636" b="19445"/>
          <a:stretch/>
        </p:blipFill>
        <p:spPr bwMode="auto">
          <a:xfrm>
            <a:off x="1506827" y="864320"/>
            <a:ext cx="12962431" cy="7056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6948884" y="8128417"/>
            <a:ext cx="7848872" cy="646331"/>
          </a:xfrm>
          <a:prstGeom prst="rect">
            <a:avLst/>
          </a:prstGeom>
        </p:spPr>
        <p:txBody>
          <a:bodyPr wrap="square">
            <a:spAutoFit/>
          </a:bodyPr>
          <a:lstStyle/>
          <a:p>
            <a:r>
              <a:rPr lang="en-US" sz="3600" b="1" dirty="0">
                <a:solidFill>
                  <a:srgbClr val="FFC000"/>
                </a:solidFill>
              </a:rPr>
              <a:t>Morphology Diagram of Morphemes</a:t>
            </a:r>
            <a:endParaRPr lang="en-PH" sz="3600" dirty="0">
              <a:solidFill>
                <a:srgbClr val="FFC000"/>
              </a:solidFill>
            </a:endParaRPr>
          </a:p>
        </p:txBody>
      </p:sp>
    </p:spTree>
    <p:extLst>
      <p:ext uri="{BB962C8B-B14F-4D97-AF65-F5344CB8AC3E}">
        <p14:creationId xmlns:p14="http://schemas.microsoft.com/office/powerpoint/2010/main" val="314828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animEffect transition="in" filter="fade">
                                      <p:cBhvr>
                                        <p:cTn id="12" dur="1000"/>
                                        <p:tgtEl>
                                          <p:spTgt spid="7170"/>
                                        </p:tgtEl>
                                      </p:cBhvr>
                                    </p:animEffect>
                                    <p:anim calcmode="lin" valueType="num">
                                      <p:cBhvr>
                                        <p:cTn id="13" dur="1000" fill="hold"/>
                                        <p:tgtEl>
                                          <p:spTgt spid="7170"/>
                                        </p:tgtEl>
                                        <p:attrNameLst>
                                          <p:attrName>ppt_x</p:attrName>
                                        </p:attrNameLst>
                                      </p:cBhvr>
                                      <p:tavLst>
                                        <p:tav tm="0">
                                          <p:val>
                                            <p:strVal val="#ppt_x"/>
                                          </p:val>
                                        </p:tav>
                                        <p:tav tm="100000">
                                          <p:val>
                                            <p:strVal val="#ppt_x"/>
                                          </p:val>
                                        </p:tav>
                                      </p:tavLst>
                                    </p:anim>
                                    <p:anim calcmode="lin" valueType="num">
                                      <p:cBhvr>
                                        <p:cTn id="14" dur="1000" fill="hold"/>
                                        <p:tgtEl>
                                          <p:spTgt spid="71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144240"/>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468164" y="432272"/>
            <a:ext cx="15409712" cy="172354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en-US" sz="4000" b="1" dirty="0" smtClean="0">
                <a:solidFill>
                  <a:srgbClr val="FFC000"/>
                </a:solidFill>
                <a:latin typeface="Arial" pitchFamily="34" charset="0"/>
                <a:cs typeface="Arial" pitchFamily="34" charset="0"/>
              </a:rPr>
              <a:t>Word </a:t>
            </a:r>
            <a:r>
              <a:rPr lang="en-US" sz="4000" b="1" dirty="0">
                <a:solidFill>
                  <a:srgbClr val="FFC000"/>
                </a:solidFill>
                <a:latin typeface="Arial" pitchFamily="34" charset="0"/>
                <a:cs typeface="Arial" pitchFamily="34" charset="0"/>
              </a:rPr>
              <a:t>Formation Process</a:t>
            </a:r>
            <a:endParaRPr lang="en-PH" sz="4000" b="1" dirty="0">
              <a:solidFill>
                <a:srgbClr val="FFC000"/>
              </a:solidFill>
              <a:latin typeface="Arial" pitchFamily="34" charset="0"/>
              <a:cs typeface="Arial" pitchFamily="34" charset="0"/>
            </a:endParaRPr>
          </a:p>
          <a:p>
            <a:pPr algn="just"/>
            <a:r>
              <a:rPr lang="en-US" sz="3200" b="1" dirty="0">
                <a:latin typeface="Times New Roman" pitchFamily="18" charset="0"/>
                <a:cs typeface="Times New Roman" pitchFamily="18" charset="0"/>
              </a:rPr>
              <a:t>	</a:t>
            </a:r>
            <a:r>
              <a:rPr lang="en-US" sz="3300" dirty="0" smtClean="0">
                <a:latin typeface="Times New Roman" pitchFamily="18" charset="0"/>
                <a:cs typeface="Times New Roman" pitchFamily="18" charset="0"/>
              </a:rPr>
              <a:t>It </a:t>
            </a:r>
            <a:r>
              <a:rPr lang="en-US" sz="3300" dirty="0">
                <a:latin typeface="Times New Roman" pitchFamily="18" charset="0"/>
                <a:cs typeface="Times New Roman" pitchFamily="18" charset="0"/>
              </a:rPr>
              <a:t>refers to the means of creating new words which observe certain structural formulas and semantic configurations.</a:t>
            </a:r>
            <a:endParaRPr lang="en-PH" sz="3300" dirty="0">
              <a:latin typeface="Times New Roman" pitchFamily="18" charset="0"/>
              <a:cs typeface="Times New Roman" pitchFamily="18" charset="0"/>
            </a:endParaRPr>
          </a:p>
        </p:txBody>
      </p:sp>
      <p:sp>
        <p:nvSpPr>
          <p:cNvPr id="7" name="Rectangle 6"/>
          <p:cNvSpPr/>
          <p:nvPr/>
        </p:nvSpPr>
        <p:spPr>
          <a:xfrm>
            <a:off x="900212" y="2520504"/>
            <a:ext cx="14473608" cy="107721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r>
              <a:rPr lang="en-US" sz="3200" b="1" dirty="0" smtClean="0">
                <a:latin typeface="Arial" pitchFamily="34" charset="0"/>
                <a:cs typeface="Arial" pitchFamily="34" charset="0"/>
              </a:rPr>
              <a:t>1. Derivation. </a:t>
            </a:r>
            <a:r>
              <a:rPr lang="en-US" sz="3200" dirty="0" smtClean="0">
                <a:latin typeface="Arial" pitchFamily="34" charset="0"/>
                <a:cs typeface="Arial" pitchFamily="34" charset="0"/>
              </a:rPr>
              <a:t>Word </a:t>
            </a:r>
            <a:r>
              <a:rPr lang="en-US" sz="3200" dirty="0">
                <a:latin typeface="Arial" pitchFamily="34" charset="0"/>
                <a:cs typeface="Arial" pitchFamily="34" charset="0"/>
              </a:rPr>
              <a:t>derivation is the process of forming words by adding derivational affixes to the base or root word to form a new word. </a:t>
            </a:r>
            <a:endParaRPr lang="en-PH" sz="3200" dirty="0">
              <a:latin typeface="Arial" pitchFamily="34" charset="0"/>
              <a:cs typeface="Arial" pitchFamily="34" charset="0"/>
            </a:endParaRPr>
          </a:p>
        </p:txBody>
      </p:sp>
      <p:sp>
        <p:nvSpPr>
          <p:cNvPr id="8" name="Rectangle 7"/>
          <p:cNvSpPr/>
          <p:nvPr/>
        </p:nvSpPr>
        <p:spPr>
          <a:xfrm>
            <a:off x="6444828" y="3994338"/>
            <a:ext cx="9217024" cy="486287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3100" dirty="0" smtClean="0">
                <a:latin typeface="Times New Roman" pitchFamily="18" charset="0"/>
                <a:cs typeface="Times New Roman" pitchFamily="18" charset="0"/>
              </a:rPr>
              <a:t>-</a:t>
            </a:r>
            <a:r>
              <a:rPr lang="en-US" sz="3100" dirty="0">
                <a:latin typeface="Times New Roman" pitchFamily="18" charset="0"/>
                <a:cs typeface="Times New Roman" pitchFamily="18" charset="0"/>
              </a:rPr>
              <a:t>hood (status)</a:t>
            </a:r>
            <a:endParaRPr lang="en-PH" sz="3100" dirty="0">
              <a:latin typeface="Times New Roman" pitchFamily="18" charset="0"/>
              <a:cs typeface="Times New Roman" pitchFamily="18" charset="0"/>
            </a:endParaRPr>
          </a:p>
          <a:p>
            <a:r>
              <a:rPr lang="en-US" sz="3100" dirty="0">
                <a:latin typeface="Times New Roman" pitchFamily="18" charset="0"/>
                <a:cs typeface="Times New Roman" pitchFamily="18" charset="0"/>
              </a:rPr>
              <a:t>	</a:t>
            </a:r>
            <a:r>
              <a:rPr lang="en-US" sz="3100" dirty="0" smtClean="0">
                <a:latin typeface="Times New Roman" pitchFamily="18" charset="0"/>
                <a:cs typeface="Times New Roman" pitchFamily="18" charset="0"/>
              </a:rPr>
              <a:t>Ex</a:t>
            </a:r>
            <a:r>
              <a:rPr lang="en-US" sz="3100" dirty="0">
                <a:latin typeface="Times New Roman" pitchFamily="18" charset="0"/>
                <a:cs typeface="Times New Roman" pitchFamily="18" charset="0"/>
              </a:rPr>
              <a:t>. </a:t>
            </a:r>
            <a:r>
              <a:rPr lang="en-US" sz="3100" i="1" dirty="0">
                <a:latin typeface="Times New Roman" pitchFamily="18" charset="0"/>
                <a:cs typeface="Times New Roman" pitchFamily="18" charset="0"/>
              </a:rPr>
              <a:t>brotherhood, motherhood etc.</a:t>
            </a:r>
            <a:endParaRPr lang="en-PH" sz="3100" dirty="0">
              <a:latin typeface="Times New Roman" pitchFamily="18" charset="0"/>
              <a:cs typeface="Times New Roman" pitchFamily="18" charset="0"/>
            </a:endParaRPr>
          </a:p>
          <a:p>
            <a:r>
              <a:rPr lang="en-US" sz="3100" dirty="0">
                <a:latin typeface="Times New Roman" pitchFamily="18" charset="0"/>
                <a:cs typeface="Times New Roman" pitchFamily="18" charset="0"/>
              </a:rPr>
              <a:t>-ship (state or condition)</a:t>
            </a:r>
            <a:endParaRPr lang="en-PH" sz="3100" dirty="0">
              <a:latin typeface="Times New Roman" pitchFamily="18" charset="0"/>
              <a:cs typeface="Times New Roman" pitchFamily="18" charset="0"/>
            </a:endParaRPr>
          </a:p>
          <a:p>
            <a:r>
              <a:rPr lang="en-US" sz="3100" dirty="0">
                <a:latin typeface="Times New Roman" pitchFamily="18" charset="0"/>
                <a:cs typeface="Times New Roman" pitchFamily="18" charset="0"/>
              </a:rPr>
              <a:t>	</a:t>
            </a:r>
            <a:r>
              <a:rPr lang="en-US" sz="3100" dirty="0" smtClean="0">
                <a:latin typeface="Times New Roman" pitchFamily="18" charset="0"/>
                <a:cs typeface="Times New Roman" pitchFamily="18" charset="0"/>
              </a:rPr>
              <a:t>Ex</a:t>
            </a:r>
            <a:r>
              <a:rPr lang="en-US" sz="3100" dirty="0">
                <a:latin typeface="Times New Roman" pitchFamily="18" charset="0"/>
                <a:cs typeface="Times New Roman" pitchFamily="18" charset="0"/>
              </a:rPr>
              <a:t>. </a:t>
            </a:r>
            <a:r>
              <a:rPr lang="en-US" sz="3100" i="1" dirty="0">
                <a:latin typeface="Times New Roman" pitchFamily="18" charset="0"/>
                <a:cs typeface="Times New Roman" pitchFamily="18" charset="0"/>
              </a:rPr>
              <a:t>friendship, ownership etc.</a:t>
            </a:r>
            <a:endParaRPr lang="en-PH" sz="3100" dirty="0">
              <a:latin typeface="Times New Roman" pitchFamily="18" charset="0"/>
              <a:cs typeface="Times New Roman" pitchFamily="18" charset="0"/>
            </a:endParaRPr>
          </a:p>
          <a:p>
            <a:r>
              <a:rPr lang="en-US" sz="3100" dirty="0">
                <a:latin typeface="Times New Roman" pitchFamily="18" charset="0"/>
                <a:cs typeface="Times New Roman" pitchFamily="18" charset="0"/>
              </a:rPr>
              <a:t>-ness (quality, state or condition</a:t>
            </a:r>
            <a:r>
              <a:rPr lang="en-US" sz="3100" dirty="0" smtClean="0">
                <a:latin typeface="Times New Roman" pitchFamily="18" charset="0"/>
                <a:cs typeface="Times New Roman" pitchFamily="18" charset="0"/>
              </a:rPr>
              <a:t>)-</a:t>
            </a:r>
            <a:r>
              <a:rPr lang="en-US" sz="3100" dirty="0" err="1">
                <a:latin typeface="Times New Roman" pitchFamily="18" charset="0"/>
                <a:cs typeface="Times New Roman" pitchFamily="18" charset="0"/>
              </a:rPr>
              <a:t>ity</a:t>
            </a:r>
            <a:r>
              <a:rPr lang="en-US" sz="3100" dirty="0">
                <a:latin typeface="Times New Roman" pitchFamily="18" charset="0"/>
                <a:cs typeface="Times New Roman" pitchFamily="18" charset="0"/>
              </a:rPr>
              <a:t> (state or condition)</a:t>
            </a:r>
            <a:endParaRPr lang="en-PH" sz="3100" dirty="0">
              <a:latin typeface="Times New Roman" pitchFamily="18" charset="0"/>
              <a:cs typeface="Times New Roman" pitchFamily="18" charset="0"/>
            </a:endParaRPr>
          </a:p>
          <a:p>
            <a:r>
              <a:rPr lang="en-US" sz="3100" dirty="0">
                <a:latin typeface="Times New Roman" pitchFamily="18" charset="0"/>
                <a:cs typeface="Times New Roman" pitchFamily="18" charset="0"/>
              </a:rPr>
              <a:t>	</a:t>
            </a:r>
            <a:r>
              <a:rPr lang="en-US" sz="3100" dirty="0" smtClean="0">
                <a:latin typeface="Times New Roman" pitchFamily="18" charset="0"/>
                <a:cs typeface="Times New Roman" pitchFamily="18" charset="0"/>
              </a:rPr>
              <a:t>Ex</a:t>
            </a:r>
            <a:r>
              <a:rPr lang="en-US" sz="3100" dirty="0">
                <a:latin typeface="Times New Roman" pitchFamily="18" charset="0"/>
                <a:cs typeface="Times New Roman" pitchFamily="18" charset="0"/>
              </a:rPr>
              <a:t>. </a:t>
            </a:r>
            <a:r>
              <a:rPr lang="en-US" sz="3100" i="1" dirty="0">
                <a:latin typeface="Times New Roman" pitchFamily="18" charset="0"/>
                <a:cs typeface="Times New Roman" pitchFamily="18" charset="0"/>
              </a:rPr>
              <a:t>wildness, carelessness, curiosity, toxicity</a:t>
            </a:r>
            <a:endParaRPr lang="en-PH" sz="3100" dirty="0">
              <a:latin typeface="Times New Roman" pitchFamily="18" charset="0"/>
              <a:cs typeface="Times New Roman" pitchFamily="18" charset="0"/>
            </a:endParaRPr>
          </a:p>
          <a:p>
            <a:r>
              <a:rPr lang="en-US" sz="3100" dirty="0">
                <a:latin typeface="Times New Roman" pitchFamily="18" charset="0"/>
                <a:cs typeface="Times New Roman" pitchFamily="18" charset="0"/>
              </a:rPr>
              <a:t>-ment (result or product of doing the action)</a:t>
            </a:r>
            <a:endParaRPr lang="en-PH" sz="3100" dirty="0">
              <a:latin typeface="Times New Roman" pitchFamily="18" charset="0"/>
              <a:cs typeface="Times New Roman" pitchFamily="18" charset="0"/>
            </a:endParaRPr>
          </a:p>
          <a:p>
            <a:r>
              <a:rPr lang="en-US" sz="3100" dirty="0">
                <a:latin typeface="Times New Roman" pitchFamily="18" charset="0"/>
                <a:cs typeface="Times New Roman" pitchFamily="18" charset="0"/>
              </a:rPr>
              <a:t>	</a:t>
            </a:r>
            <a:r>
              <a:rPr lang="en-US" sz="3100" dirty="0" smtClean="0">
                <a:latin typeface="Times New Roman" pitchFamily="18" charset="0"/>
                <a:cs typeface="Times New Roman" pitchFamily="18" charset="0"/>
              </a:rPr>
              <a:t>Ex</a:t>
            </a:r>
            <a:r>
              <a:rPr lang="en-US" sz="3100" dirty="0">
                <a:latin typeface="Times New Roman" pitchFamily="18" charset="0"/>
                <a:cs typeface="Times New Roman" pitchFamily="18" charset="0"/>
              </a:rPr>
              <a:t>. </a:t>
            </a:r>
            <a:r>
              <a:rPr lang="en-US" sz="3100" i="1" dirty="0">
                <a:latin typeface="Times New Roman" pitchFamily="18" charset="0"/>
                <a:cs typeface="Times New Roman" pitchFamily="18" charset="0"/>
              </a:rPr>
              <a:t>government, achievement</a:t>
            </a:r>
            <a:endParaRPr lang="en-PH" sz="3100" dirty="0">
              <a:latin typeface="Times New Roman" pitchFamily="18" charset="0"/>
              <a:cs typeface="Times New Roman" pitchFamily="18" charset="0"/>
            </a:endParaRPr>
          </a:p>
          <a:p>
            <a:r>
              <a:rPr lang="en-US" sz="3100" dirty="0" smtClean="0">
                <a:latin typeface="Times New Roman" pitchFamily="18" charset="0"/>
                <a:cs typeface="Times New Roman" pitchFamily="18" charset="0"/>
              </a:rPr>
              <a:t>-</a:t>
            </a:r>
            <a:r>
              <a:rPr lang="en-US" sz="3100" dirty="0">
                <a:latin typeface="Times New Roman" pitchFamily="18" charset="0"/>
                <a:cs typeface="Times New Roman" pitchFamily="18" charset="0"/>
              </a:rPr>
              <a:t>al (act of something)</a:t>
            </a:r>
            <a:endParaRPr lang="en-PH" sz="3100" dirty="0">
              <a:latin typeface="Times New Roman" pitchFamily="18" charset="0"/>
              <a:cs typeface="Times New Roman" pitchFamily="18" charset="0"/>
            </a:endParaRPr>
          </a:p>
          <a:p>
            <a:r>
              <a:rPr lang="en-US" sz="3100" dirty="0">
                <a:latin typeface="Times New Roman" pitchFamily="18" charset="0"/>
                <a:cs typeface="Times New Roman" pitchFamily="18" charset="0"/>
              </a:rPr>
              <a:t>	</a:t>
            </a:r>
            <a:r>
              <a:rPr lang="en-US" sz="3100" dirty="0" smtClean="0">
                <a:latin typeface="Times New Roman" pitchFamily="18" charset="0"/>
                <a:cs typeface="Times New Roman" pitchFamily="18" charset="0"/>
              </a:rPr>
              <a:t>Ex</a:t>
            </a:r>
            <a:r>
              <a:rPr lang="en-US" sz="3100" dirty="0">
                <a:latin typeface="Times New Roman" pitchFamily="18" charset="0"/>
                <a:cs typeface="Times New Roman" pitchFamily="18" charset="0"/>
              </a:rPr>
              <a:t>. </a:t>
            </a:r>
            <a:r>
              <a:rPr lang="en-US" sz="3100" i="1" dirty="0">
                <a:latin typeface="Times New Roman" pitchFamily="18" charset="0"/>
                <a:cs typeface="Times New Roman" pitchFamily="18" charset="0"/>
              </a:rPr>
              <a:t>refusal, perusal etc.</a:t>
            </a:r>
            <a:endParaRPr lang="en-PH" sz="3100" dirty="0">
              <a:latin typeface="Times New Roman" pitchFamily="18" charset="0"/>
              <a:cs typeface="Times New Roman" pitchFamily="18" charset="0"/>
            </a:endParaRPr>
          </a:p>
        </p:txBody>
      </p:sp>
      <p:sp>
        <p:nvSpPr>
          <p:cNvPr id="9" name="Rectangle 8"/>
          <p:cNvSpPr/>
          <p:nvPr/>
        </p:nvSpPr>
        <p:spPr>
          <a:xfrm>
            <a:off x="1404268" y="3824983"/>
            <a:ext cx="4726166" cy="646331"/>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r>
              <a:rPr lang="en-US" sz="3600" b="1" dirty="0">
                <a:solidFill>
                  <a:srgbClr val="FFC000"/>
                </a:solidFill>
              </a:rPr>
              <a:t>Adding suffixes such as:</a:t>
            </a:r>
            <a:endParaRPr lang="en-PH" sz="3600" b="1" dirty="0">
              <a:solidFill>
                <a:srgbClr val="FFC000"/>
              </a:solidFill>
            </a:endParaRPr>
          </a:p>
        </p:txBody>
      </p:sp>
    </p:spTree>
    <p:extLst>
      <p:ext uri="{BB962C8B-B14F-4D97-AF65-F5344CB8AC3E}">
        <p14:creationId xmlns:p14="http://schemas.microsoft.com/office/powerpoint/2010/main" val="324678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inVertic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468164" y="360264"/>
            <a:ext cx="15337704" cy="98488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en-US" dirty="0" smtClean="0">
                <a:latin typeface="Arial" pitchFamily="34" charset="0"/>
                <a:cs typeface="Arial" pitchFamily="34" charset="0"/>
              </a:rPr>
              <a:t>	Derivation </a:t>
            </a:r>
            <a:r>
              <a:rPr lang="en-US" dirty="0">
                <a:latin typeface="Arial" pitchFamily="34" charset="0"/>
                <a:cs typeface="Arial" pitchFamily="34" charset="0"/>
              </a:rPr>
              <a:t>produces new words having similar grammatical form, such as noun to noun, or of different grammatical forms, such as verb to noun. </a:t>
            </a:r>
            <a:endParaRPr lang="en-PH" dirty="0">
              <a:latin typeface="Arial" pitchFamily="34" charset="0"/>
              <a:cs typeface="Arial" pitchFamily="34" charset="0"/>
            </a:endParaRPr>
          </a:p>
        </p:txBody>
      </p:sp>
      <p:pic>
        <p:nvPicPr>
          <p:cNvPr id="921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4844" t="30035" r="17973" b="15798"/>
          <a:stretch/>
        </p:blipFill>
        <p:spPr bwMode="auto">
          <a:xfrm>
            <a:off x="4062935" y="1492400"/>
            <a:ext cx="11187451" cy="7220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4938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19"/>
                                        </p:tgtEl>
                                        <p:attrNameLst>
                                          <p:attrName>style.visibility</p:attrName>
                                        </p:attrNameLst>
                                      </p:cBhvr>
                                      <p:to>
                                        <p:strVal val="visible"/>
                                      </p:to>
                                    </p:set>
                                    <p:anim calcmode="lin" valueType="num">
                                      <p:cBhvr additive="base">
                                        <p:cTn id="19" dur="500" fill="hold"/>
                                        <p:tgtEl>
                                          <p:spTgt spid="9219"/>
                                        </p:tgtEl>
                                        <p:attrNameLst>
                                          <p:attrName>ppt_x</p:attrName>
                                        </p:attrNameLst>
                                      </p:cBhvr>
                                      <p:tavLst>
                                        <p:tav tm="0">
                                          <p:val>
                                            <p:strVal val="#ppt_x"/>
                                          </p:val>
                                        </p:tav>
                                        <p:tav tm="100000">
                                          <p:val>
                                            <p:strVal val="#ppt_x"/>
                                          </p:val>
                                        </p:tav>
                                      </p:tavLst>
                                    </p:anim>
                                    <p:anim calcmode="lin" valueType="num">
                                      <p:cBhvr additive="base">
                                        <p:cTn id="20" dur="500" fill="hold"/>
                                        <p:tgtEl>
                                          <p:spTgt spid="92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396156" y="435174"/>
            <a:ext cx="15337704" cy="107721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en-US" sz="3200" b="1" dirty="0" smtClean="0">
                <a:latin typeface="Arial" pitchFamily="34" charset="0"/>
                <a:cs typeface="Arial" pitchFamily="34" charset="0"/>
              </a:rPr>
              <a:t>2. Back Formation. </a:t>
            </a:r>
            <a:r>
              <a:rPr lang="en-US" sz="3200" dirty="0" smtClean="0">
                <a:latin typeface="Arial" pitchFamily="34" charset="0"/>
                <a:cs typeface="Arial" pitchFamily="34" charset="0"/>
              </a:rPr>
              <a:t>It is </a:t>
            </a:r>
            <a:r>
              <a:rPr lang="en-US" sz="3200" dirty="0">
                <a:latin typeface="Arial" pitchFamily="34" charset="0"/>
                <a:cs typeface="Arial" pitchFamily="34" charset="0"/>
              </a:rPr>
              <a:t>the opposite of word derivation. New lexemes are created by removing affixes and shortening some words.</a:t>
            </a:r>
            <a:endParaRPr lang="en-PH" sz="3200" dirty="0">
              <a:latin typeface="Arial" pitchFamily="34" charset="0"/>
              <a:cs typeface="Arial" pitchFamily="34" charset="0"/>
            </a:endParaRPr>
          </a:p>
        </p:txBody>
      </p:sp>
      <p:pic>
        <p:nvPicPr>
          <p:cNvPr id="1024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7959" t="24565" r="31020" b="25174"/>
          <a:stretch/>
        </p:blipFill>
        <p:spPr bwMode="auto">
          <a:xfrm>
            <a:off x="5508724" y="1694728"/>
            <a:ext cx="7992888" cy="7280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441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10243"/>
                                        </p:tgtEl>
                                        <p:attrNameLst>
                                          <p:attrName>style.visibility</p:attrName>
                                        </p:attrNameLst>
                                      </p:cBhvr>
                                      <p:to>
                                        <p:strVal val="visible"/>
                                      </p:to>
                                    </p:set>
                                    <p:animEffect transition="in" filter="barn(inVertical)">
                                      <p:cBhvr>
                                        <p:cTn id="10"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88256"/>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612180" y="504280"/>
            <a:ext cx="15121680" cy="206210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3200" b="1" dirty="0" smtClean="0">
                <a:latin typeface="Arial" pitchFamily="34" charset="0"/>
                <a:cs typeface="Arial" pitchFamily="34" charset="0"/>
              </a:rPr>
              <a:t>3. Clipping</a:t>
            </a:r>
            <a:r>
              <a:rPr lang="en-PH" sz="3200" dirty="0" smtClean="0">
                <a:latin typeface="Arial" pitchFamily="34" charset="0"/>
                <a:cs typeface="Arial" pitchFamily="34" charset="0"/>
              </a:rPr>
              <a:t>. It </a:t>
            </a:r>
            <a:r>
              <a:rPr lang="en-US" sz="3200" dirty="0" smtClean="0">
                <a:latin typeface="Arial" pitchFamily="34" charset="0"/>
                <a:cs typeface="Arial" pitchFamily="34" charset="0"/>
              </a:rPr>
              <a:t>is </a:t>
            </a:r>
            <a:r>
              <a:rPr lang="en-US" sz="3200" dirty="0">
                <a:latin typeface="Arial" pitchFamily="34" charset="0"/>
                <a:cs typeface="Arial" pitchFamily="34" charset="0"/>
              </a:rPr>
              <a:t>a process of word formation in which an existing word is reduced or shortened usually to a single syllable without changing the meaning of the word</a:t>
            </a:r>
            <a:r>
              <a:rPr lang="en-US" sz="3200" dirty="0" smtClean="0">
                <a:latin typeface="Arial" pitchFamily="34" charset="0"/>
                <a:cs typeface="Arial" pitchFamily="34" charset="0"/>
              </a:rPr>
              <a:t>. </a:t>
            </a:r>
            <a:r>
              <a:rPr lang="en-US" sz="3200" dirty="0">
                <a:latin typeface="Arial" pitchFamily="34" charset="0"/>
                <a:cs typeface="Arial" pitchFamily="34" charset="0"/>
              </a:rPr>
              <a:t>Clipping is distinguished from back-formation in a way that the meaning of the original word is kept. </a:t>
            </a:r>
            <a:endParaRPr lang="en-PH" sz="3200" dirty="0">
              <a:latin typeface="Arial" pitchFamily="34" charset="0"/>
              <a:cs typeface="Arial" pitchFamily="34" charset="0"/>
            </a:endParaRPr>
          </a:p>
        </p:txBody>
      </p:sp>
      <p:pic>
        <p:nvPicPr>
          <p:cNvPr id="1126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8845" t="47655" r="22072" b="22397"/>
          <a:stretch/>
        </p:blipFill>
        <p:spPr bwMode="auto">
          <a:xfrm>
            <a:off x="4212580" y="2952552"/>
            <a:ext cx="11365752"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7642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11266"/>
                                        </p:tgtEl>
                                        <p:attrNameLst>
                                          <p:attrName>style.visibility</p:attrName>
                                        </p:attrNameLst>
                                      </p:cBhvr>
                                      <p:to>
                                        <p:strVal val="visible"/>
                                      </p:to>
                                    </p:set>
                                    <p:animEffect transition="in" filter="barn(inVertical)">
                                      <p:cBhvr>
                                        <p:cTn id="10" dur="500"/>
                                        <p:tgtEl>
                                          <p:spTgt spid="1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2" y="144240"/>
            <a:ext cx="15779127"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2196356" y="1512392"/>
            <a:ext cx="13537504" cy="2323713"/>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b="1" i="1" dirty="0" smtClean="0"/>
              <a:t>Examples</a:t>
            </a:r>
            <a:r>
              <a:rPr lang="en-US" b="1" i="1" dirty="0"/>
              <a:t>:</a:t>
            </a:r>
            <a:endParaRPr lang="en-PH" b="1" dirty="0"/>
          </a:p>
          <a:p>
            <a:r>
              <a:rPr lang="en-US" dirty="0"/>
              <a:t>	</a:t>
            </a:r>
            <a:r>
              <a:rPr lang="en-US" dirty="0" smtClean="0"/>
              <a:t>Aspirin </a:t>
            </a:r>
            <a:r>
              <a:rPr lang="en-US" dirty="0"/>
              <a:t>	</a:t>
            </a:r>
            <a:r>
              <a:rPr lang="en-US" dirty="0" smtClean="0"/>
              <a:t>	Escalator </a:t>
            </a:r>
            <a:r>
              <a:rPr lang="en-US" dirty="0"/>
              <a:t>	</a:t>
            </a:r>
            <a:r>
              <a:rPr lang="en-US" dirty="0" smtClean="0"/>
              <a:t>	Heroin	 </a:t>
            </a:r>
            <a:r>
              <a:rPr lang="en-US" dirty="0"/>
              <a:t>	</a:t>
            </a:r>
            <a:r>
              <a:rPr lang="en-US" dirty="0" smtClean="0"/>
              <a:t>Band-aid</a:t>
            </a:r>
            <a:endParaRPr lang="en-PH" dirty="0"/>
          </a:p>
          <a:p>
            <a:r>
              <a:rPr lang="en-US" dirty="0"/>
              <a:t>	</a:t>
            </a:r>
            <a:r>
              <a:rPr lang="en-US" dirty="0" smtClean="0"/>
              <a:t>Factoid</a:t>
            </a:r>
            <a:r>
              <a:rPr lang="en-US" dirty="0"/>
              <a:t>	</a:t>
            </a:r>
            <a:r>
              <a:rPr lang="en-US" dirty="0" smtClean="0"/>
              <a:t>	Frisbee</a:t>
            </a:r>
            <a:r>
              <a:rPr lang="en-US" dirty="0"/>
              <a:t>	</a:t>
            </a:r>
            <a:r>
              <a:rPr lang="en-US" dirty="0" smtClean="0"/>
              <a:t>	Google</a:t>
            </a:r>
            <a:r>
              <a:rPr lang="en-US" dirty="0"/>
              <a:t>	</a:t>
            </a:r>
            <a:r>
              <a:rPr lang="en-US" dirty="0" smtClean="0"/>
              <a:t>	Kerosene</a:t>
            </a:r>
            <a:endParaRPr lang="en-PH" dirty="0"/>
          </a:p>
          <a:p>
            <a:r>
              <a:rPr lang="en-US" dirty="0"/>
              <a:t>	</a:t>
            </a:r>
            <a:r>
              <a:rPr lang="en-US" dirty="0" smtClean="0"/>
              <a:t>Kleenex</a:t>
            </a:r>
            <a:r>
              <a:rPr lang="en-US" dirty="0"/>
              <a:t>	</a:t>
            </a:r>
            <a:r>
              <a:rPr lang="en-US" dirty="0" smtClean="0"/>
              <a:t>	Laundromat</a:t>
            </a:r>
            <a:r>
              <a:rPr lang="en-US" dirty="0"/>
              <a:t>	</a:t>
            </a:r>
            <a:r>
              <a:rPr lang="en-US" dirty="0" smtClean="0"/>
              <a:t>Linoleum</a:t>
            </a:r>
            <a:r>
              <a:rPr lang="en-US" dirty="0"/>
              <a:t>	</a:t>
            </a:r>
            <a:r>
              <a:rPr lang="en-US" dirty="0" smtClean="0"/>
              <a:t>	Muggle</a:t>
            </a:r>
            <a:r>
              <a:rPr lang="en-US" dirty="0"/>
              <a:t>	</a:t>
            </a:r>
            <a:endParaRPr lang="en-US" dirty="0" smtClean="0"/>
          </a:p>
          <a:p>
            <a:r>
              <a:rPr lang="en-US" dirty="0"/>
              <a:t>	</a:t>
            </a:r>
            <a:r>
              <a:rPr lang="en-US" dirty="0" smtClean="0"/>
              <a:t>Nylon</a:t>
            </a:r>
            <a:r>
              <a:rPr lang="en-US" dirty="0"/>
              <a:t>	</a:t>
            </a:r>
            <a:r>
              <a:rPr lang="en-US" dirty="0" smtClean="0"/>
              <a:t>	Psychedelic</a:t>
            </a:r>
            <a:r>
              <a:rPr lang="en-US" dirty="0"/>
              <a:t>	</a:t>
            </a:r>
            <a:r>
              <a:rPr lang="en-US" dirty="0" smtClean="0"/>
              <a:t>Quark		Xerox</a:t>
            </a:r>
            <a:r>
              <a:rPr lang="en-US" dirty="0"/>
              <a:t>	</a:t>
            </a:r>
            <a:endParaRPr lang="en-PH" dirty="0"/>
          </a:p>
        </p:txBody>
      </p:sp>
      <p:sp>
        <p:nvSpPr>
          <p:cNvPr id="7" name="Rectangle 6"/>
          <p:cNvSpPr/>
          <p:nvPr/>
        </p:nvSpPr>
        <p:spPr>
          <a:xfrm>
            <a:off x="396156" y="288256"/>
            <a:ext cx="15337704" cy="10772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3200" b="1" dirty="0" smtClean="0">
                <a:latin typeface="Arial" pitchFamily="34" charset="0"/>
                <a:cs typeface="Arial" pitchFamily="34" charset="0"/>
              </a:rPr>
              <a:t>4. Coinage. </a:t>
            </a:r>
            <a:r>
              <a:rPr lang="en-PH" sz="3200" dirty="0" smtClean="0">
                <a:latin typeface="Arial" pitchFamily="34" charset="0"/>
                <a:cs typeface="Arial" pitchFamily="34" charset="0"/>
              </a:rPr>
              <a:t>It </a:t>
            </a:r>
            <a:r>
              <a:rPr lang="en-US" sz="3200" dirty="0" smtClean="0">
                <a:latin typeface="Arial" pitchFamily="34" charset="0"/>
                <a:cs typeface="Arial" pitchFamily="34" charset="0"/>
              </a:rPr>
              <a:t>is </a:t>
            </a:r>
            <a:r>
              <a:rPr lang="en-US" sz="3200" dirty="0">
                <a:latin typeface="Arial" pitchFamily="34" charset="0"/>
                <a:cs typeface="Arial" pitchFamily="34" charset="0"/>
              </a:rPr>
              <a:t>a word-formation process where a certain word is created through brand names of the items people usually use until it becomes a generic name. </a:t>
            </a:r>
            <a:endParaRPr lang="en-PH" sz="3200" dirty="0">
              <a:latin typeface="Arial" pitchFamily="34" charset="0"/>
              <a:cs typeface="Arial" pitchFamily="34" charset="0"/>
            </a:endParaRPr>
          </a:p>
        </p:txBody>
      </p:sp>
      <p:sp>
        <p:nvSpPr>
          <p:cNvPr id="8" name="Rectangle 7"/>
          <p:cNvSpPr/>
          <p:nvPr/>
        </p:nvSpPr>
        <p:spPr>
          <a:xfrm>
            <a:off x="540172" y="4032672"/>
            <a:ext cx="15193688" cy="15696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3200" b="1" dirty="0" smtClean="0">
                <a:latin typeface="Arial" pitchFamily="34" charset="0"/>
                <a:cs typeface="Arial" pitchFamily="34" charset="0"/>
              </a:rPr>
              <a:t>5. Blending</a:t>
            </a:r>
            <a:r>
              <a:rPr lang="en-PH" sz="3200" dirty="0" smtClean="0">
                <a:latin typeface="Arial" pitchFamily="34" charset="0"/>
                <a:cs typeface="Arial" pitchFamily="34" charset="0"/>
              </a:rPr>
              <a:t>. It is </a:t>
            </a:r>
            <a:r>
              <a:rPr lang="en-US" sz="3200" dirty="0" smtClean="0">
                <a:latin typeface="Arial" pitchFamily="34" charset="0"/>
                <a:cs typeface="Arial" pitchFamily="34" charset="0"/>
              </a:rPr>
              <a:t>a </a:t>
            </a:r>
            <a:r>
              <a:rPr lang="en-US" sz="3200" dirty="0">
                <a:latin typeface="Arial" pitchFamily="34" charset="0"/>
                <a:cs typeface="Arial" pitchFamily="34" charset="0"/>
              </a:rPr>
              <a:t>blend of two or more words to generate a new one. In blending, parts of two or more words are combined to build a new word meaning of which is often a combination of the original words. </a:t>
            </a:r>
            <a:endParaRPr lang="en-PH" sz="3200" dirty="0">
              <a:latin typeface="Arial" pitchFamily="34" charset="0"/>
              <a:cs typeface="Arial" pitchFamily="34" charset="0"/>
            </a:endParaRPr>
          </a:p>
        </p:txBody>
      </p:sp>
      <p:sp>
        <p:nvSpPr>
          <p:cNvPr id="9" name="Rectangle 8"/>
          <p:cNvSpPr/>
          <p:nvPr/>
        </p:nvSpPr>
        <p:spPr>
          <a:xfrm>
            <a:off x="4428604" y="5760864"/>
            <a:ext cx="8064896" cy="332398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sz="3000" i="1" dirty="0" smtClean="0">
                <a:latin typeface="Times New Roman" pitchFamily="18" charset="0"/>
                <a:cs typeface="Times New Roman" pitchFamily="18" charset="0"/>
              </a:rPr>
              <a:t>advertainment</a:t>
            </a:r>
            <a:r>
              <a:rPr lang="en-US" sz="3000" i="1"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a:t>
            </a:r>
            <a:r>
              <a:rPr lang="en-US" sz="3000" dirty="0">
                <a:latin typeface="Times New Roman" pitchFamily="18" charset="0"/>
                <a:cs typeface="Times New Roman" pitchFamily="18" charset="0"/>
              </a:rPr>
              <a:t>advertisement + entertainment)</a:t>
            </a:r>
            <a:endParaRPr lang="en-PH" sz="3000" dirty="0">
              <a:latin typeface="Times New Roman" pitchFamily="18" charset="0"/>
              <a:cs typeface="Times New Roman" pitchFamily="18" charset="0"/>
            </a:endParaRPr>
          </a:p>
          <a:p>
            <a:r>
              <a:rPr lang="en-US" sz="3000" i="1" dirty="0" smtClean="0">
                <a:latin typeface="Times New Roman" pitchFamily="18" charset="0"/>
                <a:cs typeface="Times New Roman" pitchFamily="18" charset="0"/>
              </a:rPr>
              <a:t>biopic</a:t>
            </a:r>
            <a:r>
              <a:rPr lang="en-US" sz="3000"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a:t>
            </a:r>
            <a:r>
              <a:rPr lang="en-US" sz="3000" dirty="0">
                <a:latin typeface="Times New Roman" pitchFamily="18" charset="0"/>
                <a:cs typeface="Times New Roman" pitchFamily="18" charset="0"/>
              </a:rPr>
              <a:t>biographical + picture)</a:t>
            </a:r>
            <a:endParaRPr lang="en-PH" sz="3000" dirty="0">
              <a:latin typeface="Times New Roman" pitchFamily="18" charset="0"/>
              <a:cs typeface="Times New Roman" pitchFamily="18" charset="0"/>
            </a:endParaRPr>
          </a:p>
          <a:p>
            <a:r>
              <a:rPr lang="en-US" sz="3000" i="1" dirty="0" smtClean="0">
                <a:latin typeface="Times New Roman" pitchFamily="18" charset="0"/>
                <a:cs typeface="Times New Roman" pitchFamily="18" charset="0"/>
              </a:rPr>
              <a:t>chortle</a:t>
            </a:r>
            <a:r>
              <a:rPr lang="en-US" sz="3000" i="1"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a:t>
            </a:r>
            <a:r>
              <a:rPr lang="en-US" sz="3000" dirty="0">
                <a:latin typeface="Times New Roman" pitchFamily="18" charset="0"/>
                <a:cs typeface="Times New Roman" pitchFamily="18" charset="0"/>
              </a:rPr>
              <a:t>chuckle + snort)</a:t>
            </a:r>
            <a:endParaRPr lang="en-PH" sz="3000" dirty="0">
              <a:latin typeface="Times New Roman" pitchFamily="18" charset="0"/>
              <a:cs typeface="Times New Roman" pitchFamily="18" charset="0"/>
            </a:endParaRPr>
          </a:p>
          <a:p>
            <a:r>
              <a:rPr lang="en-US" sz="3000" i="1" dirty="0" smtClean="0">
                <a:latin typeface="Times New Roman" pitchFamily="18" charset="0"/>
                <a:cs typeface="Times New Roman" pitchFamily="18" charset="0"/>
              </a:rPr>
              <a:t>prissy</a:t>
            </a:r>
            <a:r>
              <a:rPr lang="en-US" sz="3000" i="1"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a:t>
            </a:r>
            <a:r>
              <a:rPr lang="en-US" sz="3000" dirty="0">
                <a:latin typeface="Times New Roman" pitchFamily="18" charset="0"/>
                <a:cs typeface="Times New Roman" pitchFamily="18" charset="0"/>
              </a:rPr>
              <a:t>prim + sissy)</a:t>
            </a:r>
            <a:endParaRPr lang="en-PH" sz="3000" dirty="0">
              <a:latin typeface="Times New Roman" pitchFamily="18" charset="0"/>
              <a:cs typeface="Times New Roman" pitchFamily="18" charset="0"/>
            </a:endParaRPr>
          </a:p>
          <a:p>
            <a:r>
              <a:rPr lang="en-US" sz="3000" i="1" dirty="0" smtClean="0">
                <a:latin typeface="Times New Roman" pitchFamily="18" charset="0"/>
                <a:cs typeface="Times New Roman" pitchFamily="18" charset="0"/>
              </a:rPr>
              <a:t>simulcast</a:t>
            </a:r>
            <a:r>
              <a:rPr lang="en-US" sz="3000" i="1" dirty="0">
                <a:latin typeface="Times New Roman" pitchFamily="18" charset="0"/>
                <a:cs typeface="Times New Roman" pitchFamily="18" charset="0"/>
              </a:rPr>
              <a:t>		</a:t>
            </a:r>
            <a:r>
              <a:rPr lang="en-US" sz="3000" dirty="0">
                <a:latin typeface="Times New Roman" pitchFamily="18" charset="0"/>
                <a:cs typeface="Times New Roman" pitchFamily="18" charset="0"/>
              </a:rPr>
              <a:t>(simultaneous + broadcast)</a:t>
            </a:r>
            <a:endParaRPr lang="en-PH" sz="3000" dirty="0">
              <a:latin typeface="Times New Roman" pitchFamily="18" charset="0"/>
              <a:cs typeface="Times New Roman" pitchFamily="18" charset="0"/>
            </a:endParaRPr>
          </a:p>
          <a:p>
            <a:r>
              <a:rPr lang="en-US" sz="3000" i="1" dirty="0" smtClean="0">
                <a:latin typeface="Times New Roman" pitchFamily="18" charset="0"/>
                <a:cs typeface="Times New Roman" pitchFamily="18" charset="0"/>
              </a:rPr>
              <a:t>telethon</a:t>
            </a:r>
            <a:r>
              <a:rPr lang="en-US" sz="3000" i="1" dirty="0">
                <a:latin typeface="Times New Roman" pitchFamily="18" charset="0"/>
                <a:cs typeface="Times New Roman" pitchFamily="18" charset="0"/>
              </a:rPr>
              <a:t>		</a:t>
            </a:r>
            <a:r>
              <a:rPr lang="en-US" sz="3000" dirty="0">
                <a:latin typeface="Times New Roman" pitchFamily="18" charset="0"/>
                <a:cs typeface="Times New Roman" pitchFamily="18" charset="0"/>
              </a:rPr>
              <a:t>(telephone + marathon)</a:t>
            </a:r>
            <a:endParaRPr lang="en-PH" sz="3000" dirty="0">
              <a:latin typeface="Times New Roman" pitchFamily="18" charset="0"/>
              <a:cs typeface="Times New Roman" pitchFamily="18" charset="0"/>
            </a:endParaRPr>
          </a:p>
          <a:p>
            <a:r>
              <a:rPr lang="en-US" sz="3000" i="1" dirty="0" smtClean="0">
                <a:latin typeface="Times New Roman" pitchFamily="18" charset="0"/>
                <a:cs typeface="Times New Roman" pitchFamily="18" charset="0"/>
              </a:rPr>
              <a:t>webinar</a:t>
            </a:r>
            <a:r>
              <a:rPr lang="en-US" sz="3000" i="1" dirty="0">
                <a:latin typeface="Times New Roman" pitchFamily="18" charset="0"/>
                <a:cs typeface="Times New Roman" pitchFamily="18" charset="0"/>
              </a:rPr>
              <a:t>		</a:t>
            </a:r>
            <a:r>
              <a:rPr lang="en-US" sz="3000" dirty="0">
                <a:latin typeface="Times New Roman" pitchFamily="18" charset="0"/>
                <a:cs typeface="Times New Roman" pitchFamily="18" charset="0"/>
              </a:rPr>
              <a:t>(web + seminar)</a:t>
            </a:r>
            <a:endParaRPr lang="en-PH" sz="3000" dirty="0">
              <a:latin typeface="Times New Roman" pitchFamily="18" charset="0"/>
              <a:cs typeface="Times New Roman" pitchFamily="18" charset="0"/>
            </a:endParaRPr>
          </a:p>
        </p:txBody>
      </p:sp>
    </p:spTree>
    <p:extLst>
      <p:ext uri="{BB962C8B-B14F-4D97-AF65-F5344CB8AC3E}">
        <p14:creationId xmlns:p14="http://schemas.microsoft.com/office/powerpoint/2010/main" val="204912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468164" y="360264"/>
            <a:ext cx="15409712" cy="10618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just"/>
            <a:r>
              <a:rPr lang="en-US" sz="3200" b="1" dirty="0" smtClean="0">
                <a:latin typeface="Arial" pitchFamily="34" charset="0"/>
                <a:cs typeface="Arial" pitchFamily="34" charset="0"/>
              </a:rPr>
              <a:t>6. Compounding</a:t>
            </a:r>
            <a:r>
              <a:rPr lang="en-PH" sz="3200" dirty="0" smtClean="0">
                <a:latin typeface="Arial" pitchFamily="34" charset="0"/>
                <a:cs typeface="Arial" pitchFamily="34" charset="0"/>
              </a:rPr>
              <a:t>. </a:t>
            </a:r>
            <a:r>
              <a:rPr lang="en-PH" sz="3100" dirty="0" smtClean="0">
                <a:latin typeface="Arial" pitchFamily="34" charset="0"/>
                <a:cs typeface="Arial" pitchFamily="34" charset="0"/>
              </a:rPr>
              <a:t>It is </a:t>
            </a:r>
            <a:r>
              <a:rPr lang="en-US" sz="3100" dirty="0" smtClean="0">
                <a:latin typeface="Arial" pitchFamily="34" charset="0"/>
                <a:cs typeface="Arial" pitchFamily="34" charset="0"/>
              </a:rPr>
              <a:t>a </a:t>
            </a:r>
            <a:r>
              <a:rPr lang="en-US" sz="3100" dirty="0">
                <a:latin typeface="Arial" pitchFamily="34" charset="0"/>
                <a:cs typeface="Arial" pitchFamily="34" charset="0"/>
              </a:rPr>
              <a:t>word-formation using a combination of two or more lexemes. Compound words maybe written as two words joined by a hyphen or one word. </a:t>
            </a:r>
            <a:endParaRPr lang="en-PH" sz="3100" dirty="0">
              <a:latin typeface="Arial" pitchFamily="34" charset="0"/>
              <a:cs typeface="Arial" pitchFamily="34" charset="0"/>
            </a:endParaRPr>
          </a:p>
        </p:txBody>
      </p:sp>
      <p:sp>
        <p:nvSpPr>
          <p:cNvPr id="7" name="Rectangle 6"/>
          <p:cNvSpPr/>
          <p:nvPr/>
        </p:nvSpPr>
        <p:spPr>
          <a:xfrm>
            <a:off x="3204468" y="1627079"/>
            <a:ext cx="9433048" cy="2477601"/>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r>
              <a:rPr lang="en-US" sz="3100" dirty="0" smtClean="0">
                <a:latin typeface="Times New Roman" pitchFamily="18" charset="0"/>
                <a:cs typeface="Times New Roman" pitchFamily="18" charset="0"/>
              </a:rPr>
              <a:t>notebook </a:t>
            </a:r>
            <a:r>
              <a:rPr lang="en-US" sz="3100" dirty="0">
                <a:latin typeface="Times New Roman" pitchFamily="18" charset="0"/>
                <a:cs typeface="Times New Roman" pitchFamily="18" charset="0"/>
              </a:rPr>
              <a:t>	(note + book)	</a:t>
            </a:r>
            <a:r>
              <a:rPr lang="en-US" sz="3100" dirty="0" smtClean="0">
                <a:latin typeface="Times New Roman" pitchFamily="18" charset="0"/>
                <a:cs typeface="Times New Roman" pitchFamily="18" charset="0"/>
              </a:rPr>
              <a:t>noun </a:t>
            </a:r>
            <a:r>
              <a:rPr lang="en-US" sz="3100" dirty="0">
                <a:latin typeface="Times New Roman" pitchFamily="18" charset="0"/>
                <a:cs typeface="Times New Roman" pitchFamily="18" charset="0"/>
              </a:rPr>
              <a:t>+ noun</a:t>
            </a:r>
            <a:endParaRPr lang="en-PH" sz="3100" dirty="0">
              <a:latin typeface="Times New Roman" pitchFamily="18" charset="0"/>
              <a:cs typeface="Times New Roman" pitchFamily="18" charset="0"/>
            </a:endParaRPr>
          </a:p>
          <a:p>
            <a:r>
              <a:rPr lang="en-US" sz="3100" dirty="0" smtClean="0">
                <a:latin typeface="Times New Roman" pitchFamily="18" charset="0"/>
                <a:cs typeface="Times New Roman" pitchFamily="18" charset="0"/>
              </a:rPr>
              <a:t>workroom</a:t>
            </a:r>
            <a:r>
              <a:rPr lang="en-US" sz="3100" dirty="0">
                <a:latin typeface="Times New Roman" pitchFamily="18" charset="0"/>
                <a:cs typeface="Times New Roman" pitchFamily="18" charset="0"/>
              </a:rPr>
              <a:t>	(work + room)	</a:t>
            </a:r>
            <a:r>
              <a:rPr lang="en-US" sz="3100" dirty="0" smtClean="0">
                <a:latin typeface="Times New Roman" pitchFamily="18" charset="0"/>
                <a:cs typeface="Times New Roman" pitchFamily="18" charset="0"/>
              </a:rPr>
              <a:t>verb </a:t>
            </a:r>
            <a:r>
              <a:rPr lang="en-US" sz="3100" dirty="0">
                <a:latin typeface="Times New Roman" pitchFamily="18" charset="0"/>
                <a:cs typeface="Times New Roman" pitchFamily="18" charset="0"/>
              </a:rPr>
              <a:t>+ noun</a:t>
            </a:r>
            <a:endParaRPr lang="en-PH" sz="3100" dirty="0">
              <a:latin typeface="Times New Roman" pitchFamily="18" charset="0"/>
              <a:cs typeface="Times New Roman" pitchFamily="18" charset="0"/>
            </a:endParaRPr>
          </a:p>
          <a:p>
            <a:r>
              <a:rPr lang="en-US" sz="3100" dirty="0" smtClean="0">
                <a:latin typeface="Times New Roman" pitchFamily="18" charset="0"/>
                <a:cs typeface="Times New Roman" pitchFamily="18" charset="0"/>
              </a:rPr>
              <a:t>breastfeed</a:t>
            </a:r>
            <a:r>
              <a:rPr lang="en-US" sz="3100" dirty="0">
                <a:latin typeface="Times New Roman" pitchFamily="18" charset="0"/>
                <a:cs typeface="Times New Roman" pitchFamily="18" charset="0"/>
              </a:rPr>
              <a:t>	(breast + feed)	</a:t>
            </a:r>
            <a:r>
              <a:rPr lang="en-US" sz="3100" dirty="0" smtClean="0">
                <a:latin typeface="Times New Roman" pitchFamily="18" charset="0"/>
                <a:cs typeface="Times New Roman" pitchFamily="18" charset="0"/>
              </a:rPr>
              <a:t>noun </a:t>
            </a:r>
            <a:r>
              <a:rPr lang="en-US" sz="3100" dirty="0">
                <a:latin typeface="Times New Roman" pitchFamily="18" charset="0"/>
                <a:cs typeface="Times New Roman" pitchFamily="18" charset="0"/>
              </a:rPr>
              <a:t>+ verb</a:t>
            </a:r>
            <a:endParaRPr lang="en-PH" sz="3100" dirty="0">
              <a:latin typeface="Times New Roman" pitchFamily="18" charset="0"/>
              <a:cs typeface="Times New Roman" pitchFamily="18" charset="0"/>
            </a:endParaRPr>
          </a:p>
          <a:p>
            <a:r>
              <a:rPr lang="en-US" sz="3100" dirty="0" smtClean="0">
                <a:latin typeface="Times New Roman" pitchFamily="18" charset="0"/>
                <a:cs typeface="Times New Roman" pitchFamily="18" charset="0"/>
              </a:rPr>
              <a:t>bittersweet</a:t>
            </a:r>
            <a:r>
              <a:rPr lang="en-US" sz="3100" dirty="0">
                <a:latin typeface="Times New Roman" pitchFamily="18" charset="0"/>
                <a:cs typeface="Times New Roman" pitchFamily="18" charset="0"/>
              </a:rPr>
              <a:t>	(bitter + sweet)	adjective + adjective</a:t>
            </a:r>
            <a:endParaRPr lang="en-PH" sz="3100" dirty="0">
              <a:latin typeface="Times New Roman" pitchFamily="18" charset="0"/>
              <a:cs typeface="Times New Roman" pitchFamily="18" charset="0"/>
            </a:endParaRPr>
          </a:p>
          <a:p>
            <a:r>
              <a:rPr lang="en-US" sz="3100" dirty="0" smtClean="0">
                <a:latin typeface="Times New Roman" pitchFamily="18" charset="0"/>
                <a:cs typeface="Times New Roman" pitchFamily="18" charset="0"/>
              </a:rPr>
              <a:t>stir-fry</a:t>
            </a:r>
            <a:r>
              <a:rPr lang="en-US" sz="3100" dirty="0">
                <a:latin typeface="Times New Roman" pitchFamily="18" charset="0"/>
                <a:cs typeface="Times New Roman" pitchFamily="18" charset="0"/>
              </a:rPr>
              <a:t>		(stir + fry)	</a:t>
            </a:r>
            <a:r>
              <a:rPr lang="en-US" sz="3100" dirty="0" smtClean="0">
                <a:latin typeface="Times New Roman" pitchFamily="18" charset="0"/>
                <a:cs typeface="Times New Roman" pitchFamily="18" charset="0"/>
              </a:rPr>
              <a:t>verb </a:t>
            </a:r>
            <a:r>
              <a:rPr lang="en-US" sz="3100" dirty="0">
                <a:latin typeface="Times New Roman" pitchFamily="18" charset="0"/>
                <a:cs typeface="Times New Roman" pitchFamily="18" charset="0"/>
              </a:rPr>
              <a:t>+ verb</a:t>
            </a:r>
            <a:endParaRPr lang="en-PH" sz="3100" dirty="0">
              <a:latin typeface="Times New Roman" pitchFamily="18" charset="0"/>
              <a:cs typeface="Times New Roman" pitchFamily="18" charset="0"/>
            </a:endParaRPr>
          </a:p>
        </p:txBody>
      </p:sp>
      <p:sp>
        <p:nvSpPr>
          <p:cNvPr id="8" name="Rectangle 7"/>
          <p:cNvSpPr/>
          <p:nvPr/>
        </p:nvSpPr>
        <p:spPr>
          <a:xfrm>
            <a:off x="396156" y="4251598"/>
            <a:ext cx="15444910" cy="107721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sz="3200" b="1" dirty="0" smtClean="0">
                <a:latin typeface="Arial" pitchFamily="34" charset="0"/>
                <a:cs typeface="Arial" pitchFamily="34" charset="0"/>
              </a:rPr>
              <a:t>7. Conversion</a:t>
            </a:r>
            <a:r>
              <a:rPr lang="en-PH" sz="3200" dirty="0" smtClean="0">
                <a:latin typeface="Arial" pitchFamily="34" charset="0"/>
                <a:cs typeface="Arial" pitchFamily="34" charset="0"/>
              </a:rPr>
              <a:t>. </a:t>
            </a:r>
            <a:r>
              <a:rPr lang="en-US" sz="3200" dirty="0" smtClean="0">
                <a:latin typeface="Arial" pitchFamily="34" charset="0"/>
                <a:cs typeface="Arial" pitchFamily="34" charset="0"/>
              </a:rPr>
              <a:t>In </a:t>
            </a:r>
            <a:r>
              <a:rPr lang="en-US" sz="3200" dirty="0">
                <a:latin typeface="Arial" pitchFamily="34" charset="0"/>
                <a:cs typeface="Arial" pitchFamily="34" charset="0"/>
              </a:rPr>
              <a:t>some languages, it is possible to form new lexeme merely by shifting the word category without adding any affixes. </a:t>
            </a:r>
            <a:endParaRPr lang="en-PH" sz="3200" dirty="0">
              <a:latin typeface="Arial" pitchFamily="34" charset="0"/>
              <a:cs typeface="Arial" pitchFamily="34" charset="0"/>
            </a:endParaRPr>
          </a:p>
        </p:txBody>
      </p:sp>
      <p:sp>
        <p:nvSpPr>
          <p:cNvPr id="9" name="Rectangle 8"/>
          <p:cNvSpPr/>
          <p:nvPr/>
        </p:nvSpPr>
        <p:spPr>
          <a:xfrm>
            <a:off x="3060452" y="5616848"/>
            <a:ext cx="11449272" cy="200054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n-US" sz="3100" dirty="0" smtClean="0">
                <a:latin typeface="Times New Roman" pitchFamily="18" charset="0"/>
                <a:cs typeface="Times New Roman" pitchFamily="18" charset="0"/>
              </a:rPr>
              <a:t>My </a:t>
            </a:r>
            <a:r>
              <a:rPr lang="en-US" sz="3100" dirty="0">
                <a:latin typeface="Times New Roman" pitchFamily="18" charset="0"/>
                <a:cs typeface="Times New Roman" pitchFamily="18" charset="0"/>
              </a:rPr>
              <a:t>friend bottled (v) the soda and the canned (v) the sardines.</a:t>
            </a:r>
            <a:endParaRPr lang="en-PH" sz="3100" dirty="0">
              <a:latin typeface="Times New Roman" pitchFamily="18" charset="0"/>
              <a:cs typeface="Times New Roman" pitchFamily="18" charset="0"/>
            </a:endParaRPr>
          </a:p>
          <a:p>
            <a:pPr algn="just"/>
            <a:r>
              <a:rPr lang="en-US" sz="3100" dirty="0" smtClean="0">
                <a:latin typeface="Times New Roman" pitchFamily="18" charset="0"/>
                <a:cs typeface="Times New Roman" pitchFamily="18" charset="0"/>
              </a:rPr>
              <a:t>Billy </a:t>
            </a:r>
            <a:r>
              <a:rPr lang="en-US" sz="3100" dirty="0">
                <a:latin typeface="Times New Roman" pitchFamily="18" charset="0"/>
                <a:cs typeface="Times New Roman" pitchFamily="18" charset="0"/>
              </a:rPr>
              <a:t>filled the soda in a bottle (n) and the sardines in a can (n).</a:t>
            </a:r>
            <a:endParaRPr lang="en-PH" sz="3100" dirty="0">
              <a:latin typeface="Times New Roman" pitchFamily="18" charset="0"/>
              <a:cs typeface="Times New Roman" pitchFamily="18" charset="0"/>
            </a:endParaRPr>
          </a:p>
          <a:p>
            <a:pPr algn="just"/>
            <a:r>
              <a:rPr lang="en-US" sz="3100" dirty="0" smtClean="0">
                <a:latin typeface="Times New Roman" pitchFamily="18" charset="0"/>
                <a:cs typeface="Times New Roman" pitchFamily="18" charset="0"/>
              </a:rPr>
              <a:t>He </a:t>
            </a:r>
            <a:r>
              <a:rPr lang="en-US" sz="3100" dirty="0">
                <a:latin typeface="Times New Roman" pitchFamily="18" charset="0"/>
                <a:cs typeface="Times New Roman" pitchFamily="18" charset="0"/>
              </a:rPr>
              <a:t>microwaved (v) his dinner by heating his food in a microwave (n). </a:t>
            </a:r>
            <a:endParaRPr lang="en-PH" sz="3100" dirty="0">
              <a:latin typeface="Times New Roman" pitchFamily="18" charset="0"/>
              <a:cs typeface="Times New Roman" pitchFamily="18" charset="0"/>
            </a:endParaRPr>
          </a:p>
          <a:p>
            <a:pPr algn="just"/>
            <a:r>
              <a:rPr lang="en-US" sz="3100" dirty="0" smtClean="0">
                <a:latin typeface="Times New Roman" pitchFamily="18" charset="0"/>
                <a:cs typeface="Times New Roman" pitchFamily="18" charset="0"/>
              </a:rPr>
              <a:t>My </a:t>
            </a:r>
            <a:r>
              <a:rPr lang="en-US" sz="3100" dirty="0">
                <a:latin typeface="Times New Roman" pitchFamily="18" charset="0"/>
                <a:cs typeface="Times New Roman" pitchFamily="18" charset="0"/>
              </a:rPr>
              <a:t>mother eyed (v) my swollen eye (n).</a:t>
            </a:r>
            <a:endParaRPr lang="en-PH" sz="3100" dirty="0">
              <a:latin typeface="Times New Roman" pitchFamily="18" charset="0"/>
              <a:cs typeface="Times New Roman" pitchFamily="18" charset="0"/>
            </a:endParaRPr>
          </a:p>
        </p:txBody>
      </p:sp>
    </p:spTree>
    <p:extLst>
      <p:ext uri="{BB962C8B-B14F-4D97-AF65-F5344CB8AC3E}">
        <p14:creationId xmlns:p14="http://schemas.microsoft.com/office/powerpoint/2010/main" val="19170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ircle(in)">
                                      <p:cBhvr>
                                        <p:cTn id="10" dur="2000"/>
                                        <p:tgtEl>
                                          <p:spTgt spid="7"/>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ircle(in)">
                                      <p:cBhvr>
                                        <p:cTn id="13" dur="2000"/>
                                        <p:tgtEl>
                                          <p:spTgt spid="8"/>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circle(in)">
                                      <p:cBhvr>
                                        <p:cTn id="16"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528" y="216248"/>
            <a:ext cx="15769752" cy="9001000"/>
          </a:xfrm>
          <a:prstGeom prst="rect">
            <a:avLst/>
          </a:prstGeom>
          <a:extLst/>
        </p:spPr>
        <p:style>
          <a:lnRef idx="2">
            <a:schemeClr val="accent2"/>
          </a:lnRef>
          <a:fillRef idx="1">
            <a:schemeClr val="lt1"/>
          </a:fillRef>
          <a:effectRef idx="0">
            <a:schemeClr val="accent2"/>
          </a:effectRef>
          <a:fontRef idx="minor">
            <a:schemeClr val="dk1"/>
          </a:fontRef>
        </p:style>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468164" y="432272"/>
            <a:ext cx="13247836" cy="5847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3200" b="1" dirty="0" smtClean="0">
                <a:latin typeface="Arial" pitchFamily="34" charset="0"/>
                <a:cs typeface="Arial" pitchFamily="34" charset="0"/>
              </a:rPr>
              <a:t>8. Acronyms</a:t>
            </a:r>
            <a:r>
              <a:rPr lang="en-PH" sz="3200" dirty="0" smtClean="0">
                <a:latin typeface="Arial" pitchFamily="34" charset="0"/>
                <a:cs typeface="Arial" pitchFamily="34" charset="0"/>
              </a:rPr>
              <a:t>. These </a:t>
            </a:r>
            <a:r>
              <a:rPr lang="en-US" sz="3200" dirty="0" smtClean="0">
                <a:latin typeface="Arial" pitchFamily="34" charset="0"/>
                <a:cs typeface="Arial" pitchFamily="34" charset="0"/>
              </a:rPr>
              <a:t>are </a:t>
            </a:r>
            <a:r>
              <a:rPr lang="en-US" sz="3200" dirty="0">
                <a:latin typeface="Arial" pitchFamily="34" charset="0"/>
                <a:cs typeface="Arial" pitchFamily="34" charset="0"/>
              </a:rPr>
              <a:t>words formed from the initials of certain names</a:t>
            </a:r>
            <a:endParaRPr lang="en-PH" sz="3200" dirty="0">
              <a:latin typeface="Arial" pitchFamily="34" charset="0"/>
              <a:cs typeface="Arial" pitchFamily="34" charset="0"/>
            </a:endParaRPr>
          </a:p>
        </p:txBody>
      </p:sp>
      <p:sp>
        <p:nvSpPr>
          <p:cNvPr id="7" name="Rectangle 6"/>
          <p:cNvSpPr/>
          <p:nvPr/>
        </p:nvSpPr>
        <p:spPr>
          <a:xfrm>
            <a:off x="1908324" y="1224360"/>
            <a:ext cx="12961440" cy="2062103"/>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PH" sz="3200" b="1" dirty="0">
                <a:solidFill>
                  <a:srgbClr val="FF0000"/>
                </a:solidFill>
              </a:rPr>
              <a:t>laser </a:t>
            </a:r>
            <a:r>
              <a:rPr lang="en-PH" sz="3200" b="1" dirty="0"/>
              <a:t>– Light Amplification by </a:t>
            </a:r>
            <a:r>
              <a:rPr lang="en-PH" sz="3200" b="1" dirty="0" smtClean="0"/>
              <a:t>Stimulated </a:t>
            </a:r>
            <a:r>
              <a:rPr lang="en-PH" sz="3200" b="1" dirty="0"/>
              <a:t>Emission of Radiation</a:t>
            </a:r>
          </a:p>
          <a:p>
            <a:r>
              <a:rPr lang="en-PH" sz="3200" b="1" dirty="0" smtClean="0">
                <a:solidFill>
                  <a:srgbClr val="FF0000"/>
                </a:solidFill>
              </a:rPr>
              <a:t>PAG-ASA</a:t>
            </a:r>
            <a:r>
              <a:rPr lang="en-PH" sz="3200" b="1" dirty="0" smtClean="0"/>
              <a:t>  </a:t>
            </a:r>
            <a:r>
              <a:rPr lang="en-PH" sz="3200" b="1" dirty="0"/>
              <a:t>- Philippine Atmospheric, </a:t>
            </a:r>
            <a:r>
              <a:rPr lang="en-PH" sz="3200" b="1" dirty="0" smtClean="0"/>
              <a:t>Geophysical </a:t>
            </a:r>
            <a:r>
              <a:rPr lang="en-PH" sz="3200" b="1" dirty="0"/>
              <a:t>and Astronomical Services  </a:t>
            </a:r>
          </a:p>
          <a:p>
            <a:r>
              <a:rPr lang="en-PH" sz="3200" b="1" dirty="0" smtClean="0">
                <a:solidFill>
                  <a:srgbClr val="FF0000"/>
                </a:solidFill>
              </a:rPr>
              <a:t>DAR </a:t>
            </a:r>
            <a:r>
              <a:rPr lang="en-PH" sz="3200" b="1" dirty="0" smtClean="0"/>
              <a:t> </a:t>
            </a:r>
            <a:r>
              <a:rPr lang="en-PH" sz="3200" b="1" dirty="0"/>
              <a:t>- Department of Agrarian Reform </a:t>
            </a:r>
          </a:p>
          <a:p>
            <a:r>
              <a:rPr lang="en-PH" sz="3200" b="1" dirty="0" smtClean="0">
                <a:solidFill>
                  <a:srgbClr val="FF0000"/>
                </a:solidFill>
              </a:rPr>
              <a:t>RADAR</a:t>
            </a:r>
            <a:r>
              <a:rPr lang="en-PH" sz="3200" b="1" dirty="0" smtClean="0"/>
              <a:t> </a:t>
            </a:r>
            <a:r>
              <a:rPr lang="en-PH" sz="3200" b="1" dirty="0"/>
              <a:t>– Radio Detection and Ranging</a:t>
            </a:r>
          </a:p>
        </p:txBody>
      </p:sp>
      <p:sp>
        <p:nvSpPr>
          <p:cNvPr id="8" name="Rectangle 7"/>
          <p:cNvSpPr/>
          <p:nvPr/>
        </p:nvSpPr>
        <p:spPr>
          <a:xfrm>
            <a:off x="468164" y="3672632"/>
            <a:ext cx="15193688" cy="104644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just"/>
            <a:r>
              <a:rPr lang="en-PH" sz="3100" b="1" dirty="0" smtClean="0">
                <a:latin typeface="Arial" pitchFamily="34" charset="0"/>
                <a:cs typeface="Arial" pitchFamily="34" charset="0"/>
              </a:rPr>
              <a:t>9. Initialism. </a:t>
            </a:r>
            <a:r>
              <a:rPr lang="en-PH" sz="3100" dirty="0" smtClean="0">
                <a:latin typeface="Arial" pitchFamily="34" charset="0"/>
                <a:cs typeface="Arial" pitchFamily="34" charset="0"/>
              </a:rPr>
              <a:t>It is</a:t>
            </a:r>
            <a:r>
              <a:rPr lang="en-PH" sz="3100" dirty="0">
                <a:latin typeface="Arial" pitchFamily="34" charset="0"/>
                <a:cs typeface="Arial" pitchFamily="34" charset="0"/>
              </a:rPr>
              <a:t> a type of abbreviation that uses the first letters of words in a phrase to make a term, which may or may not be pronounced as a new word. </a:t>
            </a:r>
          </a:p>
        </p:txBody>
      </p:sp>
      <p:sp>
        <p:nvSpPr>
          <p:cNvPr id="9" name="TextBox 8"/>
          <p:cNvSpPr txBox="1"/>
          <p:nvPr/>
        </p:nvSpPr>
        <p:spPr>
          <a:xfrm>
            <a:off x="4715732" y="4968776"/>
            <a:ext cx="7921784" cy="255454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PH" sz="3200" b="1" dirty="0" smtClean="0"/>
              <a:t>DTI</a:t>
            </a:r>
            <a:r>
              <a:rPr lang="en-PH" sz="3200" dirty="0" smtClean="0"/>
              <a:t> – Department of Trade and Industry </a:t>
            </a:r>
          </a:p>
          <a:p>
            <a:r>
              <a:rPr lang="en-PH" sz="3200" b="1" dirty="0" smtClean="0"/>
              <a:t>SMA</a:t>
            </a:r>
            <a:r>
              <a:rPr lang="en-PH" sz="3200" dirty="0" smtClean="0"/>
              <a:t> – Saint Mary’s Academy </a:t>
            </a:r>
          </a:p>
          <a:p>
            <a:r>
              <a:rPr lang="en-PH" sz="3200" b="1" dirty="0" smtClean="0"/>
              <a:t>NB</a:t>
            </a:r>
            <a:r>
              <a:rPr lang="en-PH" sz="3200" dirty="0" smtClean="0"/>
              <a:t>I- National Bureau of Investigation </a:t>
            </a:r>
          </a:p>
          <a:p>
            <a:r>
              <a:rPr lang="en-PH" sz="3200" b="1" dirty="0" smtClean="0"/>
              <a:t>DA</a:t>
            </a:r>
            <a:r>
              <a:rPr lang="en-PH" sz="3200" dirty="0" smtClean="0"/>
              <a:t>- Department of Agriculture</a:t>
            </a:r>
          </a:p>
          <a:p>
            <a:r>
              <a:rPr lang="en-PH" sz="3200" dirty="0" smtClean="0"/>
              <a:t>JRMSU – Jose Rizal Memorial State University  </a:t>
            </a:r>
            <a:endParaRPr lang="en-PH" dirty="0"/>
          </a:p>
        </p:txBody>
      </p:sp>
    </p:spTree>
    <p:extLst>
      <p:ext uri="{BB962C8B-B14F-4D97-AF65-F5344CB8AC3E}">
        <p14:creationId xmlns:p14="http://schemas.microsoft.com/office/powerpoint/2010/main" val="82127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765" y="173857"/>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468164" y="360264"/>
            <a:ext cx="15409712" cy="156966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n-US" sz="3200" b="1" dirty="0" smtClean="0">
                <a:latin typeface="Arial" pitchFamily="34" charset="0"/>
                <a:cs typeface="Arial" pitchFamily="34" charset="0"/>
              </a:rPr>
              <a:t>10. Eponyms. </a:t>
            </a:r>
            <a:r>
              <a:rPr lang="en-US" sz="3200" dirty="0" smtClean="0">
                <a:latin typeface="Arial" pitchFamily="34" charset="0"/>
                <a:cs typeface="Arial" pitchFamily="34" charset="0"/>
              </a:rPr>
              <a:t>These are words </a:t>
            </a:r>
            <a:r>
              <a:rPr lang="en-US" sz="3200" dirty="0">
                <a:latin typeface="Arial" pitchFamily="34" charset="0"/>
                <a:cs typeface="Arial" pitchFamily="34" charset="0"/>
              </a:rPr>
              <a:t>created from the names of real or fictitious characters. These are from proper nouns which involve some degree of change in the meaning of the word. </a:t>
            </a:r>
            <a:endParaRPr lang="en-PH" sz="3200" dirty="0">
              <a:latin typeface="Arial" pitchFamily="34" charset="0"/>
              <a:cs typeface="Arial" pitchFamily="34" charset="0"/>
            </a:endParaRPr>
          </a:p>
        </p:txBody>
      </p:sp>
      <p:sp>
        <p:nvSpPr>
          <p:cNvPr id="7" name="Rectangle 6"/>
          <p:cNvSpPr/>
          <p:nvPr/>
        </p:nvSpPr>
        <p:spPr>
          <a:xfrm>
            <a:off x="1692300" y="2160464"/>
            <a:ext cx="13465496" cy="193899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3000" dirty="0"/>
              <a:t>atlas	</a:t>
            </a:r>
            <a:r>
              <a:rPr lang="en-US" sz="3000" dirty="0" smtClean="0"/>
              <a:t>–</a:t>
            </a:r>
            <a:r>
              <a:rPr lang="en-US" sz="3000" dirty="0"/>
              <a:t>	</a:t>
            </a:r>
            <a:r>
              <a:rPr lang="en-US" sz="3000" dirty="0" smtClean="0"/>
              <a:t>Atlas		boycott</a:t>
            </a:r>
            <a:r>
              <a:rPr lang="en-US" sz="3000" dirty="0"/>
              <a:t>	</a:t>
            </a:r>
            <a:r>
              <a:rPr lang="en-US" sz="3000" dirty="0" smtClean="0"/>
              <a:t>	–</a:t>
            </a:r>
            <a:r>
              <a:rPr lang="en-US" sz="3000" dirty="0"/>
              <a:t>	Charles C. Boycott</a:t>
            </a:r>
            <a:endParaRPr lang="en-PH" sz="3000" dirty="0"/>
          </a:p>
          <a:p>
            <a:r>
              <a:rPr lang="en-US" sz="3000" dirty="0" smtClean="0"/>
              <a:t>cereal</a:t>
            </a:r>
            <a:r>
              <a:rPr lang="en-US" sz="3000" dirty="0"/>
              <a:t>	</a:t>
            </a:r>
            <a:r>
              <a:rPr lang="en-US" sz="3000" dirty="0" smtClean="0"/>
              <a:t>–</a:t>
            </a:r>
            <a:r>
              <a:rPr lang="en-US" sz="3000" dirty="0"/>
              <a:t>	</a:t>
            </a:r>
            <a:r>
              <a:rPr lang="en-US" sz="3000" dirty="0" smtClean="0"/>
              <a:t>Ceres		jacuzzi 	</a:t>
            </a:r>
            <a:r>
              <a:rPr lang="en-US" sz="3000" dirty="0"/>
              <a:t>	–	Candido Jacuzzi</a:t>
            </a:r>
            <a:endParaRPr lang="en-PH" sz="3000" dirty="0"/>
          </a:p>
          <a:p>
            <a:r>
              <a:rPr lang="en-US" sz="3000" dirty="0" smtClean="0"/>
              <a:t>nicotine</a:t>
            </a:r>
            <a:r>
              <a:rPr lang="en-US" sz="3000" dirty="0"/>
              <a:t>	–	Jean </a:t>
            </a:r>
            <a:r>
              <a:rPr lang="en-US" sz="3000" dirty="0" smtClean="0"/>
              <a:t>Nicot	pasteurization</a:t>
            </a:r>
            <a:r>
              <a:rPr lang="en-US" sz="3000" dirty="0"/>
              <a:t>	–	Louis Pasteur</a:t>
            </a:r>
            <a:endParaRPr lang="en-PH" sz="3000" dirty="0"/>
          </a:p>
          <a:p>
            <a:r>
              <a:rPr lang="en-US" sz="3000" dirty="0" smtClean="0"/>
              <a:t>volcano</a:t>
            </a:r>
            <a:r>
              <a:rPr lang="en-US" sz="3000" dirty="0"/>
              <a:t>	–	Vulcan</a:t>
            </a:r>
            <a:endParaRPr lang="en-PH" sz="3000" dirty="0"/>
          </a:p>
        </p:txBody>
      </p:sp>
      <p:sp>
        <p:nvSpPr>
          <p:cNvPr id="8" name="Rectangle 7"/>
          <p:cNvSpPr/>
          <p:nvPr/>
        </p:nvSpPr>
        <p:spPr>
          <a:xfrm>
            <a:off x="468164" y="4392712"/>
            <a:ext cx="15409712" cy="107721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3200" b="1" dirty="0" smtClean="0">
                <a:latin typeface="Arial" pitchFamily="34" charset="0"/>
                <a:cs typeface="Arial" pitchFamily="34" charset="0"/>
              </a:rPr>
              <a:t>11. Borrowing. </a:t>
            </a:r>
            <a:r>
              <a:rPr lang="en-US" sz="3200" dirty="0" smtClean="0">
                <a:latin typeface="Arial" pitchFamily="34" charset="0"/>
                <a:cs typeface="Arial" pitchFamily="34" charset="0"/>
              </a:rPr>
              <a:t>It is also </a:t>
            </a:r>
            <a:r>
              <a:rPr lang="en-US" sz="3200" dirty="0">
                <a:latin typeface="Arial" pitchFamily="34" charset="0"/>
                <a:cs typeface="Arial" pitchFamily="34" charset="0"/>
              </a:rPr>
              <a:t>called loan word, is common in the English language. These borrowed words are from other languages.</a:t>
            </a:r>
            <a:endParaRPr lang="en-PH" sz="3200" dirty="0">
              <a:latin typeface="Arial" pitchFamily="34" charset="0"/>
              <a:cs typeface="Arial" pitchFamily="34" charset="0"/>
            </a:endParaRPr>
          </a:p>
        </p:txBody>
      </p:sp>
      <p:sp>
        <p:nvSpPr>
          <p:cNvPr id="9" name="Rectangle 8"/>
          <p:cNvSpPr/>
          <p:nvPr/>
        </p:nvSpPr>
        <p:spPr>
          <a:xfrm>
            <a:off x="3204468" y="5616848"/>
            <a:ext cx="11089232" cy="286232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3000" dirty="0">
                <a:latin typeface="Times New Roman" pitchFamily="18" charset="0"/>
                <a:cs typeface="Times New Roman" pitchFamily="18" charset="0"/>
              </a:rPr>
              <a:t>balcony, opera, violin, spaghetti, macaroni		</a:t>
            </a:r>
            <a:r>
              <a:rPr lang="en-US" sz="3000" b="1" dirty="0" smtClean="0">
                <a:latin typeface="Times New Roman" pitchFamily="18" charset="0"/>
                <a:cs typeface="Times New Roman" pitchFamily="18" charset="0"/>
              </a:rPr>
              <a:t>(</a:t>
            </a:r>
            <a:r>
              <a:rPr lang="en-US" sz="3000" b="1" dirty="0">
                <a:latin typeface="Times New Roman" pitchFamily="18" charset="0"/>
                <a:cs typeface="Times New Roman" pitchFamily="18" charset="0"/>
              </a:rPr>
              <a:t>Italian)</a:t>
            </a:r>
            <a:endParaRPr lang="en-PH" sz="3000" b="1" dirty="0">
              <a:latin typeface="Times New Roman" pitchFamily="18" charset="0"/>
              <a:cs typeface="Times New Roman" pitchFamily="18" charset="0"/>
            </a:endParaRPr>
          </a:p>
          <a:p>
            <a:r>
              <a:rPr lang="en-US" sz="3000" dirty="0" smtClean="0">
                <a:latin typeface="Times New Roman" pitchFamily="18" charset="0"/>
                <a:cs typeface="Times New Roman" pitchFamily="18" charset="0"/>
              </a:rPr>
              <a:t>ketchup</a:t>
            </a:r>
            <a:r>
              <a:rPr lang="en-US" sz="3000" dirty="0">
                <a:latin typeface="Times New Roman" pitchFamily="18" charset="0"/>
                <a:cs typeface="Times New Roman" pitchFamily="18" charset="0"/>
              </a:rPr>
              <a:t>, dimsum, laisee				</a:t>
            </a:r>
            <a:r>
              <a:rPr lang="en-US" sz="3000" b="1" dirty="0" smtClean="0">
                <a:latin typeface="Times New Roman" pitchFamily="18" charset="0"/>
                <a:cs typeface="Times New Roman" pitchFamily="18" charset="0"/>
              </a:rPr>
              <a:t>(</a:t>
            </a:r>
            <a:r>
              <a:rPr lang="en-US" sz="3000" b="1" dirty="0">
                <a:latin typeface="Times New Roman" pitchFamily="18" charset="0"/>
                <a:cs typeface="Times New Roman" pitchFamily="18" charset="0"/>
              </a:rPr>
              <a:t>Chinese)</a:t>
            </a:r>
            <a:endParaRPr lang="en-PH" sz="3000" b="1" dirty="0">
              <a:latin typeface="Times New Roman" pitchFamily="18" charset="0"/>
              <a:cs typeface="Times New Roman" pitchFamily="18" charset="0"/>
            </a:endParaRPr>
          </a:p>
          <a:p>
            <a:r>
              <a:rPr lang="en-US" sz="3000" dirty="0" smtClean="0">
                <a:latin typeface="Times New Roman" pitchFamily="18" charset="0"/>
                <a:cs typeface="Times New Roman" pitchFamily="18" charset="0"/>
              </a:rPr>
              <a:t>iceberg</a:t>
            </a:r>
            <a:r>
              <a:rPr lang="en-US" sz="3000" dirty="0">
                <a:latin typeface="Times New Roman" pitchFamily="18" charset="0"/>
                <a:cs typeface="Times New Roman" pitchFamily="18" charset="0"/>
              </a:rPr>
              <a:t>, kindergarten, hamburger, pretzel		</a:t>
            </a:r>
            <a:r>
              <a:rPr lang="en-US" sz="3000" b="1" dirty="0" smtClean="0">
                <a:latin typeface="Times New Roman" pitchFamily="18" charset="0"/>
                <a:cs typeface="Times New Roman" pitchFamily="18" charset="0"/>
              </a:rPr>
              <a:t>(</a:t>
            </a:r>
            <a:r>
              <a:rPr lang="en-US" sz="3000" b="1" dirty="0">
                <a:latin typeface="Times New Roman" pitchFamily="18" charset="0"/>
                <a:cs typeface="Times New Roman" pitchFamily="18" charset="0"/>
              </a:rPr>
              <a:t>German)</a:t>
            </a:r>
            <a:endParaRPr lang="en-PH" sz="3000" b="1" dirty="0">
              <a:latin typeface="Times New Roman" pitchFamily="18" charset="0"/>
              <a:cs typeface="Times New Roman" pitchFamily="18" charset="0"/>
            </a:endParaRPr>
          </a:p>
          <a:p>
            <a:r>
              <a:rPr lang="en-US" sz="3000" dirty="0" smtClean="0">
                <a:latin typeface="Times New Roman" pitchFamily="18" charset="0"/>
                <a:cs typeface="Times New Roman" pitchFamily="18" charset="0"/>
              </a:rPr>
              <a:t>sushi</a:t>
            </a:r>
            <a:r>
              <a:rPr lang="en-US" sz="3000" dirty="0">
                <a:latin typeface="Times New Roman" pitchFamily="18" charset="0"/>
                <a:cs typeface="Times New Roman" pitchFamily="18" charset="0"/>
              </a:rPr>
              <a:t>, karaoke, tycoon, karate, soy, tsunami		</a:t>
            </a:r>
            <a:r>
              <a:rPr lang="en-US" sz="3000" b="1" dirty="0" smtClean="0">
                <a:latin typeface="Times New Roman" pitchFamily="18" charset="0"/>
                <a:cs typeface="Times New Roman" pitchFamily="18" charset="0"/>
              </a:rPr>
              <a:t>(</a:t>
            </a:r>
            <a:r>
              <a:rPr lang="en-US" sz="3000" b="1" dirty="0">
                <a:latin typeface="Times New Roman" pitchFamily="18" charset="0"/>
                <a:cs typeface="Times New Roman" pitchFamily="18" charset="0"/>
              </a:rPr>
              <a:t>Japanese)</a:t>
            </a:r>
            <a:endParaRPr lang="en-PH" sz="3000" b="1" dirty="0">
              <a:latin typeface="Times New Roman" pitchFamily="18" charset="0"/>
              <a:cs typeface="Times New Roman" pitchFamily="18" charset="0"/>
            </a:endParaRPr>
          </a:p>
          <a:p>
            <a:r>
              <a:rPr lang="en-US" sz="3000" dirty="0" smtClean="0">
                <a:latin typeface="Times New Roman" pitchFamily="18" charset="0"/>
                <a:cs typeface="Times New Roman" pitchFamily="18" charset="0"/>
              </a:rPr>
              <a:t>sofa</a:t>
            </a:r>
            <a:r>
              <a:rPr lang="en-US" sz="3000" dirty="0">
                <a:latin typeface="Times New Roman" pitchFamily="18" charset="0"/>
                <a:cs typeface="Times New Roman" pitchFamily="18" charset="0"/>
              </a:rPr>
              <a:t>, coffee, candy, mattress, magazine, cotton		</a:t>
            </a:r>
            <a:r>
              <a:rPr lang="en-US" sz="3000" b="1" dirty="0">
                <a:latin typeface="Times New Roman" pitchFamily="18" charset="0"/>
                <a:cs typeface="Times New Roman" pitchFamily="18" charset="0"/>
              </a:rPr>
              <a:t>(Arabic)</a:t>
            </a:r>
            <a:endParaRPr lang="en-PH" sz="3000" b="1" dirty="0">
              <a:latin typeface="Times New Roman" pitchFamily="18" charset="0"/>
              <a:cs typeface="Times New Roman" pitchFamily="18" charset="0"/>
            </a:endParaRPr>
          </a:p>
          <a:p>
            <a:r>
              <a:rPr lang="en-US" sz="3000" dirty="0" smtClean="0">
                <a:latin typeface="Times New Roman" pitchFamily="18" charset="0"/>
                <a:cs typeface="Times New Roman" pitchFamily="18" charset="0"/>
              </a:rPr>
              <a:t>estafa</a:t>
            </a:r>
            <a:r>
              <a:rPr lang="en-US" sz="3000" dirty="0">
                <a:latin typeface="Times New Roman" pitchFamily="18" charset="0"/>
                <a:cs typeface="Times New Roman" pitchFamily="18" charset="0"/>
              </a:rPr>
              <a:t>, sari-sari, high-blood, carnap, halo-halo, gimmick</a:t>
            </a:r>
            <a:r>
              <a:rPr lang="en-US" sz="3000" b="1" dirty="0">
                <a:latin typeface="Times New Roman" pitchFamily="18" charset="0"/>
                <a:cs typeface="Times New Roman" pitchFamily="18" charset="0"/>
              </a:rPr>
              <a:t>	(Filipino</a:t>
            </a:r>
            <a:r>
              <a:rPr lang="en-US" sz="3000" dirty="0" smtClean="0">
                <a:latin typeface="Times New Roman" pitchFamily="18" charset="0"/>
                <a:cs typeface="Times New Roman" pitchFamily="18" charset="0"/>
              </a:rPr>
              <a:t>)</a:t>
            </a:r>
            <a:endParaRPr lang="en-PH" sz="3000" dirty="0">
              <a:latin typeface="Times New Roman" pitchFamily="18" charset="0"/>
              <a:cs typeface="Times New Roman" pitchFamily="18" charset="0"/>
            </a:endParaRPr>
          </a:p>
        </p:txBody>
      </p:sp>
    </p:spTree>
    <p:extLst>
      <p:ext uri="{BB962C8B-B14F-4D97-AF65-F5344CB8AC3E}">
        <p14:creationId xmlns:p14="http://schemas.microsoft.com/office/powerpoint/2010/main" val="11140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1,050 Powerpoint Template Blue Illustrations &amp; Clip Ar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40" y="216248"/>
            <a:ext cx="15769752" cy="900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Rectangle 5"/>
          <p:cNvSpPr/>
          <p:nvPr/>
        </p:nvSpPr>
        <p:spPr>
          <a:xfrm>
            <a:off x="468164" y="288256"/>
            <a:ext cx="15337704" cy="156966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en-US" sz="3200" b="1" dirty="0" smtClean="0">
                <a:latin typeface="Arial" pitchFamily="34" charset="0"/>
                <a:cs typeface="Arial" pitchFamily="34" charset="0"/>
              </a:rPr>
              <a:t>12. Calquing</a:t>
            </a:r>
            <a:r>
              <a:rPr lang="en-PH" sz="3200" dirty="0" smtClean="0">
                <a:latin typeface="Arial" pitchFamily="34" charset="0"/>
                <a:cs typeface="Arial" pitchFamily="34" charset="0"/>
              </a:rPr>
              <a:t>. It </a:t>
            </a:r>
            <a:r>
              <a:rPr lang="en-US" sz="3200" dirty="0" smtClean="0">
                <a:latin typeface="Arial" pitchFamily="34" charset="0"/>
                <a:cs typeface="Arial" pitchFamily="34" charset="0"/>
              </a:rPr>
              <a:t>is </a:t>
            </a:r>
            <a:r>
              <a:rPr lang="en-US" sz="3200" dirty="0">
                <a:latin typeface="Arial" pitchFamily="34" charset="0"/>
                <a:cs typeface="Arial" pitchFamily="34" charset="0"/>
              </a:rPr>
              <a:t>also called loan translation. It is closed to borrowing however, the borrowed word is translated from the original to another language that fits the characteristics of a new word. </a:t>
            </a:r>
            <a:endParaRPr lang="en-PH" sz="3200" dirty="0">
              <a:latin typeface="Arial" pitchFamily="34" charset="0"/>
              <a:cs typeface="Arial" pitchFamily="34" charset="0"/>
            </a:endParaRPr>
          </a:p>
        </p:txBody>
      </p:sp>
      <p:pic>
        <p:nvPicPr>
          <p:cNvPr id="1229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8870" t="36506" r="19403" b="13997"/>
          <a:stretch/>
        </p:blipFill>
        <p:spPr bwMode="auto">
          <a:xfrm>
            <a:off x="4716636" y="2016448"/>
            <a:ext cx="10729192" cy="6927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562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2290"/>
                                        </p:tgtEl>
                                        <p:attrNameLst>
                                          <p:attrName>style.visibility</p:attrName>
                                        </p:attrNameLst>
                                      </p:cBhvr>
                                      <p:to>
                                        <p:strVal val="visible"/>
                                      </p:to>
                                    </p:set>
                                    <p:animEffect transition="in" filter="barn(inVertical)">
                                      <p:cBhvr>
                                        <p:cTn id="14"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793344" y="1155254"/>
            <a:ext cx="15047385" cy="104644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r>
              <a:rPr lang="en-US" sz="3100" b="1" dirty="0" smtClean="0">
                <a:solidFill>
                  <a:srgbClr val="FFC000"/>
                </a:solidFill>
                <a:latin typeface="Times New Roman" pitchFamily="18" charset="0"/>
                <a:cs typeface="Times New Roman" pitchFamily="18" charset="0"/>
              </a:rPr>
              <a:t>SYNTAX</a:t>
            </a:r>
            <a:r>
              <a:rPr lang="en-US" sz="3100" dirty="0" smtClean="0">
                <a:latin typeface="Times New Roman" pitchFamily="18" charset="0"/>
                <a:cs typeface="Times New Roman" pitchFamily="18" charset="0"/>
              </a:rPr>
              <a:t> </a:t>
            </a:r>
            <a:r>
              <a:rPr lang="en-US" sz="3100" dirty="0">
                <a:latin typeface="Times New Roman" pitchFamily="18" charset="0"/>
                <a:cs typeface="Times New Roman" pitchFamily="18" charset="0"/>
              </a:rPr>
              <a:t>is basically the analysis of sentences </a:t>
            </a:r>
            <a:r>
              <a:rPr lang="en-US" sz="3100" dirty="0" smtClean="0">
                <a:latin typeface="Times New Roman" pitchFamily="18" charset="0"/>
                <a:cs typeface="Times New Roman" pitchFamily="18" charset="0"/>
              </a:rPr>
              <a:t>while</a:t>
            </a:r>
            <a:r>
              <a:rPr lang="en-US" sz="3100" dirty="0" smtClean="0">
                <a:solidFill>
                  <a:srgbClr val="FFC000"/>
                </a:solidFill>
                <a:latin typeface="Times New Roman" pitchFamily="18" charset="0"/>
                <a:cs typeface="Times New Roman" pitchFamily="18" charset="0"/>
              </a:rPr>
              <a:t> </a:t>
            </a:r>
            <a:r>
              <a:rPr lang="en-US" sz="3100" b="1" dirty="0" smtClean="0">
                <a:solidFill>
                  <a:srgbClr val="FFC000"/>
                </a:solidFill>
                <a:latin typeface="Times New Roman" pitchFamily="18" charset="0"/>
                <a:cs typeface="Times New Roman" pitchFamily="18" charset="0"/>
              </a:rPr>
              <a:t>MORPHOLOGY</a:t>
            </a:r>
            <a:r>
              <a:rPr lang="en-US" sz="3100" dirty="0" smtClean="0">
                <a:solidFill>
                  <a:srgbClr val="FFC000"/>
                </a:solidFill>
                <a:latin typeface="Times New Roman" pitchFamily="18" charset="0"/>
                <a:cs typeface="Times New Roman" pitchFamily="18" charset="0"/>
              </a:rPr>
              <a:t> </a:t>
            </a:r>
            <a:r>
              <a:rPr lang="en-US" sz="3100" dirty="0" smtClean="0">
                <a:latin typeface="Times New Roman" pitchFamily="18" charset="0"/>
                <a:cs typeface="Times New Roman" pitchFamily="18" charset="0"/>
              </a:rPr>
              <a:t>is </a:t>
            </a:r>
            <a:r>
              <a:rPr lang="en-US" sz="3100" dirty="0">
                <a:latin typeface="Times New Roman" pitchFamily="18" charset="0"/>
                <a:cs typeface="Times New Roman" pitchFamily="18" charset="0"/>
              </a:rPr>
              <a:t>the analysis of </a:t>
            </a:r>
            <a:r>
              <a:rPr lang="en-US" sz="3100" dirty="0" smtClean="0">
                <a:latin typeface="Times New Roman" pitchFamily="18" charset="0"/>
                <a:cs typeface="Times New Roman" pitchFamily="18" charset="0"/>
              </a:rPr>
              <a:t>words. In general, </a:t>
            </a:r>
            <a:r>
              <a:rPr lang="en-US" sz="3100" b="1" dirty="0" smtClean="0">
                <a:solidFill>
                  <a:srgbClr val="FFC000"/>
                </a:solidFill>
                <a:latin typeface="Times New Roman" pitchFamily="18" charset="0"/>
                <a:cs typeface="Times New Roman" pitchFamily="18" charset="0"/>
              </a:rPr>
              <a:t>SYNTAX</a:t>
            </a:r>
            <a:r>
              <a:rPr lang="en-US" sz="3100" dirty="0" smtClean="0">
                <a:latin typeface="Times New Roman" pitchFamily="18" charset="0"/>
                <a:cs typeface="Times New Roman" pitchFamily="18" charset="0"/>
              </a:rPr>
              <a:t> AND </a:t>
            </a:r>
            <a:r>
              <a:rPr lang="en-US" sz="3100" b="1" dirty="0" smtClean="0">
                <a:solidFill>
                  <a:srgbClr val="FFC000"/>
                </a:solidFill>
                <a:latin typeface="Times New Roman" pitchFamily="18" charset="0"/>
                <a:cs typeface="Times New Roman" pitchFamily="18" charset="0"/>
              </a:rPr>
              <a:t>MORPHOLOGY</a:t>
            </a:r>
            <a:r>
              <a:rPr lang="en-US" sz="3100" dirty="0" smtClean="0">
                <a:latin typeface="Times New Roman" pitchFamily="18" charset="0"/>
                <a:cs typeface="Times New Roman" pitchFamily="18" charset="0"/>
              </a:rPr>
              <a:t> make up the CORE OF GRAMMAR. </a:t>
            </a:r>
            <a:endParaRPr lang="en-PH" sz="3100" dirty="0">
              <a:latin typeface="Times New Roman" pitchFamily="18" charset="0"/>
              <a:cs typeface="Times New Roman" pitchFamily="18" charset="0"/>
            </a:endParaRPr>
          </a:p>
        </p:txBody>
      </p:sp>
      <p:sp>
        <p:nvSpPr>
          <p:cNvPr id="6" name="TextBox 5"/>
          <p:cNvSpPr txBox="1"/>
          <p:nvPr/>
        </p:nvSpPr>
        <p:spPr>
          <a:xfrm>
            <a:off x="324148" y="360264"/>
            <a:ext cx="2588978" cy="769441"/>
          </a:xfrm>
          <a:prstGeom prst="rect">
            <a:avLst/>
          </a:prstGeom>
          <a:noFill/>
        </p:spPr>
        <p:txBody>
          <a:bodyPr wrap="none" rtlCol="0">
            <a:spAutoFit/>
          </a:bodyPr>
          <a:lstStyle/>
          <a:p>
            <a:r>
              <a:rPr lang="en-PH" sz="4400" b="1" dirty="0" smtClean="0">
                <a:latin typeface="Arial" pitchFamily="34" charset="0"/>
                <a:cs typeface="Arial" pitchFamily="34" charset="0"/>
              </a:rPr>
              <a:t>SYNTAX </a:t>
            </a:r>
            <a:endParaRPr lang="en-PH" sz="4400" b="1" dirty="0">
              <a:latin typeface="Arial" pitchFamily="34" charset="0"/>
              <a:cs typeface="Arial" pitchFamily="34" charset="0"/>
            </a:endParaRPr>
          </a:p>
        </p:txBody>
      </p:sp>
      <p:sp>
        <p:nvSpPr>
          <p:cNvPr id="7" name="Rectangle 6"/>
          <p:cNvSpPr/>
          <p:nvPr/>
        </p:nvSpPr>
        <p:spPr>
          <a:xfrm>
            <a:off x="2913126" y="744984"/>
            <a:ext cx="11380574" cy="45719"/>
          </a:xfrm>
          <a:prstGeom prst="rect">
            <a:avLst/>
          </a:prstGeom>
          <a:solidFill>
            <a:schemeClr val="accent2"/>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929" t="28472" r="18852" b="24913"/>
          <a:stretch/>
        </p:blipFill>
        <p:spPr bwMode="auto">
          <a:xfrm>
            <a:off x="3893269" y="2520504"/>
            <a:ext cx="11947460" cy="6423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ounded Rectangle 7"/>
          <p:cNvSpPr/>
          <p:nvPr/>
        </p:nvSpPr>
        <p:spPr>
          <a:xfrm>
            <a:off x="396156" y="3816648"/>
            <a:ext cx="5832648" cy="3744416"/>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PH" sz="3200" b="1" dirty="0" smtClean="0">
                <a:latin typeface="Arial" pitchFamily="34" charset="0"/>
                <a:cs typeface="Arial" pitchFamily="34" charset="0"/>
              </a:rPr>
              <a:t>SYNTAX</a:t>
            </a:r>
            <a:r>
              <a:rPr lang="en-PH" sz="3200" dirty="0" smtClean="0">
                <a:latin typeface="Arial" pitchFamily="34" charset="0"/>
                <a:cs typeface="Arial" pitchFamily="34" charset="0"/>
              </a:rPr>
              <a:t> is concerned with the ways words go together to form sentences and how words are used related to one another. </a:t>
            </a:r>
            <a:endParaRPr lang="en-PH" sz="3200" dirty="0">
              <a:latin typeface="Arial" pitchFamily="34" charset="0"/>
              <a:cs typeface="Arial" pitchFamily="34" charset="0"/>
            </a:endParaRPr>
          </a:p>
        </p:txBody>
      </p:sp>
    </p:spTree>
    <p:extLst>
      <p:ext uri="{BB962C8B-B14F-4D97-AF65-F5344CB8AC3E}">
        <p14:creationId xmlns:p14="http://schemas.microsoft.com/office/powerpoint/2010/main" val="412870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1000"/>
                                        <p:tgtEl>
                                          <p:spTgt spid="1026"/>
                                        </p:tgtEl>
                                      </p:cBhvr>
                                    </p:animEffect>
                                    <p:anim calcmode="lin" valueType="num">
                                      <p:cBhvr>
                                        <p:cTn id="21" dur="1000" fill="hold"/>
                                        <p:tgtEl>
                                          <p:spTgt spid="1026"/>
                                        </p:tgtEl>
                                        <p:attrNameLst>
                                          <p:attrName>ppt_x</p:attrName>
                                        </p:attrNameLst>
                                      </p:cBhvr>
                                      <p:tavLst>
                                        <p:tav tm="0">
                                          <p:val>
                                            <p:strVal val="#ppt_x"/>
                                          </p:val>
                                        </p:tav>
                                        <p:tav tm="100000">
                                          <p:val>
                                            <p:strVal val="#ppt_x"/>
                                          </p:val>
                                        </p:tav>
                                      </p:tavLst>
                                    </p:anim>
                                    <p:anim calcmode="lin" valueType="num">
                                      <p:cBhvr>
                                        <p:cTn id="22"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50603" y="216248"/>
            <a:ext cx="5474145" cy="707886"/>
          </a:xfrm>
          <a:prstGeom prst="rect">
            <a:avLst/>
          </a:prstGeom>
        </p:spPr>
        <p:txBody>
          <a:bodyPr wrap="square">
            <a:spAutoFit/>
          </a:bodyPr>
          <a:lstStyle/>
          <a:p>
            <a:r>
              <a:rPr lang="en-US" sz="4000" b="1" dirty="0">
                <a:latin typeface="Arial" pitchFamily="34" charset="0"/>
                <a:cs typeface="Arial" pitchFamily="34" charset="0"/>
              </a:rPr>
              <a:t>Syntactic </a:t>
            </a:r>
            <a:r>
              <a:rPr lang="en-US" sz="4000" b="1" dirty="0" smtClean="0">
                <a:latin typeface="Arial" pitchFamily="34" charset="0"/>
                <a:cs typeface="Arial" pitchFamily="34" charset="0"/>
              </a:rPr>
              <a:t>Categories</a:t>
            </a:r>
            <a:r>
              <a:rPr lang="en-US" sz="4000" b="1" dirty="0">
                <a:latin typeface="Arial" pitchFamily="34" charset="0"/>
                <a:cs typeface="Arial" pitchFamily="34" charset="0"/>
              </a:rPr>
              <a:t> </a:t>
            </a:r>
            <a:endParaRPr lang="en-PH" sz="4000" b="1" dirty="0">
              <a:latin typeface="Arial" pitchFamily="34" charset="0"/>
              <a:cs typeface="Arial" pitchFamily="34" charset="0"/>
            </a:endParaRPr>
          </a:p>
        </p:txBody>
      </p:sp>
      <p:sp>
        <p:nvSpPr>
          <p:cNvPr id="6" name="Rectangle 5"/>
          <p:cNvSpPr/>
          <p:nvPr/>
        </p:nvSpPr>
        <p:spPr>
          <a:xfrm>
            <a:off x="396156" y="1080344"/>
            <a:ext cx="15625736" cy="1569660"/>
          </a:xfrm>
          <a:prstGeom prst="rect">
            <a:avLst/>
          </a:prstGeom>
        </p:spPr>
        <p:txBody>
          <a:bodyPr wrap="square">
            <a:spAutoFit/>
          </a:bodyPr>
          <a:lstStyle/>
          <a:p>
            <a:pPr algn="just"/>
            <a:r>
              <a:rPr lang="en-US" sz="3200" b="1" dirty="0" smtClean="0">
                <a:solidFill>
                  <a:srgbClr val="002060"/>
                </a:solidFill>
                <a:latin typeface="Times New Roman" pitchFamily="18" charset="0"/>
                <a:cs typeface="Times New Roman" pitchFamily="18" charset="0"/>
              </a:rPr>
              <a:t>1. NOUNS</a:t>
            </a:r>
            <a:r>
              <a:rPr lang="en-US" sz="3200" dirty="0" smtClean="0">
                <a:solidFill>
                  <a:srgbClr val="FFC000"/>
                </a:solidFill>
                <a:latin typeface="Times New Roman" pitchFamily="18" charset="0"/>
                <a:cs typeface="Times New Roman" pitchFamily="18" charset="0"/>
              </a:rPr>
              <a:t> </a:t>
            </a:r>
            <a:r>
              <a:rPr lang="en-US" sz="3200" dirty="0" smtClean="0">
                <a:latin typeface="Times New Roman" pitchFamily="18" charset="0"/>
                <a:cs typeface="Times New Roman" pitchFamily="18" charset="0"/>
              </a:rPr>
              <a:t>are </a:t>
            </a:r>
            <a:r>
              <a:rPr lang="en-US" sz="3200" dirty="0">
                <a:latin typeface="Times New Roman" pitchFamily="18" charset="0"/>
                <a:cs typeface="Times New Roman" pitchFamily="18" charset="0"/>
              </a:rPr>
              <a:t>names. These names may be abstract or concrete. Anything that names a concrete object, person, place, thing, and animal or an abstract idea, feeling, and sentiments is a noun.</a:t>
            </a:r>
            <a:endParaRPr lang="en-PH" sz="3200" dirty="0">
              <a:latin typeface="Times New Roman" pitchFamily="18" charset="0"/>
              <a:cs typeface="Times New Roman" pitchFamily="18" charset="0"/>
            </a:endParaRPr>
          </a:p>
        </p:txBody>
      </p:sp>
      <p:sp>
        <p:nvSpPr>
          <p:cNvPr id="7" name="Rectangle 6"/>
          <p:cNvSpPr/>
          <p:nvPr/>
        </p:nvSpPr>
        <p:spPr>
          <a:xfrm>
            <a:off x="396156" y="3024560"/>
            <a:ext cx="15481720" cy="1077218"/>
          </a:xfrm>
          <a:prstGeom prst="rect">
            <a:avLst/>
          </a:prstGeom>
        </p:spPr>
        <p:txBody>
          <a:bodyPr wrap="square">
            <a:spAutoFit/>
          </a:bodyPr>
          <a:lstStyle/>
          <a:p>
            <a:pPr algn="just"/>
            <a:r>
              <a:rPr lang="en-US" sz="3200" b="1" dirty="0" smtClean="0">
                <a:solidFill>
                  <a:srgbClr val="002060"/>
                </a:solidFill>
                <a:latin typeface="Times New Roman" pitchFamily="18" charset="0"/>
                <a:cs typeface="Times New Roman" pitchFamily="18" charset="0"/>
              </a:rPr>
              <a:t>2. PRONOUNS </a:t>
            </a:r>
            <a:r>
              <a:rPr lang="en-US" sz="3200" dirty="0" smtClean="0">
                <a:latin typeface="Times New Roman" pitchFamily="18" charset="0"/>
                <a:cs typeface="Times New Roman" pitchFamily="18" charset="0"/>
              </a:rPr>
              <a:t>are </a:t>
            </a:r>
            <a:r>
              <a:rPr lang="en-US" sz="3200" dirty="0">
                <a:latin typeface="Times New Roman" pitchFamily="18" charset="0"/>
                <a:cs typeface="Times New Roman" pitchFamily="18" charset="0"/>
              </a:rPr>
              <a:t>noun substitutes. They are often used in the sentence to avoid mentioning the same noun repeatedly.</a:t>
            </a:r>
            <a:endParaRPr lang="en-PH" sz="3200" dirty="0">
              <a:latin typeface="Times New Roman" pitchFamily="18" charset="0"/>
              <a:cs typeface="Times New Roman" pitchFamily="18" charset="0"/>
            </a:endParaRP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3126" t="40973" r="15630" b="36371"/>
          <a:stretch/>
        </p:blipFill>
        <p:spPr bwMode="auto">
          <a:xfrm>
            <a:off x="1620292" y="4368644"/>
            <a:ext cx="13472081" cy="3624468"/>
          </a:xfrm>
          <a:prstGeom prst="rect">
            <a:avLst/>
          </a:prstGeom>
          <a:ln/>
        </p:spPr>
        <p:style>
          <a:lnRef idx="2">
            <a:schemeClr val="accent6"/>
          </a:lnRef>
          <a:fillRef idx="1">
            <a:schemeClr val="lt1"/>
          </a:fillRef>
          <a:effectRef idx="0">
            <a:schemeClr val="accent6"/>
          </a:effectRef>
          <a:fontRef idx="minor">
            <a:schemeClr val="dk1"/>
          </a:fontRef>
        </p:style>
      </p:pic>
    </p:spTree>
    <p:extLst>
      <p:ext uri="{BB962C8B-B14F-4D97-AF65-F5344CB8AC3E}">
        <p14:creationId xmlns:p14="http://schemas.microsoft.com/office/powerpoint/2010/main" val="270783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050"/>
                                        </p:tgtEl>
                                        <p:attrNameLst>
                                          <p:attrName>style.visibility</p:attrName>
                                        </p:attrNameLst>
                                      </p:cBhvr>
                                      <p:to>
                                        <p:strVal val="visible"/>
                                      </p:to>
                                    </p:set>
                                    <p:anim calcmode="lin" valueType="num">
                                      <p:cBhvr additive="base">
                                        <p:cTn id="25" dur="500" fill="hold"/>
                                        <p:tgtEl>
                                          <p:spTgt spid="2050"/>
                                        </p:tgtEl>
                                        <p:attrNameLst>
                                          <p:attrName>ppt_x</p:attrName>
                                        </p:attrNameLst>
                                      </p:cBhvr>
                                      <p:tavLst>
                                        <p:tav tm="0">
                                          <p:val>
                                            <p:strVal val="#ppt_x"/>
                                          </p:val>
                                        </p:tav>
                                        <p:tav tm="100000">
                                          <p:val>
                                            <p:strVal val="#ppt_x"/>
                                          </p:val>
                                        </p:tav>
                                      </p:tavLst>
                                    </p:anim>
                                    <p:anim calcmode="lin" valueType="num">
                                      <p:cBhvr additive="base">
                                        <p:cTn id="26"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396156" y="360264"/>
            <a:ext cx="15625736" cy="3539430"/>
          </a:xfrm>
          <a:prstGeom prst="rect">
            <a:avLst/>
          </a:prstGeom>
        </p:spPr>
        <p:txBody>
          <a:bodyPr wrap="square">
            <a:spAutoFit/>
          </a:bodyPr>
          <a:lstStyle/>
          <a:p>
            <a:pPr algn="just"/>
            <a:r>
              <a:rPr lang="en-US" sz="3200" b="1" dirty="0" smtClean="0">
                <a:latin typeface="Times New Roman" pitchFamily="18" charset="0"/>
                <a:cs typeface="Times New Roman" pitchFamily="18" charset="0"/>
              </a:rPr>
              <a:t>3. </a:t>
            </a:r>
            <a:r>
              <a:rPr lang="en-US" sz="3200" b="1" dirty="0" smtClean="0">
                <a:solidFill>
                  <a:srgbClr val="002060"/>
                </a:solidFill>
                <a:latin typeface="Times New Roman" pitchFamily="18" charset="0"/>
                <a:cs typeface="Times New Roman" pitchFamily="18" charset="0"/>
              </a:rPr>
              <a:t>VERBS</a:t>
            </a:r>
            <a:r>
              <a:rPr lang="en-US" sz="3200" b="1"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are words that denote activities, whether they are action words or words of being. Verbs could be main verbs, be-verbs, do-verbs, have-verbs, modals and participial verbs. Main verbs are action verbs while the rest will either link or function as an auxiliary and act as helping verbs. Be-verbs include </a:t>
            </a:r>
            <a:r>
              <a:rPr lang="en-US" sz="3200" i="1" dirty="0">
                <a:latin typeface="Times New Roman" pitchFamily="18" charset="0"/>
                <a:cs typeface="Times New Roman" pitchFamily="18" charset="0"/>
              </a:rPr>
              <a:t>is, am, are, was, </a:t>
            </a:r>
            <a:r>
              <a:rPr lang="en-US" sz="3200" dirty="0">
                <a:latin typeface="Times New Roman" pitchFamily="18" charset="0"/>
                <a:cs typeface="Times New Roman" pitchFamily="18" charset="0"/>
              </a:rPr>
              <a:t>and </a:t>
            </a:r>
            <a:r>
              <a:rPr lang="en-US" sz="3200" i="1" dirty="0">
                <a:latin typeface="Times New Roman" pitchFamily="18" charset="0"/>
                <a:cs typeface="Times New Roman" pitchFamily="18" charset="0"/>
              </a:rPr>
              <a:t>were. </a:t>
            </a:r>
            <a:r>
              <a:rPr lang="en-US" sz="3200" dirty="0">
                <a:latin typeface="Times New Roman" pitchFamily="18" charset="0"/>
                <a:cs typeface="Times New Roman" pitchFamily="18" charset="0"/>
              </a:rPr>
              <a:t>Do-verbs are </a:t>
            </a:r>
            <a:r>
              <a:rPr lang="en-US" sz="3200" i="1" dirty="0">
                <a:latin typeface="Times New Roman" pitchFamily="18" charset="0"/>
                <a:cs typeface="Times New Roman" pitchFamily="18" charset="0"/>
              </a:rPr>
              <a:t>do, did,</a:t>
            </a:r>
            <a:r>
              <a:rPr lang="en-US" sz="3200" dirty="0">
                <a:latin typeface="Times New Roman" pitchFamily="18" charset="0"/>
                <a:cs typeface="Times New Roman" pitchFamily="18" charset="0"/>
              </a:rPr>
              <a:t> and </a:t>
            </a:r>
            <a:r>
              <a:rPr lang="en-US" sz="3200" i="1" dirty="0">
                <a:latin typeface="Times New Roman" pitchFamily="18" charset="0"/>
                <a:cs typeface="Times New Roman" pitchFamily="18" charset="0"/>
              </a:rPr>
              <a:t>does.</a:t>
            </a:r>
            <a:r>
              <a:rPr lang="en-US" sz="3200" dirty="0">
                <a:latin typeface="Times New Roman" pitchFamily="18" charset="0"/>
                <a:cs typeface="Times New Roman" pitchFamily="18" charset="0"/>
              </a:rPr>
              <a:t> Have-verbs are </a:t>
            </a:r>
            <a:r>
              <a:rPr lang="en-US" sz="3200" i="1" dirty="0">
                <a:latin typeface="Times New Roman" pitchFamily="18" charset="0"/>
                <a:cs typeface="Times New Roman" pitchFamily="18" charset="0"/>
              </a:rPr>
              <a:t>has, have</a:t>
            </a:r>
            <a:r>
              <a:rPr lang="en-US" sz="3200" dirty="0">
                <a:latin typeface="Times New Roman" pitchFamily="18" charset="0"/>
                <a:cs typeface="Times New Roman" pitchFamily="18" charset="0"/>
              </a:rPr>
              <a:t>, and </a:t>
            </a:r>
            <a:r>
              <a:rPr lang="en-US" sz="3200" i="1" dirty="0">
                <a:latin typeface="Times New Roman" pitchFamily="18" charset="0"/>
                <a:cs typeface="Times New Roman" pitchFamily="18" charset="0"/>
              </a:rPr>
              <a:t>had</a:t>
            </a:r>
            <a:r>
              <a:rPr lang="en-US" sz="3200" dirty="0">
                <a:latin typeface="Times New Roman" pitchFamily="18" charset="0"/>
                <a:cs typeface="Times New Roman" pitchFamily="18" charset="0"/>
              </a:rPr>
              <a:t>. Modals include </a:t>
            </a:r>
            <a:r>
              <a:rPr lang="en-US" sz="3200" i="1" dirty="0">
                <a:latin typeface="Times New Roman" pitchFamily="18" charset="0"/>
                <a:cs typeface="Times New Roman" pitchFamily="18" charset="0"/>
              </a:rPr>
              <a:t>will, would, shall, should, ought to, might, can, could</a:t>
            </a:r>
            <a:r>
              <a:rPr lang="en-US" sz="3200" dirty="0">
                <a:latin typeface="Times New Roman" pitchFamily="18" charset="0"/>
                <a:cs typeface="Times New Roman" pitchFamily="18" charset="0"/>
              </a:rPr>
              <a:t>, etc. It is important to take note that </a:t>
            </a:r>
            <a:r>
              <a:rPr lang="en-US" sz="3200" i="1" dirty="0">
                <a:latin typeface="Times New Roman" pitchFamily="18" charset="0"/>
                <a:cs typeface="Times New Roman" pitchFamily="18" charset="0"/>
              </a:rPr>
              <a:t>be, do, have</a:t>
            </a:r>
            <a:r>
              <a:rPr lang="en-US" sz="3200" dirty="0">
                <a:latin typeface="Times New Roman" pitchFamily="18" charset="0"/>
                <a:cs typeface="Times New Roman" pitchFamily="18" charset="0"/>
              </a:rPr>
              <a:t>, and </a:t>
            </a:r>
            <a:r>
              <a:rPr lang="en-US" sz="3200" i="1" dirty="0">
                <a:latin typeface="Times New Roman" pitchFamily="18" charset="0"/>
                <a:cs typeface="Times New Roman" pitchFamily="18" charset="0"/>
              </a:rPr>
              <a:t>modals</a:t>
            </a:r>
            <a:r>
              <a:rPr lang="en-US" sz="3200" dirty="0">
                <a:latin typeface="Times New Roman" pitchFamily="18" charset="0"/>
                <a:cs typeface="Times New Roman" pitchFamily="18" charset="0"/>
              </a:rPr>
              <a:t> serve both the main verb and the auxiliary verb.</a:t>
            </a:r>
            <a:endParaRPr lang="en-PH" sz="3200" dirty="0">
              <a:latin typeface="Times New Roman" pitchFamily="18" charset="0"/>
              <a:cs typeface="Times New Roman" pitchFamily="18" charset="0"/>
            </a:endParaRP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9275" t="48003" r="16947" b="28299"/>
          <a:stretch/>
        </p:blipFill>
        <p:spPr bwMode="auto">
          <a:xfrm>
            <a:off x="2052340" y="3960664"/>
            <a:ext cx="13012874"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7628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074"/>
                                        </p:tgtEl>
                                        <p:attrNameLst>
                                          <p:attrName>style.visibility</p:attrName>
                                        </p:attrNameLst>
                                      </p:cBhvr>
                                      <p:to>
                                        <p:strVal val="visible"/>
                                      </p:to>
                                    </p:set>
                                    <p:animEffect transition="in" filter="fade">
                                      <p:cBhvr>
                                        <p:cTn id="14"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42765" y="288256"/>
            <a:ext cx="15707119" cy="1077218"/>
          </a:xfrm>
          <a:prstGeom prst="rect">
            <a:avLst/>
          </a:prstGeom>
        </p:spPr>
        <p:txBody>
          <a:bodyPr wrap="square">
            <a:spAutoFit/>
          </a:bodyPr>
          <a:lstStyle/>
          <a:p>
            <a:pPr algn="just"/>
            <a:r>
              <a:rPr lang="en-US" sz="3200" dirty="0" smtClean="0">
                <a:latin typeface="Times New Roman" pitchFamily="18" charset="0"/>
                <a:cs typeface="Times New Roman" pitchFamily="18" charset="0"/>
              </a:rPr>
              <a:t>4. </a:t>
            </a:r>
            <a:r>
              <a:rPr lang="en-US" sz="3200" b="1" dirty="0" smtClean="0">
                <a:solidFill>
                  <a:srgbClr val="002060"/>
                </a:solidFill>
                <a:latin typeface="Times New Roman" pitchFamily="18" charset="0"/>
                <a:cs typeface="Times New Roman" pitchFamily="18" charset="0"/>
              </a:rPr>
              <a:t>ADJECTIVES</a:t>
            </a: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are modifiers of nouns and pronouns. They either directly precede the nouns or complement the nouns or pronouns. Adjectives are words that describe. </a:t>
            </a:r>
            <a:endParaRPr lang="en-PH" sz="3200" dirty="0">
              <a:latin typeface="Times New Roman" pitchFamily="18" charset="0"/>
              <a:cs typeface="Times New Roman" pitchFamily="18" charset="0"/>
            </a:endParaRPr>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0006" t="44358" r="16216" b="40017"/>
          <a:stretch/>
        </p:blipFill>
        <p:spPr bwMode="auto">
          <a:xfrm>
            <a:off x="2052340" y="1512392"/>
            <a:ext cx="12169352" cy="2442010"/>
          </a:xfrm>
          <a:prstGeom prst="rect">
            <a:avLst/>
          </a:prstGeom>
          <a:ln/>
        </p:spPr>
        <p:style>
          <a:lnRef idx="2">
            <a:schemeClr val="accent3"/>
          </a:lnRef>
          <a:fillRef idx="1">
            <a:schemeClr val="lt1"/>
          </a:fillRef>
          <a:effectRef idx="0">
            <a:schemeClr val="accent3"/>
          </a:effectRef>
          <a:fontRef idx="minor">
            <a:schemeClr val="dk1"/>
          </a:fontRef>
        </p:style>
      </p:pic>
      <p:sp>
        <p:nvSpPr>
          <p:cNvPr id="6" name="Rectangle 5"/>
          <p:cNvSpPr/>
          <p:nvPr/>
        </p:nvSpPr>
        <p:spPr>
          <a:xfrm>
            <a:off x="242765" y="4176688"/>
            <a:ext cx="15707119" cy="1077218"/>
          </a:xfrm>
          <a:prstGeom prst="rect">
            <a:avLst/>
          </a:prstGeom>
        </p:spPr>
        <p:txBody>
          <a:bodyPr wrap="square">
            <a:spAutoFit/>
          </a:bodyPr>
          <a:lstStyle/>
          <a:p>
            <a:r>
              <a:rPr lang="en-US" sz="3200" dirty="0" smtClean="0">
                <a:latin typeface="Times New Roman" pitchFamily="18" charset="0"/>
                <a:cs typeface="Times New Roman" pitchFamily="18" charset="0"/>
              </a:rPr>
              <a:t>5. An </a:t>
            </a:r>
            <a:r>
              <a:rPr lang="en-US" sz="3200" b="1" dirty="0" smtClean="0">
                <a:solidFill>
                  <a:srgbClr val="002060"/>
                </a:solidFill>
                <a:latin typeface="Times New Roman" pitchFamily="18" charset="0"/>
                <a:cs typeface="Times New Roman" pitchFamily="18" charset="0"/>
              </a:rPr>
              <a:t>ADVERB</a:t>
            </a: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is a syntactic category or a word that modify and adjective, a verb or another adverb.</a:t>
            </a:r>
            <a:endParaRPr lang="en-PH" sz="3200" dirty="0">
              <a:latin typeface="Times New Roman" pitchFamily="18" charset="0"/>
              <a:cs typeface="Times New Roman" pitchFamily="18" charset="0"/>
            </a:endParaRPr>
          </a:p>
        </p:txBody>
      </p:sp>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40886" t="50000" r="20168" b="37934"/>
          <a:stretch/>
        </p:blipFill>
        <p:spPr bwMode="auto">
          <a:xfrm>
            <a:off x="2052340" y="5400824"/>
            <a:ext cx="12169352" cy="2107181"/>
          </a:xfrm>
          <a:prstGeom prst="rect">
            <a:avLst/>
          </a:prstGeom>
          <a:ln/>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101386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nodeType="withEffect">
                                  <p:stCondLst>
                                    <p:cond delay="0"/>
                                  </p:stCondLst>
                                  <p:childTnLst>
                                    <p:set>
                                      <p:cBhvr>
                                        <p:cTn id="9" dur="1" fill="hold">
                                          <p:stCondLst>
                                            <p:cond delay="0"/>
                                          </p:stCondLst>
                                        </p:cTn>
                                        <p:tgtEl>
                                          <p:spTgt spid="4098"/>
                                        </p:tgtEl>
                                        <p:attrNameLst>
                                          <p:attrName>style.visibility</p:attrName>
                                        </p:attrNameLst>
                                      </p:cBhvr>
                                      <p:to>
                                        <p:strVal val="visible"/>
                                      </p:to>
                                    </p:set>
                                    <p:animEffect transition="in" filter="barn(inVertical)">
                                      <p:cBhvr>
                                        <p:cTn id="10" dur="500"/>
                                        <p:tgtEl>
                                          <p:spTgt spid="409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4099"/>
                                        </p:tgtEl>
                                        <p:attrNameLst>
                                          <p:attrName>style.visibility</p:attrName>
                                        </p:attrNameLst>
                                      </p:cBhvr>
                                      <p:to>
                                        <p:strVal val="visible"/>
                                      </p:to>
                                    </p:set>
                                    <p:animEffect transition="in" filter="fade">
                                      <p:cBhvr>
                                        <p:cTn id="18"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324148" y="216248"/>
            <a:ext cx="11665296" cy="584775"/>
          </a:xfrm>
          <a:prstGeom prst="rect">
            <a:avLst/>
          </a:prstGeom>
        </p:spPr>
        <p:txBody>
          <a:bodyPr wrap="square">
            <a:spAutoFit/>
          </a:bodyPr>
          <a:lstStyle/>
          <a:p>
            <a:r>
              <a:rPr lang="en-US" sz="3200" dirty="0" smtClean="0">
                <a:latin typeface="Times New Roman" pitchFamily="18" charset="0"/>
                <a:cs typeface="Times New Roman" pitchFamily="18" charset="0"/>
              </a:rPr>
              <a:t>6. A </a:t>
            </a:r>
            <a:r>
              <a:rPr lang="en-US" sz="3200" b="1" dirty="0" smtClean="0">
                <a:solidFill>
                  <a:srgbClr val="002060"/>
                </a:solidFill>
                <a:latin typeface="Times New Roman" pitchFamily="18" charset="0"/>
                <a:cs typeface="Times New Roman" pitchFamily="18" charset="0"/>
              </a:rPr>
              <a:t>PREPOSITION</a:t>
            </a: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is a syntactic category that states the location.</a:t>
            </a:r>
            <a:endParaRPr lang="en-PH" sz="3200" dirty="0">
              <a:latin typeface="Times New Roman" pitchFamily="18" charset="0"/>
              <a:cs typeface="Times New Roman" pitchFamily="18" charset="0"/>
            </a:endParaRP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0046" t="34549" r="17680" b="53038"/>
          <a:stretch/>
        </p:blipFill>
        <p:spPr bwMode="auto">
          <a:xfrm>
            <a:off x="2728768" y="864320"/>
            <a:ext cx="11348908" cy="1873572"/>
          </a:xfrm>
          <a:prstGeom prst="rect">
            <a:avLst/>
          </a:prstGeom>
          <a:ln/>
        </p:spPr>
        <p:style>
          <a:lnRef idx="2">
            <a:schemeClr val="accent6"/>
          </a:lnRef>
          <a:fillRef idx="1">
            <a:schemeClr val="lt1"/>
          </a:fillRef>
          <a:effectRef idx="0">
            <a:schemeClr val="accent6"/>
          </a:effectRef>
          <a:fontRef idx="minor">
            <a:schemeClr val="dk1"/>
          </a:fontRef>
        </p:style>
      </p:pic>
      <p:sp>
        <p:nvSpPr>
          <p:cNvPr id="6" name="Rectangle 5"/>
          <p:cNvSpPr/>
          <p:nvPr/>
        </p:nvSpPr>
        <p:spPr>
          <a:xfrm>
            <a:off x="468164" y="2880544"/>
            <a:ext cx="15481720" cy="1077218"/>
          </a:xfrm>
          <a:prstGeom prst="rect">
            <a:avLst/>
          </a:prstGeom>
        </p:spPr>
        <p:txBody>
          <a:bodyPr wrap="square">
            <a:spAutoFit/>
          </a:bodyPr>
          <a:lstStyle/>
          <a:p>
            <a:r>
              <a:rPr lang="en-US" sz="3200" dirty="0">
                <a:latin typeface="Times New Roman" pitchFamily="18" charset="0"/>
                <a:cs typeface="Times New Roman" pitchFamily="18" charset="0"/>
              </a:rPr>
              <a:t>7</a:t>
            </a:r>
            <a:r>
              <a:rPr lang="en-US" sz="3200" dirty="0" smtClean="0">
                <a:latin typeface="Times New Roman" pitchFamily="18" charset="0"/>
                <a:cs typeface="Times New Roman" pitchFamily="18" charset="0"/>
              </a:rPr>
              <a:t>. </a:t>
            </a:r>
            <a:r>
              <a:rPr lang="en-US" sz="3200" b="1" dirty="0" smtClean="0">
                <a:solidFill>
                  <a:srgbClr val="002060"/>
                </a:solidFill>
                <a:latin typeface="Times New Roman" pitchFamily="18" charset="0"/>
                <a:cs typeface="Times New Roman" pitchFamily="18" charset="0"/>
              </a:rPr>
              <a:t>CONJUNCTIONS</a:t>
            </a: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are connectors that link the words, phrases, or </a:t>
            </a:r>
            <a:r>
              <a:rPr lang="en-US" sz="3200" dirty="0" smtClean="0">
                <a:latin typeface="Times New Roman" pitchFamily="18" charset="0"/>
                <a:cs typeface="Times New Roman" pitchFamily="18" charset="0"/>
              </a:rPr>
              <a:t>clauses. They are </a:t>
            </a:r>
            <a:r>
              <a:rPr lang="en-US" sz="3200" dirty="0">
                <a:latin typeface="Times New Roman" pitchFamily="18" charset="0"/>
                <a:cs typeface="Times New Roman" pitchFamily="18" charset="0"/>
              </a:rPr>
              <a:t>classified into three. </a:t>
            </a:r>
            <a:endParaRPr lang="en-PH" sz="3200" dirty="0">
              <a:latin typeface="Times New Roman" pitchFamily="18" charset="0"/>
              <a:cs typeface="Times New Roman" pitchFamily="18" charset="0"/>
            </a:endParaRPr>
          </a:p>
        </p:txBody>
      </p:sp>
      <p:pic>
        <p:nvPicPr>
          <p:cNvPr id="5125"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28148" t="28672" r="14019" b="15017"/>
          <a:stretch/>
        </p:blipFill>
        <p:spPr bwMode="auto">
          <a:xfrm>
            <a:off x="4428604" y="3528616"/>
            <a:ext cx="10225136" cy="5646241"/>
          </a:xfrm>
          <a:prstGeom prst="rect">
            <a:avLst/>
          </a:prstGeom>
          <a:ln/>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10624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5122"/>
                                        </p:tgtEl>
                                        <p:attrNameLst>
                                          <p:attrName>style.visibility</p:attrName>
                                        </p:attrNameLst>
                                      </p:cBhvr>
                                      <p:to>
                                        <p:strVal val="visible"/>
                                      </p:to>
                                    </p:set>
                                    <p:animEffect transition="in" filter="wipe(down)">
                                      <p:cBhvr>
                                        <p:cTn id="10" dur="500"/>
                                        <p:tgtEl>
                                          <p:spTgt spid="512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nodeType="withEffect">
                                  <p:stCondLst>
                                    <p:cond delay="0"/>
                                  </p:stCondLst>
                                  <p:childTnLst>
                                    <p:set>
                                      <p:cBhvr>
                                        <p:cTn id="15" dur="1" fill="hold">
                                          <p:stCondLst>
                                            <p:cond delay="0"/>
                                          </p:stCondLst>
                                        </p:cTn>
                                        <p:tgtEl>
                                          <p:spTgt spid="5125"/>
                                        </p:tgtEl>
                                        <p:attrNameLst>
                                          <p:attrName>style.visibility</p:attrName>
                                        </p:attrNameLst>
                                      </p:cBhvr>
                                      <p:to>
                                        <p:strVal val="visible"/>
                                      </p:to>
                                    </p:set>
                                    <p:animEffect transition="in" filter="wipe(down)">
                                      <p:cBhvr>
                                        <p:cTn id="16" dur="5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42765" y="216248"/>
            <a:ext cx="15779127" cy="1077218"/>
          </a:xfrm>
          <a:prstGeom prst="rect">
            <a:avLst/>
          </a:prstGeom>
        </p:spPr>
        <p:txBody>
          <a:bodyPr wrap="square">
            <a:spAutoFit/>
          </a:bodyPr>
          <a:lstStyle/>
          <a:p>
            <a:r>
              <a:rPr lang="en-US" sz="3200" dirty="0" smtClean="0">
                <a:latin typeface="Times New Roman" pitchFamily="18" charset="0"/>
                <a:cs typeface="Times New Roman" pitchFamily="18" charset="0"/>
              </a:rPr>
              <a:t>8. </a:t>
            </a:r>
            <a:r>
              <a:rPr lang="en-US" sz="3200" b="1" dirty="0" smtClean="0">
                <a:solidFill>
                  <a:srgbClr val="002060"/>
                </a:solidFill>
                <a:latin typeface="Times New Roman" pitchFamily="18" charset="0"/>
                <a:cs typeface="Times New Roman" pitchFamily="18" charset="0"/>
              </a:rPr>
              <a:t>INTERJECTIONS</a:t>
            </a: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are words or phrases that express feelings, reactions, exclamations and greetings</a:t>
            </a:r>
            <a:r>
              <a:rPr lang="en-US" dirty="0"/>
              <a:t>.</a:t>
            </a:r>
            <a:endParaRPr lang="en-PH" dirty="0"/>
          </a:p>
        </p:txBody>
      </p:sp>
      <p:pic>
        <p:nvPicPr>
          <p:cNvPr id="614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0739" t="44915" r="23536" b="51475"/>
          <a:stretch/>
        </p:blipFill>
        <p:spPr bwMode="auto">
          <a:xfrm>
            <a:off x="3564508" y="1360418"/>
            <a:ext cx="8784976" cy="872054"/>
          </a:xfrm>
          <a:prstGeom prst="rect">
            <a:avLst/>
          </a:prstGeom>
          <a:ln/>
        </p:spPr>
        <p:style>
          <a:lnRef idx="2">
            <a:schemeClr val="accent3"/>
          </a:lnRef>
          <a:fillRef idx="1">
            <a:schemeClr val="lt1"/>
          </a:fillRef>
          <a:effectRef idx="0">
            <a:schemeClr val="accent3"/>
          </a:effectRef>
          <a:fontRef idx="minor">
            <a:schemeClr val="dk1"/>
          </a:fontRef>
        </p:style>
      </p:pic>
      <p:sp>
        <p:nvSpPr>
          <p:cNvPr id="6" name="Rectangle 5"/>
          <p:cNvSpPr/>
          <p:nvPr/>
        </p:nvSpPr>
        <p:spPr>
          <a:xfrm>
            <a:off x="252140" y="2451398"/>
            <a:ext cx="15625736" cy="1077218"/>
          </a:xfrm>
          <a:prstGeom prst="rect">
            <a:avLst/>
          </a:prstGeom>
        </p:spPr>
        <p:txBody>
          <a:bodyPr wrap="square">
            <a:spAutoFit/>
          </a:bodyPr>
          <a:lstStyle/>
          <a:p>
            <a:r>
              <a:rPr lang="en-US" sz="3200" dirty="0" smtClean="0">
                <a:latin typeface="Times New Roman" pitchFamily="18" charset="0"/>
                <a:cs typeface="Times New Roman" pitchFamily="18" charset="0"/>
              </a:rPr>
              <a:t>9. </a:t>
            </a:r>
            <a:r>
              <a:rPr lang="en-US" sz="3200" b="1" dirty="0" smtClean="0">
                <a:solidFill>
                  <a:srgbClr val="002060"/>
                </a:solidFill>
                <a:latin typeface="Times New Roman" pitchFamily="18" charset="0"/>
                <a:cs typeface="Times New Roman" pitchFamily="18" charset="0"/>
              </a:rPr>
              <a:t>ARTICLES</a:t>
            </a: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are words that precede a noun or noun modifier. Articles are markers of nouns, which include the, a, an</a:t>
            </a:r>
            <a:r>
              <a:rPr lang="en-US" sz="3200" dirty="0" smtClean="0">
                <a:latin typeface="Times New Roman" pitchFamily="18" charset="0"/>
                <a:cs typeface="Times New Roman" pitchFamily="18" charset="0"/>
              </a:rPr>
              <a:t>.</a:t>
            </a:r>
            <a:r>
              <a:rPr lang="en-US" sz="3200" dirty="0">
                <a:latin typeface="Times New Roman" pitchFamily="18" charset="0"/>
                <a:cs typeface="Times New Roman" pitchFamily="18" charset="0"/>
              </a:rPr>
              <a:t> </a:t>
            </a:r>
            <a:endParaRPr lang="en-PH" sz="3200" dirty="0">
              <a:latin typeface="Times New Roman" pitchFamily="18" charset="0"/>
              <a:cs typeface="Times New Roman" pitchFamily="18" charset="0"/>
            </a:endParaRPr>
          </a:p>
        </p:txBody>
      </p:sp>
      <p:sp>
        <p:nvSpPr>
          <p:cNvPr id="7" name="Rectangle 6"/>
          <p:cNvSpPr/>
          <p:nvPr/>
        </p:nvSpPr>
        <p:spPr>
          <a:xfrm>
            <a:off x="1476276" y="3803868"/>
            <a:ext cx="13753528" cy="289310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lvl="0"/>
            <a:r>
              <a:rPr lang="en-US" sz="3000" b="1" i="1" dirty="0"/>
              <a:t>the</a:t>
            </a:r>
            <a:r>
              <a:rPr lang="en-US" sz="3000" dirty="0"/>
              <a:t> chair 		</a:t>
            </a:r>
            <a:r>
              <a:rPr lang="en-US" sz="3000" dirty="0" smtClean="0"/>
              <a:t>	   (</a:t>
            </a:r>
            <a:r>
              <a:rPr lang="en-US" sz="3000" dirty="0"/>
              <a:t>article + noun)</a:t>
            </a:r>
            <a:endParaRPr lang="en-PH" sz="3000" dirty="0"/>
          </a:p>
          <a:p>
            <a:pPr lvl="0"/>
            <a:r>
              <a:rPr lang="en-US" sz="3000" b="1" i="1" dirty="0"/>
              <a:t>the</a:t>
            </a:r>
            <a:r>
              <a:rPr lang="en-US" sz="3000" dirty="0"/>
              <a:t> small chair 	</a:t>
            </a:r>
            <a:r>
              <a:rPr lang="en-US" sz="3000" dirty="0" smtClean="0"/>
              <a:t>	   (</a:t>
            </a:r>
            <a:r>
              <a:rPr lang="en-US" sz="3000" dirty="0"/>
              <a:t>article + modifier + noun)</a:t>
            </a:r>
            <a:endParaRPr lang="en-PH" sz="3000" dirty="0"/>
          </a:p>
          <a:p>
            <a:pPr lvl="0"/>
            <a:r>
              <a:rPr lang="en-US" sz="3000" b="1" i="1" dirty="0"/>
              <a:t>a</a:t>
            </a:r>
            <a:r>
              <a:rPr lang="en-US" sz="3000" dirty="0"/>
              <a:t> man 		</a:t>
            </a:r>
            <a:r>
              <a:rPr lang="en-US" sz="3000" dirty="0" smtClean="0"/>
              <a:t>	   (</a:t>
            </a:r>
            <a:r>
              <a:rPr lang="en-US" sz="3000" dirty="0"/>
              <a:t>article + non-specific noun)</a:t>
            </a:r>
            <a:endParaRPr lang="en-PH" sz="3000" dirty="0"/>
          </a:p>
          <a:p>
            <a:pPr lvl="0"/>
            <a:r>
              <a:rPr lang="en-US" sz="3000" b="1" i="1" dirty="0"/>
              <a:t>a</a:t>
            </a:r>
            <a:r>
              <a:rPr lang="en-US" sz="3000" dirty="0"/>
              <a:t> tall man 	</a:t>
            </a:r>
            <a:r>
              <a:rPr lang="en-US" sz="3000" dirty="0" smtClean="0"/>
              <a:t>	   (</a:t>
            </a:r>
            <a:r>
              <a:rPr lang="en-US" sz="3000" dirty="0"/>
              <a:t>article + modifier + non-specific noun)</a:t>
            </a:r>
            <a:endParaRPr lang="en-PH" sz="3000" dirty="0"/>
          </a:p>
          <a:p>
            <a:pPr lvl="0"/>
            <a:r>
              <a:rPr lang="en-US" sz="3000" b="1" dirty="0"/>
              <a:t>An</a:t>
            </a:r>
            <a:r>
              <a:rPr lang="en-US" sz="3000" dirty="0"/>
              <a:t> apple 	 </a:t>
            </a:r>
            <a:r>
              <a:rPr lang="en-US" sz="3000" dirty="0" smtClean="0"/>
              <a:t>	   (</a:t>
            </a:r>
            <a:r>
              <a:rPr lang="en-US" sz="3000" dirty="0"/>
              <a:t>article “an” + noun that begins with a vowel letter</a:t>
            </a:r>
            <a:r>
              <a:rPr lang="en-US" sz="3000" dirty="0" smtClean="0"/>
              <a:t>)</a:t>
            </a:r>
          </a:p>
          <a:p>
            <a:r>
              <a:rPr lang="en-US" sz="3200" b="1" dirty="0"/>
              <a:t>An </a:t>
            </a:r>
            <a:r>
              <a:rPr lang="en-US" sz="3200" dirty="0"/>
              <a:t>amazing-looking </a:t>
            </a:r>
            <a:r>
              <a:rPr lang="en-US" sz="3200" dirty="0" smtClean="0"/>
              <a:t>apple    </a:t>
            </a:r>
            <a:r>
              <a:rPr lang="en-US" sz="3200" dirty="0"/>
              <a:t>(article “an” + modifier that begins with vowel letter</a:t>
            </a:r>
            <a:r>
              <a:rPr lang="en-US" sz="3200" dirty="0" smtClean="0"/>
              <a:t>)</a:t>
            </a:r>
            <a:endParaRPr lang="en-PH" sz="3000" dirty="0"/>
          </a:p>
        </p:txBody>
      </p:sp>
    </p:spTree>
    <p:extLst>
      <p:ext uri="{BB962C8B-B14F-4D97-AF65-F5344CB8AC3E}">
        <p14:creationId xmlns:p14="http://schemas.microsoft.com/office/powerpoint/2010/main" val="134242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6147"/>
                                        </p:tgtEl>
                                        <p:attrNameLst>
                                          <p:attrName>style.visibility</p:attrName>
                                        </p:attrNameLst>
                                      </p:cBhvr>
                                      <p:to>
                                        <p:strVal val="visible"/>
                                      </p:to>
                                    </p:set>
                                    <p:animEffect transition="in" filter="barn(inVertical)">
                                      <p:cBhvr>
                                        <p:cTn id="14" dur="500"/>
                                        <p:tgtEl>
                                          <p:spTgt spid="614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52140" y="216248"/>
            <a:ext cx="8099425" cy="707886"/>
          </a:xfrm>
          <a:prstGeom prst="rect">
            <a:avLst/>
          </a:prstGeom>
        </p:spPr>
        <p:txBody>
          <a:bodyPr>
            <a:spAutoFit/>
          </a:bodyPr>
          <a:lstStyle/>
          <a:p>
            <a:r>
              <a:rPr lang="en-US" sz="4000" b="1" dirty="0">
                <a:latin typeface="Arial" pitchFamily="34" charset="0"/>
                <a:cs typeface="Arial" pitchFamily="34" charset="0"/>
              </a:rPr>
              <a:t>Syntactic </a:t>
            </a:r>
            <a:r>
              <a:rPr lang="en-US" sz="4000" b="1" dirty="0" smtClean="0">
                <a:latin typeface="Arial" pitchFamily="34" charset="0"/>
                <a:cs typeface="Arial" pitchFamily="34" charset="0"/>
              </a:rPr>
              <a:t>Unit</a:t>
            </a:r>
            <a:r>
              <a:rPr lang="en-US" dirty="0"/>
              <a:t>	</a:t>
            </a:r>
            <a:endParaRPr lang="en-PH" dirty="0"/>
          </a:p>
        </p:txBody>
      </p:sp>
      <p:sp>
        <p:nvSpPr>
          <p:cNvPr id="6" name="Rectangle 5"/>
          <p:cNvSpPr/>
          <p:nvPr/>
        </p:nvSpPr>
        <p:spPr>
          <a:xfrm>
            <a:off x="1188244" y="936328"/>
            <a:ext cx="13681520" cy="584775"/>
          </a:xfrm>
          <a:prstGeom prst="rect">
            <a:avLst/>
          </a:prstGeom>
        </p:spPr>
        <p:txBody>
          <a:bodyPr wrap="square">
            <a:spAutoFit/>
          </a:bodyPr>
          <a:lstStyle/>
          <a:p>
            <a:r>
              <a:rPr lang="en-US" sz="3200" dirty="0" smtClean="0">
                <a:latin typeface="Times New Roman" pitchFamily="18" charset="0"/>
                <a:cs typeface="Times New Roman" pitchFamily="18" charset="0"/>
              </a:rPr>
              <a:t>It is </a:t>
            </a:r>
            <a:r>
              <a:rPr lang="en-US" sz="3200" dirty="0">
                <a:latin typeface="Times New Roman" pitchFamily="18" charset="0"/>
                <a:cs typeface="Times New Roman" pitchFamily="18" charset="0"/>
              </a:rPr>
              <a:t>the unit or form of syntax that includes words phrases, clauses and sentences</a:t>
            </a:r>
            <a:r>
              <a:rPr lang="en-US" sz="3200" dirty="0" smtClean="0">
                <a:latin typeface="Times New Roman" pitchFamily="18" charset="0"/>
                <a:cs typeface="Times New Roman" pitchFamily="18" charset="0"/>
              </a:rPr>
              <a:t>.</a:t>
            </a:r>
            <a:r>
              <a:rPr lang="en-US" sz="3200" dirty="0">
                <a:latin typeface="Times New Roman" pitchFamily="18" charset="0"/>
                <a:cs typeface="Times New Roman" pitchFamily="18" charset="0"/>
              </a:rPr>
              <a:t> </a:t>
            </a:r>
            <a:endParaRPr lang="en-PH" sz="3200" dirty="0">
              <a:latin typeface="Times New Roman" pitchFamily="18" charset="0"/>
              <a:cs typeface="Times New Roman" pitchFamily="18" charset="0"/>
            </a:endParaRPr>
          </a:p>
        </p:txBody>
      </p:sp>
      <p:sp>
        <p:nvSpPr>
          <p:cNvPr id="7" name="Rectangle 6"/>
          <p:cNvSpPr/>
          <p:nvPr/>
        </p:nvSpPr>
        <p:spPr>
          <a:xfrm>
            <a:off x="1332260" y="1728416"/>
            <a:ext cx="14545616" cy="1046440"/>
          </a:xfrm>
          <a:prstGeom prst="rect">
            <a:avLst/>
          </a:prstGeom>
        </p:spPr>
        <p:txBody>
          <a:bodyPr wrap="square">
            <a:spAutoFit/>
          </a:bodyPr>
          <a:lstStyle/>
          <a:p>
            <a:pPr algn="just"/>
            <a:r>
              <a:rPr lang="en-US" sz="3100" dirty="0" smtClean="0">
                <a:latin typeface="Arial" pitchFamily="34" charset="0"/>
                <a:cs typeface="Arial" pitchFamily="34" charset="0"/>
              </a:rPr>
              <a:t>A. </a:t>
            </a:r>
            <a:r>
              <a:rPr lang="en-US" sz="3100" b="1" dirty="0" smtClean="0">
                <a:solidFill>
                  <a:srgbClr val="FF0000"/>
                </a:solidFill>
                <a:latin typeface="Arial" pitchFamily="34" charset="0"/>
                <a:cs typeface="Arial" pitchFamily="34" charset="0"/>
              </a:rPr>
              <a:t>Word. </a:t>
            </a:r>
            <a:r>
              <a:rPr lang="en-US" sz="3100" dirty="0" smtClean="0">
                <a:latin typeface="Arial" pitchFamily="34" charset="0"/>
                <a:cs typeface="Arial" pitchFamily="34" charset="0"/>
              </a:rPr>
              <a:t>It is a </a:t>
            </a:r>
            <a:r>
              <a:rPr lang="en-US" sz="3100" dirty="0">
                <a:latin typeface="Arial" pitchFamily="34" charset="0"/>
                <a:cs typeface="Arial" pitchFamily="34" charset="0"/>
              </a:rPr>
              <a:t>basic meaningful unit of speech writing. </a:t>
            </a:r>
            <a:r>
              <a:rPr lang="en-US" sz="3100" dirty="0" smtClean="0">
                <a:latin typeface="Arial" pitchFamily="34" charset="0"/>
                <a:cs typeface="Arial" pitchFamily="34" charset="0"/>
              </a:rPr>
              <a:t> It is also created </a:t>
            </a:r>
            <a:r>
              <a:rPr lang="en-US" sz="3100" dirty="0">
                <a:latin typeface="Arial" pitchFamily="34" charset="0"/>
                <a:cs typeface="Arial" pitchFamily="34" charset="0"/>
              </a:rPr>
              <a:t>through a single root morpheme or combination of morphemes. </a:t>
            </a:r>
            <a:endParaRPr lang="en-PH" sz="3100" dirty="0">
              <a:latin typeface="Arial" pitchFamily="34" charset="0"/>
              <a:cs typeface="Arial" pitchFamily="34" charset="0"/>
            </a:endParaRPr>
          </a:p>
        </p:txBody>
      </p:sp>
      <p:sp>
        <p:nvSpPr>
          <p:cNvPr id="8" name="Rectangle 7"/>
          <p:cNvSpPr/>
          <p:nvPr/>
        </p:nvSpPr>
        <p:spPr>
          <a:xfrm>
            <a:off x="3852540" y="2880544"/>
            <a:ext cx="7632848" cy="240065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r>
              <a:rPr lang="en-US" sz="3000" dirty="0">
                <a:latin typeface="Arial" pitchFamily="34" charset="0"/>
                <a:cs typeface="Arial" pitchFamily="34" charset="0"/>
              </a:rPr>
              <a:t>analyze 		</a:t>
            </a:r>
            <a:r>
              <a:rPr lang="en-US" sz="3000" dirty="0" smtClean="0">
                <a:latin typeface="Arial" pitchFamily="34" charset="0"/>
                <a:cs typeface="Arial" pitchFamily="34" charset="0"/>
              </a:rPr>
              <a:t>(</a:t>
            </a:r>
            <a:r>
              <a:rPr lang="en-US" sz="3000" dirty="0">
                <a:latin typeface="Arial" pitchFamily="34" charset="0"/>
                <a:cs typeface="Arial" pitchFamily="34" charset="0"/>
              </a:rPr>
              <a:t>free morpheme)</a:t>
            </a:r>
            <a:endParaRPr lang="en-PH" sz="3000" dirty="0">
              <a:latin typeface="Arial" pitchFamily="34" charset="0"/>
              <a:cs typeface="Arial" pitchFamily="34" charset="0"/>
            </a:endParaRPr>
          </a:p>
          <a:p>
            <a:pPr lvl="0"/>
            <a:r>
              <a:rPr lang="en-US" sz="3000" dirty="0" smtClean="0">
                <a:latin typeface="Arial" pitchFamily="34" charset="0"/>
                <a:cs typeface="Arial" pitchFamily="34" charset="0"/>
              </a:rPr>
              <a:t>this </a:t>
            </a:r>
            <a:r>
              <a:rPr lang="en-US" sz="3000" dirty="0">
                <a:latin typeface="Arial" pitchFamily="34" charset="0"/>
                <a:cs typeface="Arial" pitchFamily="34" charset="0"/>
              </a:rPr>
              <a:t>		</a:t>
            </a:r>
            <a:r>
              <a:rPr lang="en-US" sz="3000" dirty="0" smtClean="0">
                <a:latin typeface="Arial" pitchFamily="34" charset="0"/>
                <a:cs typeface="Arial" pitchFamily="34" charset="0"/>
              </a:rPr>
              <a:t>(</a:t>
            </a:r>
            <a:r>
              <a:rPr lang="en-US" sz="3000" dirty="0">
                <a:latin typeface="Arial" pitchFamily="34" charset="0"/>
                <a:cs typeface="Arial" pitchFamily="34" charset="0"/>
              </a:rPr>
              <a:t>free morpheme)</a:t>
            </a:r>
            <a:endParaRPr lang="en-PH" sz="3000" dirty="0">
              <a:latin typeface="Arial" pitchFamily="34" charset="0"/>
              <a:cs typeface="Arial" pitchFamily="34" charset="0"/>
            </a:endParaRPr>
          </a:p>
          <a:p>
            <a:pPr lvl="0"/>
            <a:r>
              <a:rPr lang="en-US" sz="3000" dirty="0">
                <a:latin typeface="Arial" pitchFamily="34" charset="0"/>
                <a:cs typeface="Arial" pitchFamily="34" charset="0"/>
              </a:rPr>
              <a:t>grateful 	</a:t>
            </a:r>
            <a:r>
              <a:rPr lang="en-US" sz="3000" dirty="0">
                <a:latin typeface="Arial" pitchFamily="34" charset="0"/>
                <a:cs typeface="Arial" pitchFamily="34" charset="0"/>
              </a:rPr>
              <a:t>	</a:t>
            </a:r>
            <a:r>
              <a:rPr lang="en-US" sz="3000" dirty="0" smtClean="0">
                <a:latin typeface="Arial" pitchFamily="34" charset="0"/>
                <a:cs typeface="Arial" pitchFamily="34" charset="0"/>
              </a:rPr>
              <a:t>(</a:t>
            </a:r>
            <a:r>
              <a:rPr lang="en-US" sz="3000" dirty="0">
                <a:latin typeface="Arial" pitchFamily="34" charset="0"/>
                <a:cs typeface="Arial" pitchFamily="34" charset="0"/>
              </a:rPr>
              <a:t>free + bound morpheme)</a:t>
            </a:r>
            <a:endParaRPr lang="en-PH" sz="3000" dirty="0">
              <a:latin typeface="Arial" pitchFamily="34" charset="0"/>
              <a:cs typeface="Arial" pitchFamily="34" charset="0"/>
            </a:endParaRPr>
          </a:p>
          <a:p>
            <a:pPr lvl="0"/>
            <a:r>
              <a:rPr lang="en-US" sz="3000" dirty="0" smtClean="0">
                <a:latin typeface="Arial" pitchFamily="34" charset="0"/>
                <a:cs typeface="Arial" pitchFamily="34" charset="0"/>
              </a:rPr>
              <a:t>consciousness </a:t>
            </a:r>
            <a:r>
              <a:rPr lang="en-US" sz="3000" dirty="0">
                <a:latin typeface="Arial" pitchFamily="34" charset="0"/>
                <a:cs typeface="Arial" pitchFamily="34" charset="0"/>
              </a:rPr>
              <a:t>	</a:t>
            </a:r>
            <a:r>
              <a:rPr lang="en-US" sz="3000" dirty="0" smtClean="0">
                <a:latin typeface="Arial" pitchFamily="34" charset="0"/>
                <a:cs typeface="Arial" pitchFamily="34" charset="0"/>
              </a:rPr>
              <a:t>(</a:t>
            </a:r>
            <a:r>
              <a:rPr lang="en-US" sz="3000" dirty="0">
                <a:latin typeface="Arial" pitchFamily="34" charset="0"/>
                <a:cs typeface="Arial" pitchFamily="34" charset="0"/>
              </a:rPr>
              <a:t>free + bound morpheme</a:t>
            </a:r>
            <a:r>
              <a:rPr lang="en-US" sz="3000" dirty="0" smtClean="0">
                <a:latin typeface="Arial" pitchFamily="34" charset="0"/>
                <a:cs typeface="Arial" pitchFamily="34" charset="0"/>
              </a:rPr>
              <a:t>)</a:t>
            </a:r>
          </a:p>
          <a:p>
            <a:pPr lvl="0"/>
            <a:r>
              <a:rPr lang="en-US" sz="3000" dirty="0" smtClean="0">
                <a:latin typeface="Arial" pitchFamily="34" charset="0"/>
                <a:cs typeface="Arial" pitchFamily="34" charset="0"/>
              </a:rPr>
              <a:t>Honest 		(free morpheme)</a:t>
            </a:r>
            <a:endParaRPr lang="en-PH" sz="3000" dirty="0">
              <a:latin typeface="Arial" pitchFamily="34" charset="0"/>
              <a:cs typeface="Arial" pitchFamily="34" charset="0"/>
            </a:endParaRPr>
          </a:p>
        </p:txBody>
      </p:sp>
      <p:sp>
        <p:nvSpPr>
          <p:cNvPr id="9" name="Rectangle 8"/>
          <p:cNvSpPr/>
          <p:nvPr/>
        </p:nvSpPr>
        <p:spPr>
          <a:xfrm>
            <a:off x="1332260" y="5461506"/>
            <a:ext cx="14329592" cy="1523494"/>
          </a:xfrm>
          <a:prstGeom prst="rect">
            <a:avLst/>
          </a:prstGeom>
        </p:spPr>
        <p:txBody>
          <a:bodyPr wrap="square">
            <a:spAutoFit/>
          </a:bodyPr>
          <a:lstStyle/>
          <a:p>
            <a:pPr algn="just"/>
            <a:r>
              <a:rPr lang="en-US" sz="3100" dirty="0" smtClean="0">
                <a:latin typeface="Arial" pitchFamily="34" charset="0"/>
                <a:cs typeface="Arial" pitchFamily="34" charset="0"/>
              </a:rPr>
              <a:t>B. </a:t>
            </a:r>
            <a:r>
              <a:rPr lang="en-US" sz="3100" b="1" dirty="0" smtClean="0">
                <a:solidFill>
                  <a:srgbClr val="FF0000"/>
                </a:solidFill>
                <a:latin typeface="Arial" pitchFamily="34" charset="0"/>
                <a:cs typeface="Arial" pitchFamily="34" charset="0"/>
              </a:rPr>
              <a:t>Phrase.</a:t>
            </a:r>
            <a:r>
              <a:rPr lang="en-US" sz="3100" dirty="0" smtClean="0">
                <a:latin typeface="Arial" pitchFamily="34" charset="0"/>
                <a:cs typeface="Arial" pitchFamily="34" charset="0"/>
              </a:rPr>
              <a:t> It is a </a:t>
            </a:r>
            <a:r>
              <a:rPr lang="en-US" sz="3100" dirty="0">
                <a:latin typeface="Arial" pitchFamily="34" charset="0"/>
                <a:cs typeface="Arial" pitchFamily="34" charset="0"/>
              </a:rPr>
              <a:t>series of words that do not constitute a complete thought. A phrase could be a </a:t>
            </a:r>
            <a:r>
              <a:rPr lang="en-US" sz="3100" i="1" dirty="0">
                <a:solidFill>
                  <a:srgbClr val="002060"/>
                </a:solidFill>
                <a:latin typeface="Arial" pitchFamily="34" charset="0"/>
                <a:cs typeface="Arial" pitchFamily="34" charset="0"/>
              </a:rPr>
              <a:t>noun phrase, verb phrase, adjective phrase, adverb phrase, and prepositional phrase</a:t>
            </a:r>
            <a:r>
              <a:rPr lang="en-US" sz="3100" dirty="0" smtClean="0">
                <a:latin typeface="Arial" pitchFamily="34" charset="0"/>
                <a:cs typeface="Arial" pitchFamily="34" charset="0"/>
              </a:rPr>
              <a:t>.</a:t>
            </a:r>
            <a:r>
              <a:rPr lang="en-US" dirty="0"/>
              <a:t> </a:t>
            </a:r>
            <a:endParaRPr lang="en-PH" dirty="0"/>
          </a:p>
        </p:txBody>
      </p:sp>
    </p:spTree>
    <p:extLst>
      <p:ext uri="{BB962C8B-B14F-4D97-AF65-F5344CB8AC3E}">
        <p14:creationId xmlns:p14="http://schemas.microsoft.com/office/powerpoint/2010/main" val="420521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196356" y="216248"/>
            <a:ext cx="13609512" cy="24468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3100" dirty="0" smtClean="0">
                <a:latin typeface="Times New Roman" pitchFamily="18" charset="0"/>
                <a:cs typeface="Times New Roman" pitchFamily="18" charset="0"/>
              </a:rPr>
              <a:t>B.1. N</a:t>
            </a:r>
            <a:r>
              <a:rPr lang="en-US" sz="3100" b="1" dirty="0" smtClean="0">
                <a:latin typeface="Times New Roman" pitchFamily="18" charset="0"/>
                <a:cs typeface="Times New Roman" pitchFamily="18" charset="0"/>
              </a:rPr>
              <a:t>oun phrase. </a:t>
            </a:r>
            <a:r>
              <a:rPr lang="en-US" sz="3100" dirty="0" smtClean="0">
                <a:latin typeface="Times New Roman" pitchFamily="18" charset="0"/>
                <a:cs typeface="Times New Roman" pitchFamily="18" charset="0"/>
              </a:rPr>
              <a:t>It is consists </a:t>
            </a:r>
            <a:r>
              <a:rPr lang="en-US" sz="3100" dirty="0">
                <a:latin typeface="Times New Roman" pitchFamily="18" charset="0"/>
                <a:cs typeface="Times New Roman" pitchFamily="18" charset="0"/>
              </a:rPr>
              <a:t>of a single modifier and noun or a series of modifiers, the head of which is the noun.</a:t>
            </a:r>
            <a:endParaRPr lang="en-PH" sz="3100" dirty="0">
              <a:latin typeface="Times New Roman" pitchFamily="18" charset="0"/>
              <a:cs typeface="Times New Roman" pitchFamily="18" charset="0"/>
            </a:endParaRPr>
          </a:p>
          <a:p>
            <a:pPr marL="1917954" lvl="2" indent="-457200" algn="just">
              <a:buFont typeface="Wingdings" pitchFamily="2" charset="2"/>
              <a:buChar char="§"/>
            </a:pPr>
            <a:r>
              <a:rPr lang="en-US" sz="3000" dirty="0" smtClean="0"/>
              <a:t>A </a:t>
            </a:r>
            <a:r>
              <a:rPr lang="en-US" sz="3000" dirty="0"/>
              <a:t>bird 		</a:t>
            </a:r>
            <a:r>
              <a:rPr lang="en-US" sz="3000" dirty="0" smtClean="0"/>
              <a:t>(</a:t>
            </a:r>
            <a:r>
              <a:rPr lang="en-US" sz="3000" dirty="0"/>
              <a:t>determiner + noun)</a:t>
            </a:r>
            <a:endParaRPr lang="en-PH" sz="3000" dirty="0"/>
          </a:p>
          <a:p>
            <a:pPr marL="1917954" lvl="2" indent="-457200">
              <a:buFont typeface="Wingdings" pitchFamily="2" charset="2"/>
              <a:buChar char="§"/>
            </a:pPr>
            <a:r>
              <a:rPr lang="en-US" sz="3000" dirty="0" smtClean="0"/>
              <a:t>A </a:t>
            </a:r>
            <a:r>
              <a:rPr lang="en-US" sz="3000" dirty="0"/>
              <a:t>beautiful bird 	</a:t>
            </a:r>
            <a:r>
              <a:rPr lang="en-US" sz="3000" dirty="0" smtClean="0"/>
              <a:t>(determiner </a:t>
            </a:r>
            <a:r>
              <a:rPr lang="en-US" sz="3000" dirty="0"/>
              <a:t>+ adjective + noun)</a:t>
            </a:r>
            <a:endParaRPr lang="en-PH" sz="3000" dirty="0"/>
          </a:p>
          <a:p>
            <a:pPr marL="1917954" lvl="2" indent="-457200">
              <a:buFont typeface="Wingdings" pitchFamily="2" charset="2"/>
              <a:buChar char="§"/>
            </a:pPr>
            <a:r>
              <a:rPr lang="en-US" sz="3000" dirty="0" smtClean="0"/>
              <a:t>A </a:t>
            </a:r>
            <a:r>
              <a:rPr lang="en-US" sz="3000" dirty="0"/>
              <a:t>very beautiful  bird 	(determiner + adverb + adjective + noun)</a:t>
            </a:r>
            <a:endParaRPr lang="en-PH" sz="3000" dirty="0"/>
          </a:p>
        </p:txBody>
      </p:sp>
      <p:sp>
        <p:nvSpPr>
          <p:cNvPr id="6" name="Rectangle 5"/>
          <p:cNvSpPr/>
          <p:nvPr/>
        </p:nvSpPr>
        <p:spPr>
          <a:xfrm>
            <a:off x="612180" y="2880544"/>
            <a:ext cx="14329592" cy="2831544"/>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n-US" dirty="0"/>
              <a:t> </a:t>
            </a:r>
            <a:r>
              <a:rPr lang="en-US" sz="3100" dirty="0" smtClean="0">
                <a:latin typeface="Times New Roman" pitchFamily="18" charset="0"/>
                <a:cs typeface="Times New Roman" pitchFamily="18" charset="0"/>
              </a:rPr>
              <a:t>B.2. V</a:t>
            </a:r>
            <a:r>
              <a:rPr lang="en-US" sz="3100" b="1" dirty="0" smtClean="0">
                <a:latin typeface="Times New Roman" pitchFamily="18" charset="0"/>
                <a:cs typeface="Times New Roman" pitchFamily="18" charset="0"/>
              </a:rPr>
              <a:t>erb phrase. </a:t>
            </a:r>
            <a:r>
              <a:rPr lang="en-US" sz="3100" dirty="0" smtClean="0">
                <a:latin typeface="Times New Roman" pitchFamily="18" charset="0"/>
                <a:cs typeface="Times New Roman" pitchFamily="18" charset="0"/>
              </a:rPr>
              <a:t>It is a </a:t>
            </a:r>
            <a:r>
              <a:rPr lang="en-US" sz="3100" dirty="0">
                <a:latin typeface="Times New Roman" pitchFamily="18" charset="0"/>
                <a:cs typeface="Times New Roman" pitchFamily="18" charset="0"/>
              </a:rPr>
              <a:t>syntactic unit, which start with a verb and all the cluster of words that follow. A verb phrase functions as a predicate of the subject.</a:t>
            </a:r>
            <a:endParaRPr lang="en-PH" sz="3100" dirty="0">
              <a:latin typeface="Times New Roman" pitchFamily="18" charset="0"/>
              <a:cs typeface="Times New Roman" pitchFamily="18" charset="0"/>
            </a:endParaRPr>
          </a:p>
          <a:p>
            <a:pPr marL="1917954" lvl="2" indent="-457200">
              <a:buFont typeface="Wingdings" pitchFamily="2" charset="2"/>
              <a:buChar char="Ø"/>
            </a:pPr>
            <a:r>
              <a:rPr lang="en-US" dirty="0" smtClean="0"/>
              <a:t>She </a:t>
            </a:r>
            <a:r>
              <a:rPr lang="en-US" i="1" dirty="0"/>
              <a:t>sings</a:t>
            </a:r>
            <a:r>
              <a:rPr lang="en-US" dirty="0"/>
              <a:t>.</a:t>
            </a:r>
            <a:endParaRPr lang="en-PH" dirty="0"/>
          </a:p>
          <a:p>
            <a:pPr marL="1917954" lvl="2" indent="-457200">
              <a:buFont typeface="Wingdings" pitchFamily="2" charset="2"/>
              <a:buChar char="Ø"/>
            </a:pPr>
            <a:r>
              <a:rPr lang="en-US" dirty="0" smtClean="0"/>
              <a:t>She </a:t>
            </a:r>
            <a:r>
              <a:rPr lang="en-US" i="1" dirty="0"/>
              <a:t>sings a beautiful song.</a:t>
            </a:r>
            <a:endParaRPr lang="en-PH" dirty="0"/>
          </a:p>
          <a:p>
            <a:pPr marL="1917954" lvl="2" indent="-457200">
              <a:buFont typeface="Wingdings" pitchFamily="2" charset="2"/>
              <a:buChar char="Ø"/>
            </a:pPr>
            <a:r>
              <a:rPr lang="en-US" dirty="0" smtClean="0"/>
              <a:t>She </a:t>
            </a:r>
            <a:r>
              <a:rPr lang="en-US" i="1" dirty="0"/>
              <a:t>sings with grace.</a:t>
            </a:r>
            <a:endParaRPr lang="en-PH" dirty="0"/>
          </a:p>
          <a:p>
            <a:pPr marL="1917954" lvl="2" indent="-457200">
              <a:buFont typeface="Wingdings" pitchFamily="2" charset="2"/>
              <a:buChar char="Ø"/>
            </a:pPr>
            <a:r>
              <a:rPr lang="en-US" dirty="0" smtClean="0"/>
              <a:t>She </a:t>
            </a:r>
            <a:r>
              <a:rPr lang="en-US" i="1" dirty="0"/>
              <a:t>is singing in front of the audience</a:t>
            </a:r>
            <a:endParaRPr lang="en-PH" dirty="0"/>
          </a:p>
        </p:txBody>
      </p:sp>
      <p:sp>
        <p:nvSpPr>
          <p:cNvPr id="7" name="Rectangle 6"/>
          <p:cNvSpPr/>
          <p:nvPr/>
        </p:nvSpPr>
        <p:spPr>
          <a:xfrm>
            <a:off x="4068564" y="5904880"/>
            <a:ext cx="11737304" cy="289310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3100" dirty="0" smtClean="0">
                <a:latin typeface="Times New Roman" pitchFamily="18" charset="0"/>
                <a:cs typeface="Times New Roman" pitchFamily="18" charset="0"/>
              </a:rPr>
              <a:t>B. 3.  A</a:t>
            </a:r>
            <a:r>
              <a:rPr lang="en-US" sz="3100" b="1" dirty="0" smtClean="0">
                <a:latin typeface="Times New Roman" pitchFamily="18" charset="0"/>
                <a:cs typeface="Times New Roman" pitchFamily="18" charset="0"/>
              </a:rPr>
              <a:t>djective phrase</a:t>
            </a:r>
            <a:r>
              <a:rPr lang="en-US" sz="3100" dirty="0" smtClean="0">
                <a:latin typeface="Times New Roman" pitchFamily="18" charset="0"/>
                <a:cs typeface="Times New Roman" pitchFamily="18" charset="0"/>
              </a:rPr>
              <a:t>. It consists of an adjective </a:t>
            </a:r>
            <a:r>
              <a:rPr lang="en-US" sz="3100" dirty="0">
                <a:latin typeface="Times New Roman" pitchFamily="18" charset="0"/>
                <a:cs typeface="Times New Roman" pitchFamily="18" charset="0"/>
              </a:rPr>
              <a:t>and all the cluster of words around it that modify a noun or pronoun.</a:t>
            </a:r>
            <a:endParaRPr lang="en-PH" sz="3100" dirty="0">
              <a:latin typeface="Times New Roman" pitchFamily="18" charset="0"/>
              <a:cs typeface="Times New Roman" pitchFamily="18" charset="0"/>
            </a:endParaRPr>
          </a:p>
          <a:p>
            <a:pPr marL="1917954" lvl="2" indent="-457200">
              <a:buFont typeface="Wingdings" pitchFamily="2" charset="2"/>
              <a:buChar char="q"/>
            </a:pPr>
            <a:r>
              <a:rPr lang="en-US" sz="3000" dirty="0" smtClean="0"/>
              <a:t>The </a:t>
            </a:r>
            <a:r>
              <a:rPr lang="en-US" sz="3000" dirty="0"/>
              <a:t>show was </a:t>
            </a:r>
            <a:r>
              <a:rPr lang="en-US" sz="3000" i="1" dirty="0"/>
              <a:t>not so awful.</a:t>
            </a:r>
            <a:endParaRPr lang="en-PH" sz="3000" dirty="0"/>
          </a:p>
          <a:p>
            <a:pPr marL="1917954" lvl="2" indent="-457200">
              <a:buFont typeface="Wingdings" pitchFamily="2" charset="2"/>
              <a:buChar char="q"/>
            </a:pPr>
            <a:r>
              <a:rPr lang="en-US" sz="3000" dirty="0"/>
              <a:t>She was </a:t>
            </a:r>
            <a:r>
              <a:rPr lang="en-US" sz="3000" i="1" dirty="0"/>
              <a:t>extremely surprised</a:t>
            </a:r>
            <a:r>
              <a:rPr lang="en-US" sz="3000" dirty="0"/>
              <a:t> by the gift.</a:t>
            </a:r>
            <a:endParaRPr lang="en-PH" sz="3000" dirty="0"/>
          </a:p>
          <a:p>
            <a:pPr marL="1917954" lvl="2" indent="-457200">
              <a:buFont typeface="Wingdings" pitchFamily="2" charset="2"/>
              <a:buChar char="q"/>
            </a:pPr>
            <a:r>
              <a:rPr lang="en-US" sz="3000" dirty="0"/>
              <a:t>Your style is </a:t>
            </a:r>
            <a:r>
              <a:rPr lang="en-US" sz="3000" i="1" dirty="0"/>
              <a:t>very interesting.</a:t>
            </a:r>
            <a:endParaRPr lang="en-PH" sz="3000" dirty="0"/>
          </a:p>
          <a:p>
            <a:pPr marL="1917954" lvl="2" indent="-457200">
              <a:buFont typeface="Wingdings" pitchFamily="2" charset="2"/>
              <a:buChar char="q"/>
            </a:pPr>
            <a:r>
              <a:rPr lang="en-US" sz="3000" dirty="0"/>
              <a:t>You are </a:t>
            </a:r>
            <a:r>
              <a:rPr lang="en-US" sz="3000" i="1" dirty="0"/>
              <a:t>nothing but awesome.</a:t>
            </a:r>
            <a:endParaRPr lang="en-PH" sz="3000" dirty="0"/>
          </a:p>
        </p:txBody>
      </p:sp>
    </p:spTree>
    <p:extLst>
      <p:ext uri="{BB962C8B-B14F-4D97-AF65-F5344CB8AC3E}">
        <p14:creationId xmlns:p14="http://schemas.microsoft.com/office/powerpoint/2010/main" val="91618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heel(1)">
                                      <p:cBhvr>
                                        <p:cTn id="1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124" y="8785200"/>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900212" y="360264"/>
            <a:ext cx="14761640" cy="243143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n-US" sz="3100" dirty="0" smtClean="0">
                <a:latin typeface="Times New Roman" pitchFamily="18" charset="0"/>
                <a:cs typeface="Times New Roman" pitchFamily="18" charset="0"/>
              </a:rPr>
              <a:t>B. 4. A</a:t>
            </a:r>
            <a:r>
              <a:rPr lang="en-US" sz="3100" b="1" dirty="0" smtClean="0">
                <a:latin typeface="Times New Roman" pitchFamily="18" charset="0"/>
                <a:cs typeface="Times New Roman" pitchFamily="18" charset="0"/>
              </a:rPr>
              <a:t>dverbial phrase</a:t>
            </a:r>
            <a:r>
              <a:rPr lang="en-US" sz="3100" dirty="0" smtClean="0">
                <a:latin typeface="Times New Roman" pitchFamily="18" charset="0"/>
                <a:cs typeface="Times New Roman" pitchFamily="18" charset="0"/>
              </a:rPr>
              <a:t>. It is </a:t>
            </a:r>
            <a:r>
              <a:rPr lang="en-US" sz="3100" dirty="0">
                <a:latin typeface="Times New Roman" pitchFamily="18" charset="0"/>
                <a:cs typeface="Times New Roman" pitchFamily="18" charset="0"/>
              </a:rPr>
              <a:t>composed of adverbs and all the clusters of words around functioning as one unit in describing a verb, adjective or adverb.</a:t>
            </a:r>
            <a:endParaRPr lang="en-PH" sz="3100" dirty="0">
              <a:latin typeface="Times New Roman" pitchFamily="18" charset="0"/>
              <a:cs typeface="Times New Roman" pitchFamily="18" charset="0"/>
            </a:endParaRPr>
          </a:p>
          <a:p>
            <a:pPr marL="2648331" lvl="3" indent="-457200">
              <a:buFont typeface="Wingdings" pitchFamily="2" charset="2"/>
              <a:buChar char="q"/>
            </a:pPr>
            <a:r>
              <a:rPr lang="en-US" dirty="0"/>
              <a:t> </a:t>
            </a:r>
            <a:r>
              <a:rPr lang="en-US" sz="3000" dirty="0" smtClean="0"/>
              <a:t>He </a:t>
            </a:r>
            <a:r>
              <a:rPr lang="en-US" sz="3000" dirty="0"/>
              <a:t>is speaking </a:t>
            </a:r>
            <a:r>
              <a:rPr lang="en-US" sz="3000" i="1" dirty="0"/>
              <a:t>so loudly.</a:t>
            </a:r>
            <a:endParaRPr lang="en-PH" sz="3000" dirty="0"/>
          </a:p>
          <a:p>
            <a:pPr marL="2648331" lvl="3" indent="-457200">
              <a:buFont typeface="Wingdings" pitchFamily="2" charset="2"/>
              <a:buChar char="q"/>
            </a:pPr>
            <a:r>
              <a:rPr lang="en-US" sz="3000" dirty="0"/>
              <a:t>I tried to explain </a:t>
            </a:r>
            <a:r>
              <a:rPr lang="en-US" sz="3000" i="1" dirty="0"/>
              <a:t>it quickly.</a:t>
            </a:r>
            <a:endParaRPr lang="en-PH" sz="3000" dirty="0"/>
          </a:p>
          <a:p>
            <a:pPr marL="2648331" lvl="3" indent="-457200">
              <a:buFont typeface="Wingdings" pitchFamily="2" charset="2"/>
              <a:buChar char="q"/>
            </a:pPr>
            <a:r>
              <a:rPr lang="en-US" sz="3000" dirty="0"/>
              <a:t>You talk </a:t>
            </a:r>
            <a:r>
              <a:rPr lang="en-US" sz="3000" i="1" dirty="0"/>
              <a:t>very convincingly.</a:t>
            </a:r>
            <a:endParaRPr lang="en-PH" sz="3000" dirty="0"/>
          </a:p>
        </p:txBody>
      </p:sp>
      <p:sp>
        <p:nvSpPr>
          <p:cNvPr id="6" name="Rectangle 5"/>
          <p:cNvSpPr/>
          <p:nvPr/>
        </p:nvSpPr>
        <p:spPr>
          <a:xfrm>
            <a:off x="252140" y="2952552"/>
            <a:ext cx="15409712" cy="14927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3100" dirty="0" smtClean="0">
                <a:latin typeface="Times New Roman" pitchFamily="18" charset="0"/>
                <a:cs typeface="Times New Roman" pitchFamily="18" charset="0"/>
              </a:rPr>
              <a:t>B. 5. Pr</a:t>
            </a:r>
            <a:r>
              <a:rPr lang="en-US" sz="3100" b="1" dirty="0" smtClean="0">
                <a:latin typeface="Times New Roman" pitchFamily="18" charset="0"/>
                <a:cs typeface="Times New Roman" pitchFamily="18" charset="0"/>
              </a:rPr>
              <a:t>epositional </a:t>
            </a:r>
            <a:r>
              <a:rPr lang="en-US" sz="3100" b="1" dirty="0">
                <a:latin typeface="Times New Roman" pitchFamily="18" charset="0"/>
                <a:cs typeface="Times New Roman" pitchFamily="18" charset="0"/>
              </a:rPr>
              <a:t>phrase</a:t>
            </a:r>
            <a:r>
              <a:rPr lang="en-US" sz="3100" dirty="0">
                <a:latin typeface="Times New Roman" pitchFamily="18" charset="0"/>
                <a:cs typeface="Times New Roman" pitchFamily="18" charset="0"/>
              </a:rPr>
              <a:t> </a:t>
            </a:r>
            <a:r>
              <a:rPr lang="en-US" sz="3100" dirty="0" smtClean="0">
                <a:latin typeface="Times New Roman" pitchFamily="18" charset="0"/>
                <a:cs typeface="Times New Roman" pitchFamily="18" charset="0"/>
              </a:rPr>
              <a:t>It is a structure that starts </a:t>
            </a:r>
            <a:r>
              <a:rPr lang="en-US" sz="3100" dirty="0">
                <a:latin typeface="Times New Roman" pitchFamily="18" charset="0"/>
                <a:cs typeface="Times New Roman" pitchFamily="18" charset="0"/>
              </a:rPr>
              <a:t>with a preposition and ends with a noun.</a:t>
            </a:r>
            <a:endParaRPr lang="en-PH" sz="3100" dirty="0">
              <a:latin typeface="Times New Roman" pitchFamily="18" charset="0"/>
              <a:cs typeface="Times New Roman" pitchFamily="18" charset="0"/>
            </a:endParaRPr>
          </a:p>
          <a:p>
            <a:pPr marL="3378708" lvl="4" indent="-457200">
              <a:buFont typeface="Wingdings" pitchFamily="2" charset="2"/>
              <a:buChar char="v"/>
            </a:pPr>
            <a:r>
              <a:rPr lang="en-US" sz="3000" dirty="0" smtClean="0"/>
              <a:t>He </a:t>
            </a:r>
            <a:r>
              <a:rPr lang="en-US" sz="3000" dirty="0"/>
              <a:t>stays </a:t>
            </a:r>
            <a:r>
              <a:rPr lang="en-US" sz="3000" i="1" dirty="0"/>
              <a:t>in his room</a:t>
            </a:r>
            <a:r>
              <a:rPr lang="en-US" sz="3000" dirty="0"/>
              <a:t>. I keep it </a:t>
            </a:r>
            <a:r>
              <a:rPr lang="en-US" sz="3000" i="1" dirty="0"/>
              <a:t>in my pocket.</a:t>
            </a:r>
            <a:endParaRPr lang="en-PH" sz="3000" dirty="0"/>
          </a:p>
          <a:p>
            <a:pPr marL="3378708" lvl="4" indent="-457200">
              <a:buFont typeface="Wingdings" pitchFamily="2" charset="2"/>
              <a:buChar char="v"/>
            </a:pPr>
            <a:r>
              <a:rPr lang="en-US" sz="3000" dirty="0"/>
              <a:t>I read it </a:t>
            </a:r>
            <a:r>
              <a:rPr lang="en-US" sz="3000" i="1" dirty="0"/>
              <a:t>on the post</a:t>
            </a:r>
            <a:r>
              <a:rPr lang="en-US" sz="3000" i="1" dirty="0" smtClean="0"/>
              <a:t>.</a:t>
            </a:r>
            <a:r>
              <a:rPr lang="en-US" dirty="0"/>
              <a:t> </a:t>
            </a:r>
            <a:endParaRPr lang="en-PH" dirty="0"/>
          </a:p>
        </p:txBody>
      </p:sp>
      <p:sp>
        <p:nvSpPr>
          <p:cNvPr id="7" name="Rectangle 6"/>
          <p:cNvSpPr/>
          <p:nvPr/>
        </p:nvSpPr>
        <p:spPr>
          <a:xfrm>
            <a:off x="917972" y="4652080"/>
            <a:ext cx="14743880" cy="195438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3100" dirty="0" smtClean="0">
                <a:latin typeface="Times New Roman" pitchFamily="18" charset="0"/>
                <a:cs typeface="Times New Roman" pitchFamily="18" charset="0"/>
              </a:rPr>
              <a:t>B. 6. </a:t>
            </a:r>
            <a:r>
              <a:rPr lang="en-US" sz="3100" b="1" dirty="0" smtClean="0">
                <a:latin typeface="Times New Roman" pitchFamily="18" charset="0"/>
                <a:cs typeface="Times New Roman" pitchFamily="18" charset="0"/>
              </a:rPr>
              <a:t>Conjunctional phrase</a:t>
            </a:r>
            <a:r>
              <a:rPr lang="en-US" sz="3100" dirty="0" smtClean="0">
                <a:latin typeface="Times New Roman" pitchFamily="18" charset="0"/>
                <a:cs typeface="Times New Roman" pitchFamily="18" charset="0"/>
              </a:rPr>
              <a:t>. It is a structure </a:t>
            </a:r>
            <a:r>
              <a:rPr lang="en-US" sz="3100" dirty="0">
                <a:latin typeface="Times New Roman" pitchFamily="18" charset="0"/>
                <a:cs typeface="Times New Roman" pitchFamily="18" charset="0"/>
              </a:rPr>
              <a:t>that conducts the function of a conjunction.</a:t>
            </a:r>
            <a:endParaRPr lang="en-PH" sz="3100" dirty="0">
              <a:latin typeface="Times New Roman" pitchFamily="18" charset="0"/>
              <a:cs typeface="Times New Roman" pitchFamily="18" charset="0"/>
            </a:endParaRPr>
          </a:p>
          <a:p>
            <a:pPr marL="2648331" lvl="3" indent="-457200">
              <a:buFont typeface="Wingdings" pitchFamily="2" charset="2"/>
              <a:buChar char="q"/>
            </a:pPr>
            <a:r>
              <a:rPr lang="en-US" dirty="0"/>
              <a:t> </a:t>
            </a:r>
            <a:r>
              <a:rPr lang="en-US" sz="3000" dirty="0" smtClean="0"/>
              <a:t>Jessa </a:t>
            </a:r>
            <a:r>
              <a:rPr lang="en-US" sz="3000" dirty="0"/>
              <a:t>is </a:t>
            </a:r>
            <a:r>
              <a:rPr lang="en-US" sz="3000" i="1" dirty="0"/>
              <a:t>not only</a:t>
            </a:r>
            <a:r>
              <a:rPr lang="en-US" sz="3000" dirty="0"/>
              <a:t> fashionable but also elegant.</a:t>
            </a:r>
            <a:endParaRPr lang="en-PH" sz="3000" dirty="0"/>
          </a:p>
          <a:p>
            <a:pPr marL="2648331" lvl="3" indent="-457200">
              <a:buFont typeface="Wingdings" pitchFamily="2" charset="2"/>
              <a:buChar char="q"/>
            </a:pPr>
            <a:r>
              <a:rPr lang="en-US" sz="3000" i="1" dirty="0"/>
              <a:t>Neither</a:t>
            </a:r>
            <a:r>
              <a:rPr lang="en-US" sz="3000" dirty="0"/>
              <a:t> I nor he drinks alcohol.</a:t>
            </a:r>
            <a:endParaRPr lang="en-PH" sz="3000" dirty="0"/>
          </a:p>
          <a:p>
            <a:pPr marL="2648331" lvl="3" indent="-457200">
              <a:buFont typeface="Wingdings" pitchFamily="2" charset="2"/>
              <a:buChar char="q"/>
            </a:pPr>
            <a:r>
              <a:rPr lang="en-US" sz="3000" dirty="0"/>
              <a:t>We will start the program </a:t>
            </a:r>
            <a:r>
              <a:rPr lang="en-US" sz="3000" i="1" dirty="0"/>
              <a:t>as soon</a:t>
            </a:r>
            <a:r>
              <a:rPr lang="en-US" sz="3000" dirty="0"/>
              <a:t> as everyone comes.</a:t>
            </a:r>
            <a:endParaRPr lang="en-PH" sz="3000" dirty="0"/>
          </a:p>
        </p:txBody>
      </p:sp>
      <p:sp>
        <p:nvSpPr>
          <p:cNvPr id="8" name="Rectangle 7"/>
          <p:cNvSpPr/>
          <p:nvPr/>
        </p:nvSpPr>
        <p:spPr>
          <a:xfrm>
            <a:off x="3564508" y="6768976"/>
            <a:ext cx="12097344" cy="243143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3100" dirty="0" smtClean="0">
                <a:latin typeface="Times New Roman" pitchFamily="18" charset="0"/>
                <a:cs typeface="Times New Roman" pitchFamily="18" charset="0"/>
              </a:rPr>
              <a:t>B. 7. I</a:t>
            </a:r>
            <a:r>
              <a:rPr lang="en-US" sz="3100" b="1" dirty="0" smtClean="0">
                <a:latin typeface="Times New Roman" pitchFamily="18" charset="0"/>
                <a:cs typeface="Times New Roman" pitchFamily="18" charset="0"/>
              </a:rPr>
              <a:t>nterjectional phrase. It is a </a:t>
            </a:r>
            <a:r>
              <a:rPr lang="en-US" sz="3100" dirty="0" smtClean="0">
                <a:latin typeface="Times New Roman" pitchFamily="18" charset="0"/>
                <a:cs typeface="Times New Roman" pitchFamily="18" charset="0"/>
              </a:rPr>
              <a:t>structure </a:t>
            </a:r>
            <a:r>
              <a:rPr lang="en-US" sz="3100" dirty="0">
                <a:latin typeface="Times New Roman" pitchFamily="18" charset="0"/>
                <a:cs typeface="Times New Roman" pitchFamily="18" charset="0"/>
              </a:rPr>
              <a:t>that functions as </a:t>
            </a:r>
            <a:r>
              <a:rPr lang="en-US" sz="3100" dirty="0" smtClean="0">
                <a:latin typeface="Times New Roman" pitchFamily="18" charset="0"/>
                <a:cs typeface="Times New Roman" pitchFamily="18" charset="0"/>
              </a:rPr>
              <a:t>interjections which include </a:t>
            </a:r>
            <a:r>
              <a:rPr lang="en-US" sz="3100" dirty="0">
                <a:latin typeface="Times New Roman" pitchFamily="18" charset="0"/>
                <a:cs typeface="Times New Roman" pitchFamily="18" charset="0"/>
              </a:rPr>
              <a:t>statements that express emotions, greetings, hesitations, etc.</a:t>
            </a:r>
            <a:endParaRPr lang="en-PH" sz="3100" dirty="0">
              <a:latin typeface="Times New Roman" pitchFamily="18" charset="0"/>
              <a:cs typeface="Times New Roman" pitchFamily="18" charset="0"/>
            </a:endParaRPr>
          </a:p>
          <a:p>
            <a:pPr marL="2648331" lvl="3" indent="-457200">
              <a:buFont typeface="Wingdings" pitchFamily="2" charset="2"/>
              <a:buChar char="Ø"/>
            </a:pPr>
            <a:r>
              <a:rPr lang="en-US" sz="3000" dirty="0" smtClean="0"/>
              <a:t>My </a:t>
            </a:r>
            <a:r>
              <a:rPr lang="en-US" sz="3000" dirty="0"/>
              <a:t>goodness!</a:t>
            </a:r>
            <a:endParaRPr lang="en-PH" sz="3000" dirty="0"/>
          </a:p>
          <a:p>
            <a:pPr marL="2648331" lvl="3" indent="-457200">
              <a:buFont typeface="Wingdings" pitchFamily="2" charset="2"/>
              <a:buChar char="Ø"/>
            </a:pPr>
            <a:r>
              <a:rPr lang="en-US" sz="3000" dirty="0"/>
              <a:t>Oh no!</a:t>
            </a:r>
            <a:endParaRPr lang="en-PH" sz="3000" dirty="0"/>
          </a:p>
          <a:p>
            <a:pPr marL="2648331" lvl="3" indent="-457200">
              <a:buFont typeface="Wingdings" pitchFamily="2" charset="2"/>
              <a:buChar char="Ø"/>
            </a:pPr>
            <a:r>
              <a:rPr lang="en-US" sz="3000" dirty="0"/>
              <a:t>Thank God!</a:t>
            </a:r>
            <a:endParaRPr lang="en-PH" sz="3000" dirty="0"/>
          </a:p>
        </p:txBody>
      </p:sp>
    </p:spTree>
    <p:extLst>
      <p:ext uri="{BB962C8B-B14F-4D97-AF65-F5344CB8AC3E}">
        <p14:creationId xmlns:p14="http://schemas.microsoft.com/office/powerpoint/2010/main" val="380506217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52140" y="216248"/>
            <a:ext cx="1866217" cy="707886"/>
          </a:xfrm>
          <a:prstGeom prst="rect">
            <a:avLst/>
          </a:prstGeom>
        </p:spPr>
        <p:txBody>
          <a:bodyPr wrap="none">
            <a:spAutoFit/>
          </a:bodyPr>
          <a:lstStyle/>
          <a:p>
            <a:r>
              <a:rPr lang="en-US" sz="4000" b="1" dirty="0">
                <a:latin typeface="Arial" pitchFamily="34" charset="0"/>
                <a:cs typeface="Arial" pitchFamily="34" charset="0"/>
              </a:rPr>
              <a:t>Clause</a:t>
            </a:r>
            <a:endParaRPr lang="en-PH" sz="4000" dirty="0">
              <a:latin typeface="Arial" pitchFamily="34" charset="0"/>
              <a:cs typeface="Arial" pitchFamily="34" charset="0"/>
            </a:endParaRPr>
          </a:p>
        </p:txBody>
      </p:sp>
      <p:sp>
        <p:nvSpPr>
          <p:cNvPr id="6" name="Rectangle 5"/>
          <p:cNvSpPr/>
          <p:nvPr/>
        </p:nvSpPr>
        <p:spPr>
          <a:xfrm>
            <a:off x="900212" y="1011238"/>
            <a:ext cx="14977664" cy="1077218"/>
          </a:xfrm>
          <a:prstGeom prst="rect">
            <a:avLst/>
          </a:prstGeom>
        </p:spPr>
        <p:txBody>
          <a:bodyPr wrap="square">
            <a:spAutoFit/>
          </a:bodyPr>
          <a:lstStyle/>
          <a:p>
            <a:pPr algn="just"/>
            <a:r>
              <a:rPr lang="en-US" sz="3200" dirty="0" smtClean="0">
                <a:latin typeface="Times New Roman" pitchFamily="18" charset="0"/>
                <a:cs typeface="Times New Roman" pitchFamily="18" charset="0"/>
              </a:rPr>
              <a:t>It is a </a:t>
            </a:r>
            <a:r>
              <a:rPr lang="en-US" sz="3200" dirty="0">
                <a:latin typeface="Times New Roman" pitchFamily="18" charset="0"/>
                <a:cs typeface="Times New Roman" pitchFamily="18" charset="0"/>
              </a:rPr>
              <a:t>series of words that contain a subject and verb </a:t>
            </a:r>
            <a:r>
              <a:rPr lang="en-US" sz="3200" dirty="0" smtClean="0">
                <a:latin typeface="Times New Roman" pitchFamily="18" charset="0"/>
                <a:cs typeface="Times New Roman" pitchFamily="18" charset="0"/>
              </a:rPr>
              <a:t>phrase which is classified </a:t>
            </a:r>
            <a:r>
              <a:rPr lang="en-US" sz="3200" dirty="0">
                <a:latin typeface="Times New Roman" pitchFamily="18" charset="0"/>
                <a:cs typeface="Times New Roman" pitchFamily="18" charset="0"/>
              </a:rPr>
              <a:t>as </a:t>
            </a:r>
            <a:r>
              <a:rPr lang="en-US" sz="3200" b="1" i="1" dirty="0">
                <a:latin typeface="Times New Roman" pitchFamily="18" charset="0"/>
                <a:cs typeface="Times New Roman" pitchFamily="18" charset="0"/>
              </a:rPr>
              <a:t>dependent</a:t>
            </a:r>
            <a:r>
              <a:rPr lang="en-US" sz="3200" dirty="0">
                <a:latin typeface="Times New Roman" pitchFamily="18" charset="0"/>
                <a:cs typeface="Times New Roman" pitchFamily="18" charset="0"/>
              </a:rPr>
              <a:t> or </a:t>
            </a:r>
            <a:r>
              <a:rPr lang="en-US" sz="3200" b="1" i="1" dirty="0">
                <a:latin typeface="Times New Roman" pitchFamily="18" charset="0"/>
                <a:cs typeface="Times New Roman" pitchFamily="18" charset="0"/>
              </a:rPr>
              <a:t>independent. </a:t>
            </a:r>
            <a:endParaRPr lang="en-PH" sz="3200" b="1" i="1" dirty="0">
              <a:latin typeface="Times New Roman" pitchFamily="18" charset="0"/>
              <a:cs typeface="Times New Roman"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4182863198"/>
              </p:ext>
            </p:extLst>
          </p:nvPr>
        </p:nvGraphicFramePr>
        <p:xfrm>
          <a:off x="756196" y="2880544"/>
          <a:ext cx="15121680" cy="3444240"/>
        </p:xfrm>
        <a:graphic>
          <a:graphicData uri="http://schemas.openxmlformats.org/drawingml/2006/table">
            <a:tbl>
              <a:tblPr firstRow="1" bandRow="1">
                <a:tableStyleId>{5C22544A-7EE6-4342-B048-85BDC9FD1C3A}</a:tableStyleId>
              </a:tblPr>
              <a:tblGrid>
                <a:gridCol w="6821274"/>
                <a:gridCol w="8300406"/>
              </a:tblGrid>
              <a:tr h="370840">
                <a:tc>
                  <a:txBody>
                    <a:bodyPr/>
                    <a:lstStyle/>
                    <a:p>
                      <a:pPr algn="ctr"/>
                      <a:r>
                        <a:rPr lang="en-PH" sz="2800" dirty="0" smtClean="0">
                          <a:solidFill>
                            <a:srgbClr val="FFFF00"/>
                          </a:solidFill>
                          <a:latin typeface="Arial" pitchFamily="34" charset="0"/>
                          <a:cs typeface="Arial" pitchFamily="34" charset="0"/>
                        </a:rPr>
                        <a:t>INDEPENDENT CLAUSE</a:t>
                      </a:r>
                      <a:r>
                        <a:rPr lang="en-PH" sz="2800" baseline="0" dirty="0" smtClean="0">
                          <a:solidFill>
                            <a:srgbClr val="FFFF00"/>
                          </a:solidFill>
                          <a:latin typeface="Arial" pitchFamily="34" charset="0"/>
                          <a:cs typeface="Arial" pitchFamily="34" charset="0"/>
                        </a:rPr>
                        <a:t>S</a:t>
                      </a:r>
                    </a:p>
                    <a:p>
                      <a:pPr algn="ctr"/>
                      <a:r>
                        <a:rPr lang="en-PH" sz="2800" baseline="0" dirty="0" smtClean="0">
                          <a:latin typeface="Arial" pitchFamily="34" charset="0"/>
                          <a:cs typeface="Arial" pitchFamily="34" charset="0"/>
                        </a:rPr>
                        <a:t>(</a:t>
                      </a:r>
                      <a:r>
                        <a:rPr lang="en-US" sz="2800" baseline="0" dirty="0" smtClean="0">
                          <a:latin typeface="Arial" pitchFamily="34" charset="0"/>
                          <a:cs typeface="Arial" pitchFamily="34" charset="0"/>
                        </a:rPr>
                        <a:t>These are </a:t>
                      </a:r>
                      <a:r>
                        <a:rPr lang="en-US" sz="2800" dirty="0" smtClean="0">
                          <a:latin typeface="Arial" pitchFamily="34" charset="0"/>
                          <a:cs typeface="Arial" pitchFamily="34" charset="0"/>
                        </a:rPr>
                        <a:t>clauses found in simple or compound sentences. These clauses can stand by themselves).</a:t>
                      </a:r>
                      <a:r>
                        <a:rPr lang="en-US" sz="2800" baseline="0" dirty="0" smtClean="0">
                          <a:latin typeface="Arial" pitchFamily="34" charset="0"/>
                          <a:cs typeface="Arial" pitchFamily="34" charset="0"/>
                        </a:rPr>
                        <a:t> </a:t>
                      </a:r>
                      <a:endParaRPr lang="en-PH" sz="2800" dirty="0">
                        <a:latin typeface="Arial" pitchFamily="34" charset="0"/>
                        <a:cs typeface="Arial" pitchFamily="34" charset="0"/>
                      </a:endParaRPr>
                    </a:p>
                  </a:txBody>
                  <a:tcPr/>
                </a:tc>
                <a:tc>
                  <a:txBody>
                    <a:bodyPr/>
                    <a:lstStyle/>
                    <a:p>
                      <a:pPr algn="ctr"/>
                      <a:r>
                        <a:rPr lang="en-US" sz="2800" b="1" kern="1200" dirty="0" smtClean="0">
                          <a:solidFill>
                            <a:srgbClr val="FFFF00"/>
                          </a:solidFill>
                          <a:effectLst/>
                          <a:latin typeface="Arial" pitchFamily="34" charset="0"/>
                          <a:ea typeface="+mn-ea"/>
                          <a:cs typeface="Arial" pitchFamily="34" charset="0"/>
                        </a:rPr>
                        <a:t>DEPENDENT CLAUSES </a:t>
                      </a:r>
                    </a:p>
                    <a:p>
                      <a:r>
                        <a:rPr lang="en-US" sz="2800" b="1" kern="1200" dirty="0" smtClean="0">
                          <a:solidFill>
                            <a:schemeClr val="lt1"/>
                          </a:solidFill>
                          <a:effectLst/>
                          <a:latin typeface="Arial" pitchFamily="34" charset="0"/>
                          <a:ea typeface="+mn-ea"/>
                          <a:cs typeface="Arial" pitchFamily="34" charset="0"/>
                        </a:rPr>
                        <a:t>(These</a:t>
                      </a:r>
                      <a:r>
                        <a:rPr lang="en-US" sz="2800" b="1" kern="1200" baseline="0" dirty="0" smtClean="0">
                          <a:solidFill>
                            <a:schemeClr val="lt1"/>
                          </a:solidFill>
                          <a:effectLst/>
                          <a:latin typeface="Arial" pitchFamily="34" charset="0"/>
                          <a:ea typeface="+mn-ea"/>
                          <a:cs typeface="Arial" pitchFamily="34" charset="0"/>
                        </a:rPr>
                        <a:t> </a:t>
                      </a:r>
                      <a:r>
                        <a:rPr lang="en-US" sz="2800" b="1" kern="1200" dirty="0" smtClean="0">
                          <a:solidFill>
                            <a:schemeClr val="lt1"/>
                          </a:solidFill>
                          <a:effectLst/>
                          <a:latin typeface="Arial" pitchFamily="34" charset="0"/>
                          <a:ea typeface="+mn-ea"/>
                          <a:cs typeface="Arial" pitchFamily="34" charset="0"/>
                        </a:rPr>
                        <a:t>are clauses that cannot stand on their own and need another clause to be complete).</a:t>
                      </a:r>
                      <a:endParaRPr lang="en-PH" sz="2800" dirty="0">
                        <a:latin typeface="Arial" pitchFamily="34" charset="0"/>
                        <a:cs typeface="Arial" pitchFamily="34" charset="0"/>
                      </a:endParaRPr>
                    </a:p>
                  </a:txBody>
                  <a:tcPr/>
                </a:tc>
              </a:tr>
              <a:tr h="370840">
                <a:tc>
                  <a:txBody>
                    <a:bodyPr/>
                    <a:lstStyle/>
                    <a:p>
                      <a:pPr marL="0" marR="0" lvl="0" indent="0" algn="l" defTabSz="1460754" rtl="0" eaLnBrk="1" fontAlgn="auto" latinLnBrk="0" hangingPunct="1">
                        <a:lnSpc>
                          <a:spcPct val="100000"/>
                        </a:lnSpc>
                        <a:spcBef>
                          <a:spcPts val="0"/>
                        </a:spcBef>
                        <a:spcAft>
                          <a:spcPts val="0"/>
                        </a:spcAft>
                        <a:buClrTx/>
                        <a:buSzTx/>
                        <a:buFontTx/>
                        <a:buNone/>
                        <a:tabLst/>
                        <a:defRPr/>
                      </a:pPr>
                      <a:r>
                        <a:rPr lang="en-US" sz="3000" dirty="0" smtClean="0">
                          <a:latin typeface="Arial" pitchFamily="34" charset="0"/>
                          <a:cs typeface="Arial" pitchFamily="34" charset="0"/>
                        </a:rPr>
                        <a:t>He ran fast.</a:t>
                      </a:r>
                      <a:endParaRPr lang="en-PH" sz="3000" dirty="0"/>
                    </a:p>
                  </a:txBody>
                  <a:tcPr/>
                </a:tc>
                <a:tc>
                  <a:txBody>
                    <a:bodyPr/>
                    <a:lstStyle/>
                    <a:p>
                      <a:pPr marL="0" marR="0" lvl="0" indent="0" algn="l" defTabSz="1460754" rtl="0" eaLnBrk="1" fontAlgn="auto" latinLnBrk="0" hangingPunct="1">
                        <a:lnSpc>
                          <a:spcPct val="100000"/>
                        </a:lnSpc>
                        <a:spcBef>
                          <a:spcPts val="0"/>
                        </a:spcBef>
                        <a:spcAft>
                          <a:spcPts val="0"/>
                        </a:spcAft>
                        <a:buClrTx/>
                        <a:buSzTx/>
                        <a:buFontTx/>
                        <a:buNone/>
                        <a:tabLst/>
                        <a:defRPr/>
                      </a:pPr>
                      <a:r>
                        <a:rPr lang="en-US" sz="3000" kern="1200" dirty="0" smtClean="0">
                          <a:solidFill>
                            <a:schemeClr val="dk1"/>
                          </a:solidFill>
                          <a:effectLst/>
                          <a:latin typeface="Arial" pitchFamily="34" charset="0"/>
                          <a:ea typeface="+mn-ea"/>
                          <a:cs typeface="Arial" pitchFamily="34" charset="0"/>
                        </a:rPr>
                        <a:t>He ran fast, </a:t>
                      </a:r>
                      <a:r>
                        <a:rPr lang="en-US" sz="3000" i="1" kern="1200" dirty="0" smtClean="0">
                          <a:solidFill>
                            <a:srgbClr val="FF0000"/>
                          </a:solidFill>
                          <a:effectLst/>
                          <a:latin typeface="Arial" pitchFamily="34" charset="0"/>
                          <a:ea typeface="+mn-ea"/>
                          <a:cs typeface="Arial" pitchFamily="34" charset="0"/>
                        </a:rPr>
                        <a:t>so he will not be caught.</a:t>
                      </a:r>
                      <a:endParaRPr lang="en-PH" sz="3000" dirty="0">
                        <a:solidFill>
                          <a:srgbClr val="FF0000"/>
                        </a:solidFill>
                        <a:latin typeface="Arial" pitchFamily="34" charset="0"/>
                        <a:cs typeface="Arial" pitchFamily="34" charset="0"/>
                      </a:endParaRPr>
                    </a:p>
                  </a:txBody>
                  <a:tcPr/>
                </a:tc>
              </a:tr>
              <a:tr h="370840">
                <a:tc>
                  <a:txBody>
                    <a:bodyPr/>
                    <a:lstStyle/>
                    <a:p>
                      <a:pPr marL="0" marR="0" lvl="0" indent="0" algn="l" defTabSz="1460754" rtl="0" eaLnBrk="1" fontAlgn="auto" latinLnBrk="0" hangingPunct="1">
                        <a:lnSpc>
                          <a:spcPct val="100000"/>
                        </a:lnSpc>
                        <a:spcBef>
                          <a:spcPts val="0"/>
                        </a:spcBef>
                        <a:spcAft>
                          <a:spcPts val="0"/>
                        </a:spcAft>
                        <a:buClrTx/>
                        <a:buSzTx/>
                        <a:buFontTx/>
                        <a:buNone/>
                        <a:tabLst/>
                        <a:defRPr/>
                      </a:pPr>
                      <a:r>
                        <a:rPr lang="en-US" sz="3000" dirty="0" smtClean="0">
                          <a:latin typeface="Arial" pitchFamily="34" charset="0"/>
                          <a:cs typeface="Arial" pitchFamily="34" charset="0"/>
                        </a:rPr>
                        <a:t>He is a man and she is a woman.</a:t>
                      </a:r>
                      <a:endParaRPr lang="en-PH" sz="3000" dirty="0"/>
                    </a:p>
                  </a:txBody>
                  <a:tcPr/>
                </a:tc>
                <a:tc>
                  <a:txBody>
                    <a:bodyPr/>
                    <a:lstStyle/>
                    <a:p>
                      <a:pPr marL="0" marR="0" lvl="0" indent="0" algn="l" defTabSz="1460754" rtl="0" eaLnBrk="1" fontAlgn="auto" latinLnBrk="0" hangingPunct="1">
                        <a:lnSpc>
                          <a:spcPct val="100000"/>
                        </a:lnSpc>
                        <a:spcBef>
                          <a:spcPts val="0"/>
                        </a:spcBef>
                        <a:spcAft>
                          <a:spcPts val="0"/>
                        </a:spcAft>
                        <a:buClrTx/>
                        <a:buSzTx/>
                        <a:buFontTx/>
                        <a:buNone/>
                        <a:tabLst/>
                        <a:defRPr/>
                      </a:pPr>
                      <a:r>
                        <a:rPr lang="en-US" sz="3000" kern="1200" dirty="0" smtClean="0">
                          <a:solidFill>
                            <a:schemeClr val="dk1"/>
                          </a:solidFill>
                          <a:effectLst/>
                          <a:latin typeface="Arial" pitchFamily="34" charset="0"/>
                          <a:ea typeface="+mn-ea"/>
                          <a:cs typeface="Arial" pitchFamily="34" charset="0"/>
                        </a:rPr>
                        <a:t>She is the woman </a:t>
                      </a:r>
                      <a:r>
                        <a:rPr lang="en-US" sz="3000" i="1" kern="1200" dirty="0" smtClean="0">
                          <a:solidFill>
                            <a:srgbClr val="FF0000"/>
                          </a:solidFill>
                          <a:effectLst/>
                          <a:latin typeface="Arial" pitchFamily="34" charset="0"/>
                          <a:ea typeface="+mn-ea"/>
                          <a:cs typeface="Arial" pitchFamily="34" charset="0"/>
                        </a:rPr>
                        <a:t>whom he made a promise to</a:t>
                      </a:r>
                      <a:r>
                        <a:rPr lang="en-US" sz="3000" i="1" kern="1200" dirty="0" smtClean="0">
                          <a:solidFill>
                            <a:schemeClr val="dk1"/>
                          </a:solidFill>
                          <a:effectLst/>
                          <a:latin typeface="Arial" pitchFamily="34" charset="0"/>
                          <a:ea typeface="+mn-ea"/>
                          <a:cs typeface="Arial" pitchFamily="34" charset="0"/>
                        </a:rPr>
                        <a:t>.</a:t>
                      </a:r>
                      <a:endParaRPr lang="en-PH" sz="3000" dirty="0">
                        <a:latin typeface="Arial" pitchFamily="34" charset="0"/>
                        <a:cs typeface="Arial" pitchFamily="34" charset="0"/>
                      </a:endParaRPr>
                    </a:p>
                  </a:txBody>
                  <a:tcPr/>
                </a:tc>
              </a:tr>
              <a:tr h="370840">
                <a:tc>
                  <a:txBody>
                    <a:bodyPr/>
                    <a:lstStyle/>
                    <a:p>
                      <a:pPr marL="0" marR="0" lvl="0" indent="0" algn="l" defTabSz="1460754" rtl="0" eaLnBrk="1" fontAlgn="auto" latinLnBrk="0" hangingPunct="1">
                        <a:lnSpc>
                          <a:spcPct val="100000"/>
                        </a:lnSpc>
                        <a:spcBef>
                          <a:spcPts val="0"/>
                        </a:spcBef>
                        <a:spcAft>
                          <a:spcPts val="0"/>
                        </a:spcAft>
                        <a:buClrTx/>
                        <a:buSzTx/>
                        <a:buFontTx/>
                        <a:buNone/>
                        <a:tabLst/>
                        <a:defRPr/>
                      </a:pPr>
                      <a:r>
                        <a:rPr lang="en-US" sz="3000" dirty="0" smtClean="0">
                          <a:latin typeface="Arial" pitchFamily="34" charset="0"/>
                          <a:cs typeface="Arial" pitchFamily="34" charset="0"/>
                        </a:rPr>
                        <a:t>I am finishing my work.</a:t>
                      </a:r>
                      <a:endParaRPr lang="en-PH" sz="3000" dirty="0"/>
                    </a:p>
                  </a:txBody>
                  <a:tcPr/>
                </a:tc>
                <a:tc>
                  <a:txBody>
                    <a:bodyPr/>
                    <a:lstStyle/>
                    <a:p>
                      <a:pPr marL="0" marR="0" lvl="0" indent="0" algn="l" defTabSz="1460754" rtl="0" eaLnBrk="1" fontAlgn="auto" latinLnBrk="0" hangingPunct="1">
                        <a:lnSpc>
                          <a:spcPct val="100000"/>
                        </a:lnSpc>
                        <a:spcBef>
                          <a:spcPts val="0"/>
                        </a:spcBef>
                        <a:spcAft>
                          <a:spcPts val="0"/>
                        </a:spcAft>
                        <a:buClrTx/>
                        <a:buSzTx/>
                        <a:buFontTx/>
                        <a:buNone/>
                        <a:tabLst/>
                        <a:defRPr/>
                      </a:pPr>
                      <a:r>
                        <a:rPr lang="en-US" sz="3000" kern="1200" dirty="0" smtClean="0">
                          <a:solidFill>
                            <a:schemeClr val="dk1"/>
                          </a:solidFill>
                          <a:effectLst/>
                          <a:latin typeface="Arial" pitchFamily="34" charset="0"/>
                          <a:ea typeface="+mn-ea"/>
                          <a:cs typeface="Arial" pitchFamily="34" charset="0"/>
                        </a:rPr>
                        <a:t>I was finishing m</a:t>
                      </a:r>
                      <a:r>
                        <a:rPr lang="en-US" sz="3000" i="0" kern="1200" dirty="0" smtClean="0">
                          <a:solidFill>
                            <a:schemeClr val="dk1"/>
                          </a:solidFill>
                          <a:effectLst/>
                          <a:latin typeface="Arial" pitchFamily="34" charset="0"/>
                          <a:ea typeface="+mn-ea"/>
                          <a:cs typeface="Arial" pitchFamily="34" charset="0"/>
                        </a:rPr>
                        <a:t>y work </a:t>
                      </a:r>
                      <a:r>
                        <a:rPr lang="en-US" sz="3000" i="1" kern="1200" dirty="0" smtClean="0">
                          <a:solidFill>
                            <a:srgbClr val="FF0000"/>
                          </a:solidFill>
                          <a:effectLst/>
                          <a:latin typeface="Arial" pitchFamily="34" charset="0"/>
                          <a:ea typeface="+mn-ea"/>
                          <a:cs typeface="Arial" pitchFamily="34" charset="0"/>
                        </a:rPr>
                        <a:t>when you arrived.</a:t>
                      </a:r>
                      <a:endParaRPr lang="en-PH" sz="3000" dirty="0">
                        <a:solidFill>
                          <a:srgbClr val="FF0000"/>
                        </a:solidFill>
                        <a:latin typeface="Arial" pitchFamily="34" charset="0"/>
                        <a:cs typeface="Arial" pitchFamily="34" charset="0"/>
                      </a:endParaRPr>
                    </a:p>
                  </a:txBody>
                  <a:tcPr/>
                </a:tc>
              </a:tr>
            </a:tbl>
          </a:graphicData>
        </a:graphic>
      </p:graphicFrame>
    </p:spTree>
    <p:extLst>
      <p:ext uri="{BB962C8B-B14F-4D97-AF65-F5344CB8AC3E}">
        <p14:creationId xmlns:p14="http://schemas.microsoft.com/office/powerpoint/2010/main" val="4357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756196" y="1096170"/>
            <a:ext cx="15265696" cy="1077218"/>
          </a:xfrm>
          <a:prstGeom prst="rect">
            <a:avLst/>
          </a:prstGeom>
        </p:spPr>
        <p:txBody>
          <a:bodyPr wrap="square">
            <a:spAutoFit/>
          </a:bodyPr>
          <a:lstStyle/>
          <a:p>
            <a:pPr marL="457200" indent="-457200" algn="just">
              <a:buFont typeface="Wingdings" pitchFamily="2" charset="2"/>
              <a:buChar char="ü"/>
            </a:pPr>
            <a:r>
              <a:rPr lang="en-US" sz="3200" dirty="0" smtClean="0">
                <a:latin typeface="Times New Roman" pitchFamily="18" charset="0"/>
                <a:cs typeface="Times New Roman" pitchFamily="18" charset="0"/>
              </a:rPr>
              <a:t>It is made </a:t>
            </a:r>
            <a:r>
              <a:rPr lang="en-US" sz="3200" dirty="0">
                <a:latin typeface="Times New Roman" pitchFamily="18" charset="0"/>
                <a:cs typeface="Times New Roman" pitchFamily="18" charset="0"/>
              </a:rPr>
              <a:t>up of a word or phrase that makes a complete thought. </a:t>
            </a:r>
            <a:endParaRPr lang="en-US" sz="3200" dirty="0" smtClean="0">
              <a:latin typeface="Times New Roman" pitchFamily="18" charset="0"/>
              <a:cs typeface="Times New Roman" pitchFamily="18" charset="0"/>
            </a:endParaRPr>
          </a:p>
          <a:p>
            <a:pPr marL="457200" indent="-457200" algn="just">
              <a:buFont typeface="Wingdings" pitchFamily="2" charset="2"/>
              <a:buChar char="ü"/>
            </a:pPr>
            <a:r>
              <a:rPr lang="en-US" sz="3200" dirty="0" smtClean="0">
                <a:latin typeface="Times New Roman" pitchFamily="18" charset="0"/>
                <a:cs typeface="Times New Roman" pitchFamily="18" charset="0"/>
              </a:rPr>
              <a:t>Sentences </a:t>
            </a:r>
            <a:r>
              <a:rPr lang="en-US" sz="3200" dirty="0">
                <a:latin typeface="Times New Roman" pitchFamily="18" charset="0"/>
                <a:cs typeface="Times New Roman" pitchFamily="18" charset="0"/>
              </a:rPr>
              <a:t>are categorized according to purpose and function. </a:t>
            </a:r>
            <a:endParaRPr lang="en-US" sz="3200" dirty="0" smtClean="0">
              <a:latin typeface="Times New Roman" pitchFamily="18" charset="0"/>
              <a:cs typeface="Times New Roman" pitchFamily="18" charset="0"/>
            </a:endParaRPr>
          </a:p>
        </p:txBody>
      </p:sp>
      <p:sp>
        <p:nvSpPr>
          <p:cNvPr id="6" name="Rectangle 5"/>
          <p:cNvSpPr/>
          <p:nvPr/>
        </p:nvSpPr>
        <p:spPr>
          <a:xfrm>
            <a:off x="275668" y="360264"/>
            <a:ext cx="2464136" cy="707886"/>
          </a:xfrm>
          <a:prstGeom prst="rect">
            <a:avLst/>
          </a:prstGeom>
        </p:spPr>
        <p:txBody>
          <a:bodyPr wrap="none">
            <a:spAutoFit/>
          </a:bodyPr>
          <a:lstStyle/>
          <a:p>
            <a:r>
              <a:rPr lang="en-US" sz="4000" b="1" dirty="0">
                <a:latin typeface="Arial" pitchFamily="34" charset="0"/>
                <a:cs typeface="Arial" pitchFamily="34" charset="0"/>
              </a:rPr>
              <a:t>Sentence</a:t>
            </a:r>
            <a:endParaRPr lang="en-PH" sz="4000" dirty="0">
              <a:latin typeface="Arial" pitchFamily="34" charset="0"/>
              <a:cs typeface="Arial" pitchFamily="34" charset="0"/>
            </a:endParaRPr>
          </a:p>
        </p:txBody>
      </p:sp>
      <p:sp>
        <p:nvSpPr>
          <p:cNvPr id="7" name="Rectangle 6"/>
          <p:cNvSpPr/>
          <p:nvPr/>
        </p:nvSpPr>
        <p:spPr>
          <a:xfrm>
            <a:off x="1620292" y="2472303"/>
            <a:ext cx="14185576" cy="1107996"/>
          </a:xfrm>
          <a:prstGeom prst="rect">
            <a:avLst/>
          </a:prstGeom>
        </p:spPr>
        <p:txBody>
          <a:bodyPr wrap="square">
            <a:spAutoFit/>
          </a:bodyPr>
          <a:lstStyle/>
          <a:p>
            <a:pPr algn="just"/>
            <a:r>
              <a:rPr lang="en-US" sz="3300" dirty="0" smtClean="0">
                <a:latin typeface="Times New Roman" pitchFamily="18" charset="0"/>
                <a:cs typeface="Times New Roman" pitchFamily="18" charset="0"/>
              </a:rPr>
              <a:t>I. </a:t>
            </a:r>
            <a:r>
              <a:rPr lang="en-US" sz="3300" b="1" dirty="0" smtClean="0">
                <a:latin typeface="Times New Roman" pitchFamily="18" charset="0"/>
                <a:cs typeface="Times New Roman" pitchFamily="18" charset="0"/>
              </a:rPr>
              <a:t>According </a:t>
            </a:r>
            <a:r>
              <a:rPr lang="en-US" sz="3300" b="1" dirty="0">
                <a:latin typeface="Times New Roman" pitchFamily="18" charset="0"/>
                <a:cs typeface="Times New Roman" pitchFamily="18" charset="0"/>
              </a:rPr>
              <a:t>to purpose</a:t>
            </a:r>
            <a:r>
              <a:rPr lang="en-US" sz="3300" dirty="0">
                <a:latin typeface="Times New Roman" pitchFamily="18" charset="0"/>
                <a:cs typeface="Times New Roman" pitchFamily="18" charset="0"/>
              </a:rPr>
              <a:t>, a sentence could be </a:t>
            </a:r>
            <a:r>
              <a:rPr lang="en-US" sz="3300" i="1" dirty="0">
                <a:latin typeface="Times New Roman" pitchFamily="18" charset="0"/>
                <a:cs typeface="Times New Roman" pitchFamily="18" charset="0"/>
              </a:rPr>
              <a:t>declarative, interrogative, imperative and exclamatory</a:t>
            </a:r>
            <a:r>
              <a:rPr lang="en-US" sz="3300" i="1" dirty="0" smtClean="0">
                <a:latin typeface="Times New Roman" pitchFamily="18" charset="0"/>
                <a:cs typeface="Times New Roman" pitchFamily="18" charset="0"/>
              </a:rPr>
              <a:t>.</a:t>
            </a:r>
            <a:endParaRPr lang="en-PH" sz="3300" i="1" dirty="0">
              <a:latin typeface="Times New Roman" pitchFamily="18" charset="0"/>
              <a:cs typeface="Times New Roman" pitchFamily="18" charset="0"/>
            </a:endParaRPr>
          </a:p>
        </p:txBody>
      </p:sp>
      <p:pic>
        <p:nvPicPr>
          <p:cNvPr id="819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1618" t="61210" r="25879" b="12153"/>
          <a:stretch/>
        </p:blipFill>
        <p:spPr bwMode="auto">
          <a:xfrm>
            <a:off x="4860652" y="4019550"/>
            <a:ext cx="10186708" cy="4693642"/>
          </a:xfrm>
          <a:prstGeom prst="rect">
            <a:avLst/>
          </a:prstGeom>
          <a:ln/>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4183828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heel(1)">
                                      <p:cBhvr>
                                        <p:cTn id="13" dur="2000"/>
                                        <p:tgtEl>
                                          <p:spTgt spid="7"/>
                                        </p:tgtEl>
                                      </p:cBhvr>
                                    </p:animEffect>
                                  </p:childTnLst>
                                </p:cTn>
                              </p:par>
                              <p:par>
                                <p:cTn id="14" presetID="21" presetClass="entr" presetSubtype="1" fill="hold" nodeType="withEffect">
                                  <p:stCondLst>
                                    <p:cond delay="0"/>
                                  </p:stCondLst>
                                  <p:childTnLst>
                                    <p:set>
                                      <p:cBhvr>
                                        <p:cTn id="15" dur="1" fill="hold">
                                          <p:stCondLst>
                                            <p:cond delay="0"/>
                                          </p:stCondLst>
                                        </p:cTn>
                                        <p:tgtEl>
                                          <p:spTgt spid="8195"/>
                                        </p:tgtEl>
                                        <p:attrNameLst>
                                          <p:attrName>style.visibility</p:attrName>
                                        </p:attrNameLst>
                                      </p:cBhvr>
                                      <p:to>
                                        <p:strVal val="visible"/>
                                      </p:to>
                                    </p:set>
                                    <p:animEffect transition="in" filter="wheel(1)">
                                      <p:cBhvr>
                                        <p:cTn id="16" dur="20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324148" y="288256"/>
            <a:ext cx="4356484" cy="2631490"/>
          </a:xfrm>
          <a:prstGeom prst="rect">
            <a:avLst/>
          </a:prstGeom>
        </p:spPr>
        <p:txBody>
          <a:bodyPr wrap="square">
            <a:spAutoFit/>
          </a:bodyPr>
          <a:lstStyle/>
          <a:p>
            <a:r>
              <a:rPr lang="en-US" sz="3300" dirty="0" smtClean="0">
                <a:latin typeface="Times New Roman" pitchFamily="18" charset="0"/>
                <a:cs typeface="Times New Roman" pitchFamily="18" charset="0"/>
              </a:rPr>
              <a:t>II. </a:t>
            </a:r>
            <a:r>
              <a:rPr lang="en-US" sz="3300" b="1" dirty="0" smtClean="0">
                <a:latin typeface="Times New Roman" pitchFamily="18" charset="0"/>
                <a:cs typeface="Times New Roman" pitchFamily="18" charset="0"/>
              </a:rPr>
              <a:t>According </a:t>
            </a:r>
            <a:r>
              <a:rPr lang="en-US" sz="3300" b="1" dirty="0">
                <a:latin typeface="Times New Roman" pitchFamily="18" charset="0"/>
                <a:cs typeface="Times New Roman" pitchFamily="18" charset="0"/>
              </a:rPr>
              <a:t>to structure</a:t>
            </a:r>
            <a:r>
              <a:rPr lang="en-US" sz="3300" dirty="0">
                <a:latin typeface="Times New Roman" pitchFamily="18" charset="0"/>
                <a:cs typeface="Times New Roman" pitchFamily="18" charset="0"/>
              </a:rPr>
              <a:t>, a sentence could be </a:t>
            </a:r>
            <a:r>
              <a:rPr lang="en-US" sz="3300" i="1" dirty="0">
                <a:latin typeface="Times New Roman" pitchFamily="18" charset="0"/>
                <a:cs typeface="Times New Roman" pitchFamily="18" charset="0"/>
              </a:rPr>
              <a:t>simple, compound, complex and compound-complex</a:t>
            </a:r>
            <a:r>
              <a:rPr lang="en-US" sz="3300" i="1" dirty="0" smtClean="0">
                <a:latin typeface="Times New Roman" pitchFamily="18" charset="0"/>
                <a:cs typeface="Times New Roman" pitchFamily="18" charset="0"/>
              </a:rPr>
              <a:t>.</a:t>
            </a:r>
            <a:r>
              <a:rPr lang="en-US" dirty="0"/>
              <a:t> </a:t>
            </a:r>
            <a:endParaRPr lang="en-PH" dirty="0"/>
          </a:p>
        </p:txBody>
      </p:sp>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954" t="39149" r="14165" b="38195"/>
          <a:stretch/>
        </p:blipFill>
        <p:spPr bwMode="auto">
          <a:xfrm>
            <a:off x="4797734" y="288256"/>
            <a:ext cx="11152150" cy="2924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6199" t="29341" r="14752" b="51077"/>
          <a:stretch/>
        </p:blipFill>
        <p:spPr bwMode="auto">
          <a:xfrm>
            <a:off x="315474" y="3194994"/>
            <a:ext cx="10789296" cy="2421854"/>
          </a:xfrm>
          <a:prstGeom prst="rect">
            <a:avLst/>
          </a:prstGeom>
          <a:ln/>
        </p:spPr>
        <p:style>
          <a:lnRef idx="2">
            <a:schemeClr val="accent3"/>
          </a:lnRef>
          <a:fillRef idx="1">
            <a:schemeClr val="lt1"/>
          </a:fillRef>
          <a:effectRef idx="0">
            <a:schemeClr val="accent3"/>
          </a:effectRef>
          <a:fontRef idx="minor">
            <a:schemeClr val="dk1"/>
          </a:fontRef>
        </p:style>
      </p:pic>
      <p:pic>
        <p:nvPicPr>
          <p:cNvPr id="9220"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36493" t="50000" r="16362" b="22399"/>
          <a:stretch/>
        </p:blipFill>
        <p:spPr bwMode="auto">
          <a:xfrm>
            <a:off x="5292700" y="5760864"/>
            <a:ext cx="10153128" cy="3341985"/>
          </a:xfrm>
          <a:prstGeom prst="rect">
            <a:avLst/>
          </a:prstGeom>
          <a:ln/>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val="3297438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9218"/>
                                        </p:tgtEl>
                                        <p:attrNameLst>
                                          <p:attrName>style.visibility</p:attrName>
                                        </p:attrNameLst>
                                      </p:cBhvr>
                                      <p:to>
                                        <p:strVal val="visible"/>
                                      </p:to>
                                    </p:set>
                                    <p:animEffect transition="in" filter="wipe(down)">
                                      <p:cBhvr>
                                        <p:cTn id="14" dur="500"/>
                                        <p:tgtEl>
                                          <p:spTgt spid="921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219"/>
                                        </p:tgtEl>
                                        <p:attrNameLst>
                                          <p:attrName>style.visibility</p:attrName>
                                        </p:attrNameLst>
                                      </p:cBhvr>
                                      <p:to>
                                        <p:strVal val="visible"/>
                                      </p:to>
                                    </p:set>
                                    <p:animEffect transition="in" filter="fade">
                                      <p:cBhvr>
                                        <p:cTn id="19" dur="500"/>
                                        <p:tgtEl>
                                          <p:spTgt spid="921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220"/>
                                        </p:tgtEl>
                                        <p:attrNameLst>
                                          <p:attrName>style.visibility</p:attrName>
                                        </p:attrNameLst>
                                      </p:cBhvr>
                                      <p:to>
                                        <p:strVal val="visible"/>
                                      </p:to>
                                    </p:set>
                                    <p:anim calcmode="lin" valueType="num">
                                      <p:cBhvr additive="base">
                                        <p:cTn id="24" dur="500" fill="hold"/>
                                        <p:tgtEl>
                                          <p:spTgt spid="9220"/>
                                        </p:tgtEl>
                                        <p:attrNameLst>
                                          <p:attrName>ppt_x</p:attrName>
                                        </p:attrNameLst>
                                      </p:cBhvr>
                                      <p:tavLst>
                                        <p:tav tm="0">
                                          <p:val>
                                            <p:strVal val="#ppt_x"/>
                                          </p:val>
                                        </p:tav>
                                        <p:tav tm="100000">
                                          <p:val>
                                            <p:strVal val="#ppt_x"/>
                                          </p:val>
                                        </p:tav>
                                      </p:tavLst>
                                    </p:anim>
                                    <p:anim calcmode="lin" valueType="num">
                                      <p:cBhvr additive="base">
                                        <p:cTn id="25"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684188" y="1080344"/>
            <a:ext cx="15193688" cy="200054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3100" dirty="0" smtClean="0">
                <a:latin typeface="Arial" pitchFamily="34" charset="0"/>
                <a:cs typeface="Arial" pitchFamily="34" charset="0"/>
              </a:rPr>
              <a:t>The </a:t>
            </a:r>
            <a:r>
              <a:rPr lang="en-US" sz="3100" b="1" dirty="0" smtClean="0">
                <a:latin typeface="Arial" pitchFamily="34" charset="0"/>
                <a:cs typeface="Arial" pitchFamily="34" charset="0"/>
              </a:rPr>
              <a:t>PRINCIPLE OF CONSTITUENCY </a:t>
            </a:r>
            <a:r>
              <a:rPr lang="en-US" sz="3100" dirty="0" smtClean="0">
                <a:latin typeface="Arial" pitchFamily="34" charset="0"/>
                <a:cs typeface="Arial" pitchFamily="34" charset="0"/>
              </a:rPr>
              <a:t>describes </a:t>
            </a:r>
            <a:r>
              <a:rPr lang="en-US" sz="3100" dirty="0">
                <a:latin typeface="Arial" pitchFamily="34" charset="0"/>
                <a:cs typeface="Arial" pitchFamily="34" charset="0"/>
              </a:rPr>
              <a:t>that certain groups of words from close units. A </a:t>
            </a:r>
            <a:r>
              <a:rPr lang="en-US" sz="3100" b="1" dirty="0" smtClean="0">
                <a:solidFill>
                  <a:srgbClr val="FF0000"/>
                </a:solidFill>
                <a:latin typeface="Arial" pitchFamily="34" charset="0"/>
                <a:cs typeface="Arial" pitchFamily="34" charset="0"/>
              </a:rPr>
              <a:t>CONSTITUENT</a:t>
            </a:r>
            <a:r>
              <a:rPr lang="en-US" sz="3100" dirty="0" smtClean="0">
                <a:latin typeface="Arial" pitchFamily="34" charset="0"/>
                <a:cs typeface="Arial" pitchFamily="34" charset="0"/>
              </a:rPr>
              <a:t> </a:t>
            </a:r>
            <a:r>
              <a:rPr lang="en-US" sz="3100" dirty="0">
                <a:latin typeface="Arial" pitchFamily="34" charset="0"/>
                <a:cs typeface="Arial" pitchFamily="34" charset="0"/>
              </a:rPr>
              <a:t>is a word or group of words that serves as a single unit within the grammatical structure. It could be a morpheme, a word, phrase, or clause. All words and phrases within the sentence are constituents of that particular sentence.</a:t>
            </a:r>
            <a:endParaRPr lang="en-PH" sz="3100" dirty="0">
              <a:latin typeface="Arial" pitchFamily="34" charset="0"/>
              <a:cs typeface="Arial" pitchFamily="34" charset="0"/>
            </a:endParaRPr>
          </a:p>
        </p:txBody>
      </p:sp>
      <p:sp>
        <p:nvSpPr>
          <p:cNvPr id="6" name="Rectangle 5"/>
          <p:cNvSpPr/>
          <p:nvPr/>
        </p:nvSpPr>
        <p:spPr>
          <a:xfrm>
            <a:off x="180132" y="216248"/>
            <a:ext cx="3432350" cy="707886"/>
          </a:xfrm>
          <a:prstGeom prst="rect">
            <a:avLst/>
          </a:prstGeom>
        </p:spPr>
        <p:txBody>
          <a:bodyPr wrap="none">
            <a:spAutoFit/>
          </a:bodyPr>
          <a:lstStyle/>
          <a:p>
            <a:r>
              <a:rPr lang="en-US" sz="4000" b="1" dirty="0">
                <a:latin typeface="Arial" pitchFamily="34" charset="0"/>
                <a:cs typeface="Arial" pitchFamily="34" charset="0"/>
              </a:rPr>
              <a:t>Constituency</a:t>
            </a:r>
            <a:endParaRPr lang="en-PH" sz="4000" dirty="0">
              <a:latin typeface="Arial" pitchFamily="34" charset="0"/>
              <a:cs typeface="Arial" pitchFamily="34" charset="0"/>
            </a:endParaRPr>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1033" t="30556" r="11090" b="38715"/>
          <a:stretch/>
        </p:blipFill>
        <p:spPr bwMode="auto">
          <a:xfrm>
            <a:off x="2340372" y="3240584"/>
            <a:ext cx="12524482" cy="451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9183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0242"/>
                                        </p:tgtEl>
                                        <p:attrNameLst>
                                          <p:attrName>style.visibility</p:attrName>
                                        </p:attrNameLst>
                                      </p:cBhvr>
                                      <p:to>
                                        <p:strVal val="visible"/>
                                      </p:to>
                                    </p:set>
                                    <p:anim calcmode="lin" valueType="num">
                                      <p:cBhvr additive="base">
                                        <p:cTn id="18" dur="500" fill="hold"/>
                                        <p:tgtEl>
                                          <p:spTgt spid="10242"/>
                                        </p:tgtEl>
                                        <p:attrNameLst>
                                          <p:attrName>ppt_x</p:attrName>
                                        </p:attrNameLst>
                                      </p:cBhvr>
                                      <p:tavLst>
                                        <p:tav tm="0">
                                          <p:val>
                                            <p:strVal val="#ppt_x"/>
                                          </p:val>
                                        </p:tav>
                                        <p:tav tm="100000">
                                          <p:val>
                                            <p:strVal val="#ppt_x"/>
                                          </p:val>
                                        </p:tav>
                                      </p:tavLst>
                                    </p:anim>
                                    <p:anim calcmode="lin" valueType="num">
                                      <p:cBhvr additive="base">
                                        <p:cTn id="19" dur="500" fill="hold"/>
                                        <p:tgtEl>
                                          <p:spTgt spid="102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112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0006" t="37326" r="8456" b="16580"/>
          <a:stretch/>
        </p:blipFill>
        <p:spPr bwMode="auto">
          <a:xfrm>
            <a:off x="4284587" y="1101880"/>
            <a:ext cx="11917437" cy="761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24049" y="2448496"/>
            <a:ext cx="3888531" cy="5078313"/>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lgn="just"/>
            <a:r>
              <a:rPr lang="en-US" sz="2700" dirty="0">
                <a:latin typeface="Arial" pitchFamily="34" charset="0"/>
                <a:cs typeface="Arial" pitchFamily="34" charset="0"/>
              </a:rPr>
              <a:t>The examples </a:t>
            </a:r>
            <a:r>
              <a:rPr lang="en-US" sz="2700" dirty="0" smtClean="0">
                <a:latin typeface="Arial" pitchFamily="34" charset="0"/>
                <a:cs typeface="Arial" pitchFamily="34" charset="0"/>
              </a:rPr>
              <a:t>show </a:t>
            </a:r>
            <a:r>
              <a:rPr lang="en-US" sz="2700" dirty="0">
                <a:latin typeface="Arial" pitchFamily="34" charset="0"/>
                <a:cs typeface="Arial" pitchFamily="34" charset="0"/>
              </a:rPr>
              <a:t>the chunking of a sentence into constituents. As shown, a sentence is built upon noun and verb phrase which stems to minor constituents. Leonard Bloomfield (1933) called the process as </a:t>
            </a:r>
            <a:r>
              <a:rPr lang="en-US" sz="2700" dirty="0">
                <a:solidFill>
                  <a:srgbClr val="FFC000"/>
                </a:solidFill>
                <a:latin typeface="Arial" pitchFamily="34" charset="0"/>
                <a:cs typeface="Arial" pitchFamily="34" charset="0"/>
              </a:rPr>
              <a:t>Immediate Constituent Theory. </a:t>
            </a:r>
            <a:endParaRPr lang="en-PH" sz="2700" dirty="0">
              <a:solidFill>
                <a:srgbClr val="FFC000"/>
              </a:solidFill>
              <a:latin typeface="Arial" pitchFamily="34" charset="0"/>
              <a:cs typeface="Arial" pitchFamily="34" charset="0"/>
            </a:endParaRPr>
          </a:p>
        </p:txBody>
      </p:sp>
    </p:spTree>
    <p:extLst>
      <p:ext uri="{BB962C8B-B14F-4D97-AF65-F5344CB8AC3E}">
        <p14:creationId xmlns:p14="http://schemas.microsoft.com/office/powerpoint/2010/main" val="42873299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1116236" y="288256"/>
            <a:ext cx="1544012" cy="646331"/>
          </a:xfrm>
          <a:prstGeom prst="rect">
            <a:avLst/>
          </a:prstGeom>
        </p:spPr>
        <p:txBody>
          <a:bodyPr wrap="none">
            <a:spAutoFit/>
          </a:bodyPr>
          <a:lstStyle/>
          <a:p>
            <a:r>
              <a:rPr lang="en-US" sz="3600" b="1" dirty="0">
                <a:latin typeface="Arial" pitchFamily="34" charset="0"/>
                <a:cs typeface="Arial" pitchFamily="34" charset="0"/>
              </a:rPr>
              <a:t>Merge</a:t>
            </a:r>
            <a:endParaRPr lang="en-PH" sz="3600" dirty="0">
              <a:latin typeface="Arial" pitchFamily="34" charset="0"/>
              <a:cs typeface="Arial" pitchFamily="34" charset="0"/>
            </a:endParaRPr>
          </a:p>
        </p:txBody>
      </p:sp>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124" t="38368" r="13872" b="16319"/>
          <a:stretch/>
        </p:blipFill>
        <p:spPr bwMode="auto">
          <a:xfrm>
            <a:off x="657582" y="1152352"/>
            <a:ext cx="15343498" cy="6624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7876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290"/>
                                        </p:tgtEl>
                                        <p:attrNameLst>
                                          <p:attrName>style.visibility</p:attrName>
                                        </p:attrNameLst>
                                      </p:cBhvr>
                                      <p:to>
                                        <p:strVal val="visible"/>
                                      </p:to>
                                    </p:set>
                                    <p:anim calcmode="lin" valueType="num">
                                      <p:cBhvr additive="base">
                                        <p:cTn id="11" dur="500" fill="hold"/>
                                        <p:tgtEl>
                                          <p:spTgt spid="12290"/>
                                        </p:tgtEl>
                                        <p:attrNameLst>
                                          <p:attrName>ppt_x</p:attrName>
                                        </p:attrNameLst>
                                      </p:cBhvr>
                                      <p:tavLst>
                                        <p:tav tm="0">
                                          <p:val>
                                            <p:strVal val="#ppt_x"/>
                                          </p:val>
                                        </p:tav>
                                        <p:tav tm="100000">
                                          <p:val>
                                            <p:strVal val="#ppt_x"/>
                                          </p:val>
                                        </p:tav>
                                      </p:tavLst>
                                    </p:anim>
                                    <p:anim calcmode="lin" valueType="num">
                                      <p:cBhvr additive="base">
                                        <p:cTn id="12" dur="500" fill="hold"/>
                                        <p:tgtEl>
                                          <p:spTgt spid="122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180132" y="648296"/>
            <a:ext cx="3312367" cy="1200329"/>
          </a:xfrm>
          <a:prstGeom prst="rect">
            <a:avLst/>
          </a:prstGeom>
        </p:spPr>
        <p:txBody>
          <a:bodyPr wrap="square">
            <a:spAutoFit/>
          </a:bodyPr>
          <a:lstStyle/>
          <a:p>
            <a:r>
              <a:rPr lang="en-US" sz="3600" b="1" dirty="0">
                <a:latin typeface="Arial" pitchFamily="34" charset="0"/>
                <a:cs typeface="Arial" pitchFamily="34" charset="0"/>
              </a:rPr>
              <a:t>A. Structures of Predication </a:t>
            </a:r>
            <a:endParaRPr lang="en-PH" sz="3600" dirty="0">
              <a:latin typeface="Arial" pitchFamily="34" charset="0"/>
              <a:cs typeface="Arial" pitchFamily="34" charset="0"/>
            </a:endParaRPr>
          </a:p>
        </p:txBody>
      </p:sp>
      <p:sp>
        <p:nvSpPr>
          <p:cNvPr id="6" name="Rectangle 5"/>
          <p:cNvSpPr/>
          <p:nvPr/>
        </p:nvSpPr>
        <p:spPr>
          <a:xfrm>
            <a:off x="3492498" y="360264"/>
            <a:ext cx="12529393" cy="187743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r>
              <a:rPr lang="en-US" dirty="0">
                <a:latin typeface="Arial" pitchFamily="34" charset="0"/>
                <a:cs typeface="Arial" pitchFamily="34" charset="0"/>
              </a:rPr>
              <a:t>A combination of subject and predicate or the doer of the action and the action itself makes-up a sentence. Predicates always give more information about the subject. They could be simple or a series of phrases. To find the predicate in the sentence is to always look at what the subject is doing.</a:t>
            </a:r>
            <a:endParaRPr lang="en-PH" dirty="0">
              <a:latin typeface="Arial" pitchFamily="34" charset="0"/>
              <a:cs typeface="Arial" pitchFamily="34" charset="0"/>
            </a:endParaRPr>
          </a:p>
        </p:txBody>
      </p:sp>
      <p:pic>
        <p:nvPicPr>
          <p:cNvPr id="1331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7855" t="53742" r="13579" b="15278"/>
          <a:stretch/>
        </p:blipFill>
        <p:spPr bwMode="auto">
          <a:xfrm>
            <a:off x="1404268" y="2929508"/>
            <a:ext cx="14362945" cy="4271516"/>
          </a:xfrm>
          <a:prstGeom prst="rect">
            <a:avLst/>
          </a:prstGeom>
          <a:ln/>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41234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3315"/>
                                        </p:tgtEl>
                                        <p:attrNameLst>
                                          <p:attrName>style.visibility</p:attrName>
                                        </p:attrNameLst>
                                      </p:cBhvr>
                                      <p:to>
                                        <p:strVal val="visible"/>
                                      </p:to>
                                    </p:set>
                                    <p:anim calcmode="lin" valueType="num">
                                      <p:cBhvr additive="base">
                                        <p:cTn id="15" dur="500" fill="hold"/>
                                        <p:tgtEl>
                                          <p:spTgt spid="13315"/>
                                        </p:tgtEl>
                                        <p:attrNameLst>
                                          <p:attrName>ppt_x</p:attrName>
                                        </p:attrNameLst>
                                      </p:cBhvr>
                                      <p:tavLst>
                                        <p:tav tm="0">
                                          <p:val>
                                            <p:strVal val="#ppt_x"/>
                                          </p:val>
                                        </p:tav>
                                        <p:tav tm="100000">
                                          <p:val>
                                            <p:strVal val="#ppt_x"/>
                                          </p:val>
                                        </p:tav>
                                      </p:tavLst>
                                    </p:anim>
                                    <p:anim calcmode="lin" valueType="num">
                                      <p:cBhvr additive="base">
                                        <p:cTn id="16" dur="500" fill="hold"/>
                                        <p:tgtEl>
                                          <p:spTgt spid="133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72357" y="288256"/>
            <a:ext cx="5771132" cy="661720"/>
          </a:xfrm>
          <a:prstGeom prst="rect">
            <a:avLst/>
          </a:prstGeom>
        </p:spPr>
        <p:txBody>
          <a:bodyPr wrap="none">
            <a:spAutoFit/>
          </a:bodyPr>
          <a:lstStyle/>
          <a:p>
            <a:r>
              <a:rPr lang="en-US" sz="3700" b="1" dirty="0">
                <a:latin typeface="Arial" pitchFamily="34" charset="0"/>
                <a:cs typeface="Arial" pitchFamily="34" charset="0"/>
              </a:rPr>
              <a:t>DISTINCTION OF VERBS</a:t>
            </a:r>
            <a:endParaRPr lang="en-PH" sz="3700" dirty="0">
              <a:latin typeface="Arial" pitchFamily="34" charset="0"/>
              <a:cs typeface="Arial" pitchFamily="34" charset="0"/>
            </a:endParaRPr>
          </a:p>
        </p:txBody>
      </p:sp>
      <p:pic>
        <p:nvPicPr>
          <p:cNvPr id="1433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893" t="29818" r="13177" b="10493"/>
          <a:stretch/>
        </p:blipFill>
        <p:spPr bwMode="auto">
          <a:xfrm>
            <a:off x="3564508" y="1008336"/>
            <a:ext cx="12427955" cy="745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84188" y="3576524"/>
            <a:ext cx="1818126" cy="600164"/>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300" b="1" dirty="0" smtClean="0">
                <a:latin typeface="Times New Roman" pitchFamily="18" charset="0"/>
                <a:cs typeface="Times New Roman" pitchFamily="18" charset="0"/>
              </a:rPr>
              <a:t>FORMS </a:t>
            </a:r>
            <a:endParaRPr lang="en-PH" sz="3300" b="1" dirty="0">
              <a:latin typeface="Times New Roman" pitchFamily="18" charset="0"/>
              <a:cs typeface="Times New Roman" pitchFamily="18" charset="0"/>
            </a:endParaRPr>
          </a:p>
        </p:txBody>
      </p:sp>
    </p:spTree>
    <p:extLst>
      <p:ext uri="{BB962C8B-B14F-4D97-AF65-F5344CB8AC3E}">
        <p14:creationId xmlns:p14="http://schemas.microsoft.com/office/powerpoint/2010/main" val="424847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338"/>
                                        </p:tgtEl>
                                        <p:attrNameLst>
                                          <p:attrName>style.visibility</p:attrName>
                                        </p:attrNameLst>
                                      </p:cBhvr>
                                      <p:to>
                                        <p:strVal val="visible"/>
                                      </p:to>
                                    </p:set>
                                    <p:animEffect transition="in" filter="fade">
                                      <p:cBhvr>
                                        <p:cTn id="19" dur="1000"/>
                                        <p:tgtEl>
                                          <p:spTgt spid="14338"/>
                                        </p:tgtEl>
                                      </p:cBhvr>
                                    </p:animEffect>
                                    <p:anim calcmode="lin" valueType="num">
                                      <p:cBhvr>
                                        <p:cTn id="20" dur="1000" fill="hold"/>
                                        <p:tgtEl>
                                          <p:spTgt spid="14338"/>
                                        </p:tgtEl>
                                        <p:attrNameLst>
                                          <p:attrName>ppt_x</p:attrName>
                                        </p:attrNameLst>
                                      </p:cBhvr>
                                      <p:tavLst>
                                        <p:tav tm="0">
                                          <p:val>
                                            <p:strVal val="#ppt_x"/>
                                          </p:val>
                                        </p:tav>
                                        <p:tav tm="100000">
                                          <p:val>
                                            <p:strVal val="#ppt_x"/>
                                          </p:val>
                                        </p:tav>
                                      </p:tavLst>
                                    </p:anim>
                                    <p:anim calcmode="lin" valueType="num">
                                      <p:cBhvr>
                                        <p:cTn id="21" dur="1000" fill="hold"/>
                                        <p:tgtEl>
                                          <p:spTgt spid="143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6012780" y="360264"/>
            <a:ext cx="5012911" cy="661720"/>
          </a:xfrm>
          <a:prstGeom prst="rect">
            <a:avLst/>
          </a:prstGeom>
        </p:spPr>
        <p:txBody>
          <a:bodyPr wrap="none">
            <a:spAutoFit/>
          </a:bodyPr>
          <a:lstStyle/>
          <a:p>
            <a:r>
              <a:rPr lang="en-US" sz="3700" b="1" dirty="0">
                <a:latin typeface="Arial" pitchFamily="34" charset="0"/>
                <a:cs typeface="Arial" pitchFamily="34" charset="0"/>
              </a:rPr>
              <a:t>Kinds and Functions </a:t>
            </a:r>
            <a:endParaRPr lang="en-PH" sz="3700" dirty="0">
              <a:latin typeface="Arial" pitchFamily="34" charset="0"/>
              <a:cs typeface="Arial" pitchFamily="34" charset="0"/>
            </a:endParaRPr>
          </a:p>
        </p:txBody>
      </p:sp>
      <p:sp>
        <p:nvSpPr>
          <p:cNvPr id="6" name="Rectangle 5"/>
          <p:cNvSpPr/>
          <p:nvPr/>
        </p:nvSpPr>
        <p:spPr>
          <a:xfrm>
            <a:off x="828204" y="1080632"/>
            <a:ext cx="14977664" cy="2015936"/>
          </a:xfrm>
          <a:prstGeom prst="rect">
            <a:avLst/>
          </a:prstGeom>
        </p:spPr>
        <p:txBody>
          <a:bodyPr wrap="square">
            <a:spAutoFit/>
          </a:bodyPr>
          <a:lstStyle/>
          <a:p>
            <a:pPr algn="just"/>
            <a:r>
              <a:rPr lang="en-US" sz="3200" b="1" dirty="0" smtClean="0">
                <a:latin typeface="Arial" pitchFamily="34" charset="0"/>
                <a:cs typeface="Arial" pitchFamily="34" charset="0"/>
              </a:rPr>
              <a:t>1. </a:t>
            </a:r>
            <a:r>
              <a:rPr lang="en-US" sz="3200" b="1" dirty="0" smtClean="0">
                <a:solidFill>
                  <a:srgbClr val="FF0000"/>
                </a:solidFill>
                <a:latin typeface="Arial" pitchFamily="34" charset="0"/>
                <a:cs typeface="Arial" pitchFamily="34" charset="0"/>
              </a:rPr>
              <a:t>LINKING VERBS </a:t>
            </a:r>
            <a:r>
              <a:rPr lang="en-US" sz="3100" dirty="0" smtClean="0">
                <a:latin typeface="Arial" pitchFamily="34" charset="0"/>
                <a:cs typeface="Arial" pitchFamily="34" charset="0"/>
              </a:rPr>
              <a:t>are </a:t>
            </a:r>
            <a:r>
              <a:rPr lang="en-US" sz="3100" dirty="0">
                <a:latin typeface="Arial" pitchFamily="34" charset="0"/>
                <a:cs typeface="Arial" pitchFamily="34" charset="0"/>
              </a:rPr>
              <a:t>also called copulative verbs. These are verbs that connect a subject to a complement. Linking verbs include be-verbs that link the subject to the complement such as </a:t>
            </a:r>
            <a:r>
              <a:rPr lang="en-US" sz="3100" i="1" dirty="0">
                <a:latin typeface="Arial" pitchFamily="34" charset="0"/>
                <a:cs typeface="Arial" pitchFamily="34" charset="0"/>
              </a:rPr>
              <a:t>is, am, are, </a:t>
            </a:r>
            <a:r>
              <a:rPr lang="en-US" sz="3100" dirty="0">
                <a:latin typeface="Arial" pitchFamily="34" charset="0"/>
                <a:cs typeface="Arial" pitchFamily="34" charset="0"/>
              </a:rPr>
              <a:t>and</a:t>
            </a:r>
            <a:r>
              <a:rPr lang="en-US" sz="3100" i="1" dirty="0">
                <a:latin typeface="Arial" pitchFamily="34" charset="0"/>
                <a:cs typeface="Arial" pitchFamily="34" charset="0"/>
              </a:rPr>
              <a:t> were</a:t>
            </a:r>
            <a:r>
              <a:rPr lang="en-US" sz="3100" dirty="0">
                <a:latin typeface="Arial" pitchFamily="34" charset="0"/>
                <a:cs typeface="Arial" pitchFamily="34" charset="0"/>
              </a:rPr>
              <a:t>. Linking verbs also involve the verbs that appeal to the senses.</a:t>
            </a:r>
            <a:endParaRPr lang="en-PH" sz="3100" dirty="0">
              <a:latin typeface="Arial" pitchFamily="34" charset="0"/>
              <a:cs typeface="Arial" pitchFamily="34" charset="0"/>
            </a:endParaRPr>
          </a:p>
        </p:txBody>
      </p:sp>
      <p:pic>
        <p:nvPicPr>
          <p:cNvPr id="15363"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2101" t="55295" r="14605" b="15538"/>
          <a:stretch/>
        </p:blipFill>
        <p:spPr bwMode="auto">
          <a:xfrm>
            <a:off x="1404268" y="3240584"/>
            <a:ext cx="14509612"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945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363"/>
                                        </p:tgtEl>
                                        <p:attrNameLst>
                                          <p:attrName>style.visibility</p:attrName>
                                        </p:attrNameLst>
                                      </p:cBhvr>
                                      <p:to>
                                        <p:strVal val="visible"/>
                                      </p:to>
                                    </p:set>
                                    <p:anim calcmode="lin" valueType="num">
                                      <p:cBhvr additive="base">
                                        <p:cTn id="17" dur="500" fill="hold"/>
                                        <p:tgtEl>
                                          <p:spTgt spid="15363"/>
                                        </p:tgtEl>
                                        <p:attrNameLst>
                                          <p:attrName>ppt_x</p:attrName>
                                        </p:attrNameLst>
                                      </p:cBhvr>
                                      <p:tavLst>
                                        <p:tav tm="0">
                                          <p:val>
                                            <p:strVal val="#ppt_x"/>
                                          </p:val>
                                        </p:tav>
                                        <p:tav tm="100000">
                                          <p:val>
                                            <p:strVal val="#ppt_x"/>
                                          </p:val>
                                        </p:tav>
                                      </p:tavLst>
                                    </p:anim>
                                    <p:anim calcmode="lin" valueType="num">
                                      <p:cBhvr additive="base">
                                        <p:cTn id="18"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1044228" y="432272"/>
            <a:ext cx="14689632" cy="2000548"/>
          </a:xfrm>
          <a:prstGeom prst="rect">
            <a:avLst/>
          </a:prstGeom>
        </p:spPr>
        <p:txBody>
          <a:bodyPr wrap="square">
            <a:spAutoFit/>
          </a:bodyPr>
          <a:lstStyle/>
          <a:p>
            <a:pPr algn="just"/>
            <a:r>
              <a:rPr lang="en-US" sz="3100" b="1" dirty="0" smtClean="0">
                <a:latin typeface="Arial" pitchFamily="34" charset="0"/>
                <a:cs typeface="Arial" pitchFamily="34" charset="0"/>
              </a:rPr>
              <a:t>2. </a:t>
            </a:r>
            <a:r>
              <a:rPr lang="en-US" sz="3200" b="1" dirty="0" smtClean="0">
                <a:solidFill>
                  <a:srgbClr val="FF0000"/>
                </a:solidFill>
                <a:latin typeface="Arial" pitchFamily="34" charset="0"/>
                <a:cs typeface="Arial" pitchFamily="34" charset="0"/>
              </a:rPr>
              <a:t>AUXILIARY VERBS</a:t>
            </a:r>
            <a:r>
              <a:rPr lang="en-US" sz="3200" dirty="0" smtClean="0">
                <a:solidFill>
                  <a:srgbClr val="FF0000"/>
                </a:solidFill>
                <a:latin typeface="Arial" pitchFamily="34" charset="0"/>
                <a:cs typeface="Arial" pitchFamily="34" charset="0"/>
              </a:rPr>
              <a:t> </a:t>
            </a:r>
            <a:r>
              <a:rPr lang="en-US" sz="3100" dirty="0" smtClean="0">
                <a:latin typeface="Arial" pitchFamily="34" charset="0"/>
                <a:cs typeface="Arial" pitchFamily="34" charset="0"/>
              </a:rPr>
              <a:t>are </a:t>
            </a:r>
            <a:r>
              <a:rPr lang="en-US" sz="3100" dirty="0">
                <a:latin typeface="Arial" pitchFamily="34" charset="0"/>
                <a:cs typeface="Arial" pitchFamily="34" charset="0"/>
              </a:rPr>
              <a:t>those that help the main verbs complete the ideas in the sentences. These include (a) be verbs: </a:t>
            </a:r>
            <a:r>
              <a:rPr lang="en-US" sz="3100" i="1" dirty="0">
                <a:latin typeface="Arial" pitchFamily="34" charset="0"/>
                <a:cs typeface="Arial" pitchFamily="34" charset="0"/>
              </a:rPr>
              <a:t>is, am, are, was, were</a:t>
            </a:r>
            <a:r>
              <a:rPr lang="en-US" sz="3100" dirty="0">
                <a:latin typeface="Arial" pitchFamily="34" charset="0"/>
                <a:cs typeface="Arial" pitchFamily="34" charset="0"/>
              </a:rPr>
              <a:t>; (b) </a:t>
            </a:r>
            <a:r>
              <a:rPr lang="en-US" sz="3100" i="1" dirty="0">
                <a:latin typeface="Arial" pitchFamily="34" charset="0"/>
                <a:cs typeface="Arial" pitchFamily="34" charset="0"/>
              </a:rPr>
              <a:t>do verbs: do, does, did</a:t>
            </a:r>
            <a:r>
              <a:rPr lang="en-US" sz="3100" dirty="0">
                <a:latin typeface="Arial" pitchFamily="34" charset="0"/>
                <a:cs typeface="Arial" pitchFamily="34" charset="0"/>
              </a:rPr>
              <a:t>; (c) </a:t>
            </a:r>
            <a:r>
              <a:rPr lang="en-US" sz="3100" i="1" dirty="0">
                <a:latin typeface="Arial" pitchFamily="34" charset="0"/>
                <a:cs typeface="Arial" pitchFamily="34" charset="0"/>
              </a:rPr>
              <a:t>have: has,</a:t>
            </a:r>
            <a:r>
              <a:rPr lang="en-US" sz="3100" dirty="0">
                <a:latin typeface="Arial" pitchFamily="34" charset="0"/>
                <a:cs typeface="Arial" pitchFamily="34" charset="0"/>
              </a:rPr>
              <a:t> </a:t>
            </a:r>
            <a:r>
              <a:rPr lang="en-US" sz="3100" i="1" dirty="0">
                <a:latin typeface="Arial" pitchFamily="34" charset="0"/>
                <a:cs typeface="Arial" pitchFamily="34" charset="0"/>
              </a:rPr>
              <a:t>have, had;</a:t>
            </a:r>
            <a:r>
              <a:rPr lang="en-US" sz="3100" dirty="0">
                <a:latin typeface="Arial" pitchFamily="34" charset="0"/>
                <a:cs typeface="Arial" pitchFamily="34" charset="0"/>
              </a:rPr>
              <a:t> (d) modals: </a:t>
            </a:r>
            <a:r>
              <a:rPr lang="en-US" sz="3100" i="1" dirty="0">
                <a:latin typeface="Arial" pitchFamily="34" charset="0"/>
                <a:cs typeface="Arial" pitchFamily="34" charset="0"/>
              </a:rPr>
              <a:t>can, could, would, might, may, will, etc</a:t>
            </a:r>
            <a:r>
              <a:rPr lang="en-US" sz="3100" dirty="0">
                <a:latin typeface="Arial" pitchFamily="34" charset="0"/>
                <a:cs typeface="Arial" pitchFamily="34" charset="0"/>
              </a:rPr>
              <a:t>.</a:t>
            </a:r>
            <a:endParaRPr lang="en-PH" sz="3100" dirty="0">
              <a:latin typeface="Arial" pitchFamily="34" charset="0"/>
              <a:cs typeface="Arial" pitchFamily="34" charset="0"/>
            </a:endParaRPr>
          </a:p>
        </p:txBody>
      </p:sp>
      <p:pic>
        <p:nvPicPr>
          <p:cNvPr id="1638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541" t="51289" r="13579" b="19024"/>
          <a:stretch/>
        </p:blipFill>
        <p:spPr bwMode="auto">
          <a:xfrm>
            <a:off x="1592813" y="2664520"/>
            <a:ext cx="14124155"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313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386"/>
                                        </p:tgtEl>
                                        <p:attrNameLst>
                                          <p:attrName>style.visibility</p:attrName>
                                        </p:attrNameLst>
                                      </p:cBhvr>
                                      <p:to>
                                        <p:strVal val="visible"/>
                                      </p:to>
                                    </p:set>
                                    <p:anim calcmode="lin" valueType="num">
                                      <p:cBhvr additive="base">
                                        <p:cTn id="12" dur="500" fill="hold"/>
                                        <p:tgtEl>
                                          <p:spTgt spid="16386"/>
                                        </p:tgtEl>
                                        <p:attrNameLst>
                                          <p:attrName>ppt_x</p:attrName>
                                        </p:attrNameLst>
                                      </p:cBhvr>
                                      <p:tavLst>
                                        <p:tav tm="0">
                                          <p:val>
                                            <p:strVal val="#ppt_x"/>
                                          </p:val>
                                        </p:tav>
                                        <p:tav tm="100000">
                                          <p:val>
                                            <p:strVal val="#ppt_x"/>
                                          </p:val>
                                        </p:tav>
                                      </p:tavLst>
                                    </p:anim>
                                    <p:anim calcmode="lin" valueType="num">
                                      <p:cBhvr additive="base">
                                        <p:cTn id="13" dur="500" fill="hold"/>
                                        <p:tgtEl>
                                          <p:spTgt spid="163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468164" y="288256"/>
            <a:ext cx="15409712" cy="1061829"/>
          </a:xfrm>
          <a:prstGeom prst="rect">
            <a:avLst/>
          </a:prstGeom>
        </p:spPr>
        <p:txBody>
          <a:bodyPr wrap="square">
            <a:spAutoFit/>
          </a:bodyPr>
          <a:lstStyle/>
          <a:p>
            <a:pPr algn="just"/>
            <a:r>
              <a:rPr lang="en-US" sz="3100" b="1" dirty="0" smtClean="0">
                <a:latin typeface="Arial" pitchFamily="34" charset="0"/>
                <a:cs typeface="Arial" pitchFamily="34" charset="0"/>
              </a:rPr>
              <a:t>3. </a:t>
            </a:r>
            <a:r>
              <a:rPr lang="en-US" sz="3200" b="1" dirty="0" smtClean="0">
                <a:solidFill>
                  <a:srgbClr val="FF0000"/>
                </a:solidFill>
                <a:latin typeface="Arial" pitchFamily="34" charset="0"/>
                <a:cs typeface="Arial" pitchFamily="34" charset="0"/>
              </a:rPr>
              <a:t>TRANSITIVE VERBS</a:t>
            </a:r>
            <a:r>
              <a:rPr lang="en-US" sz="3200" dirty="0" smtClean="0">
                <a:solidFill>
                  <a:srgbClr val="FF0000"/>
                </a:solidFill>
                <a:latin typeface="Arial" pitchFamily="34" charset="0"/>
                <a:cs typeface="Arial" pitchFamily="34" charset="0"/>
              </a:rPr>
              <a:t> </a:t>
            </a:r>
            <a:r>
              <a:rPr lang="en-US" sz="3100" dirty="0" smtClean="0">
                <a:latin typeface="Arial" pitchFamily="34" charset="0"/>
                <a:cs typeface="Arial" pitchFamily="34" charset="0"/>
              </a:rPr>
              <a:t>are </a:t>
            </a:r>
            <a:r>
              <a:rPr lang="en-US" sz="3100" dirty="0">
                <a:latin typeface="Arial" pitchFamily="34" charset="0"/>
                <a:cs typeface="Arial" pitchFamily="34" charset="0"/>
              </a:rPr>
              <a:t>those that need an object to receive the action. The objects could be nouns or pronouns that are direct receiver of the action</a:t>
            </a:r>
            <a:r>
              <a:rPr lang="en-US" sz="3100" dirty="0" smtClean="0">
                <a:latin typeface="Arial" pitchFamily="34" charset="0"/>
                <a:cs typeface="Arial" pitchFamily="34" charset="0"/>
              </a:rPr>
              <a:t>.</a:t>
            </a:r>
            <a:r>
              <a:rPr lang="en-US" sz="3100" dirty="0">
                <a:latin typeface="Arial" pitchFamily="34" charset="0"/>
                <a:cs typeface="Arial" pitchFamily="34" charset="0"/>
              </a:rPr>
              <a:t> </a:t>
            </a:r>
            <a:endParaRPr lang="en-PH" sz="3100" dirty="0">
              <a:latin typeface="Arial" pitchFamily="34" charset="0"/>
              <a:cs typeface="Arial" pitchFamily="34" charset="0"/>
            </a:endParaRPr>
          </a:p>
        </p:txBody>
      </p:sp>
      <p:pic>
        <p:nvPicPr>
          <p:cNvPr id="174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4601" t="38684" r="12984" b="41579"/>
          <a:stretch/>
        </p:blipFill>
        <p:spPr bwMode="auto">
          <a:xfrm>
            <a:off x="2484388" y="1581150"/>
            <a:ext cx="11962950" cy="2532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68164" y="4176976"/>
            <a:ext cx="15409712" cy="1538883"/>
          </a:xfrm>
          <a:prstGeom prst="rect">
            <a:avLst/>
          </a:prstGeom>
        </p:spPr>
        <p:txBody>
          <a:bodyPr wrap="square">
            <a:spAutoFit/>
          </a:bodyPr>
          <a:lstStyle/>
          <a:p>
            <a:pPr algn="just"/>
            <a:r>
              <a:rPr lang="en-US" b="1" dirty="0" smtClean="0">
                <a:latin typeface="Arial" pitchFamily="34" charset="0"/>
                <a:cs typeface="Arial" pitchFamily="34" charset="0"/>
              </a:rPr>
              <a:t>4</a:t>
            </a:r>
            <a:r>
              <a:rPr lang="en-US" sz="3100" b="1" dirty="0" smtClean="0">
                <a:latin typeface="Arial" pitchFamily="34" charset="0"/>
                <a:cs typeface="Arial" pitchFamily="34" charset="0"/>
              </a:rPr>
              <a:t>. </a:t>
            </a:r>
            <a:r>
              <a:rPr lang="en-US" sz="3200" b="1" dirty="0" smtClean="0">
                <a:solidFill>
                  <a:srgbClr val="FF0000"/>
                </a:solidFill>
                <a:latin typeface="Arial" pitchFamily="34" charset="0"/>
                <a:cs typeface="Arial" pitchFamily="34" charset="0"/>
              </a:rPr>
              <a:t>INTRANSITIVE VERBS </a:t>
            </a:r>
            <a:r>
              <a:rPr lang="en-US" sz="3100" dirty="0" smtClean="0">
                <a:latin typeface="Arial" pitchFamily="34" charset="0"/>
                <a:cs typeface="Arial" pitchFamily="34" charset="0"/>
              </a:rPr>
              <a:t>are </a:t>
            </a:r>
            <a:r>
              <a:rPr lang="en-US" sz="3100" dirty="0">
                <a:latin typeface="Arial" pitchFamily="34" charset="0"/>
                <a:cs typeface="Arial" pitchFamily="34" charset="0"/>
              </a:rPr>
              <a:t>those that do not need an object to receive the action. </a:t>
            </a:r>
            <a:r>
              <a:rPr lang="en-US" sz="3100" dirty="0" smtClean="0">
                <a:latin typeface="Arial" pitchFamily="34" charset="0"/>
                <a:cs typeface="Arial" pitchFamily="34" charset="0"/>
              </a:rPr>
              <a:t>A </a:t>
            </a:r>
            <a:r>
              <a:rPr lang="en-US" sz="3100" dirty="0">
                <a:latin typeface="Arial" pitchFamily="34" charset="0"/>
                <a:cs typeface="Arial" pitchFamily="34" charset="0"/>
              </a:rPr>
              <a:t>prepositional phrase may be added after the intransitive verb, which, when deleted, would not change the message of the sentence.</a:t>
            </a:r>
            <a:endParaRPr lang="en-PH" sz="3100" dirty="0">
              <a:latin typeface="Arial" pitchFamily="34" charset="0"/>
              <a:cs typeface="Arial" pitchFamily="34" charset="0"/>
            </a:endParaRPr>
          </a:p>
        </p:txBody>
      </p:sp>
      <p:pic>
        <p:nvPicPr>
          <p:cNvPr id="17413"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34564" t="37847" r="12728" b="39236"/>
          <a:stretch/>
        </p:blipFill>
        <p:spPr bwMode="auto">
          <a:xfrm>
            <a:off x="2527994" y="5782724"/>
            <a:ext cx="11693698" cy="2858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6798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7410"/>
                                        </p:tgtEl>
                                        <p:attrNameLst>
                                          <p:attrName>style.visibility</p:attrName>
                                        </p:attrNameLst>
                                      </p:cBhvr>
                                      <p:to>
                                        <p:strVal val="visible"/>
                                      </p:to>
                                    </p:set>
                                    <p:animEffect transition="in" filter="circle(in)">
                                      <p:cBhvr>
                                        <p:cTn id="14" dur="2000"/>
                                        <p:tgtEl>
                                          <p:spTgt spid="17410"/>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fade">
                                      <p:cBhvr>
                                        <p:cTn id="25"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42765" y="288256"/>
            <a:ext cx="15707119" cy="1061829"/>
          </a:xfrm>
          <a:prstGeom prst="rect">
            <a:avLst/>
          </a:prstGeom>
        </p:spPr>
        <p:txBody>
          <a:bodyPr wrap="square">
            <a:spAutoFit/>
          </a:bodyPr>
          <a:lstStyle/>
          <a:p>
            <a:pPr algn="just"/>
            <a:r>
              <a:rPr lang="en-US" sz="3200" b="1" dirty="0" smtClean="0">
                <a:latin typeface="Arial" pitchFamily="34" charset="0"/>
                <a:cs typeface="Arial" pitchFamily="34" charset="0"/>
              </a:rPr>
              <a:t>5.</a:t>
            </a:r>
            <a:r>
              <a:rPr lang="en-US" sz="3200" b="1" dirty="0" smtClean="0">
                <a:solidFill>
                  <a:srgbClr val="FF0000"/>
                </a:solidFill>
                <a:latin typeface="Arial" pitchFamily="34" charset="0"/>
                <a:cs typeface="Arial" pitchFamily="34" charset="0"/>
              </a:rPr>
              <a:t> DITRANSITIVE VERBS</a:t>
            </a:r>
            <a:r>
              <a:rPr lang="en-US" sz="3200" dirty="0" smtClean="0">
                <a:solidFill>
                  <a:srgbClr val="FF0000"/>
                </a:solidFill>
                <a:latin typeface="Arial" pitchFamily="34" charset="0"/>
                <a:cs typeface="Arial" pitchFamily="34" charset="0"/>
              </a:rPr>
              <a:t> </a:t>
            </a:r>
            <a:r>
              <a:rPr lang="en-US" sz="3100" dirty="0" smtClean="0">
                <a:latin typeface="Arial" pitchFamily="34" charset="0"/>
                <a:cs typeface="Arial" pitchFamily="34" charset="0"/>
              </a:rPr>
              <a:t>are verbs that allow two objects such as nouns and pronouns to complete the meaning.</a:t>
            </a:r>
            <a:endParaRPr lang="en-PH" sz="3100" dirty="0">
              <a:latin typeface="Arial" pitchFamily="34" charset="0"/>
              <a:cs typeface="Arial" pitchFamily="34" charset="0"/>
            </a:endParaRPr>
          </a:p>
        </p:txBody>
      </p:sp>
      <p:pic>
        <p:nvPicPr>
          <p:cNvPr id="1843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4297" t="39931" r="9919" b="38194"/>
          <a:stretch/>
        </p:blipFill>
        <p:spPr bwMode="auto">
          <a:xfrm>
            <a:off x="1764309" y="1368376"/>
            <a:ext cx="13321480" cy="2937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52140" y="4268148"/>
            <a:ext cx="15697744" cy="1046440"/>
          </a:xfrm>
          <a:prstGeom prst="rect">
            <a:avLst/>
          </a:prstGeom>
        </p:spPr>
        <p:txBody>
          <a:bodyPr wrap="square">
            <a:spAutoFit/>
          </a:bodyPr>
          <a:lstStyle/>
          <a:p>
            <a:pPr algn="just"/>
            <a:r>
              <a:rPr lang="en-US" sz="3100" b="1" dirty="0" smtClean="0">
                <a:latin typeface="Arial" pitchFamily="34" charset="0"/>
                <a:cs typeface="Arial" pitchFamily="34" charset="0"/>
              </a:rPr>
              <a:t>6. </a:t>
            </a:r>
            <a:r>
              <a:rPr lang="en-US" sz="3100" b="1" dirty="0" smtClean="0">
                <a:solidFill>
                  <a:srgbClr val="FF0000"/>
                </a:solidFill>
                <a:latin typeface="Arial" pitchFamily="34" charset="0"/>
                <a:cs typeface="Arial" pitchFamily="34" charset="0"/>
              </a:rPr>
              <a:t>ERGATIVE VERBS</a:t>
            </a:r>
            <a:r>
              <a:rPr lang="en-US" sz="3100" dirty="0" smtClean="0">
                <a:solidFill>
                  <a:srgbClr val="FF0000"/>
                </a:solidFill>
                <a:latin typeface="Arial" pitchFamily="34" charset="0"/>
                <a:cs typeface="Arial" pitchFamily="34" charset="0"/>
              </a:rPr>
              <a:t> </a:t>
            </a:r>
            <a:r>
              <a:rPr lang="en-US" sz="3100" dirty="0" smtClean="0">
                <a:latin typeface="Arial" pitchFamily="34" charset="0"/>
                <a:cs typeface="Arial" pitchFamily="34" charset="0"/>
              </a:rPr>
              <a:t>are </a:t>
            </a:r>
            <a:r>
              <a:rPr lang="en-US" sz="3100" dirty="0">
                <a:latin typeface="Arial" pitchFamily="34" charset="0"/>
                <a:cs typeface="Arial" pitchFamily="34" charset="0"/>
              </a:rPr>
              <a:t>verbs that may or may not require object nouns and pronouns to complete the message. </a:t>
            </a:r>
            <a:r>
              <a:rPr lang="en-US" dirty="0"/>
              <a:t> </a:t>
            </a:r>
            <a:endParaRPr lang="en-PH" dirty="0"/>
          </a:p>
        </p:txBody>
      </p:sp>
      <p:pic>
        <p:nvPicPr>
          <p:cNvPr id="1843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4590" t="52220" r="12848" b="30382"/>
          <a:stretch/>
        </p:blipFill>
        <p:spPr bwMode="auto">
          <a:xfrm>
            <a:off x="1764309" y="5544098"/>
            <a:ext cx="13880173" cy="2583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336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434"/>
                                        </p:tgtEl>
                                        <p:attrNameLst>
                                          <p:attrName>style.visibility</p:attrName>
                                        </p:attrNameLst>
                                      </p:cBhvr>
                                      <p:to>
                                        <p:strVal val="visible"/>
                                      </p:to>
                                    </p:set>
                                    <p:animEffect transition="in" filter="barn(inVertical)">
                                      <p:cBhvr>
                                        <p:cTn id="12" dur="500"/>
                                        <p:tgtEl>
                                          <p:spTgt spid="1843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8435"/>
                                        </p:tgtEl>
                                        <p:attrNameLst>
                                          <p:attrName>style.visibility</p:attrName>
                                        </p:attrNameLst>
                                      </p:cBhvr>
                                      <p:to>
                                        <p:strVal val="visible"/>
                                      </p:to>
                                    </p:set>
                                    <p:animEffect transition="in" filter="fade">
                                      <p:cBhvr>
                                        <p:cTn id="24" dur="50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396156" y="529812"/>
            <a:ext cx="15337704" cy="1523494"/>
          </a:xfrm>
          <a:prstGeom prst="rect">
            <a:avLst/>
          </a:prstGeom>
        </p:spPr>
        <p:txBody>
          <a:bodyPr wrap="square">
            <a:spAutoFit/>
          </a:bodyPr>
          <a:lstStyle/>
          <a:p>
            <a:pPr algn="just"/>
            <a:r>
              <a:rPr lang="en-US" sz="3100" b="1" dirty="0" smtClean="0">
                <a:latin typeface="Arial" pitchFamily="34" charset="0"/>
                <a:cs typeface="Arial" pitchFamily="34" charset="0"/>
              </a:rPr>
              <a:t>7. </a:t>
            </a:r>
            <a:r>
              <a:rPr lang="en-US" sz="3100" b="1" dirty="0" smtClean="0">
                <a:solidFill>
                  <a:srgbClr val="FF0000"/>
                </a:solidFill>
                <a:latin typeface="Arial" pitchFamily="34" charset="0"/>
                <a:cs typeface="Arial" pitchFamily="34" charset="0"/>
              </a:rPr>
              <a:t>PREPOSITIONAL VERBS</a:t>
            </a:r>
            <a:r>
              <a:rPr lang="en-US" sz="3100" dirty="0" smtClean="0">
                <a:solidFill>
                  <a:srgbClr val="FF0000"/>
                </a:solidFill>
                <a:latin typeface="Arial" pitchFamily="34" charset="0"/>
                <a:cs typeface="Arial" pitchFamily="34" charset="0"/>
              </a:rPr>
              <a:t> </a:t>
            </a:r>
            <a:r>
              <a:rPr lang="en-US" sz="3100" dirty="0" smtClean="0">
                <a:latin typeface="Arial" pitchFamily="34" charset="0"/>
                <a:cs typeface="Arial" pitchFamily="34" charset="0"/>
              </a:rPr>
              <a:t>are </a:t>
            </a:r>
            <a:r>
              <a:rPr lang="en-US" sz="3100" dirty="0">
                <a:latin typeface="Arial" pitchFamily="34" charset="0"/>
                <a:cs typeface="Arial" pitchFamily="34" charset="0"/>
              </a:rPr>
              <a:t>verbs that need prepositions to complete the ideas. This includes verb-preposition combinations. Verb-preposition combination may form phrasal verbs and idioms.</a:t>
            </a:r>
            <a:endParaRPr lang="en-PH" sz="3100" dirty="0">
              <a:latin typeface="Arial" pitchFamily="34" charset="0"/>
              <a:cs typeface="Arial" pitchFamily="34" charset="0"/>
            </a:endParaRPr>
          </a:p>
        </p:txBody>
      </p:sp>
      <p:pic>
        <p:nvPicPr>
          <p:cNvPr id="1945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4735" t="59201" r="12409" b="18403"/>
          <a:stretch/>
        </p:blipFill>
        <p:spPr bwMode="auto">
          <a:xfrm>
            <a:off x="1260252" y="2546036"/>
            <a:ext cx="14401600" cy="3430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1416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9"/>
                                        </p:tgtEl>
                                        <p:attrNameLst>
                                          <p:attrName>style.visibility</p:attrName>
                                        </p:attrNameLst>
                                      </p:cBhvr>
                                      <p:to>
                                        <p:strVal val="visible"/>
                                      </p:to>
                                    </p:set>
                                    <p:animEffect transition="in" filter="wipe(down)">
                                      <p:cBhvr>
                                        <p:cTn id="12" dur="5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52140" y="1152352"/>
            <a:ext cx="3528391" cy="1200329"/>
          </a:xfrm>
          <a:prstGeom prst="rect">
            <a:avLst/>
          </a:prstGeom>
        </p:spPr>
        <p:txBody>
          <a:bodyPr wrap="square">
            <a:spAutoFit/>
          </a:bodyPr>
          <a:lstStyle/>
          <a:p>
            <a:r>
              <a:rPr lang="en-US" sz="3600" b="1" dirty="0">
                <a:latin typeface="Arial" pitchFamily="34" charset="0"/>
                <a:cs typeface="Arial" pitchFamily="34" charset="0"/>
              </a:rPr>
              <a:t>B. Structures of Modification</a:t>
            </a:r>
            <a:endParaRPr lang="en-PH" sz="3600" dirty="0">
              <a:latin typeface="Arial" pitchFamily="34" charset="0"/>
              <a:cs typeface="Arial" pitchFamily="34" charset="0"/>
            </a:endParaRPr>
          </a:p>
        </p:txBody>
      </p:sp>
      <p:sp>
        <p:nvSpPr>
          <p:cNvPr id="6" name="Rectangle 5"/>
          <p:cNvSpPr/>
          <p:nvPr/>
        </p:nvSpPr>
        <p:spPr>
          <a:xfrm>
            <a:off x="3789907" y="360264"/>
            <a:ext cx="12159977" cy="2323713"/>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just"/>
            <a:r>
              <a:rPr lang="en-US" dirty="0">
                <a:latin typeface="Arial" pitchFamily="34" charset="0"/>
                <a:cs typeface="Arial" pitchFamily="34" charset="0"/>
              </a:rPr>
              <a:t>Modification is the use of words or phrases to show further information or description about a thing, a person, a place, an action, or any quality being labeled. </a:t>
            </a:r>
            <a:r>
              <a:rPr lang="en-US" dirty="0" smtClean="0">
                <a:latin typeface="Arial" pitchFamily="34" charset="0"/>
                <a:cs typeface="Arial" pitchFamily="34" charset="0"/>
              </a:rPr>
              <a:t>The </a:t>
            </a:r>
            <a:r>
              <a:rPr lang="en-US" dirty="0">
                <a:latin typeface="Arial" pitchFamily="34" charset="0"/>
                <a:cs typeface="Arial" pitchFamily="34" charset="0"/>
              </a:rPr>
              <a:t>element of higher significance in the sentence is called the head, while the accompanying element is called the modifier. These make up the </a:t>
            </a:r>
            <a:r>
              <a:rPr lang="en-US" b="1" dirty="0">
                <a:latin typeface="Arial" pitchFamily="34" charset="0"/>
                <a:cs typeface="Arial" pitchFamily="34" charset="0"/>
              </a:rPr>
              <a:t>structure of modification.</a:t>
            </a:r>
            <a:endParaRPr lang="en-PH" dirty="0">
              <a:latin typeface="Arial" pitchFamily="34" charset="0"/>
              <a:cs typeface="Arial" pitchFamily="34" charset="0"/>
            </a:endParaRPr>
          </a:p>
        </p:txBody>
      </p:sp>
      <p:pic>
        <p:nvPicPr>
          <p:cNvPr id="2048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245" t="37326" r="10652" b="25174"/>
          <a:stretch/>
        </p:blipFill>
        <p:spPr bwMode="auto">
          <a:xfrm>
            <a:off x="1332260" y="3210744"/>
            <a:ext cx="14371281" cy="4801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773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0482"/>
                                        </p:tgtEl>
                                        <p:attrNameLst>
                                          <p:attrName>style.visibility</p:attrName>
                                        </p:attrNameLst>
                                      </p:cBhvr>
                                      <p:to>
                                        <p:strVal val="visible"/>
                                      </p:to>
                                    </p:set>
                                    <p:anim calcmode="lin" valueType="num">
                                      <p:cBhvr additive="base">
                                        <p:cTn id="18" dur="500" fill="hold"/>
                                        <p:tgtEl>
                                          <p:spTgt spid="20482"/>
                                        </p:tgtEl>
                                        <p:attrNameLst>
                                          <p:attrName>ppt_x</p:attrName>
                                        </p:attrNameLst>
                                      </p:cBhvr>
                                      <p:tavLst>
                                        <p:tav tm="0">
                                          <p:val>
                                            <p:strVal val="#ppt_x"/>
                                          </p:val>
                                        </p:tav>
                                        <p:tav tm="100000">
                                          <p:val>
                                            <p:strVal val="#ppt_x"/>
                                          </p:val>
                                        </p:tav>
                                      </p:tavLst>
                                    </p:anim>
                                    <p:anim calcmode="lin" valueType="num">
                                      <p:cBhvr additive="base">
                                        <p:cTn id="19"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1044228" y="720304"/>
            <a:ext cx="14617624" cy="1046440"/>
          </a:xfrm>
          <a:prstGeom prst="rect">
            <a:avLst/>
          </a:prstGeom>
        </p:spPr>
        <p:txBody>
          <a:bodyPr wrap="square">
            <a:spAutoFit/>
          </a:bodyPr>
          <a:lstStyle/>
          <a:p>
            <a:pPr algn="just"/>
            <a:r>
              <a:rPr lang="en-US" sz="3100" dirty="0">
                <a:latin typeface="Arial" pitchFamily="34" charset="0"/>
                <a:cs typeface="Arial" pitchFamily="34" charset="0"/>
              </a:rPr>
              <a:t>Adjective modifiers may come in series, where words of different grammatical labels have one grammatical function: adjective modifying a noun.</a:t>
            </a:r>
            <a:endParaRPr lang="en-PH" sz="3100" dirty="0">
              <a:latin typeface="Arial" pitchFamily="34" charset="0"/>
              <a:cs typeface="Arial" pitchFamily="34" charset="0"/>
            </a:endParaRPr>
          </a:p>
        </p:txBody>
      </p:sp>
      <p:sp>
        <p:nvSpPr>
          <p:cNvPr id="6" name="Rectangle 5"/>
          <p:cNvSpPr/>
          <p:nvPr/>
        </p:nvSpPr>
        <p:spPr>
          <a:xfrm>
            <a:off x="2124348" y="2016448"/>
            <a:ext cx="13105456"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457200" lvl="0" indent="-457200">
              <a:buFont typeface="Wingdings" pitchFamily="2" charset="2"/>
              <a:buChar char="§"/>
            </a:pPr>
            <a:r>
              <a:rPr lang="en-US" sz="3000" i="1" dirty="0">
                <a:latin typeface="Times New Roman" pitchFamily="18" charset="0"/>
                <a:cs typeface="Times New Roman" pitchFamily="18" charset="0"/>
              </a:rPr>
              <a:t>these four little ginger</a:t>
            </a:r>
            <a:r>
              <a:rPr lang="en-US" sz="3000" dirty="0">
                <a:latin typeface="Times New Roman" pitchFamily="18" charset="0"/>
                <a:cs typeface="Times New Roman" pitchFamily="18" charset="0"/>
              </a:rPr>
              <a:t> </a:t>
            </a:r>
            <a:r>
              <a:rPr lang="en-US" sz="3000" u="sng" dirty="0" smtClean="0">
                <a:latin typeface="Times New Roman" pitchFamily="18" charset="0"/>
                <a:cs typeface="Times New Roman" pitchFamily="18" charset="0"/>
              </a:rPr>
              <a:t>kittens</a:t>
            </a:r>
            <a:r>
              <a:rPr lang="en-US" sz="3000"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  </a:t>
            </a:r>
            <a:r>
              <a:rPr lang="en-US" sz="3000" dirty="0">
                <a:latin typeface="Times New Roman" pitchFamily="18" charset="0"/>
                <a:cs typeface="Times New Roman" pitchFamily="18" charset="0"/>
              </a:rPr>
              <a:t>(</a:t>
            </a:r>
            <a:r>
              <a:rPr lang="en-US" sz="3000" i="1" dirty="0">
                <a:latin typeface="Times New Roman" pitchFamily="18" charset="0"/>
                <a:cs typeface="Times New Roman" pitchFamily="18" charset="0"/>
              </a:rPr>
              <a:t>pronoun, number, size, color + noun)</a:t>
            </a:r>
            <a:endParaRPr lang="en-PH" sz="3000" dirty="0">
              <a:latin typeface="Times New Roman" pitchFamily="18" charset="0"/>
              <a:cs typeface="Times New Roman" pitchFamily="18" charset="0"/>
            </a:endParaRPr>
          </a:p>
          <a:p>
            <a:pPr marL="457200" lvl="0" indent="-457200">
              <a:buFont typeface="Wingdings" pitchFamily="2" charset="2"/>
              <a:buChar char="§"/>
            </a:pPr>
            <a:r>
              <a:rPr lang="en-US" sz="3000" i="1" dirty="0">
                <a:latin typeface="Times New Roman" pitchFamily="18" charset="0"/>
                <a:cs typeface="Times New Roman" pitchFamily="18" charset="0"/>
              </a:rPr>
              <a:t>the first three eager </a:t>
            </a:r>
            <a:r>
              <a:rPr lang="en-US" sz="3000" u="sng" dirty="0">
                <a:latin typeface="Times New Roman" pitchFamily="18" charset="0"/>
                <a:cs typeface="Times New Roman" pitchFamily="18" charset="0"/>
              </a:rPr>
              <a:t>applicants</a:t>
            </a:r>
            <a:r>
              <a:rPr lang="en-US" sz="3000"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	   </a:t>
            </a:r>
            <a:r>
              <a:rPr lang="en-US" sz="3000" dirty="0">
                <a:latin typeface="Times New Roman" pitchFamily="18" charset="0"/>
                <a:cs typeface="Times New Roman" pitchFamily="18" charset="0"/>
              </a:rPr>
              <a:t>(</a:t>
            </a:r>
            <a:r>
              <a:rPr lang="en-US" sz="3000" i="1" dirty="0">
                <a:latin typeface="Times New Roman" pitchFamily="18" charset="0"/>
                <a:cs typeface="Times New Roman" pitchFamily="18" charset="0"/>
              </a:rPr>
              <a:t>article, ordinal, cardinal, quality + noun)</a:t>
            </a:r>
            <a:endParaRPr lang="en-PH" sz="3000" dirty="0">
              <a:latin typeface="Times New Roman" pitchFamily="18" charset="0"/>
              <a:cs typeface="Times New Roman" pitchFamily="18" charset="0"/>
            </a:endParaRPr>
          </a:p>
          <a:p>
            <a:pPr marL="457200" lvl="0" indent="-457200">
              <a:buFont typeface="Wingdings" pitchFamily="2" charset="2"/>
              <a:buChar char="§"/>
            </a:pPr>
            <a:r>
              <a:rPr lang="en-US" sz="3000" i="1" dirty="0">
                <a:latin typeface="Times New Roman" pitchFamily="18" charset="0"/>
                <a:cs typeface="Times New Roman" pitchFamily="18" charset="0"/>
              </a:rPr>
              <a:t>a cheap black plastic  </a:t>
            </a:r>
            <a:r>
              <a:rPr lang="en-US" sz="3000" u="sng" dirty="0">
                <a:latin typeface="Times New Roman" pitchFamily="18" charset="0"/>
                <a:cs typeface="Times New Roman" pitchFamily="18" charset="0"/>
              </a:rPr>
              <a:t>bag</a:t>
            </a:r>
            <a:r>
              <a:rPr lang="en-US" sz="3000" i="1" dirty="0">
                <a:latin typeface="Times New Roman" pitchFamily="18" charset="0"/>
                <a:cs typeface="Times New Roman" pitchFamily="18" charset="0"/>
              </a:rPr>
              <a:t> 	</a:t>
            </a:r>
            <a:r>
              <a:rPr lang="en-US" sz="3000" i="1" dirty="0" smtClean="0">
                <a:latin typeface="Times New Roman" pitchFamily="18" charset="0"/>
                <a:cs typeface="Times New Roman" pitchFamily="18" charset="0"/>
              </a:rPr>
              <a:t>   (</a:t>
            </a:r>
            <a:r>
              <a:rPr lang="en-US" sz="3000" i="1" dirty="0">
                <a:latin typeface="Times New Roman" pitchFamily="18" charset="0"/>
                <a:cs typeface="Times New Roman" pitchFamily="18" charset="0"/>
              </a:rPr>
              <a:t>article, cost, color, material + noun</a:t>
            </a:r>
            <a:r>
              <a:rPr lang="en-US" sz="3000" i="1" dirty="0" smtClean="0">
                <a:latin typeface="Times New Roman" pitchFamily="18" charset="0"/>
                <a:cs typeface="Times New Roman" pitchFamily="18" charset="0"/>
              </a:rPr>
              <a:t>)</a:t>
            </a:r>
            <a:r>
              <a:rPr lang="en-US" sz="3000" i="1" dirty="0">
                <a:latin typeface="Times New Roman" pitchFamily="18" charset="0"/>
                <a:cs typeface="Times New Roman" pitchFamily="18" charset="0"/>
              </a:rPr>
              <a:t> </a:t>
            </a:r>
            <a:endParaRPr lang="en-PH" sz="3000" dirty="0">
              <a:latin typeface="Times New Roman" pitchFamily="18" charset="0"/>
              <a:cs typeface="Times New Roman" pitchFamily="18" charset="0"/>
            </a:endParaRPr>
          </a:p>
        </p:txBody>
      </p:sp>
      <p:sp>
        <p:nvSpPr>
          <p:cNvPr id="7" name="Rectangle 6"/>
          <p:cNvSpPr/>
          <p:nvPr/>
        </p:nvSpPr>
        <p:spPr>
          <a:xfrm>
            <a:off x="1188244" y="3923496"/>
            <a:ext cx="14401600" cy="1523494"/>
          </a:xfrm>
          <a:prstGeom prst="rect">
            <a:avLst/>
          </a:prstGeom>
        </p:spPr>
        <p:txBody>
          <a:bodyPr wrap="square">
            <a:spAutoFit/>
          </a:bodyPr>
          <a:lstStyle/>
          <a:p>
            <a:pPr algn="just"/>
            <a:r>
              <a:rPr lang="en-US" sz="3100" dirty="0">
                <a:latin typeface="Arial" pitchFamily="34" charset="0"/>
                <a:cs typeface="Arial" pitchFamily="34" charset="0"/>
              </a:rPr>
              <a:t>Nouns and verbs are usually the head of the phrase, but not at all times. The head also includes other grammatical categories such as adjective as head, and adverb and preposition as a head.</a:t>
            </a:r>
            <a:endParaRPr lang="en-PH" sz="3100" dirty="0">
              <a:latin typeface="Arial" pitchFamily="34" charset="0"/>
              <a:cs typeface="Arial" pitchFamily="34" charset="0"/>
            </a:endParaRPr>
          </a:p>
        </p:txBody>
      </p:sp>
      <p:sp>
        <p:nvSpPr>
          <p:cNvPr id="8" name="Rectangle 7"/>
          <p:cNvSpPr/>
          <p:nvPr/>
        </p:nvSpPr>
        <p:spPr>
          <a:xfrm>
            <a:off x="2053332" y="5507672"/>
            <a:ext cx="13104464"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457200" lvl="0" indent="-457200">
              <a:buFont typeface="Wingdings" pitchFamily="2" charset="2"/>
              <a:buChar char="§"/>
            </a:pPr>
            <a:r>
              <a:rPr lang="en-US" sz="3000" dirty="0">
                <a:latin typeface="Times New Roman" pitchFamily="18" charset="0"/>
                <a:cs typeface="Times New Roman" pitchFamily="18" charset="0"/>
              </a:rPr>
              <a:t>I am </a:t>
            </a:r>
            <a:r>
              <a:rPr lang="en-US" sz="3000" i="1" dirty="0">
                <a:latin typeface="Times New Roman" pitchFamily="18" charset="0"/>
                <a:cs typeface="Times New Roman" pitchFamily="18" charset="0"/>
              </a:rPr>
              <a:t>so</a:t>
            </a:r>
            <a:r>
              <a:rPr lang="en-US" sz="3000" dirty="0">
                <a:latin typeface="Times New Roman" pitchFamily="18" charset="0"/>
                <a:cs typeface="Times New Roman" pitchFamily="18" charset="0"/>
              </a:rPr>
              <a:t> </a:t>
            </a:r>
            <a:r>
              <a:rPr lang="en-US" sz="3000" u="sng" dirty="0">
                <a:latin typeface="Times New Roman" pitchFamily="18" charset="0"/>
                <a:cs typeface="Times New Roman" pitchFamily="18" charset="0"/>
              </a:rPr>
              <a:t>happy</a:t>
            </a:r>
            <a:r>
              <a:rPr lang="en-US" sz="3000" dirty="0">
                <a:latin typeface="Times New Roman" pitchFamily="18" charset="0"/>
                <a:cs typeface="Times New Roman" pitchFamily="18" charset="0"/>
              </a:rPr>
              <a:t> to see you. 		</a:t>
            </a:r>
            <a:r>
              <a:rPr lang="en-US" sz="3000" i="1" dirty="0" smtClean="0">
                <a:latin typeface="Times New Roman" pitchFamily="18" charset="0"/>
                <a:cs typeface="Times New Roman" pitchFamily="18" charset="0"/>
              </a:rPr>
              <a:t>(</a:t>
            </a:r>
            <a:r>
              <a:rPr lang="en-US" sz="3000" i="1" dirty="0">
                <a:latin typeface="Times New Roman" pitchFamily="18" charset="0"/>
                <a:cs typeface="Times New Roman" pitchFamily="18" charset="0"/>
              </a:rPr>
              <a:t>adjective head)</a:t>
            </a:r>
            <a:endParaRPr lang="en-PH" sz="3000" i="1" dirty="0">
              <a:latin typeface="Times New Roman" pitchFamily="18" charset="0"/>
              <a:cs typeface="Times New Roman" pitchFamily="18" charset="0"/>
            </a:endParaRPr>
          </a:p>
          <a:p>
            <a:pPr marL="457200" lvl="0" indent="-457200">
              <a:buFont typeface="Wingdings" pitchFamily="2" charset="2"/>
              <a:buChar char="§"/>
            </a:pPr>
            <a:r>
              <a:rPr lang="en-US" sz="3000" dirty="0">
                <a:latin typeface="Times New Roman" pitchFamily="18" charset="0"/>
                <a:cs typeface="Times New Roman" pitchFamily="18" charset="0"/>
              </a:rPr>
              <a:t>I would like to see you </a:t>
            </a:r>
            <a:r>
              <a:rPr lang="en-US" sz="3000" i="1" dirty="0">
                <a:latin typeface="Times New Roman" pitchFamily="18" charset="0"/>
                <a:cs typeface="Times New Roman" pitchFamily="18" charset="0"/>
              </a:rPr>
              <a:t>very</a:t>
            </a:r>
            <a:r>
              <a:rPr lang="en-US" sz="3000" dirty="0">
                <a:latin typeface="Times New Roman" pitchFamily="18" charset="0"/>
                <a:cs typeface="Times New Roman" pitchFamily="18" charset="0"/>
              </a:rPr>
              <a:t> </a:t>
            </a:r>
            <a:r>
              <a:rPr lang="en-US" sz="3000" u="sng" dirty="0">
                <a:latin typeface="Times New Roman" pitchFamily="18" charset="0"/>
                <a:cs typeface="Times New Roman" pitchFamily="18" charset="0"/>
              </a:rPr>
              <a:t>soon</a:t>
            </a:r>
            <a:r>
              <a:rPr lang="en-US" sz="3000"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	</a:t>
            </a:r>
            <a:r>
              <a:rPr lang="en-US" sz="3000" i="1" dirty="0" smtClean="0">
                <a:latin typeface="Times New Roman" pitchFamily="18" charset="0"/>
                <a:cs typeface="Times New Roman" pitchFamily="18" charset="0"/>
              </a:rPr>
              <a:t>(</a:t>
            </a:r>
            <a:r>
              <a:rPr lang="en-US" sz="3000" i="1" dirty="0">
                <a:latin typeface="Times New Roman" pitchFamily="18" charset="0"/>
                <a:cs typeface="Times New Roman" pitchFamily="18" charset="0"/>
              </a:rPr>
              <a:t>adverb head)</a:t>
            </a:r>
            <a:endParaRPr lang="en-PH" sz="3000" i="1" dirty="0">
              <a:latin typeface="Times New Roman" pitchFamily="18" charset="0"/>
              <a:cs typeface="Times New Roman" pitchFamily="18" charset="0"/>
            </a:endParaRPr>
          </a:p>
          <a:p>
            <a:pPr marL="457200" lvl="0" indent="-457200">
              <a:buFont typeface="Wingdings" pitchFamily="2" charset="2"/>
              <a:buChar char="§"/>
            </a:pPr>
            <a:r>
              <a:rPr lang="en-US" sz="3000" dirty="0">
                <a:latin typeface="Times New Roman" pitchFamily="18" charset="0"/>
                <a:cs typeface="Times New Roman" pitchFamily="18" charset="0"/>
              </a:rPr>
              <a:t>I dropped it </a:t>
            </a:r>
            <a:r>
              <a:rPr lang="en-US" sz="3000" i="1" dirty="0">
                <a:latin typeface="Times New Roman" pitchFamily="18" charset="0"/>
                <a:cs typeface="Times New Roman" pitchFamily="18" charset="0"/>
              </a:rPr>
              <a:t>straight</a:t>
            </a:r>
            <a:r>
              <a:rPr lang="en-US" sz="3000" dirty="0">
                <a:latin typeface="Times New Roman" pitchFamily="18" charset="0"/>
                <a:cs typeface="Times New Roman" pitchFamily="18" charset="0"/>
              </a:rPr>
              <a:t> </a:t>
            </a:r>
            <a:r>
              <a:rPr lang="en-US" sz="3000" u="sng" dirty="0">
                <a:latin typeface="Times New Roman" pitchFamily="18" charset="0"/>
                <a:cs typeface="Times New Roman" pitchFamily="18" charset="0"/>
              </a:rPr>
              <a:t>down the drain.</a:t>
            </a:r>
            <a:r>
              <a:rPr lang="en-US" sz="3000" dirty="0">
                <a:latin typeface="Times New Roman" pitchFamily="18" charset="0"/>
                <a:cs typeface="Times New Roman" pitchFamily="18" charset="0"/>
              </a:rPr>
              <a:t> 	</a:t>
            </a:r>
            <a:r>
              <a:rPr lang="en-US" sz="3000" i="1" dirty="0">
                <a:latin typeface="Times New Roman" pitchFamily="18" charset="0"/>
                <a:cs typeface="Times New Roman" pitchFamily="18" charset="0"/>
              </a:rPr>
              <a:t>(preposition as head)</a:t>
            </a:r>
            <a:endParaRPr lang="en-PH" sz="3000" i="1" dirty="0">
              <a:latin typeface="Times New Roman" pitchFamily="18" charset="0"/>
              <a:cs typeface="Times New Roman" pitchFamily="18" charset="0"/>
            </a:endParaRPr>
          </a:p>
        </p:txBody>
      </p:sp>
    </p:spTree>
    <p:extLst>
      <p:ext uri="{BB962C8B-B14F-4D97-AF65-F5344CB8AC3E}">
        <p14:creationId xmlns:p14="http://schemas.microsoft.com/office/powerpoint/2010/main" val="196261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15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928" t="34722" r="9772" b="15798"/>
          <a:stretch/>
        </p:blipFill>
        <p:spPr bwMode="auto">
          <a:xfrm>
            <a:off x="518263" y="1204565"/>
            <a:ext cx="14927565" cy="6716539"/>
          </a:xfrm>
          <a:prstGeom prst="rect">
            <a:avLst/>
          </a:prstGeom>
          <a:ln/>
        </p:spPr>
        <p:style>
          <a:lnRef idx="1">
            <a:schemeClr val="accent1"/>
          </a:lnRef>
          <a:fillRef idx="3">
            <a:schemeClr val="accent1"/>
          </a:fillRef>
          <a:effectRef idx="2">
            <a:schemeClr val="accent1"/>
          </a:effectRef>
          <a:fontRef idx="minor">
            <a:schemeClr val="lt1"/>
          </a:fontRef>
        </p:style>
      </p:pic>
      <p:sp>
        <p:nvSpPr>
          <p:cNvPr id="7" name="TextBox 6"/>
          <p:cNvSpPr txBox="1"/>
          <p:nvPr/>
        </p:nvSpPr>
        <p:spPr>
          <a:xfrm>
            <a:off x="9613180" y="576288"/>
            <a:ext cx="6095708" cy="569387"/>
          </a:xfrm>
          <a:prstGeom prst="rect">
            <a:avLst/>
          </a:prstGeom>
          <a:noFill/>
        </p:spPr>
        <p:txBody>
          <a:bodyPr wrap="none" rtlCol="0">
            <a:spAutoFit/>
          </a:bodyPr>
          <a:lstStyle/>
          <a:p>
            <a:r>
              <a:rPr lang="en-PH" sz="3100" b="1" dirty="0" smtClean="0">
                <a:solidFill>
                  <a:srgbClr val="002060"/>
                </a:solidFill>
                <a:latin typeface="Times New Roman" pitchFamily="18" charset="0"/>
                <a:cs typeface="Times New Roman" pitchFamily="18" charset="0"/>
              </a:rPr>
              <a:t>SUMMARY OF MODIFICATION</a:t>
            </a:r>
            <a:endParaRPr lang="en-PH" sz="31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008294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1506"/>
                                        </p:tgtEl>
                                        <p:attrNameLst>
                                          <p:attrName>style.visibility</p:attrName>
                                        </p:attrNameLst>
                                      </p:cBhvr>
                                      <p:to>
                                        <p:strVal val="visible"/>
                                      </p:to>
                                    </p:set>
                                    <p:animEffect transition="in" filter="fade">
                                      <p:cBhvr>
                                        <p:cTn id="12" dur="1000"/>
                                        <p:tgtEl>
                                          <p:spTgt spid="21506"/>
                                        </p:tgtEl>
                                      </p:cBhvr>
                                    </p:animEffect>
                                    <p:anim calcmode="lin" valueType="num">
                                      <p:cBhvr>
                                        <p:cTn id="13" dur="1000" fill="hold"/>
                                        <p:tgtEl>
                                          <p:spTgt spid="21506"/>
                                        </p:tgtEl>
                                        <p:attrNameLst>
                                          <p:attrName>ppt_x</p:attrName>
                                        </p:attrNameLst>
                                      </p:cBhvr>
                                      <p:tavLst>
                                        <p:tav tm="0">
                                          <p:val>
                                            <p:strVal val="#ppt_x"/>
                                          </p:val>
                                        </p:tav>
                                        <p:tav tm="100000">
                                          <p:val>
                                            <p:strVal val="#ppt_x"/>
                                          </p:val>
                                        </p:tav>
                                      </p:tavLst>
                                    </p:anim>
                                    <p:anim calcmode="lin" valueType="num">
                                      <p:cBhvr>
                                        <p:cTn id="14" dur="1000" fill="hold"/>
                                        <p:tgtEl>
                                          <p:spTgt spid="215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569176"/>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52140" y="792312"/>
            <a:ext cx="3647152" cy="646331"/>
          </a:xfrm>
          <a:prstGeom prst="rect">
            <a:avLst/>
          </a:prstGeom>
        </p:spPr>
        <p:txBody>
          <a:bodyPr wrap="none">
            <a:spAutoFit/>
          </a:bodyPr>
          <a:lstStyle/>
          <a:p>
            <a:r>
              <a:rPr lang="en-US" sz="3600" b="1" dirty="0">
                <a:latin typeface="Arial" pitchFamily="34" charset="0"/>
                <a:cs typeface="Arial" pitchFamily="34" charset="0"/>
              </a:rPr>
              <a:t>C. Coordination</a:t>
            </a:r>
            <a:endParaRPr lang="en-PH" sz="3600" dirty="0">
              <a:latin typeface="Arial" pitchFamily="34" charset="0"/>
              <a:cs typeface="Arial" pitchFamily="34" charset="0"/>
            </a:endParaRPr>
          </a:p>
        </p:txBody>
      </p:sp>
      <p:sp>
        <p:nvSpPr>
          <p:cNvPr id="6" name="Rectangle 5"/>
          <p:cNvSpPr/>
          <p:nvPr/>
        </p:nvSpPr>
        <p:spPr>
          <a:xfrm>
            <a:off x="3996556" y="360264"/>
            <a:ext cx="11809312" cy="1523494"/>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sz="3100" dirty="0" smtClean="0">
                <a:latin typeface="Arial" pitchFamily="34" charset="0"/>
                <a:cs typeface="Arial" pitchFamily="34" charset="0"/>
              </a:rPr>
              <a:t>It is a </a:t>
            </a:r>
            <a:r>
              <a:rPr lang="en-US" sz="3100" dirty="0">
                <a:latin typeface="Arial" pitchFamily="34" charset="0"/>
                <a:cs typeface="Arial" pitchFamily="34" charset="0"/>
              </a:rPr>
              <a:t>syntactic structure that joins together two or more elements called conjoins or conjuncts. The conjoins are linked by a coordinator or conjunction, which signals the coordination. </a:t>
            </a:r>
            <a:endParaRPr lang="en-PH" sz="3100" dirty="0">
              <a:latin typeface="Arial" pitchFamily="34" charset="0"/>
              <a:cs typeface="Arial" pitchFamily="34" charset="0"/>
            </a:endParaRPr>
          </a:p>
        </p:txBody>
      </p:sp>
      <p:sp>
        <p:nvSpPr>
          <p:cNvPr id="7" name="Rectangle 6"/>
          <p:cNvSpPr/>
          <p:nvPr/>
        </p:nvSpPr>
        <p:spPr>
          <a:xfrm>
            <a:off x="1476276" y="2376488"/>
            <a:ext cx="14545616" cy="2862322"/>
          </a:xfrm>
          <a:prstGeom prst="rect">
            <a:avLst/>
          </a:prstGeom>
        </p:spPr>
        <p:txBody>
          <a:bodyPr wrap="square">
            <a:spAutoFit/>
          </a:bodyPr>
          <a:lstStyle/>
          <a:p>
            <a:pPr marL="457200" indent="-457200" algn="just">
              <a:buFont typeface="Wingdings" pitchFamily="2" charset="2"/>
              <a:buChar char="v"/>
            </a:pPr>
            <a:r>
              <a:rPr lang="en-US" sz="3000" dirty="0" smtClean="0">
                <a:latin typeface="Arial" pitchFamily="34" charset="0"/>
                <a:cs typeface="Arial" pitchFamily="34" charset="0"/>
              </a:rPr>
              <a:t>The </a:t>
            </a:r>
            <a:r>
              <a:rPr lang="en-US" sz="3000" dirty="0">
                <a:latin typeface="Arial" pitchFamily="34" charset="0"/>
                <a:cs typeface="Arial" pitchFamily="34" charset="0"/>
              </a:rPr>
              <a:t>structure is said to be </a:t>
            </a:r>
            <a:r>
              <a:rPr lang="en-US" sz="3000" b="1" dirty="0">
                <a:latin typeface="Arial" pitchFamily="34" charset="0"/>
                <a:cs typeface="Arial" pitchFamily="34" charset="0"/>
              </a:rPr>
              <a:t>syndetic</a:t>
            </a:r>
            <a:r>
              <a:rPr lang="en-US" sz="3000" dirty="0">
                <a:latin typeface="Arial" pitchFamily="34" charset="0"/>
                <a:cs typeface="Arial" pitchFamily="34" charset="0"/>
              </a:rPr>
              <a:t> if the elements are joined by coordinating conjunctions. </a:t>
            </a:r>
            <a:endParaRPr lang="en-US" sz="3000" dirty="0" smtClean="0">
              <a:latin typeface="Arial" pitchFamily="34" charset="0"/>
              <a:cs typeface="Arial" pitchFamily="34" charset="0"/>
            </a:endParaRPr>
          </a:p>
          <a:p>
            <a:pPr marL="457200" indent="-457200" algn="just">
              <a:buFont typeface="Wingdings" pitchFamily="2" charset="2"/>
              <a:buChar char="v"/>
            </a:pPr>
            <a:r>
              <a:rPr lang="en-US" sz="3000" dirty="0" smtClean="0">
                <a:latin typeface="Arial" pitchFamily="34" charset="0"/>
                <a:cs typeface="Arial" pitchFamily="34" charset="0"/>
              </a:rPr>
              <a:t>The </a:t>
            </a:r>
            <a:r>
              <a:rPr lang="en-US" sz="3000" dirty="0">
                <a:latin typeface="Arial" pitchFamily="34" charset="0"/>
                <a:cs typeface="Arial" pitchFamily="34" charset="0"/>
              </a:rPr>
              <a:t>structure is </a:t>
            </a:r>
            <a:r>
              <a:rPr lang="en-US" sz="3000" b="1" dirty="0">
                <a:latin typeface="Arial" pitchFamily="34" charset="0"/>
                <a:cs typeface="Arial" pitchFamily="34" charset="0"/>
              </a:rPr>
              <a:t>asyndetic </a:t>
            </a:r>
            <a:r>
              <a:rPr lang="en-US" sz="3000" dirty="0">
                <a:latin typeface="Arial" pitchFamily="34" charset="0"/>
                <a:cs typeface="Arial" pitchFamily="34" charset="0"/>
              </a:rPr>
              <a:t>when the coordinators are not necessarily present but could be inserted. </a:t>
            </a:r>
            <a:endParaRPr lang="en-US" sz="3000" dirty="0" smtClean="0">
              <a:latin typeface="Arial" pitchFamily="34" charset="0"/>
              <a:cs typeface="Arial" pitchFamily="34" charset="0"/>
            </a:endParaRPr>
          </a:p>
          <a:p>
            <a:pPr marL="457200" indent="-457200" algn="just">
              <a:buFont typeface="Wingdings" pitchFamily="2" charset="2"/>
              <a:buChar char="v"/>
            </a:pPr>
            <a:r>
              <a:rPr lang="en-US" sz="3000" b="1" dirty="0" smtClean="0">
                <a:latin typeface="Arial" pitchFamily="34" charset="0"/>
                <a:cs typeface="Arial" pitchFamily="34" charset="0"/>
              </a:rPr>
              <a:t>Polysyndetic</a:t>
            </a:r>
            <a:r>
              <a:rPr lang="en-US" sz="3000" dirty="0" smtClean="0">
                <a:latin typeface="Arial" pitchFamily="34" charset="0"/>
                <a:cs typeface="Arial" pitchFamily="34" charset="0"/>
              </a:rPr>
              <a:t> </a:t>
            </a:r>
            <a:r>
              <a:rPr lang="en-US" sz="3000" dirty="0">
                <a:latin typeface="Arial" pitchFamily="34" charset="0"/>
                <a:cs typeface="Arial" pitchFamily="34" charset="0"/>
              </a:rPr>
              <a:t>on the other hand is when the coordinator is reoccurring between each pair of units</a:t>
            </a:r>
            <a:r>
              <a:rPr lang="en-US" sz="3000" dirty="0" smtClean="0">
                <a:latin typeface="Arial" pitchFamily="34" charset="0"/>
                <a:cs typeface="Arial" pitchFamily="34" charset="0"/>
              </a:rPr>
              <a:t>.</a:t>
            </a:r>
            <a:r>
              <a:rPr lang="en-US" dirty="0"/>
              <a:t> </a:t>
            </a:r>
            <a:endParaRPr lang="en-PH" dirty="0"/>
          </a:p>
        </p:txBody>
      </p:sp>
      <p:sp>
        <p:nvSpPr>
          <p:cNvPr id="8" name="Rectangle 7"/>
          <p:cNvSpPr/>
          <p:nvPr/>
        </p:nvSpPr>
        <p:spPr>
          <a:xfrm>
            <a:off x="3564508" y="5616848"/>
            <a:ext cx="10729192" cy="2062103"/>
          </a:xfrm>
          <a:prstGeom prst="rect">
            <a:avLst/>
          </a:prstGeom>
        </p:spPr>
        <p:txBody>
          <a:bodyPr wrap="square">
            <a:spAutoFit/>
          </a:bodyPr>
          <a:lstStyle/>
          <a:p>
            <a:pPr marL="457200" lvl="0" indent="-457200">
              <a:buFont typeface="Wingdings" pitchFamily="2" charset="2"/>
              <a:buChar char="§"/>
            </a:pPr>
            <a:r>
              <a:rPr lang="en-US" sz="3100" i="1" dirty="0">
                <a:latin typeface="Times New Roman" pitchFamily="18" charset="0"/>
                <a:cs typeface="Times New Roman" pitchFamily="18" charset="0"/>
              </a:rPr>
              <a:t>She wakes up early </a:t>
            </a:r>
            <a:r>
              <a:rPr lang="en-US" sz="3100" b="1" i="1" dirty="0">
                <a:latin typeface="Times New Roman" pitchFamily="18" charset="0"/>
                <a:cs typeface="Times New Roman" pitchFamily="18" charset="0"/>
              </a:rPr>
              <a:t>but</a:t>
            </a:r>
            <a:r>
              <a:rPr lang="en-US" sz="3100" i="1" dirty="0">
                <a:latin typeface="Times New Roman" pitchFamily="18" charset="0"/>
                <a:cs typeface="Times New Roman" pitchFamily="18" charset="0"/>
              </a:rPr>
              <a:t> she came late</a:t>
            </a:r>
            <a:r>
              <a:rPr lang="en-US" sz="3100" i="1" dirty="0" smtClean="0">
                <a:latin typeface="Times New Roman" pitchFamily="18" charset="0"/>
                <a:cs typeface="Times New Roman" pitchFamily="18" charset="0"/>
              </a:rPr>
              <a:t>. (</a:t>
            </a:r>
            <a:r>
              <a:rPr lang="en-US" sz="3100" i="1" dirty="0">
                <a:latin typeface="Times New Roman" pitchFamily="18" charset="0"/>
                <a:cs typeface="Times New Roman" pitchFamily="18" charset="0"/>
              </a:rPr>
              <a:t>syndetic)</a:t>
            </a:r>
            <a:endParaRPr lang="en-PH" sz="3100" i="1" dirty="0">
              <a:latin typeface="Times New Roman" pitchFamily="18" charset="0"/>
              <a:cs typeface="Times New Roman" pitchFamily="18" charset="0"/>
            </a:endParaRPr>
          </a:p>
          <a:p>
            <a:pPr marL="457200" lvl="0" indent="-457200">
              <a:buFont typeface="Wingdings" pitchFamily="2" charset="2"/>
              <a:buChar char="§"/>
            </a:pPr>
            <a:r>
              <a:rPr lang="en-US" sz="3100" i="1" dirty="0">
                <a:latin typeface="Times New Roman" pitchFamily="18" charset="0"/>
                <a:cs typeface="Times New Roman" pitchFamily="18" charset="0"/>
              </a:rPr>
              <a:t>She wakes up early, </a:t>
            </a:r>
            <a:r>
              <a:rPr lang="en-US" sz="3100" b="1" i="1" dirty="0">
                <a:latin typeface="Times New Roman" pitchFamily="18" charset="0"/>
                <a:cs typeface="Times New Roman" pitchFamily="18" charset="0"/>
              </a:rPr>
              <a:t>(yet)</a:t>
            </a:r>
            <a:r>
              <a:rPr lang="en-US" sz="3100" i="1" dirty="0">
                <a:latin typeface="Times New Roman" pitchFamily="18" charset="0"/>
                <a:cs typeface="Times New Roman" pitchFamily="18" charset="0"/>
              </a:rPr>
              <a:t> she came </a:t>
            </a:r>
            <a:r>
              <a:rPr lang="en-US" sz="3100" i="1" dirty="0" smtClean="0">
                <a:latin typeface="Times New Roman" pitchFamily="18" charset="0"/>
                <a:cs typeface="Times New Roman" pitchFamily="18" charset="0"/>
              </a:rPr>
              <a:t>late. (</a:t>
            </a:r>
            <a:r>
              <a:rPr lang="en-US" sz="3100" i="1" dirty="0">
                <a:latin typeface="Times New Roman" pitchFamily="18" charset="0"/>
                <a:cs typeface="Times New Roman" pitchFamily="18" charset="0"/>
              </a:rPr>
              <a:t>asyndetic)</a:t>
            </a:r>
            <a:endParaRPr lang="en-PH" sz="3100" i="1" dirty="0">
              <a:latin typeface="Times New Roman" pitchFamily="18" charset="0"/>
              <a:cs typeface="Times New Roman" pitchFamily="18" charset="0"/>
            </a:endParaRPr>
          </a:p>
          <a:p>
            <a:pPr marL="457200" lvl="0" indent="-457200">
              <a:buFont typeface="Wingdings" pitchFamily="2" charset="2"/>
              <a:buChar char="§"/>
            </a:pPr>
            <a:r>
              <a:rPr lang="en-US" sz="3100" i="1" dirty="0">
                <a:latin typeface="Times New Roman" pitchFamily="18" charset="0"/>
                <a:cs typeface="Times New Roman" pitchFamily="18" charset="0"/>
              </a:rPr>
              <a:t>She wakes up fast </a:t>
            </a:r>
            <a:r>
              <a:rPr lang="en-US" sz="3100" b="1" i="1" dirty="0">
                <a:latin typeface="Times New Roman" pitchFamily="18" charset="0"/>
                <a:cs typeface="Times New Roman" pitchFamily="18" charset="0"/>
              </a:rPr>
              <a:t>and</a:t>
            </a:r>
            <a:r>
              <a:rPr lang="en-US" sz="3100" i="1" dirty="0">
                <a:latin typeface="Times New Roman" pitchFamily="18" charset="0"/>
                <a:cs typeface="Times New Roman" pitchFamily="18" charset="0"/>
              </a:rPr>
              <a:t> early </a:t>
            </a:r>
            <a:r>
              <a:rPr lang="en-US" sz="3100" b="1" i="1" dirty="0">
                <a:latin typeface="Times New Roman" pitchFamily="18" charset="0"/>
                <a:cs typeface="Times New Roman" pitchFamily="18" charset="0"/>
              </a:rPr>
              <a:t>and</a:t>
            </a:r>
            <a:r>
              <a:rPr lang="en-US" sz="3100" i="1" dirty="0">
                <a:latin typeface="Times New Roman" pitchFamily="18" charset="0"/>
                <a:cs typeface="Times New Roman" pitchFamily="18" charset="0"/>
              </a:rPr>
              <a:t> she arrived to school on time</a:t>
            </a:r>
            <a:r>
              <a:rPr lang="en-US" sz="3100" i="1" dirty="0" smtClean="0">
                <a:latin typeface="Times New Roman" pitchFamily="18" charset="0"/>
                <a:cs typeface="Times New Roman" pitchFamily="18" charset="0"/>
              </a:rPr>
              <a:t>. (</a:t>
            </a:r>
            <a:r>
              <a:rPr lang="en-US" sz="3100" i="1" dirty="0">
                <a:latin typeface="Times New Roman" pitchFamily="18" charset="0"/>
                <a:cs typeface="Times New Roman" pitchFamily="18" charset="0"/>
              </a:rPr>
              <a:t>polysyndetic)</a:t>
            </a:r>
            <a:endParaRPr lang="en-PH" sz="3100" i="1" dirty="0">
              <a:latin typeface="Times New Roman" pitchFamily="18" charset="0"/>
              <a:cs typeface="Times New Roman" pitchFamily="18" charset="0"/>
            </a:endParaRPr>
          </a:p>
        </p:txBody>
      </p:sp>
    </p:spTree>
    <p:extLst>
      <p:ext uri="{BB962C8B-B14F-4D97-AF65-F5344CB8AC3E}">
        <p14:creationId xmlns:p14="http://schemas.microsoft.com/office/powerpoint/2010/main" val="398532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828204" y="648296"/>
            <a:ext cx="14761640" cy="2477601"/>
          </a:xfrm>
          <a:prstGeom prst="rect">
            <a:avLst/>
          </a:prstGeom>
        </p:spPr>
        <p:txBody>
          <a:bodyPr wrap="square">
            <a:spAutoFit/>
          </a:bodyPr>
          <a:lstStyle/>
          <a:p>
            <a:pPr algn="just"/>
            <a:r>
              <a:rPr lang="en-US" sz="3100" b="1" dirty="0">
                <a:latin typeface="Arial" pitchFamily="34" charset="0"/>
                <a:cs typeface="Arial" pitchFamily="34" charset="0"/>
              </a:rPr>
              <a:t>Conjunctive adverbs</a:t>
            </a:r>
            <a:r>
              <a:rPr lang="en-US" sz="3100" dirty="0">
                <a:latin typeface="Arial" pitchFamily="34" charset="0"/>
                <a:cs typeface="Arial" pitchFamily="34" charset="0"/>
              </a:rPr>
              <a:t> are used as a linking verbs device between elements or ideas. They denote the logical relationship between clauses and sentences. The functions of conjunctive adverbs are either connect or contrast ideas or indicate results.</a:t>
            </a:r>
            <a:endParaRPr lang="en-PH" sz="3100" dirty="0">
              <a:latin typeface="Arial" pitchFamily="34" charset="0"/>
              <a:cs typeface="Arial" pitchFamily="34" charset="0"/>
            </a:endParaRPr>
          </a:p>
          <a:p>
            <a:pPr algn="just"/>
            <a:r>
              <a:rPr lang="en-US" sz="3100" dirty="0">
                <a:latin typeface="Arial" pitchFamily="34" charset="0"/>
                <a:cs typeface="Arial" pitchFamily="34" charset="0"/>
              </a:rPr>
              <a:t> </a:t>
            </a:r>
            <a:r>
              <a:rPr lang="en-US" sz="3100" dirty="0" smtClean="0">
                <a:latin typeface="Arial" pitchFamily="34" charset="0"/>
                <a:cs typeface="Arial" pitchFamily="34" charset="0"/>
              </a:rPr>
              <a:t>	Conjunctive </a:t>
            </a:r>
            <a:r>
              <a:rPr lang="en-US" sz="3100" dirty="0">
                <a:latin typeface="Arial" pitchFamily="34" charset="0"/>
                <a:cs typeface="Arial" pitchFamily="34" charset="0"/>
              </a:rPr>
              <a:t>adverbs include:</a:t>
            </a:r>
            <a:endParaRPr lang="en-PH" sz="3100" dirty="0">
              <a:latin typeface="Arial" pitchFamily="34" charset="0"/>
              <a:cs typeface="Arial" pitchFamily="34" charset="0"/>
            </a:endParaRPr>
          </a:p>
        </p:txBody>
      </p:sp>
      <p:pic>
        <p:nvPicPr>
          <p:cNvPr id="2253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366" t="47743" r="9187" b="22048"/>
          <a:stretch/>
        </p:blipFill>
        <p:spPr bwMode="auto">
          <a:xfrm>
            <a:off x="1044228" y="3456608"/>
            <a:ext cx="14983872"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5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2530"/>
                                        </p:tgtEl>
                                        <p:attrNameLst>
                                          <p:attrName>style.visibility</p:attrName>
                                        </p:attrNameLst>
                                      </p:cBhvr>
                                      <p:to>
                                        <p:strVal val="visible"/>
                                      </p:to>
                                    </p:set>
                                    <p:anim calcmode="lin" valueType="num">
                                      <p:cBhvr additive="base">
                                        <p:cTn id="12" dur="500" fill="hold"/>
                                        <p:tgtEl>
                                          <p:spTgt spid="22530"/>
                                        </p:tgtEl>
                                        <p:attrNameLst>
                                          <p:attrName>ppt_x</p:attrName>
                                        </p:attrNameLst>
                                      </p:cBhvr>
                                      <p:tavLst>
                                        <p:tav tm="0">
                                          <p:val>
                                            <p:strVal val="#ppt_x"/>
                                          </p:val>
                                        </p:tav>
                                        <p:tav tm="100000">
                                          <p:val>
                                            <p:strVal val="#ppt_x"/>
                                          </p:val>
                                        </p:tav>
                                      </p:tavLst>
                                    </p:anim>
                                    <p:anim calcmode="lin" valueType="num">
                                      <p:cBhvr additive="base">
                                        <p:cTn id="13" dur="500" fill="hold"/>
                                        <p:tgtEl>
                                          <p:spTgt spid="225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658380" y="8743395"/>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52140" y="938069"/>
            <a:ext cx="4801314" cy="646331"/>
          </a:xfrm>
          <a:prstGeom prst="rect">
            <a:avLst/>
          </a:prstGeom>
        </p:spPr>
        <p:txBody>
          <a:bodyPr wrap="none">
            <a:spAutoFit/>
          </a:bodyPr>
          <a:lstStyle/>
          <a:p>
            <a:r>
              <a:rPr lang="en-US" sz="3600" b="1" dirty="0">
                <a:latin typeface="Arial" pitchFamily="34" charset="0"/>
                <a:cs typeface="Arial" pitchFamily="34" charset="0"/>
              </a:rPr>
              <a:t>D. Complementation </a:t>
            </a:r>
            <a:endParaRPr lang="en-PH" sz="3600" dirty="0">
              <a:latin typeface="Arial" pitchFamily="34" charset="0"/>
              <a:cs typeface="Arial" pitchFamily="34" charset="0"/>
            </a:endParaRPr>
          </a:p>
        </p:txBody>
      </p:sp>
      <p:sp>
        <p:nvSpPr>
          <p:cNvPr id="6" name="Rectangle 5"/>
          <p:cNvSpPr/>
          <p:nvPr/>
        </p:nvSpPr>
        <p:spPr>
          <a:xfrm>
            <a:off x="5053454" y="216248"/>
            <a:ext cx="10824421" cy="240065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en-US" sz="3000" dirty="0">
                <a:latin typeface="Arial" pitchFamily="34" charset="0"/>
                <a:cs typeface="Arial" pitchFamily="34" charset="0"/>
              </a:rPr>
              <a:t>A </a:t>
            </a:r>
            <a:r>
              <a:rPr lang="en-US" sz="3000" b="1" dirty="0">
                <a:latin typeface="Arial" pitchFamily="34" charset="0"/>
                <a:cs typeface="Arial" pitchFamily="34" charset="0"/>
              </a:rPr>
              <a:t>structure of complementation</a:t>
            </a:r>
            <a:r>
              <a:rPr lang="en-US" sz="3000" dirty="0">
                <a:latin typeface="Arial" pitchFamily="34" charset="0"/>
                <a:cs typeface="Arial" pitchFamily="34" charset="0"/>
              </a:rPr>
              <a:t> is a verb phrase comprising two major components: a verbal component (VB) and a complement (C). The verbal component may be a finite verb or verb phrase, or a non-finite verb in the form of an infinitive, an infinitive without to” or a present participle. </a:t>
            </a:r>
            <a:endParaRPr lang="en-PH" sz="3000" dirty="0">
              <a:latin typeface="Arial" pitchFamily="34" charset="0"/>
              <a:cs typeface="Arial" pitchFamily="34" charset="0"/>
            </a:endParaRPr>
          </a:p>
        </p:txBody>
      </p:sp>
      <p:sp>
        <p:nvSpPr>
          <p:cNvPr id="7" name="Rectangle 6"/>
          <p:cNvSpPr/>
          <p:nvPr/>
        </p:nvSpPr>
        <p:spPr>
          <a:xfrm>
            <a:off x="8928193" y="2880544"/>
            <a:ext cx="7051930" cy="600164"/>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3300" b="1" dirty="0">
                <a:latin typeface="Arial" pitchFamily="34" charset="0"/>
                <a:cs typeface="Arial" pitchFamily="34" charset="0"/>
              </a:rPr>
              <a:t>Complement Structure Categories</a:t>
            </a:r>
            <a:endParaRPr lang="en-PH" sz="3300" dirty="0">
              <a:latin typeface="Arial" pitchFamily="34" charset="0"/>
              <a:cs typeface="Arial" pitchFamily="34" charset="0"/>
            </a:endParaRPr>
          </a:p>
        </p:txBody>
      </p:sp>
      <p:sp>
        <p:nvSpPr>
          <p:cNvPr id="8" name="Rectangle 7"/>
          <p:cNvSpPr/>
          <p:nvPr/>
        </p:nvSpPr>
        <p:spPr>
          <a:xfrm>
            <a:off x="468165" y="3600624"/>
            <a:ext cx="15409711" cy="954107"/>
          </a:xfrm>
          <a:prstGeom prst="rect">
            <a:avLst/>
          </a:prstGeom>
        </p:spPr>
        <p:txBody>
          <a:bodyPr wrap="square">
            <a:spAutoFit/>
          </a:bodyPr>
          <a:lstStyle/>
          <a:p>
            <a:pPr algn="just"/>
            <a:r>
              <a:rPr lang="en-US" sz="2800" dirty="0" smtClean="0">
                <a:latin typeface="Arial" pitchFamily="34" charset="0"/>
                <a:cs typeface="Arial" pitchFamily="34" charset="0"/>
              </a:rPr>
              <a:t>1. An </a:t>
            </a:r>
            <a:r>
              <a:rPr lang="en-US" sz="2800" b="1" dirty="0">
                <a:latin typeface="Arial" pitchFamily="34" charset="0"/>
                <a:cs typeface="Arial" pitchFamily="34" charset="0"/>
              </a:rPr>
              <a:t>object complement</a:t>
            </a:r>
            <a:r>
              <a:rPr lang="en-US" sz="2800" dirty="0">
                <a:latin typeface="Arial" pitchFamily="34" charset="0"/>
                <a:cs typeface="Arial" pitchFamily="34" charset="0"/>
              </a:rPr>
              <a:t> is a predicative expression that follows a direct object or states what the “object” has become. </a:t>
            </a:r>
            <a:endParaRPr lang="en-PH" sz="2800" dirty="0">
              <a:latin typeface="Arial" pitchFamily="34" charset="0"/>
              <a:cs typeface="Arial" pitchFamily="34" charset="0"/>
            </a:endParaRPr>
          </a:p>
        </p:txBody>
      </p:sp>
      <p:sp>
        <p:nvSpPr>
          <p:cNvPr id="9" name="Rectangle 8"/>
          <p:cNvSpPr/>
          <p:nvPr/>
        </p:nvSpPr>
        <p:spPr>
          <a:xfrm>
            <a:off x="540172" y="4608736"/>
            <a:ext cx="14761640" cy="4508927"/>
          </a:xfrm>
          <a:prstGeom prst="rect">
            <a:avLst/>
          </a:prstGeom>
        </p:spPr>
        <p:txBody>
          <a:bodyPr wrap="square">
            <a:spAutoFit/>
          </a:bodyPr>
          <a:lstStyle/>
          <a:p>
            <a:pPr marL="457200" indent="-457200">
              <a:buFont typeface="Wingdings" pitchFamily="2" charset="2"/>
              <a:buChar char="§"/>
            </a:pPr>
            <a:r>
              <a:rPr lang="en-US" sz="2800" dirty="0">
                <a:latin typeface="Arial" pitchFamily="34" charset="0"/>
                <a:cs typeface="Arial" pitchFamily="34" charset="0"/>
              </a:rPr>
              <a:t>Objective complement could be a single word indefinite pronoun, a single noun, an infinitive verb phrase, a gerund, or a clause</a:t>
            </a:r>
            <a:r>
              <a:rPr lang="en-US" sz="2800" dirty="0" smtClean="0">
                <a:latin typeface="Arial" pitchFamily="34" charset="0"/>
                <a:cs typeface="Arial" pitchFamily="34" charset="0"/>
              </a:rPr>
              <a:t>.</a:t>
            </a:r>
          </a:p>
          <a:p>
            <a:r>
              <a:rPr lang="en-US" sz="2800" i="1" dirty="0" smtClean="0"/>
              <a:t>		</a:t>
            </a:r>
            <a:r>
              <a:rPr lang="en-US" i="1" dirty="0" smtClean="0">
                <a:latin typeface="Times New Roman" pitchFamily="18" charset="0"/>
                <a:cs typeface="Times New Roman" pitchFamily="18" charset="0"/>
              </a:rPr>
              <a:t>She </a:t>
            </a:r>
            <a:r>
              <a:rPr lang="en-US" i="1" dirty="0">
                <a:latin typeface="Times New Roman" pitchFamily="18" charset="0"/>
                <a:cs typeface="Times New Roman" pitchFamily="18" charset="0"/>
              </a:rPr>
              <a:t>sees the pen. </a:t>
            </a:r>
            <a:r>
              <a:rPr lang="en-US" i="1" dirty="0" smtClean="0">
                <a:latin typeface="Times New Roman" pitchFamily="18" charset="0"/>
                <a:cs typeface="Times New Roman" pitchFamily="18" charset="0"/>
              </a:rPr>
              <a:t>	She </a:t>
            </a:r>
            <a:r>
              <a:rPr lang="en-US" i="1" dirty="0">
                <a:latin typeface="Times New Roman" pitchFamily="18" charset="0"/>
                <a:cs typeface="Times New Roman" pitchFamily="18" charset="0"/>
              </a:rPr>
              <a:t>desires writing the story</a:t>
            </a:r>
            <a:endParaRPr lang="en-PH" dirty="0">
              <a:latin typeface="Times New Roman" pitchFamily="18" charset="0"/>
              <a:cs typeface="Times New Roman" pitchFamily="18" charset="0"/>
            </a:endParaRPr>
          </a:p>
          <a:p>
            <a:pPr marL="457200" indent="-457200">
              <a:buFont typeface="Wingdings" pitchFamily="2" charset="2"/>
              <a:buChar char="§"/>
            </a:pPr>
            <a:r>
              <a:rPr lang="en-US" sz="2800" dirty="0" smtClean="0">
                <a:latin typeface="Arial" pitchFamily="34" charset="0"/>
                <a:cs typeface="Arial" pitchFamily="34" charset="0"/>
              </a:rPr>
              <a:t>An </a:t>
            </a:r>
            <a:r>
              <a:rPr lang="en-US" sz="2800" dirty="0">
                <a:latin typeface="Arial" pitchFamily="34" charset="0"/>
                <a:cs typeface="Arial" pitchFamily="34" charset="0"/>
              </a:rPr>
              <a:t>object complement is also a combination of an indirect and direct object. The pattern is: </a:t>
            </a:r>
            <a:r>
              <a:rPr lang="en-US" sz="2800" i="1" dirty="0">
                <a:latin typeface="Arial" pitchFamily="34" charset="0"/>
                <a:cs typeface="Arial" pitchFamily="34" charset="0"/>
              </a:rPr>
              <a:t>subject + transitive verb + indirect object + direct </a:t>
            </a:r>
            <a:r>
              <a:rPr lang="en-US" sz="2800" i="1" dirty="0" smtClean="0">
                <a:latin typeface="Arial" pitchFamily="34" charset="0"/>
                <a:cs typeface="Arial" pitchFamily="34" charset="0"/>
              </a:rPr>
              <a:t>object</a:t>
            </a:r>
          </a:p>
          <a:p>
            <a:pPr marL="4109085" lvl="5" indent="-457200">
              <a:buFont typeface="Wingdings" pitchFamily="2" charset="2"/>
              <a:buChar char="§"/>
            </a:pPr>
            <a:r>
              <a:rPr lang="en-US" sz="3200" i="1" dirty="0" smtClean="0"/>
              <a:t>The </a:t>
            </a:r>
            <a:r>
              <a:rPr lang="en-US" sz="3200" i="1" dirty="0"/>
              <a:t>judges awarded him first prize.</a:t>
            </a:r>
            <a:endParaRPr lang="en-PH" sz="3200" dirty="0"/>
          </a:p>
          <a:p>
            <a:pPr marL="457200" indent="-457200">
              <a:buFont typeface="Wingdings" pitchFamily="2" charset="2"/>
              <a:buChar char="§"/>
            </a:pPr>
            <a:r>
              <a:rPr lang="en-US" sz="2800" dirty="0" smtClean="0">
                <a:latin typeface="Arial" pitchFamily="34" charset="0"/>
                <a:cs typeface="Arial" pitchFamily="34" charset="0"/>
              </a:rPr>
              <a:t>Another </a:t>
            </a:r>
            <a:r>
              <a:rPr lang="en-US" sz="2800" dirty="0">
                <a:latin typeface="Arial" pitchFamily="34" charset="0"/>
                <a:cs typeface="Arial" pitchFamily="34" charset="0"/>
              </a:rPr>
              <a:t>structure of an objective complement is a combination of a transitive verb, a direct object, and an object of the preposition. The pattern is: </a:t>
            </a:r>
            <a:r>
              <a:rPr lang="en-US" sz="2800" i="1" dirty="0">
                <a:latin typeface="Arial" pitchFamily="34" charset="0"/>
                <a:cs typeface="Arial" pitchFamily="34" charset="0"/>
              </a:rPr>
              <a:t>subject + transitive verb + direct object + object of preposition</a:t>
            </a:r>
            <a:r>
              <a:rPr lang="en-US" sz="2800" i="1" dirty="0" smtClean="0">
                <a:latin typeface="Arial" pitchFamily="34" charset="0"/>
                <a:cs typeface="Arial" pitchFamily="34" charset="0"/>
              </a:rPr>
              <a:t>.</a:t>
            </a:r>
            <a:r>
              <a:rPr lang="en-US" dirty="0"/>
              <a:t> </a:t>
            </a:r>
            <a:endParaRPr lang="en-US" dirty="0" smtClean="0"/>
          </a:p>
          <a:p>
            <a:pPr marL="4109085" lvl="5" indent="-457200">
              <a:buFont typeface="Wingdings" pitchFamily="2" charset="2"/>
              <a:buChar char="§"/>
            </a:pPr>
            <a:r>
              <a:rPr lang="en-US" dirty="0" smtClean="0"/>
              <a:t>(</a:t>
            </a:r>
            <a:r>
              <a:rPr lang="en-US" i="1" dirty="0"/>
              <a:t>The judges awarded him first prize</a:t>
            </a:r>
            <a:r>
              <a:rPr lang="en-US" i="1" dirty="0" smtClean="0"/>
              <a:t>.) absence of </a:t>
            </a:r>
            <a:r>
              <a:rPr lang="en-US" i="1" dirty="0" smtClean="0">
                <a:solidFill>
                  <a:srgbClr val="FF0000"/>
                </a:solidFill>
              </a:rPr>
              <a:t>to</a:t>
            </a:r>
            <a:endParaRPr lang="en-PH" i="1" dirty="0">
              <a:solidFill>
                <a:srgbClr val="FF0000"/>
              </a:solidFill>
            </a:endParaRPr>
          </a:p>
        </p:txBody>
      </p:sp>
    </p:spTree>
    <p:extLst>
      <p:ext uri="{BB962C8B-B14F-4D97-AF65-F5344CB8AC3E}">
        <p14:creationId xmlns:p14="http://schemas.microsoft.com/office/powerpoint/2010/main" val="1587045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ircle(in)">
                                      <p:cBhvr>
                                        <p:cTn id="18" dur="2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anim calcmode="lin" valueType="num">
                                      <p:cBhvr additive="base">
                                        <p:cTn id="2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TextBox 4"/>
          <p:cNvSpPr txBox="1"/>
          <p:nvPr/>
        </p:nvSpPr>
        <p:spPr>
          <a:xfrm>
            <a:off x="324148" y="360264"/>
            <a:ext cx="3664786" cy="769441"/>
          </a:xfrm>
          <a:prstGeom prst="rect">
            <a:avLst/>
          </a:prstGeom>
          <a:noFill/>
        </p:spPr>
        <p:txBody>
          <a:bodyPr wrap="none" rtlCol="0">
            <a:spAutoFit/>
          </a:bodyPr>
          <a:lstStyle/>
          <a:p>
            <a:r>
              <a:rPr lang="en-PH" sz="4400" b="1" dirty="0" smtClean="0">
                <a:latin typeface="Arial" pitchFamily="34" charset="0"/>
                <a:cs typeface="Arial" pitchFamily="34" charset="0"/>
              </a:rPr>
              <a:t>SEMANTICS </a:t>
            </a:r>
            <a:endParaRPr lang="en-PH" sz="4400" b="1" dirty="0">
              <a:latin typeface="Arial" pitchFamily="34" charset="0"/>
              <a:cs typeface="Arial" pitchFamily="34" charset="0"/>
            </a:endParaRPr>
          </a:p>
        </p:txBody>
      </p:sp>
      <p:sp>
        <p:nvSpPr>
          <p:cNvPr id="6" name="Rectangle 5"/>
          <p:cNvSpPr/>
          <p:nvPr/>
        </p:nvSpPr>
        <p:spPr>
          <a:xfrm>
            <a:off x="3852540" y="744984"/>
            <a:ext cx="11665296" cy="4571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p:cNvSpPr/>
          <p:nvPr/>
        </p:nvSpPr>
        <p:spPr>
          <a:xfrm>
            <a:off x="828205" y="1164313"/>
            <a:ext cx="15373820" cy="1077218"/>
          </a:xfrm>
          <a:prstGeom prst="rect">
            <a:avLst/>
          </a:prstGeom>
        </p:spPr>
        <p:txBody>
          <a:bodyPr wrap="square">
            <a:spAutoFit/>
          </a:bodyPr>
          <a:lstStyle/>
          <a:p>
            <a:pPr marL="457200" indent="-457200">
              <a:buFont typeface="Wingdings" pitchFamily="2" charset="2"/>
              <a:buChar char="v"/>
            </a:pPr>
            <a:r>
              <a:rPr lang="en-US" sz="3200" dirty="0" smtClean="0">
                <a:latin typeface="Arial" pitchFamily="34" charset="0"/>
                <a:cs typeface="Arial" pitchFamily="34" charset="0"/>
              </a:rPr>
              <a:t>It concerns with the aspects of meaning that are encoded by word and grammar. </a:t>
            </a:r>
          </a:p>
          <a:p>
            <a:pPr marL="457200" indent="-457200">
              <a:buFont typeface="Wingdings" pitchFamily="2" charset="2"/>
              <a:buChar char="v"/>
            </a:pPr>
            <a:r>
              <a:rPr lang="en-US" sz="3200" dirty="0" smtClean="0">
                <a:latin typeface="Arial" pitchFamily="34" charset="0"/>
                <a:cs typeface="Arial" pitchFamily="34" charset="0"/>
              </a:rPr>
              <a:t>It  deals with the  </a:t>
            </a:r>
            <a:r>
              <a:rPr lang="en-US" sz="3200" dirty="0">
                <a:latin typeface="Arial" pitchFamily="34" charset="0"/>
                <a:cs typeface="Arial" pitchFamily="34" charset="0"/>
              </a:rPr>
              <a:t>conceptual meaning of words and sentences</a:t>
            </a:r>
            <a:r>
              <a:rPr lang="en-US" sz="3200" dirty="0" smtClean="0">
                <a:latin typeface="Arial" pitchFamily="34" charset="0"/>
                <a:cs typeface="Arial" pitchFamily="34" charset="0"/>
              </a:rPr>
              <a:t>.</a:t>
            </a:r>
            <a:endParaRPr lang="en-PH" sz="3200" dirty="0">
              <a:latin typeface="Arial" pitchFamily="34" charset="0"/>
              <a:cs typeface="Arial" pitchFamily="34" charset="0"/>
            </a:endParaRPr>
          </a:p>
        </p:txBody>
      </p:sp>
      <p:sp>
        <p:nvSpPr>
          <p:cNvPr id="9" name="TextBox 8"/>
          <p:cNvSpPr txBox="1"/>
          <p:nvPr/>
        </p:nvSpPr>
        <p:spPr>
          <a:xfrm>
            <a:off x="1764308" y="2304480"/>
            <a:ext cx="8161978" cy="584775"/>
          </a:xfrm>
          <a:prstGeom prst="rect">
            <a:avLst/>
          </a:prstGeom>
          <a:noFill/>
        </p:spPr>
        <p:txBody>
          <a:bodyPr wrap="none" rtlCol="0">
            <a:spAutoFit/>
          </a:bodyPr>
          <a:lstStyle/>
          <a:p>
            <a:r>
              <a:rPr lang="en-PH" sz="3200" i="1" dirty="0" smtClean="0">
                <a:latin typeface="Arial" pitchFamily="34" charset="0"/>
                <a:cs typeface="Arial" pitchFamily="34" charset="0"/>
              </a:rPr>
              <a:t>Try to analyze the three following sentences</a:t>
            </a:r>
            <a:endParaRPr lang="en-PH" sz="3200" i="1" dirty="0">
              <a:latin typeface="Arial" pitchFamily="34" charset="0"/>
              <a:cs typeface="Arial" pitchFamily="34" charset="0"/>
            </a:endParaRPr>
          </a:p>
        </p:txBody>
      </p:sp>
      <p:sp>
        <p:nvSpPr>
          <p:cNvPr id="10" name="Rectangle 9"/>
          <p:cNvSpPr/>
          <p:nvPr/>
        </p:nvSpPr>
        <p:spPr>
          <a:xfrm>
            <a:off x="3132460" y="3024560"/>
            <a:ext cx="8099425" cy="1569660"/>
          </a:xfrm>
          <a:prstGeom prst="rect">
            <a:avLst/>
          </a:prstGeom>
        </p:spPr>
        <p:txBody>
          <a:bodyPr>
            <a:spAutoFit/>
          </a:bodyPr>
          <a:lstStyle/>
          <a:p>
            <a:pPr marL="514350" lvl="0" indent="-514350">
              <a:buFont typeface="+mj-lt"/>
              <a:buAutoNum type="arabicPeriod"/>
            </a:pPr>
            <a:r>
              <a:rPr lang="en-US" sz="3200" dirty="0">
                <a:latin typeface="Times New Roman" pitchFamily="18" charset="0"/>
                <a:cs typeface="Times New Roman" pitchFamily="18" charset="0"/>
              </a:rPr>
              <a:t>Sorry, I didn’t </a:t>
            </a:r>
            <a:r>
              <a:rPr lang="en-US" sz="3200" i="1" dirty="0">
                <a:latin typeface="Times New Roman" pitchFamily="18" charset="0"/>
                <a:cs typeface="Times New Roman" pitchFamily="18" charset="0"/>
              </a:rPr>
              <a:t>mean</a:t>
            </a:r>
            <a:r>
              <a:rPr lang="en-US" sz="3200" dirty="0">
                <a:latin typeface="Times New Roman" pitchFamily="18" charset="0"/>
                <a:cs typeface="Times New Roman" pitchFamily="18" charset="0"/>
              </a:rPr>
              <a:t> to offend you.</a:t>
            </a:r>
            <a:endParaRPr lang="en-PH" sz="3200" dirty="0">
              <a:latin typeface="Times New Roman" pitchFamily="18" charset="0"/>
              <a:cs typeface="Times New Roman" pitchFamily="18" charset="0"/>
            </a:endParaRPr>
          </a:p>
          <a:p>
            <a:pPr marL="514350" lvl="0" indent="-514350">
              <a:buFont typeface="+mj-lt"/>
              <a:buAutoNum type="arabicPeriod"/>
            </a:pPr>
            <a:r>
              <a:rPr lang="en-US" sz="3200" dirty="0">
                <a:latin typeface="Times New Roman" pitchFamily="18" charset="0"/>
                <a:cs typeface="Times New Roman" pitchFamily="18" charset="0"/>
              </a:rPr>
              <a:t>Is that what you </a:t>
            </a:r>
            <a:r>
              <a:rPr lang="en-US" sz="3200" i="1" dirty="0">
                <a:latin typeface="Times New Roman" pitchFamily="18" charset="0"/>
                <a:cs typeface="Times New Roman" pitchFamily="18" charset="0"/>
              </a:rPr>
              <a:t>mean</a:t>
            </a:r>
            <a:r>
              <a:rPr lang="en-US" sz="3200" dirty="0">
                <a:latin typeface="Times New Roman" pitchFamily="18" charset="0"/>
                <a:cs typeface="Times New Roman" pitchFamily="18" charset="0"/>
              </a:rPr>
              <a:t>?</a:t>
            </a:r>
            <a:endParaRPr lang="en-PH" sz="3200" dirty="0">
              <a:latin typeface="Times New Roman" pitchFamily="18" charset="0"/>
              <a:cs typeface="Times New Roman" pitchFamily="18" charset="0"/>
            </a:endParaRPr>
          </a:p>
          <a:p>
            <a:pPr marL="514350" lvl="0" indent="-514350">
              <a:buFont typeface="+mj-lt"/>
              <a:buAutoNum type="arabicPeriod"/>
            </a:pPr>
            <a:r>
              <a:rPr lang="en-US" sz="3200" dirty="0">
                <a:latin typeface="Times New Roman" pitchFamily="18" charset="0"/>
                <a:cs typeface="Times New Roman" pitchFamily="18" charset="0"/>
              </a:rPr>
              <a:t>Semantics </a:t>
            </a:r>
            <a:r>
              <a:rPr lang="en-US" sz="3200" i="1" dirty="0">
                <a:latin typeface="Times New Roman" pitchFamily="18" charset="0"/>
                <a:cs typeface="Times New Roman" pitchFamily="18" charset="0"/>
              </a:rPr>
              <a:t>means</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simasiologia</a:t>
            </a:r>
            <a:r>
              <a:rPr lang="en-US" sz="3200" dirty="0">
                <a:latin typeface="Times New Roman" pitchFamily="18" charset="0"/>
                <a:cs typeface="Times New Roman" pitchFamily="18" charset="0"/>
              </a:rPr>
              <a:t>’ in Greek.</a:t>
            </a:r>
            <a:endParaRPr lang="en-PH" sz="3200" dirty="0">
              <a:latin typeface="Times New Roman" pitchFamily="18" charset="0"/>
              <a:cs typeface="Times New Roman" pitchFamily="18" charset="0"/>
            </a:endParaRPr>
          </a:p>
        </p:txBody>
      </p:sp>
      <p:sp>
        <p:nvSpPr>
          <p:cNvPr id="11" name="Rectangle 10"/>
          <p:cNvSpPr/>
          <p:nvPr/>
        </p:nvSpPr>
        <p:spPr>
          <a:xfrm>
            <a:off x="1548284" y="4680744"/>
            <a:ext cx="14041560" cy="143116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en-US" dirty="0" smtClean="0">
                <a:latin typeface="Arial" pitchFamily="34" charset="0"/>
                <a:cs typeface="Arial" pitchFamily="34" charset="0"/>
              </a:rPr>
              <a:t>In </a:t>
            </a:r>
            <a:r>
              <a:rPr lang="en-US" dirty="0">
                <a:latin typeface="Arial" pitchFamily="34" charset="0"/>
                <a:cs typeface="Arial" pitchFamily="34" charset="0"/>
              </a:rPr>
              <a:t>(</a:t>
            </a:r>
            <a:r>
              <a:rPr lang="en-US" b="1" dirty="0">
                <a:latin typeface="Arial" pitchFamily="34" charset="0"/>
                <a:cs typeface="Arial" pitchFamily="34" charset="0"/>
              </a:rPr>
              <a:t>1), </a:t>
            </a:r>
            <a:r>
              <a:rPr lang="en-US" i="1" dirty="0">
                <a:latin typeface="Arial" pitchFamily="34" charset="0"/>
                <a:cs typeface="Arial" pitchFamily="34" charset="0"/>
              </a:rPr>
              <a:t>mean</a:t>
            </a:r>
            <a:r>
              <a:rPr lang="en-US" dirty="0">
                <a:latin typeface="Arial" pitchFamily="34" charset="0"/>
                <a:cs typeface="Arial" pitchFamily="34" charset="0"/>
              </a:rPr>
              <a:t> is equivalent of ‘intend’, in </a:t>
            </a:r>
            <a:r>
              <a:rPr lang="en-US" b="1" dirty="0">
                <a:latin typeface="Arial" pitchFamily="34" charset="0"/>
                <a:cs typeface="Arial" pitchFamily="34" charset="0"/>
              </a:rPr>
              <a:t>(2) </a:t>
            </a:r>
            <a:r>
              <a:rPr lang="en-US" dirty="0">
                <a:latin typeface="Arial" pitchFamily="34" charset="0"/>
                <a:cs typeface="Arial" pitchFamily="34" charset="0"/>
              </a:rPr>
              <a:t>it means to convey a message, and in </a:t>
            </a:r>
            <a:r>
              <a:rPr lang="en-US" b="1" dirty="0">
                <a:latin typeface="Arial" pitchFamily="34" charset="0"/>
                <a:cs typeface="Arial" pitchFamily="34" charset="0"/>
              </a:rPr>
              <a:t>(3)</a:t>
            </a:r>
            <a:r>
              <a:rPr lang="en-US" dirty="0">
                <a:latin typeface="Arial" pitchFamily="34" charset="0"/>
                <a:cs typeface="Arial" pitchFamily="34" charset="0"/>
              </a:rPr>
              <a:t> it is a translation. The examples just show that even the seemingly very common word like </a:t>
            </a:r>
            <a:r>
              <a:rPr lang="en-US" i="1" dirty="0">
                <a:latin typeface="Arial" pitchFamily="34" charset="0"/>
                <a:cs typeface="Arial" pitchFamily="34" charset="0"/>
              </a:rPr>
              <a:t>mean</a:t>
            </a:r>
            <a:r>
              <a:rPr lang="en-US" dirty="0">
                <a:latin typeface="Arial" pitchFamily="34" charset="0"/>
                <a:cs typeface="Arial" pitchFamily="34" charset="0"/>
              </a:rPr>
              <a:t> can mean different things. </a:t>
            </a:r>
            <a:endParaRPr lang="en-PH" dirty="0">
              <a:latin typeface="Arial" pitchFamily="34" charset="0"/>
              <a:cs typeface="Arial" pitchFamily="34" charset="0"/>
            </a:endParaRPr>
          </a:p>
        </p:txBody>
      </p:sp>
    </p:spTree>
    <p:extLst>
      <p:ext uri="{BB962C8B-B14F-4D97-AF65-F5344CB8AC3E}">
        <p14:creationId xmlns:p14="http://schemas.microsoft.com/office/powerpoint/2010/main" val="369677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355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123" t="28212" r="14166" b="9027"/>
          <a:stretch/>
        </p:blipFill>
        <p:spPr bwMode="auto">
          <a:xfrm>
            <a:off x="2412380" y="376066"/>
            <a:ext cx="13392890" cy="8049094"/>
          </a:xfrm>
          <a:prstGeom prst="rect">
            <a:avLst/>
          </a:prstGeom>
          <a:ln/>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2298840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fade">
                                      <p:cBhvr>
                                        <p:cTn id="7" dur="1000"/>
                                        <p:tgtEl>
                                          <p:spTgt spid="23554"/>
                                        </p:tgtEl>
                                      </p:cBhvr>
                                    </p:animEffect>
                                    <p:anim calcmode="lin" valueType="num">
                                      <p:cBhvr>
                                        <p:cTn id="8" dur="1000" fill="hold"/>
                                        <p:tgtEl>
                                          <p:spTgt spid="23554"/>
                                        </p:tgtEl>
                                        <p:attrNameLst>
                                          <p:attrName>ppt_x</p:attrName>
                                        </p:attrNameLst>
                                      </p:cBhvr>
                                      <p:tavLst>
                                        <p:tav tm="0">
                                          <p:val>
                                            <p:strVal val="#ppt_x"/>
                                          </p:val>
                                        </p:tav>
                                        <p:tav tm="100000">
                                          <p:val>
                                            <p:strVal val="#ppt_x"/>
                                          </p:val>
                                        </p:tav>
                                      </p:tavLst>
                                    </p:anim>
                                    <p:anim calcmode="lin" valueType="num">
                                      <p:cBhvr>
                                        <p:cTn id="9" dur="1000" fill="hold"/>
                                        <p:tgtEl>
                                          <p:spTgt spid="235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457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7122" t="28678" r="12994" b="25954"/>
          <a:stretch/>
        </p:blipFill>
        <p:spPr bwMode="auto">
          <a:xfrm>
            <a:off x="1044228" y="1008336"/>
            <a:ext cx="15045696" cy="64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522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ppt_x"/>
                                          </p:val>
                                        </p:tav>
                                        <p:tav tm="100000">
                                          <p:val>
                                            <p:strVal val="#ppt_x"/>
                                          </p:val>
                                        </p:tav>
                                      </p:tavLst>
                                    </p:anim>
                                    <p:anim calcmode="lin" valueType="num">
                                      <p:cBhvr additive="base">
                                        <p:cTn id="8" dur="500" fill="hold"/>
                                        <p:tgtEl>
                                          <p:spTgt spid="245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324148" y="506021"/>
            <a:ext cx="3954929" cy="646331"/>
          </a:xfrm>
          <a:prstGeom prst="rect">
            <a:avLst/>
          </a:prstGeom>
        </p:spPr>
        <p:txBody>
          <a:bodyPr wrap="none">
            <a:spAutoFit/>
          </a:bodyPr>
          <a:lstStyle/>
          <a:p>
            <a:r>
              <a:rPr lang="en-US" sz="3600" b="1" dirty="0" smtClean="0">
                <a:latin typeface="Arial" pitchFamily="34" charset="0"/>
                <a:cs typeface="Arial" pitchFamily="34" charset="0"/>
              </a:rPr>
              <a:t>Lexical </a:t>
            </a:r>
            <a:r>
              <a:rPr lang="en-US" sz="3600" b="1" dirty="0">
                <a:latin typeface="Arial" pitchFamily="34" charset="0"/>
                <a:cs typeface="Arial" pitchFamily="34" charset="0"/>
              </a:rPr>
              <a:t>Relations</a:t>
            </a:r>
            <a:endParaRPr lang="en-PH" sz="3600" dirty="0">
              <a:latin typeface="Arial" pitchFamily="34" charset="0"/>
              <a:cs typeface="Arial" pitchFamily="34" charset="0"/>
            </a:endParaRPr>
          </a:p>
        </p:txBody>
      </p:sp>
      <p:sp>
        <p:nvSpPr>
          <p:cNvPr id="6" name="Rectangle 5"/>
          <p:cNvSpPr/>
          <p:nvPr/>
        </p:nvSpPr>
        <p:spPr>
          <a:xfrm>
            <a:off x="1044228" y="1373600"/>
            <a:ext cx="14689632" cy="1938992"/>
          </a:xfrm>
          <a:prstGeom prst="rect">
            <a:avLst/>
          </a:prstGeom>
        </p:spPr>
        <p:txBody>
          <a:bodyPr wrap="square">
            <a:spAutoFit/>
          </a:bodyPr>
          <a:lstStyle/>
          <a:p>
            <a:pPr algn="just"/>
            <a:r>
              <a:rPr lang="en-US" sz="3000" b="1" dirty="0" smtClean="0">
                <a:latin typeface="Arial" pitchFamily="34" charset="0"/>
                <a:cs typeface="Arial" pitchFamily="34" charset="0"/>
              </a:rPr>
              <a:t>WORDS</a:t>
            </a:r>
            <a:r>
              <a:rPr lang="en-US" sz="3000" dirty="0" smtClean="0">
                <a:latin typeface="Arial" pitchFamily="34" charset="0"/>
                <a:cs typeface="Arial" pitchFamily="34" charset="0"/>
              </a:rPr>
              <a:t> </a:t>
            </a:r>
            <a:r>
              <a:rPr lang="en-US" sz="3000" dirty="0">
                <a:latin typeface="Arial" pitchFamily="34" charset="0"/>
                <a:cs typeface="Arial" pitchFamily="34" charset="0"/>
              </a:rPr>
              <a:t>are categorized especially in terms of the sounds and structures that make up them up. This way contributes to the characterization of their meaning. However, there is another way of characterizing their meaning – that is by way of identifying its relationship to other words or </a:t>
            </a:r>
            <a:r>
              <a:rPr lang="en-US" sz="3000" i="1" dirty="0">
                <a:latin typeface="Arial" pitchFamily="34" charset="0"/>
                <a:cs typeface="Arial" pitchFamily="34" charset="0"/>
              </a:rPr>
              <a:t>lexical relations</a:t>
            </a:r>
            <a:r>
              <a:rPr lang="en-US" sz="3000" dirty="0">
                <a:latin typeface="Arial" pitchFamily="34" charset="0"/>
                <a:cs typeface="Arial" pitchFamily="34" charset="0"/>
              </a:rPr>
              <a:t>. </a:t>
            </a:r>
            <a:endParaRPr lang="en-PH" sz="3000" dirty="0">
              <a:latin typeface="Arial" pitchFamily="34" charset="0"/>
              <a:cs typeface="Arial" pitchFamily="34" charset="0"/>
            </a:endParaRPr>
          </a:p>
        </p:txBody>
      </p:sp>
      <p:sp>
        <p:nvSpPr>
          <p:cNvPr id="7" name="Rectangle 6"/>
          <p:cNvSpPr/>
          <p:nvPr/>
        </p:nvSpPr>
        <p:spPr>
          <a:xfrm>
            <a:off x="1074242" y="3641561"/>
            <a:ext cx="14731626" cy="1831271"/>
          </a:xfrm>
          <a:prstGeom prst="rect">
            <a:avLst/>
          </a:prstGeom>
        </p:spPr>
        <p:txBody>
          <a:bodyPr wrap="square">
            <a:spAutoFit/>
          </a:bodyPr>
          <a:lstStyle/>
          <a:p>
            <a:pPr algn="just"/>
            <a:r>
              <a:rPr lang="en-US" sz="2800" b="1" dirty="0" smtClean="0">
                <a:latin typeface="Arial" pitchFamily="34" charset="0"/>
                <a:cs typeface="Arial" pitchFamily="34" charset="0"/>
              </a:rPr>
              <a:t>1. SYNONYMY </a:t>
            </a:r>
            <a:r>
              <a:rPr lang="en-US" b="1" i="1" dirty="0" smtClean="0">
                <a:latin typeface="Arial" pitchFamily="34" charset="0"/>
                <a:cs typeface="Arial" pitchFamily="34" charset="0"/>
              </a:rPr>
              <a:t>(</a:t>
            </a:r>
            <a:r>
              <a:rPr lang="en-US" i="1" dirty="0">
                <a:latin typeface="Arial" pitchFamily="34" charset="0"/>
                <a:cs typeface="Arial" pitchFamily="34" charset="0"/>
              </a:rPr>
              <a:t>most commonly understood lexical </a:t>
            </a:r>
            <a:r>
              <a:rPr lang="en-US" i="1" dirty="0" smtClean="0">
                <a:latin typeface="Arial" pitchFamily="34" charset="0"/>
                <a:cs typeface="Arial" pitchFamily="34" charset="0"/>
              </a:rPr>
              <a:t>relation)</a:t>
            </a:r>
          </a:p>
          <a:p>
            <a:pPr algn="just"/>
            <a:r>
              <a:rPr lang="en-US" sz="2800" b="1" dirty="0" smtClean="0">
                <a:latin typeface="Arial" pitchFamily="34" charset="0"/>
                <a:cs typeface="Arial" pitchFamily="34" charset="0"/>
              </a:rPr>
              <a:t>	</a:t>
            </a:r>
            <a:r>
              <a:rPr lang="en-US" sz="2800" b="1" dirty="0" smtClean="0">
                <a:solidFill>
                  <a:srgbClr val="FF0000"/>
                </a:solidFill>
                <a:latin typeface="Arial" pitchFamily="34" charset="0"/>
                <a:cs typeface="Arial" pitchFamily="34" charset="0"/>
              </a:rPr>
              <a:t>Synonyms </a:t>
            </a:r>
            <a:r>
              <a:rPr lang="en-US" sz="2800" dirty="0" smtClean="0">
                <a:latin typeface="Arial" pitchFamily="34" charset="0"/>
                <a:cs typeface="Arial" pitchFamily="34" charset="0"/>
              </a:rPr>
              <a:t>are </a:t>
            </a:r>
            <a:r>
              <a:rPr lang="en-US" sz="2800" dirty="0">
                <a:latin typeface="Arial" pitchFamily="34" charset="0"/>
                <a:cs typeface="Arial" pitchFamily="34" charset="0"/>
              </a:rPr>
              <a:t>words with similar or very closely related meanings. Hence, oftentimes, but not always, they are intersubstitutable in sentences. Examples of synonyms include </a:t>
            </a:r>
            <a:r>
              <a:rPr lang="en-US" sz="2800" i="1" dirty="0">
                <a:latin typeface="Arial" pitchFamily="34" charset="0"/>
                <a:cs typeface="Arial" pitchFamily="34" charset="0"/>
              </a:rPr>
              <a:t>small – tiny, big – huge, fast – quick, wealthy – rich</a:t>
            </a:r>
            <a:r>
              <a:rPr lang="en-US" sz="2800" dirty="0">
                <a:latin typeface="Arial" pitchFamily="34" charset="0"/>
                <a:cs typeface="Arial" pitchFamily="34" charset="0"/>
              </a:rPr>
              <a:t>, and many more.</a:t>
            </a:r>
            <a:endParaRPr lang="en-PH" sz="2800" dirty="0">
              <a:latin typeface="Arial" pitchFamily="34" charset="0"/>
              <a:cs typeface="Arial" pitchFamily="34" charset="0"/>
            </a:endParaRPr>
          </a:p>
        </p:txBody>
      </p:sp>
      <p:sp>
        <p:nvSpPr>
          <p:cNvPr id="8" name="Rectangle 7"/>
          <p:cNvSpPr/>
          <p:nvPr/>
        </p:nvSpPr>
        <p:spPr>
          <a:xfrm>
            <a:off x="1044228" y="5766088"/>
            <a:ext cx="14833648" cy="1938992"/>
          </a:xfrm>
          <a:prstGeom prst="rect">
            <a:avLst/>
          </a:prstGeom>
        </p:spPr>
        <p:txBody>
          <a:bodyPr wrap="square">
            <a:spAutoFit/>
          </a:bodyPr>
          <a:lstStyle/>
          <a:p>
            <a:pPr algn="just"/>
            <a:r>
              <a:rPr lang="en-US" sz="3000" b="1" i="1" dirty="0" smtClean="0">
                <a:latin typeface="Arial" pitchFamily="34" charset="0"/>
                <a:cs typeface="Arial" pitchFamily="34" charset="0"/>
              </a:rPr>
              <a:t>2. </a:t>
            </a:r>
            <a:r>
              <a:rPr lang="en-US" sz="3000" b="1" dirty="0" smtClean="0">
                <a:latin typeface="Arial" pitchFamily="34" charset="0"/>
                <a:cs typeface="Arial" pitchFamily="34" charset="0"/>
              </a:rPr>
              <a:t>ANTONYMY</a:t>
            </a:r>
            <a:r>
              <a:rPr lang="en-US" sz="3000" dirty="0" smtClean="0">
                <a:latin typeface="Arial" pitchFamily="34" charset="0"/>
                <a:cs typeface="Arial" pitchFamily="34" charset="0"/>
              </a:rPr>
              <a:t>. </a:t>
            </a:r>
            <a:r>
              <a:rPr lang="en-US" sz="3000" dirty="0" smtClean="0">
                <a:solidFill>
                  <a:srgbClr val="FF0000"/>
                </a:solidFill>
                <a:latin typeface="Arial" pitchFamily="34" charset="0"/>
                <a:cs typeface="Arial" pitchFamily="34" charset="0"/>
              </a:rPr>
              <a:t>Antonyms</a:t>
            </a:r>
            <a:r>
              <a:rPr lang="en-US" sz="3000" dirty="0" smtClean="0">
                <a:latin typeface="Arial" pitchFamily="34" charset="0"/>
                <a:cs typeface="Arial" pitchFamily="34" charset="0"/>
              </a:rPr>
              <a:t> </a:t>
            </a:r>
            <a:r>
              <a:rPr lang="en-US" sz="3000" dirty="0">
                <a:latin typeface="Arial" pitchFamily="34" charset="0"/>
                <a:cs typeface="Arial" pitchFamily="34" charset="0"/>
              </a:rPr>
              <a:t>are words with opposite meanings. Commonly used examples are </a:t>
            </a:r>
            <a:r>
              <a:rPr lang="en-US" sz="3000" i="1" dirty="0">
                <a:latin typeface="Arial" pitchFamily="34" charset="0"/>
                <a:cs typeface="Arial" pitchFamily="34" charset="0"/>
              </a:rPr>
              <a:t>big – small, happy-sad, long-short, rich-poor, hot-cold, true – false</a:t>
            </a:r>
            <a:r>
              <a:rPr lang="en-US" sz="3000" dirty="0">
                <a:latin typeface="Arial" pitchFamily="34" charset="0"/>
                <a:cs typeface="Arial" pitchFamily="34" charset="0"/>
              </a:rPr>
              <a:t>. There are two main types of antonyms – gradable or continuous and non-gradable or categorical</a:t>
            </a:r>
            <a:r>
              <a:rPr lang="en-US" sz="3000" dirty="0" smtClean="0">
                <a:latin typeface="Arial" pitchFamily="34" charset="0"/>
                <a:cs typeface="Arial" pitchFamily="34" charset="0"/>
              </a:rPr>
              <a:t>.</a:t>
            </a:r>
            <a:r>
              <a:rPr lang="en-US" dirty="0"/>
              <a:t> </a:t>
            </a:r>
            <a:endParaRPr lang="en-PH" dirty="0"/>
          </a:p>
        </p:txBody>
      </p:sp>
    </p:spTree>
    <p:extLst>
      <p:ext uri="{BB962C8B-B14F-4D97-AF65-F5344CB8AC3E}">
        <p14:creationId xmlns:p14="http://schemas.microsoft.com/office/powerpoint/2010/main" val="369330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ircle(in)">
                                      <p:cBhvr>
                                        <p:cTn id="19" dur="20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heel(1)">
                                      <p:cBhvr>
                                        <p:cTn id="24"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756196" y="1096020"/>
            <a:ext cx="15049672" cy="2477601"/>
          </a:xfrm>
          <a:prstGeom prst="rect">
            <a:avLst/>
          </a:prstGeom>
        </p:spPr>
        <p:txBody>
          <a:bodyPr wrap="square">
            <a:spAutoFit/>
          </a:bodyPr>
          <a:lstStyle/>
          <a:p>
            <a:pPr algn="just"/>
            <a:r>
              <a:rPr lang="en-US" sz="3100" b="1" i="1" dirty="0" smtClean="0">
                <a:latin typeface="Arial" pitchFamily="34" charset="0"/>
                <a:cs typeface="Arial" pitchFamily="34" charset="0"/>
              </a:rPr>
              <a:t>3. </a:t>
            </a:r>
            <a:r>
              <a:rPr lang="en-US" sz="3100" b="1" dirty="0" smtClean="0">
                <a:latin typeface="Arial" pitchFamily="34" charset="0"/>
                <a:cs typeface="Arial" pitchFamily="34" charset="0"/>
              </a:rPr>
              <a:t>HYPONYMY.</a:t>
            </a:r>
            <a:r>
              <a:rPr lang="en-US" sz="3100" dirty="0" smtClean="0">
                <a:latin typeface="Arial" pitchFamily="34" charset="0"/>
                <a:cs typeface="Arial" pitchFamily="34" charset="0"/>
              </a:rPr>
              <a:t> </a:t>
            </a:r>
            <a:r>
              <a:rPr lang="en-US" sz="3100" dirty="0" smtClean="0">
                <a:solidFill>
                  <a:srgbClr val="FF0000"/>
                </a:solidFill>
                <a:latin typeface="Arial" pitchFamily="34" charset="0"/>
                <a:cs typeface="Arial" pitchFamily="34" charset="0"/>
              </a:rPr>
              <a:t>Hyponymy</a:t>
            </a:r>
            <a:r>
              <a:rPr lang="en-US" sz="3100" dirty="0" smtClean="0">
                <a:latin typeface="Arial" pitchFamily="34" charset="0"/>
                <a:cs typeface="Arial" pitchFamily="34" charset="0"/>
              </a:rPr>
              <a:t> </a:t>
            </a:r>
            <a:r>
              <a:rPr lang="en-US" sz="3100" dirty="0">
                <a:latin typeface="Arial" pitchFamily="34" charset="0"/>
                <a:cs typeface="Arial" pitchFamily="34" charset="0"/>
              </a:rPr>
              <a:t>describes a hierarchical relationship between words. If we can say that the meaning of word “x” is embedded in the word “y”, or if </a:t>
            </a:r>
            <a:r>
              <a:rPr lang="en-US" sz="3100" i="1" dirty="0">
                <a:latin typeface="Arial" pitchFamily="34" charset="0"/>
                <a:cs typeface="Arial" pitchFamily="34" charset="0"/>
              </a:rPr>
              <a:t>x is a kind of y</a:t>
            </a:r>
            <a:r>
              <a:rPr lang="en-US" sz="3100" dirty="0">
                <a:latin typeface="Arial" pitchFamily="34" charset="0"/>
                <a:cs typeface="Arial" pitchFamily="34" charset="0"/>
              </a:rPr>
              <a:t>, a hyponymous relationship between x and y exist.</a:t>
            </a:r>
            <a:endParaRPr lang="en-PH" sz="3100" dirty="0">
              <a:latin typeface="Arial" pitchFamily="34" charset="0"/>
              <a:cs typeface="Arial" pitchFamily="34" charset="0"/>
            </a:endParaRPr>
          </a:p>
          <a:p>
            <a:pPr algn="just"/>
            <a:r>
              <a:rPr lang="en-US" sz="3100" dirty="0">
                <a:latin typeface="Arial" pitchFamily="34" charset="0"/>
                <a:cs typeface="Arial" pitchFamily="34" charset="0"/>
              </a:rPr>
              <a:t>	</a:t>
            </a:r>
            <a:r>
              <a:rPr lang="en-US" sz="3100" dirty="0" smtClean="0">
                <a:latin typeface="Times New Roman" pitchFamily="18" charset="0"/>
                <a:cs typeface="Times New Roman" pitchFamily="18" charset="0"/>
              </a:rPr>
              <a:t>An </a:t>
            </a:r>
            <a:r>
              <a:rPr lang="en-US" sz="3100" dirty="0">
                <a:latin typeface="Times New Roman" pitchFamily="18" charset="0"/>
                <a:cs typeface="Times New Roman" pitchFamily="18" charset="0"/>
              </a:rPr>
              <a:t>example is when a pupil is asked about what dolphins are, the pupil answered that dolphins are mammals. In this case, the child identifies the dolphins as mammals.</a:t>
            </a:r>
            <a:endParaRPr lang="en-PH" sz="3100" dirty="0">
              <a:latin typeface="Times New Roman" pitchFamily="18" charset="0"/>
              <a:cs typeface="Times New Roman" pitchFamily="18" charset="0"/>
            </a:endParaRPr>
          </a:p>
        </p:txBody>
      </p:sp>
      <p:sp>
        <p:nvSpPr>
          <p:cNvPr id="6" name="Rectangle 5"/>
          <p:cNvSpPr/>
          <p:nvPr/>
        </p:nvSpPr>
        <p:spPr>
          <a:xfrm>
            <a:off x="828204" y="3814688"/>
            <a:ext cx="14905656" cy="2000548"/>
          </a:xfrm>
          <a:prstGeom prst="rect">
            <a:avLst/>
          </a:prstGeom>
        </p:spPr>
        <p:txBody>
          <a:bodyPr wrap="square">
            <a:spAutoFit/>
          </a:bodyPr>
          <a:lstStyle/>
          <a:p>
            <a:pPr algn="just"/>
            <a:r>
              <a:rPr lang="en-US" sz="3100" b="1" dirty="0" smtClean="0">
                <a:latin typeface="Arial" pitchFamily="34" charset="0"/>
                <a:cs typeface="Arial" pitchFamily="34" charset="0"/>
              </a:rPr>
              <a:t>4. HOMONYMY.</a:t>
            </a:r>
            <a:r>
              <a:rPr lang="en-US" sz="3100" dirty="0" smtClean="0">
                <a:latin typeface="Arial" pitchFamily="34" charset="0"/>
                <a:cs typeface="Arial" pitchFamily="34" charset="0"/>
              </a:rPr>
              <a:t> </a:t>
            </a:r>
            <a:r>
              <a:rPr lang="en-US" sz="3100" dirty="0" smtClean="0">
                <a:solidFill>
                  <a:srgbClr val="FF0000"/>
                </a:solidFill>
                <a:latin typeface="Arial" pitchFamily="34" charset="0"/>
                <a:cs typeface="Arial" pitchFamily="34" charset="0"/>
              </a:rPr>
              <a:t>‘</a:t>
            </a:r>
            <a:r>
              <a:rPr lang="en-US" sz="3100" dirty="0">
                <a:solidFill>
                  <a:srgbClr val="FF0000"/>
                </a:solidFill>
                <a:latin typeface="Arial" pitchFamily="34" charset="0"/>
                <a:cs typeface="Arial" pitchFamily="34" charset="0"/>
              </a:rPr>
              <a:t>Homonyms’ </a:t>
            </a:r>
            <a:r>
              <a:rPr lang="en-US" sz="3100" dirty="0">
                <a:latin typeface="Arial" pitchFamily="34" charset="0"/>
                <a:cs typeface="Arial" pitchFamily="34" charset="0"/>
              </a:rPr>
              <a:t>is the broad term used to describe words that are homophones or homographs, or both. Hence, from this definition words such as </a:t>
            </a:r>
            <a:r>
              <a:rPr lang="en-US" sz="3100" i="1" dirty="0">
                <a:latin typeface="Arial" pitchFamily="34" charset="0"/>
                <a:cs typeface="Arial" pitchFamily="34" charset="0"/>
              </a:rPr>
              <a:t>sea</a:t>
            </a:r>
            <a:r>
              <a:rPr lang="en-US" sz="3100" dirty="0">
                <a:latin typeface="Arial" pitchFamily="34" charset="0"/>
                <a:cs typeface="Arial" pitchFamily="34" charset="0"/>
              </a:rPr>
              <a:t> (body of water), </a:t>
            </a:r>
            <a:r>
              <a:rPr lang="en-US" sz="3100" i="1" dirty="0">
                <a:latin typeface="Arial" pitchFamily="34" charset="0"/>
                <a:cs typeface="Arial" pitchFamily="34" charset="0"/>
              </a:rPr>
              <a:t>see</a:t>
            </a:r>
            <a:r>
              <a:rPr lang="en-US" sz="3100" dirty="0">
                <a:latin typeface="Arial" pitchFamily="34" charset="0"/>
                <a:cs typeface="Arial" pitchFamily="34" charset="0"/>
              </a:rPr>
              <a:t> (to watch) and </a:t>
            </a:r>
            <a:r>
              <a:rPr lang="en-US" sz="3100" i="1" dirty="0">
                <a:latin typeface="Arial" pitchFamily="34" charset="0"/>
                <a:cs typeface="Arial" pitchFamily="34" charset="0"/>
              </a:rPr>
              <a:t>row</a:t>
            </a:r>
            <a:r>
              <a:rPr lang="en-US" sz="3100" dirty="0">
                <a:latin typeface="Arial" pitchFamily="34" charset="0"/>
                <a:cs typeface="Arial" pitchFamily="34" charset="0"/>
              </a:rPr>
              <a:t> (argument), </a:t>
            </a:r>
            <a:r>
              <a:rPr lang="en-US" sz="3100" i="1" dirty="0">
                <a:latin typeface="Arial" pitchFamily="34" charset="0"/>
                <a:cs typeface="Arial" pitchFamily="34" charset="0"/>
              </a:rPr>
              <a:t>row</a:t>
            </a:r>
            <a:r>
              <a:rPr lang="en-US" sz="3100" dirty="0">
                <a:latin typeface="Arial" pitchFamily="34" charset="0"/>
                <a:cs typeface="Arial" pitchFamily="34" charset="0"/>
              </a:rPr>
              <a:t> (propel with oars), </a:t>
            </a:r>
            <a:r>
              <a:rPr lang="en-US" sz="3100" i="1" dirty="0">
                <a:latin typeface="Arial" pitchFamily="34" charset="0"/>
                <a:cs typeface="Arial" pitchFamily="34" charset="0"/>
              </a:rPr>
              <a:t>row</a:t>
            </a:r>
            <a:r>
              <a:rPr lang="en-US" sz="3100" dirty="0">
                <a:latin typeface="Arial" pitchFamily="34" charset="0"/>
                <a:cs typeface="Arial" pitchFamily="34" charset="0"/>
              </a:rPr>
              <a:t> (a linear arrangement) are homonyms</a:t>
            </a:r>
            <a:r>
              <a:rPr lang="en-US" dirty="0"/>
              <a:t>. </a:t>
            </a:r>
            <a:endParaRPr lang="en-PH" dirty="0"/>
          </a:p>
        </p:txBody>
      </p:sp>
      <p:sp>
        <p:nvSpPr>
          <p:cNvPr id="7" name="Rectangle 6"/>
          <p:cNvSpPr/>
          <p:nvPr/>
        </p:nvSpPr>
        <p:spPr>
          <a:xfrm>
            <a:off x="2340372" y="5920556"/>
            <a:ext cx="12889432" cy="2000548"/>
          </a:xfrm>
          <a:prstGeom prst="rect">
            <a:avLst/>
          </a:prstGeom>
        </p:spPr>
        <p:txBody>
          <a:bodyPr wrap="square">
            <a:spAutoFit/>
          </a:bodyPr>
          <a:lstStyle/>
          <a:p>
            <a:pPr algn="just"/>
            <a:r>
              <a:rPr lang="en-US" sz="3100" dirty="0">
                <a:latin typeface="Times New Roman" pitchFamily="18" charset="0"/>
                <a:cs typeface="Times New Roman" pitchFamily="18" charset="0"/>
              </a:rPr>
              <a:t>Words are </a:t>
            </a:r>
            <a:r>
              <a:rPr lang="en-US" sz="3100" b="1" i="1" dirty="0">
                <a:solidFill>
                  <a:srgbClr val="FF0000"/>
                </a:solidFill>
                <a:latin typeface="Times New Roman" pitchFamily="18" charset="0"/>
                <a:cs typeface="Times New Roman" pitchFamily="18" charset="0"/>
              </a:rPr>
              <a:t>homophones</a:t>
            </a:r>
            <a:r>
              <a:rPr lang="en-US" sz="3100" dirty="0">
                <a:latin typeface="Times New Roman" pitchFamily="18" charset="0"/>
                <a:cs typeface="Times New Roman" pitchFamily="18" charset="0"/>
              </a:rPr>
              <a:t> if they are pronounced identically but have different meanings and regardless of spellings. If they have the same spelling then they are also homographs (and homonyms). Examples are </a:t>
            </a:r>
            <a:r>
              <a:rPr lang="en-US" sz="3100" i="1" dirty="0">
                <a:latin typeface="Times New Roman" pitchFamily="18" charset="0"/>
                <a:cs typeface="Times New Roman" pitchFamily="18" charset="0"/>
              </a:rPr>
              <a:t>sea – see, know – no, meat – meet, cell – sell, male – mail, pale – pail</a:t>
            </a:r>
            <a:r>
              <a:rPr lang="en-US" sz="3100" dirty="0">
                <a:latin typeface="Times New Roman" pitchFamily="18" charset="0"/>
                <a:cs typeface="Times New Roman" pitchFamily="18" charset="0"/>
              </a:rPr>
              <a:t>.</a:t>
            </a:r>
            <a:endParaRPr lang="en-PH" sz="3100" dirty="0">
              <a:latin typeface="Times New Roman" pitchFamily="18" charset="0"/>
              <a:cs typeface="Times New Roman" pitchFamily="18" charset="0"/>
            </a:endParaRPr>
          </a:p>
        </p:txBody>
      </p:sp>
    </p:spTree>
    <p:extLst>
      <p:ext uri="{BB962C8B-B14F-4D97-AF65-F5344CB8AC3E}">
        <p14:creationId xmlns:p14="http://schemas.microsoft.com/office/powerpoint/2010/main" val="350163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900212" y="571132"/>
            <a:ext cx="14689632" cy="3016210"/>
          </a:xfrm>
          <a:prstGeom prst="rect">
            <a:avLst/>
          </a:prstGeom>
        </p:spPr>
        <p:txBody>
          <a:bodyPr wrap="square">
            <a:spAutoFit/>
          </a:bodyPr>
          <a:lstStyle/>
          <a:p>
            <a:pPr algn="just"/>
            <a:r>
              <a:rPr lang="en-US" sz="3100" b="1" i="1" dirty="0" smtClean="0">
                <a:latin typeface="Arial" pitchFamily="34" charset="0"/>
                <a:cs typeface="Arial" pitchFamily="34" charset="0"/>
              </a:rPr>
              <a:t>5. </a:t>
            </a:r>
            <a:r>
              <a:rPr lang="en-US" sz="3100" b="1" dirty="0" smtClean="0">
                <a:latin typeface="Arial" pitchFamily="34" charset="0"/>
                <a:cs typeface="Arial" pitchFamily="34" charset="0"/>
              </a:rPr>
              <a:t>POLYSEMY. </a:t>
            </a:r>
            <a:r>
              <a:rPr lang="en-US" sz="3100" dirty="0" smtClean="0">
                <a:latin typeface="Arial" pitchFamily="34" charset="0"/>
                <a:cs typeface="Arial" pitchFamily="34" charset="0"/>
              </a:rPr>
              <a:t>Words </a:t>
            </a:r>
            <a:r>
              <a:rPr lang="en-US" sz="3100" dirty="0">
                <a:latin typeface="Arial" pitchFamily="34" charset="0"/>
                <a:cs typeface="Arial" pitchFamily="34" charset="0"/>
              </a:rPr>
              <a:t>that have related meanings and have the same spelling and pronunciation are technically known as </a:t>
            </a:r>
            <a:r>
              <a:rPr lang="en-US" sz="3100" b="1" i="1" dirty="0">
                <a:solidFill>
                  <a:srgbClr val="FF0000"/>
                </a:solidFill>
                <a:latin typeface="Arial" pitchFamily="34" charset="0"/>
                <a:cs typeface="Arial" pitchFamily="34" charset="0"/>
              </a:rPr>
              <a:t>polysemy</a:t>
            </a:r>
            <a:r>
              <a:rPr lang="en-US" sz="3100" b="1" dirty="0">
                <a:solidFill>
                  <a:srgbClr val="FF0000"/>
                </a:solidFill>
                <a:latin typeface="Arial" pitchFamily="34" charset="0"/>
                <a:cs typeface="Arial" pitchFamily="34" charset="0"/>
              </a:rPr>
              <a:t>. </a:t>
            </a:r>
            <a:endParaRPr lang="en-US" sz="3100" b="1" dirty="0" smtClean="0">
              <a:solidFill>
                <a:srgbClr val="FF0000"/>
              </a:solidFill>
              <a:latin typeface="Arial" pitchFamily="34" charset="0"/>
              <a:cs typeface="Arial" pitchFamily="34" charset="0"/>
            </a:endParaRPr>
          </a:p>
          <a:p>
            <a:pPr algn="just"/>
            <a:r>
              <a:rPr lang="en-US" sz="3100" dirty="0">
                <a:latin typeface="Arial" pitchFamily="34" charset="0"/>
                <a:cs typeface="Arial" pitchFamily="34" charset="0"/>
              </a:rPr>
              <a:t>	</a:t>
            </a:r>
            <a:r>
              <a:rPr lang="en-US" sz="3100" dirty="0" smtClean="0">
                <a:latin typeface="Times New Roman" pitchFamily="18" charset="0"/>
                <a:cs typeface="Times New Roman" pitchFamily="18" charset="0"/>
              </a:rPr>
              <a:t>Few </a:t>
            </a:r>
            <a:r>
              <a:rPr lang="en-US" sz="3100" dirty="0">
                <a:latin typeface="Times New Roman" pitchFamily="18" charset="0"/>
                <a:cs typeface="Times New Roman" pitchFamily="18" charset="0"/>
              </a:rPr>
              <a:t>examples are the words ‘head’ and ‘mouth’ that have multiple meaning which are all related by extension; </a:t>
            </a:r>
            <a:r>
              <a:rPr lang="en-US" sz="3100" i="1" dirty="0">
                <a:latin typeface="Times New Roman" pitchFamily="18" charset="0"/>
                <a:cs typeface="Times New Roman" pitchFamily="18" charset="0"/>
              </a:rPr>
              <a:t>head</a:t>
            </a:r>
            <a:r>
              <a:rPr lang="en-US" sz="3100" dirty="0">
                <a:latin typeface="Times New Roman" pitchFamily="18" charset="0"/>
                <a:cs typeface="Times New Roman" pitchFamily="18" charset="0"/>
              </a:rPr>
              <a:t> – the top part of the body, someone on top of a department or company, and on top of a glass of beer; </a:t>
            </a:r>
            <a:r>
              <a:rPr lang="en-US" sz="3100" i="1" dirty="0">
                <a:latin typeface="Times New Roman" pitchFamily="18" charset="0"/>
                <a:cs typeface="Times New Roman" pitchFamily="18" charset="0"/>
              </a:rPr>
              <a:t>mouth</a:t>
            </a:r>
            <a:r>
              <a:rPr lang="en-US" sz="3100" dirty="0">
                <a:latin typeface="Times New Roman" pitchFamily="18" charset="0"/>
                <a:cs typeface="Times New Roman" pitchFamily="18" charset="0"/>
              </a:rPr>
              <a:t> – part of the human body and that of animals, or the opening of a cave or river.</a:t>
            </a:r>
            <a:endParaRPr lang="en-PH" sz="3100" dirty="0">
              <a:latin typeface="Times New Roman" pitchFamily="18" charset="0"/>
              <a:cs typeface="Times New Roman" pitchFamily="18" charset="0"/>
            </a:endParaRPr>
          </a:p>
        </p:txBody>
      </p:sp>
      <p:sp>
        <p:nvSpPr>
          <p:cNvPr id="6" name="Rectangle 5"/>
          <p:cNvSpPr/>
          <p:nvPr/>
        </p:nvSpPr>
        <p:spPr>
          <a:xfrm>
            <a:off x="972220" y="4032672"/>
            <a:ext cx="14545616" cy="3370153"/>
          </a:xfrm>
          <a:prstGeom prst="rect">
            <a:avLst/>
          </a:prstGeom>
        </p:spPr>
        <p:txBody>
          <a:bodyPr wrap="square">
            <a:spAutoFit/>
          </a:bodyPr>
          <a:lstStyle/>
          <a:p>
            <a:pPr algn="just"/>
            <a:r>
              <a:rPr lang="en-US" sz="3100" b="1" dirty="0" smtClean="0">
                <a:latin typeface="Arial" pitchFamily="34" charset="0"/>
                <a:cs typeface="Arial" pitchFamily="34" charset="0"/>
              </a:rPr>
              <a:t>6. METONYMY</a:t>
            </a:r>
            <a:r>
              <a:rPr lang="en-US" sz="3100" dirty="0" smtClean="0">
                <a:latin typeface="Arial" pitchFamily="34" charset="0"/>
                <a:cs typeface="Arial" pitchFamily="34" charset="0"/>
              </a:rPr>
              <a:t>. </a:t>
            </a:r>
            <a:r>
              <a:rPr lang="en-US" sz="3100" dirty="0">
                <a:latin typeface="Arial" pitchFamily="34" charset="0"/>
                <a:cs typeface="Arial" pitchFamily="34" charset="0"/>
              </a:rPr>
              <a:t>Aside from polysemy, there is another type of lexical relationship that uses a term to stand for another word, idea, or concept. This close association or connection between words is called </a:t>
            </a:r>
            <a:r>
              <a:rPr lang="en-US" sz="3100" b="1" dirty="0">
                <a:solidFill>
                  <a:srgbClr val="FF0000"/>
                </a:solidFill>
                <a:latin typeface="Arial" pitchFamily="34" charset="0"/>
                <a:cs typeface="Arial" pitchFamily="34" charset="0"/>
              </a:rPr>
              <a:t>metonymy</a:t>
            </a:r>
            <a:r>
              <a:rPr lang="en-US" sz="3100" dirty="0">
                <a:latin typeface="Arial" pitchFamily="34" charset="0"/>
                <a:cs typeface="Arial" pitchFamily="34" charset="0"/>
              </a:rPr>
              <a:t>. </a:t>
            </a:r>
            <a:endParaRPr lang="en-US" sz="3100" dirty="0" smtClean="0">
              <a:latin typeface="Arial" pitchFamily="34" charset="0"/>
              <a:cs typeface="Arial" pitchFamily="34" charset="0"/>
            </a:endParaRPr>
          </a:p>
          <a:p>
            <a:pPr algn="just"/>
            <a:r>
              <a:rPr lang="en-US" sz="3000"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We </a:t>
            </a:r>
            <a:r>
              <a:rPr lang="en-US" sz="3000" dirty="0">
                <a:latin typeface="Times New Roman" pitchFamily="18" charset="0"/>
                <a:cs typeface="Times New Roman" pitchFamily="18" charset="0"/>
              </a:rPr>
              <a:t>can find some examples of metonymy in everyday communication. We use </a:t>
            </a:r>
            <a:r>
              <a:rPr lang="en-US" sz="3000" i="1" dirty="0">
                <a:latin typeface="Times New Roman" pitchFamily="18" charset="0"/>
                <a:cs typeface="Times New Roman" pitchFamily="18" charset="0"/>
              </a:rPr>
              <a:t>‘crown’</a:t>
            </a:r>
            <a:r>
              <a:rPr lang="en-US" sz="3000" dirty="0">
                <a:latin typeface="Times New Roman" pitchFamily="18" charset="0"/>
                <a:cs typeface="Times New Roman" pitchFamily="18" charset="0"/>
              </a:rPr>
              <a:t> to refer to the king and his rule, the </a:t>
            </a:r>
            <a:r>
              <a:rPr lang="en-US" sz="3000" dirty="0" err="1" smtClean="0">
                <a:latin typeface="Times New Roman" pitchFamily="18" charset="0"/>
                <a:cs typeface="Times New Roman" pitchFamily="18" charset="0"/>
              </a:rPr>
              <a:t>Malacanang</a:t>
            </a:r>
            <a:r>
              <a:rPr lang="en-US" sz="3000" dirty="0" smtClean="0">
                <a:latin typeface="Times New Roman" pitchFamily="18" charset="0"/>
                <a:cs typeface="Times New Roman" pitchFamily="18" charset="0"/>
              </a:rPr>
              <a:t> </a:t>
            </a:r>
            <a:r>
              <a:rPr lang="en-US" sz="3000" dirty="0">
                <a:latin typeface="Times New Roman" pitchFamily="18" charset="0"/>
                <a:cs typeface="Times New Roman" pitchFamily="18" charset="0"/>
              </a:rPr>
              <a:t>Palace for the President of the Philippines and the federal government, the </a:t>
            </a:r>
            <a:r>
              <a:rPr lang="en-US" sz="3000" i="1" dirty="0">
                <a:latin typeface="Times New Roman" pitchFamily="18" charset="0"/>
                <a:cs typeface="Times New Roman" pitchFamily="18" charset="0"/>
              </a:rPr>
              <a:t>Wall Street</a:t>
            </a:r>
            <a:r>
              <a:rPr lang="en-US" sz="3000" dirty="0">
                <a:latin typeface="Times New Roman" pitchFamily="18" charset="0"/>
                <a:cs typeface="Times New Roman" pitchFamily="18" charset="0"/>
              </a:rPr>
              <a:t> for the U.S economy, and many others. </a:t>
            </a:r>
            <a:endParaRPr lang="en-PH" sz="3000" dirty="0">
              <a:latin typeface="Times New Roman" pitchFamily="18" charset="0"/>
              <a:cs typeface="Times New Roman" pitchFamily="18" charset="0"/>
            </a:endParaRPr>
          </a:p>
        </p:txBody>
      </p:sp>
    </p:spTree>
    <p:extLst>
      <p:ext uri="{BB962C8B-B14F-4D97-AF65-F5344CB8AC3E}">
        <p14:creationId xmlns:p14="http://schemas.microsoft.com/office/powerpoint/2010/main" val="232807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1090588" y="2880544"/>
            <a:ext cx="14545616" cy="2477601"/>
          </a:xfrm>
          <a:prstGeom prst="rect">
            <a:avLst/>
          </a:prstGeom>
        </p:spPr>
        <p:txBody>
          <a:bodyPr wrap="square">
            <a:spAutoFit/>
          </a:bodyPr>
          <a:lstStyle/>
          <a:p>
            <a:pPr algn="just"/>
            <a:r>
              <a:rPr lang="en-US" sz="3100" b="1" i="1" dirty="0" smtClean="0">
                <a:latin typeface="Arial" pitchFamily="34" charset="0"/>
                <a:cs typeface="Arial" pitchFamily="34" charset="0"/>
              </a:rPr>
              <a:t>7. </a:t>
            </a:r>
            <a:r>
              <a:rPr lang="en-US" sz="3100" b="1" dirty="0" smtClean="0">
                <a:latin typeface="Arial" pitchFamily="34" charset="0"/>
                <a:cs typeface="Arial" pitchFamily="34" charset="0"/>
              </a:rPr>
              <a:t>IDIOMS</a:t>
            </a:r>
            <a:r>
              <a:rPr lang="en-US" sz="3100" dirty="0" smtClean="0">
                <a:latin typeface="Arial" pitchFamily="34" charset="0"/>
                <a:cs typeface="Arial" pitchFamily="34" charset="0"/>
              </a:rPr>
              <a:t>. </a:t>
            </a:r>
            <a:r>
              <a:rPr lang="en-US" sz="3100" dirty="0" smtClean="0">
                <a:solidFill>
                  <a:srgbClr val="FF0000"/>
                </a:solidFill>
                <a:latin typeface="Arial" pitchFamily="34" charset="0"/>
                <a:cs typeface="Arial" pitchFamily="34" charset="0"/>
              </a:rPr>
              <a:t>Idioms</a:t>
            </a:r>
            <a:r>
              <a:rPr lang="en-US" sz="3100" dirty="0" smtClean="0">
                <a:latin typeface="Arial" pitchFamily="34" charset="0"/>
                <a:cs typeface="Arial" pitchFamily="34" charset="0"/>
              </a:rPr>
              <a:t> </a:t>
            </a:r>
            <a:r>
              <a:rPr lang="en-US" sz="3100" dirty="0">
                <a:latin typeface="Arial" pitchFamily="34" charset="0"/>
                <a:cs typeface="Arial" pitchFamily="34" charset="0"/>
              </a:rPr>
              <a:t>are types of collocations that are made up of words in a fixed order and their meaning cannot be taken from the sum of the individual words, unlike the regular collocations. </a:t>
            </a:r>
            <a:endParaRPr lang="en-US" sz="3100" dirty="0" smtClean="0">
              <a:latin typeface="Arial" pitchFamily="34" charset="0"/>
              <a:cs typeface="Arial" pitchFamily="34" charset="0"/>
            </a:endParaRPr>
          </a:p>
          <a:p>
            <a:pPr algn="just"/>
            <a:r>
              <a:rPr lang="en-US" sz="3000" dirty="0">
                <a:latin typeface="Times New Roman" pitchFamily="18" charset="0"/>
                <a:cs typeface="Times New Roman" pitchFamily="18" charset="0"/>
              </a:rPr>
              <a:t>	</a:t>
            </a:r>
            <a:r>
              <a:rPr lang="en-US" sz="3000" dirty="0" smtClean="0">
                <a:latin typeface="Times New Roman" pitchFamily="18" charset="0"/>
                <a:cs typeface="Times New Roman" pitchFamily="18" charset="0"/>
              </a:rPr>
              <a:t>For </a:t>
            </a:r>
            <a:r>
              <a:rPr lang="en-US" sz="3000" dirty="0">
                <a:latin typeface="Times New Roman" pitchFamily="18" charset="0"/>
                <a:cs typeface="Times New Roman" pitchFamily="18" charset="0"/>
              </a:rPr>
              <a:t>example: </a:t>
            </a:r>
            <a:r>
              <a:rPr lang="en-US" sz="3000" i="1" dirty="0">
                <a:latin typeface="Times New Roman" pitchFamily="18" charset="0"/>
                <a:cs typeface="Times New Roman" pitchFamily="18" charset="0"/>
              </a:rPr>
              <a:t>pass the back</a:t>
            </a:r>
            <a:r>
              <a:rPr lang="en-US" sz="3000" dirty="0">
                <a:latin typeface="Times New Roman" pitchFamily="18" charset="0"/>
                <a:cs typeface="Times New Roman" pitchFamily="18" charset="0"/>
              </a:rPr>
              <a:t> which means to pass the blame or responsibility for something to someone else.</a:t>
            </a:r>
            <a:endParaRPr lang="en-PH" sz="3000" dirty="0">
              <a:latin typeface="Times New Roman" pitchFamily="18" charset="0"/>
              <a:cs typeface="Times New Roman" pitchFamily="18" charset="0"/>
            </a:endParaRPr>
          </a:p>
        </p:txBody>
      </p:sp>
    </p:spTree>
    <p:extLst>
      <p:ext uri="{BB962C8B-B14F-4D97-AF65-F5344CB8AC3E}">
        <p14:creationId xmlns:p14="http://schemas.microsoft.com/office/powerpoint/2010/main" val="418384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TextBox 4"/>
          <p:cNvSpPr txBox="1"/>
          <p:nvPr/>
        </p:nvSpPr>
        <p:spPr>
          <a:xfrm>
            <a:off x="396156" y="288256"/>
            <a:ext cx="3382080" cy="646331"/>
          </a:xfrm>
          <a:prstGeom prst="rect">
            <a:avLst/>
          </a:prstGeom>
          <a:noFill/>
        </p:spPr>
        <p:txBody>
          <a:bodyPr wrap="none" rtlCol="0">
            <a:spAutoFit/>
          </a:bodyPr>
          <a:lstStyle/>
          <a:p>
            <a:r>
              <a:rPr lang="en-PH" sz="3600" b="1" dirty="0" smtClean="0">
                <a:latin typeface="Arial" pitchFamily="34" charset="0"/>
                <a:cs typeface="Arial" pitchFamily="34" charset="0"/>
              </a:rPr>
              <a:t>PRAGMATICS </a:t>
            </a:r>
            <a:endParaRPr lang="en-PH" sz="3600" b="1" dirty="0">
              <a:latin typeface="Arial" pitchFamily="34" charset="0"/>
              <a:cs typeface="Arial" pitchFamily="34" charset="0"/>
            </a:endParaRPr>
          </a:p>
        </p:txBody>
      </p:sp>
      <p:sp>
        <p:nvSpPr>
          <p:cNvPr id="6" name="Rectangle 5"/>
          <p:cNvSpPr/>
          <p:nvPr/>
        </p:nvSpPr>
        <p:spPr>
          <a:xfrm>
            <a:off x="1027930" y="1030874"/>
            <a:ext cx="14761640" cy="2062103"/>
          </a:xfrm>
          <a:prstGeom prst="rect">
            <a:avLst/>
          </a:prstGeom>
        </p:spPr>
        <p:txBody>
          <a:bodyPr wrap="square">
            <a:spAutoFit/>
          </a:bodyPr>
          <a:lstStyle/>
          <a:p>
            <a:pPr algn="just"/>
            <a:r>
              <a:rPr lang="en-US" sz="3100" b="1" dirty="0">
                <a:solidFill>
                  <a:srgbClr val="FF0000"/>
                </a:solidFill>
                <a:latin typeface="Arial" pitchFamily="34" charset="0"/>
                <a:cs typeface="Arial" pitchFamily="34" charset="0"/>
              </a:rPr>
              <a:t>Pragmatics</a:t>
            </a:r>
            <a:r>
              <a:rPr lang="en-US" sz="3100" dirty="0">
                <a:latin typeface="Arial" pitchFamily="34" charset="0"/>
                <a:cs typeface="Arial" pitchFamily="34" charset="0"/>
              </a:rPr>
              <a:t> focuses on the aspects of meaning that cannot be predicted by our semantic knowledge alone, thus taking into account our knowledge and experience of both the physical and social world. </a:t>
            </a:r>
            <a:r>
              <a:rPr lang="en-US" sz="3100" dirty="0" smtClean="0">
                <a:latin typeface="Arial" pitchFamily="34" charset="0"/>
                <a:cs typeface="Arial" pitchFamily="34" charset="0"/>
              </a:rPr>
              <a:t>In other words, it is concerned with utterance meaning. </a:t>
            </a:r>
            <a:endParaRPr lang="en-PH" sz="3100" dirty="0">
              <a:latin typeface="Arial" pitchFamily="34" charset="0"/>
              <a:cs typeface="Arial" pitchFamily="34" charset="0"/>
            </a:endParaRPr>
          </a:p>
        </p:txBody>
      </p:sp>
      <p:sp>
        <p:nvSpPr>
          <p:cNvPr id="7" name="Rectangle 6"/>
          <p:cNvSpPr/>
          <p:nvPr/>
        </p:nvSpPr>
        <p:spPr>
          <a:xfrm>
            <a:off x="3938854" y="3324786"/>
            <a:ext cx="8770670" cy="707886"/>
          </a:xfrm>
          <a:prstGeom prst="rect">
            <a:avLst/>
          </a:prstGeom>
        </p:spPr>
        <p:txBody>
          <a:bodyPr wrap="none">
            <a:spAutoFit/>
          </a:bodyPr>
          <a:lstStyle/>
          <a:p>
            <a:pPr algn="ctr"/>
            <a:r>
              <a:rPr lang="en-US" sz="4000" b="1" dirty="0">
                <a:latin typeface="Times New Roman" pitchFamily="18" charset="0"/>
                <a:cs typeface="Times New Roman" pitchFamily="18" charset="0"/>
              </a:rPr>
              <a:t>Speaker meaning vs. Sentence meaning</a:t>
            </a:r>
            <a:endParaRPr lang="en-PH" sz="4000" dirty="0">
              <a:latin typeface="Times New Roman" pitchFamily="18" charset="0"/>
              <a:cs typeface="Times New Roman" pitchFamily="18" charset="0"/>
            </a:endParaRPr>
          </a:p>
        </p:txBody>
      </p:sp>
      <p:sp>
        <p:nvSpPr>
          <p:cNvPr id="8" name="Rectangle 7"/>
          <p:cNvSpPr/>
          <p:nvPr/>
        </p:nvSpPr>
        <p:spPr>
          <a:xfrm>
            <a:off x="1836316" y="4283536"/>
            <a:ext cx="13393488" cy="1477328"/>
          </a:xfrm>
          <a:prstGeom prst="rect">
            <a:avLst/>
          </a:prstGeom>
        </p:spPr>
        <p:txBody>
          <a:bodyPr wrap="square">
            <a:spAutoFit/>
          </a:bodyPr>
          <a:lstStyle/>
          <a:p>
            <a:pPr marL="457200" indent="-457200">
              <a:buFont typeface="Wingdings" pitchFamily="2" charset="2"/>
              <a:buChar char="v"/>
            </a:pPr>
            <a:r>
              <a:rPr lang="en-US" sz="3000" dirty="0">
                <a:latin typeface="Arial" pitchFamily="34" charset="0"/>
                <a:cs typeface="Arial" pitchFamily="34" charset="0"/>
              </a:rPr>
              <a:t>T</a:t>
            </a:r>
            <a:r>
              <a:rPr lang="en-US" sz="3000" dirty="0" smtClean="0">
                <a:latin typeface="Arial" pitchFamily="34" charset="0"/>
                <a:cs typeface="Arial" pitchFamily="34" charset="0"/>
              </a:rPr>
              <a:t>he </a:t>
            </a:r>
            <a:r>
              <a:rPr lang="en-US" sz="3000" dirty="0">
                <a:latin typeface="Arial" pitchFamily="34" charset="0"/>
                <a:cs typeface="Arial" pitchFamily="34" charset="0"/>
              </a:rPr>
              <a:t>sentence meaning is the literal meaning of a sentence. </a:t>
            </a:r>
            <a:endParaRPr lang="en-US" sz="3000" dirty="0" smtClean="0">
              <a:latin typeface="Arial" pitchFamily="34" charset="0"/>
              <a:cs typeface="Arial" pitchFamily="34" charset="0"/>
            </a:endParaRPr>
          </a:p>
          <a:p>
            <a:pPr marL="457200" indent="-457200">
              <a:buFont typeface="Wingdings" pitchFamily="2" charset="2"/>
              <a:buChar char="v"/>
            </a:pPr>
            <a:r>
              <a:rPr lang="en-US" sz="3000" dirty="0">
                <a:latin typeface="Arial" pitchFamily="34" charset="0"/>
                <a:cs typeface="Arial" pitchFamily="34" charset="0"/>
              </a:rPr>
              <a:t>Speaker meaning, </a:t>
            </a:r>
            <a:r>
              <a:rPr lang="en-US" sz="3000" dirty="0" smtClean="0">
                <a:latin typeface="Arial" pitchFamily="34" charset="0"/>
                <a:cs typeface="Arial" pitchFamily="34" charset="0"/>
              </a:rPr>
              <a:t>is </a:t>
            </a:r>
            <a:r>
              <a:rPr lang="en-US" sz="3000" dirty="0">
                <a:latin typeface="Arial" pitchFamily="34" charset="0"/>
                <a:cs typeface="Arial" pitchFamily="34" charset="0"/>
              </a:rPr>
              <a:t>the meaning that a speaker intends that may be well beyond the sentence conceptual meaning. </a:t>
            </a:r>
            <a:endParaRPr lang="en-PH" sz="3000" dirty="0">
              <a:latin typeface="Arial" pitchFamily="34" charset="0"/>
              <a:cs typeface="Arial" pitchFamily="34" charset="0"/>
            </a:endParaRPr>
          </a:p>
        </p:txBody>
      </p:sp>
      <p:sp>
        <p:nvSpPr>
          <p:cNvPr id="9" name="Rectangle 8"/>
          <p:cNvSpPr/>
          <p:nvPr/>
        </p:nvSpPr>
        <p:spPr>
          <a:xfrm>
            <a:off x="3636516" y="611421"/>
            <a:ext cx="11506974" cy="4571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41111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circle(in)">
                                      <p:cBhvr>
                                        <p:cTn id="14" dur="20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560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954" t="35764" r="14165" b="12934"/>
          <a:stretch/>
        </p:blipFill>
        <p:spPr bwMode="auto">
          <a:xfrm>
            <a:off x="1044228" y="435207"/>
            <a:ext cx="13849295" cy="7413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074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wipe(down)">
                                      <p:cBhvr>
                                        <p:cTn id="7" dur="500"/>
                                        <p:tgtEl>
                                          <p:spTgt spid="25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66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259" t="25347" r="13715" b="10590"/>
          <a:stretch/>
        </p:blipFill>
        <p:spPr bwMode="auto">
          <a:xfrm>
            <a:off x="2808424" y="504280"/>
            <a:ext cx="11773308" cy="784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95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fade">
                                      <p:cBhvr>
                                        <p:cTn id="7" dur="1000"/>
                                        <p:tgtEl>
                                          <p:spTgt spid="26626"/>
                                        </p:tgtEl>
                                      </p:cBhvr>
                                    </p:animEffect>
                                    <p:anim calcmode="lin" valueType="num">
                                      <p:cBhvr>
                                        <p:cTn id="8" dur="1000" fill="hold"/>
                                        <p:tgtEl>
                                          <p:spTgt spid="26626"/>
                                        </p:tgtEl>
                                        <p:attrNameLst>
                                          <p:attrName>ppt_x</p:attrName>
                                        </p:attrNameLst>
                                      </p:cBhvr>
                                      <p:tavLst>
                                        <p:tav tm="0">
                                          <p:val>
                                            <p:strVal val="#ppt_x"/>
                                          </p:val>
                                        </p:tav>
                                        <p:tav tm="100000">
                                          <p:val>
                                            <p:strVal val="#ppt_x"/>
                                          </p:val>
                                        </p:tav>
                                      </p:tavLst>
                                    </p:anim>
                                    <p:anim calcmode="lin" valueType="num">
                                      <p:cBhvr>
                                        <p:cTn id="9" dur="1000" fill="hold"/>
                                        <p:tgtEl>
                                          <p:spTgt spid="266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76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808" t="28993" r="13726" b="20225"/>
          <a:stretch/>
        </p:blipFill>
        <p:spPr bwMode="auto">
          <a:xfrm>
            <a:off x="1332260" y="493827"/>
            <a:ext cx="14168959" cy="7427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57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fade">
                                      <p:cBhvr>
                                        <p:cTn id="7" dur="1000"/>
                                        <p:tgtEl>
                                          <p:spTgt spid="27650"/>
                                        </p:tgtEl>
                                      </p:cBhvr>
                                    </p:animEffect>
                                    <p:anim calcmode="lin" valueType="num">
                                      <p:cBhvr>
                                        <p:cTn id="8" dur="1000" fill="hold"/>
                                        <p:tgtEl>
                                          <p:spTgt spid="27650"/>
                                        </p:tgtEl>
                                        <p:attrNameLst>
                                          <p:attrName>ppt_x</p:attrName>
                                        </p:attrNameLst>
                                      </p:cBhvr>
                                      <p:tavLst>
                                        <p:tav tm="0">
                                          <p:val>
                                            <p:strVal val="#ppt_x"/>
                                          </p:val>
                                        </p:tav>
                                        <p:tav tm="100000">
                                          <p:val>
                                            <p:strVal val="#ppt_x"/>
                                          </p:val>
                                        </p:tav>
                                      </p:tavLst>
                                    </p:anim>
                                    <p:anim calcmode="lin" valueType="num">
                                      <p:cBhvr>
                                        <p:cTn id="9" dur="1000" fill="hold"/>
                                        <p:tgtEl>
                                          <p:spTgt spid="276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286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808" t="32118" r="14019" b="13195"/>
          <a:stretch/>
        </p:blipFill>
        <p:spPr bwMode="auto">
          <a:xfrm>
            <a:off x="1548284" y="484818"/>
            <a:ext cx="13609512" cy="7724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951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additive="base">
                                        <p:cTn id="7" dur="500" fill="hold"/>
                                        <p:tgtEl>
                                          <p:spTgt spid="28674"/>
                                        </p:tgtEl>
                                        <p:attrNameLst>
                                          <p:attrName>ppt_x</p:attrName>
                                        </p:attrNameLst>
                                      </p:cBhvr>
                                      <p:tavLst>
                                        <p:tav tm="0">
                                          <p:val>
                                            <p:strVal val="#ppt_x"/>
                                          </p:val>
                                        </p:tav>
                                        <p:tav tm="100000">
                                          <p:val>
                                            <p:strVal val="#ppt_x"/>
                                          </p:val>
                                        </p:tav>
                                      </p:tavLst>
                                    </p:anim>
                                    <p:anim calcmode="lin" valueType="num">
                                      <p:cBhvr additive="base">
                                        <p:cTn id="8" dur="500" fill="hold"/>
                                        <p:tgtEl>
                                          <p:spTgt spid="286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396156" y="216248"/>
            <a:ext cx="5238935" cy="584775"/>
          </a:xfrm>
          <a:prstGeom prst="rect">
            <a:avLst/>
          </a:prstGeom>
        </p:spPr>
        <p:txBody>
          <a:bodyPr wrap="none">
            <a:spAutoFit/>
          </a:bodyPr>
          <a:lstStyle/>
          <a:p>
            <a:r>
              <a:rPr lang="en-US" sz="3200" b="1" dirty="0">
                <a:latin typeface="Arial" pitchFamily="34" charset="0"/>
                <a:cs typeface="Arial" pitchFamily="34" charset="0"/>
              </a:rPr>
              <a:t>The Cooperative Principle</a:t>
            </a:r>
            <a:endParaRPr lang="en-PH" sz="3200" dirty="0">
              <a:latin typeface="Arial" pitchFamily="34" charset="0"/>
              <a:cs typeface="Arial" pitchFamily="34" charset="0"/>
            </a:endParaRPr>
          </a:p>
        </p:txBody>
      </p:sp>
      <p:sp>
        <p:nvSpPr>
          <p:cNvPr id="6" name="TextBox 5"/>
          <p:cNvSpPr txBox="1"/>
          <p:nvPr/>
        </p:nvSpPr>
        <p:spPr>
          <a:xfrm>
            <a:off x="972220" y="927617"/>
            <a:ext cx="5285421" cy="58477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3200" b="1" dirty="0" smtClean="0">
                <a:latin typeface="Arial" pitchFamily="34" charset="0"/>
                <a:cs typeface="Arial" pitchFamily="34" charset="0"/>
              </a:rPr>
              <a:t>Four Maxims (Grice, 1989)</a:t>
            </a:r>
            <a:endParaRPr lang="en-PH" sz="3200" b="1" dirty="0">
              <a:latin typeface="Arial" pitchFamily="34" charset="0"/>
              <a:cs typeface="Arial" pitchFamily="34" charset="0"/>
            </a:endParaRPr>
          </a:p>
        </p:txBody>
      </p:sp>
      <p:sp>
        <p:nvSpPr>
          <p:cNvPr id="7" name="Rectangle 6"/>
          <p:cNvSpPr/>
          <p:nvPr/>
        </p:nvSpPr>
        <p:spPr>
          <a:xfrm>
            <a:off x="1404268" y="1728416"/>
            <a:ext cx="14041560" cy="1046440"/>
          </a:xfrm>
          <a:prstGeom prst="rect">
            <a:avLst/>
          </a:prstGeom>
        </p:spPr>
        <p:txBody>
          <a:bodyPr wrap="square">
            <a:spAutoFit/>
          </a:bodyPr>
          <a:lstStyle/>
          <a:p>
            <a:pPr algn="just"/>
            <a:r>
              <a:rPr lang="en-US" sz="3000" b="1" dirty="0">
                <a:latin typeface="Arial" pitchFamily="34" charset="0"/>
                <a:cs typeface="Arial" pitchFamily="34" charset="0"/>
              </a:rPr>
              <a:t>Paul Grice, </a:t>
            </a:r>
            <a:r>
              <a:rPr lang="en-US" sz="3000" dirty="0">
                <a:latin typeface="Arial" pitchFamily="34" charset="0"/>
                <a:cs typeface="Arial" pitchFamily="34" charset="0"/>
              </a:rPr>
              <a:t>an English language philosopher, argues that our utterance is a potential interference in the rights, thoughts, and wishes of our listeners.</a:t>
            </a:r>
            <a:endParaRPr lang="en-PH" sz="3000" dirty="0">
              <a:latin typeface="Arial" pitchFamily="34" charset="0"/>
              <a:cs typeface="Arial" pitchFamily="34" charset="0"/>
            </a:endParaRPr>
          </a:p>
        </p:txBody>
      </p:sp>
      <p:sp>
        <p:nvSpPr>
          <p:cNvPr id="8" name="Rectangle 7"/>
          <p:cNvSpPr/>
          <p:nvPr/>
        </p:nvSpPr>
        <p:spPr>
          <a:xfrm>
            <a:off x="1903636" y="2864857"/>
            <a:ext cx="13902233" cy="5632311"/>
          </a:xfrm>
          <a:prstGeom prst="rect">
            <a:avLst/>
          </a:prstGeom>
        </p:spPr>
        <p:txBody>
          <a:bodyPr wrap="square">
            <a:spAutoFit/>
          </a:bodyPr>
          <a:lstStyle/>
          <a:p>
            <a:pPr algn="just"/>
            <a:r>
              <a:rPr lang="en-US" sz="3000" b="1" dirty="0">
                <a:solidFill>
                  <a:srgbClr val="FF0000"/>
                </a:solidFill>
                <a:latin typeface="Arial" pitchFamily="34" charset="0"/>
                <a:cs typeface="Arial" pitchFamily="34" charset="0"/>
              </a:rPr>
              <a:t>The Maxim of Quantity</a:t>
            </a:r>
            <a:r>
              <a:rPr lang="en-US" sz="3000" dirty="0">
                <a:solidFill>
                  <a:srgbClr val="FF0000"/>
                </a:solidFill>
                <a:latin typeface="Arial" pitchFamily="34" charset="0"/>
                <a:cs typeface="Arial" pitchFamily="34" charset="0"/>
              </a:rPr>
              <a:t>. </a:t>
            </a:r>
            <a:r>
              <a:rPr lang="en-US" dirty="0">
                <a:latin typeface="Arial" pitchFamily="34" charset="0"/>
                <a:cs typeface="Arial" pitchFamily="34" charset="0"/>
              </a:rPr>
              <a:t>In this maxim, we are reminded that in our talk exchange with people we have to just say enough, nothing more, nothing less. Our contribution must also be informative but just enough, not more informative, as is required of the purpose of the exchange. Hence, we violated this maxim if we said too little, or if we said more than is necessary</a:t>
            </a:r>
            <a:r>
              <a:rPr lang="en-US" dirty="0" smtClean="0">
                <a:latin typeface="Arial" pitchFamily="34" charset="0"/>
                <a:cs typeface="Arial" pitchFamily="34" charset="0"/>
              </a:rPr>
              <a:t>.</a:t>
            </a:r>
          </a:p>
          <a:p>
            <a:pPr algn="just"/>
            <a:endParaRPr lang="en-PH" sz="1600" dirty="0">
              <a:latin typeface="Arial" pitchFamily="34" charset="0"/>
              <a:cs typeface="Arial" pitchFamily="34" charset="0"/>
            </a:endParaRPr>
          </a:p>
          <a:p>
            <a:pPr algn="just"/>
            <a:r>
              <a:rPr lang="en-US" sz="3000" b="1" dirty="0">
                <a:solidFill>
                  <a:srgbClr val="FF0000"/>
                </a:solidFill>
                <a:latin typeface="Arial" pitchFamily="34" charset="0"/>
                <a:cs typeface="Arial" pitchFamily="34" charset="0"/>
              </a:rPr>
              <a:t>The Maxim of Quality</a:t>
            </a:r>
            <a:r>
              <a:rPr lang="en-US" sz="3000" dirty="0">
                <a:solidFill>
                  <a:srgbClr val="FF0000"/>
                </a:solidFill>
                <a:latin typeface="Arial" pitchFamily="34" charset="0"/>
                <a:cs typeface="Arial" pitchFamily="34" charset="0"/>
              </a:rPr>
              <a:t>. </a:t>
            </a:r>
            <a:r>
              <a:rPr lang="en-US" sz="2800" dirty="0">
                <a:latin typeface="Arial" pitchFamily="34" charset="0"/>
                <a:cs typeface="Arial" pitchFamily="34" charset="0"/>
              </a:rPr>
              <a:t>There is one supermaxim of quality – that is, we have to be truthful. Based on this supermaxim, there are two specific maxims or submaxims:  (1) We should not say what we believe to be false. Since we cannot be sure all the time that what we are going to say is true, the best thing that we should do is to say only what we believe to be true. (2) We should not say anything that we are not sure of or if we lack adequate evidence. We should avoid saying things that we cannot back up with supporting evidence</a:t>
            </a:r>
            <a:r>
              <a:rPr lang="en-US" sz="2800" dirty="0" smtClean="0">
                <a:latin typeface="Arial" pitchFamily="34" charset="0"/>
                <a:cs typeface="Arial" pitchFamily="34" charset="0"/>
              </a:rPr>
              <a:t>.</a:t>
            </a:r>
            <a:endParaRPr lang="en-PH" sz="2800" dirty="0">
              <a:latin typeface="Arial" pitchFamily="34" charset="0"/>
              <a:cs typeface="Arial" pitchFamily="34" charset="0"/>
            </a:endParaRPr>
          </a:p>
        </p:txBody>
      </p:sp>
    </p:spTree>
    <p:extLst>
      <p:ext uri="{BB962C8B-B14F-4D97-AF65-F5344CB8AC3E}">
        <p14:creationId xmlns:p14="http://schemas.microsoft.com/office/powerpoint/2010/main" val="272735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Rectangle 4"/>
          <p:cNvSpPr/>
          <p:nvPr/>
        </p:nvSpPr>
        <p:spPr>
          <a:xfrm>
            <a:off x="2484388" y="864320"/>
            <a:ext cx="13033448" cy="6817251"/>
          </a:xfrm>
          <a:prstGeom prst="rect">
            <a:avLst/>
          </a:prstGeom>
        </p:spPr>
        <p:txBody>
          <a:bodyPr wrap="square">
            <a:spAutoFit/>
          </a:bodyPr>
          <a:lstStyle/>
          <a:p>
            <a:pPr algn="just"/>
            <a:r>
              <a:rPr lang="en-US" sz="3000" b="1" dirty="0">
                <a:solidFill>
                  <a:srgbClr val="FF0000"/>
                </a:solidFill>
                <a:latin typeface="Arial" pitchFamily="34" charset="0"/>
                <a:cs typeface="Arial" pitchFamily="34" charset="0"/>
              </a:rPr>
              <a:t>The Maxim of Relation.</a:t>
            </a:r>
            <a:r>
              <a:rPr lang="en-US" sz="3000" dirty="0">
                <a:solidFill>
                  <a:srgbClr val="FF0000"/>
                </a:solidFill>
                <a:latin typeface="Arial" pitchFamily="34" charset="0"/>
                <a:cs typeface="Arial" pitchFamily="34" charset="0"/>
              </a:rPr>
              <a:t> </a:t>
            </a:r>
            <a:r>
              <a:rPr lang="en-US" dirty="0">
                <a:latin typeface="Arial" pitchFamily="34" charset="0"/>
                <a:cs typeface="Arial" pitchFamily="34" charset="0"/>
              </a:rPr>
              <a:t>This maxim is also called the maxim of Relevance, following its two-word dictum that we must “Be relevant.” To be relevant means that in a conversation, we should say things related not only to the context of the discourse but also to the context of the situation. In other words, we must not include irrelevant information</a:t>
            </a:r>
            <a:r>
              <a:rPr lang="en-US" dirty="0" smtClean="0">
                <a:latin typeface="Arial" pitchFamily="34" charset="0"/>
                <a:cs typeface="Arial" pitchFamily="34" charset="0"/>
              </a:rPr>
              <a:t>.</a:t>
            </a:r>
          </a:p>
          <a:p>
            <a:pPr algn="just"/>
            <a:endParaRPr lang="en-PH" dirty="0">
              <a:latin typeface="Arial" pitchFamily="34" charset="0"/>
              <a:cs typeface="Arial" pitchFamily="34" charset="0"/>
            </a:endParaRPr>
          </a:p>
          <a:p>
            <a:pPr algn="just"/>
            <a:r>
              <a:rPr lang="en-US" sz="3000" b="1" dirty="0">
                <a:solidFill>
                  <a:srgbClr val="FF0000"/>
                </a:solidFill>
                <a:latin typeface="Arial" pitchFamily="34" charset="0"/>
                <a:cs typeface="Arial" pitchFamily="34" charset="0"/>
              </a:rPr>
              <a:t>The Maxim of Manner</a:t>
            </a:r>
            <a:r>
              <a:rPr lang="en-US" sz="3000" dirty="0">
                <a:solidFill>
                  <a:srgbClr val="FF0000"/>
                </a:solidFill>
                <a:latin typeface="Arial" pitchFamily="34" charset="0"/>
                <a:cs typeface="Arial" pitchFamily="34" charset="0"/>
              </a:rPr>
              <a:t>. </a:t>
            </a:r>
            <a:r>
              <a:rPr lang="en-US" dirty="0">
                <a:latin typeface="Arial" pitchFamily="34" charset="0"/>
                <a:cs typeface="Arial" pitchFamily="34" charset="0"/>
              </a:rPr>
              <a:t>How we express our thoughts matters in a talk exchange. Often, problems in communication such as misunderstanding or miscommunication occur because of language ambiguity and obscurity of expression. To avoid these problems, we should be perspicuous – that is, we should communicate clearly. We should also use language that is easy to understand. Let us avoid language which can be interpreted in multiple ways. In our communication, we should provide information in a concise manner and orderly fashion. Lastly, let us always </a:t>
            </a:r>
            <a:r>
              <a:rPr lang="en-US" i="1" dirty="0">
                <a:latin typeface="Arial" pitchFamily="34" charset="0"/>
                <a:cs typeface="Arial" pitchFamily="34" charset="0"/>
              </a:rPr>
              <a:t>“Seek first to understand and to be understood</a:t>
            </a:r>
            <a:r>
              <a:rPr lang="en-US" dirty="0">
                <a:latin typeface="Arial" pitchFamily="34" charset="0"/>
                <a:cs typeface="Arial" pitchFamily="34" charset="0"/>
              </a:rPr>
              <a:t>.”</a:t>
            </a:r>
            <a:endParaRPr lang="en-PH" dirty="0">
              <a:latin typeface="Arial" pitchFamily="34" charset="0"/>
              <a:cs typeface="Arial" pitchFamily="34" charset="0"/>
            </a:endParaRPr>
          </a:p>
        </p:txBody>
      </p:sp>
    </p:spTree>
    <p:extLst>
      <p:ext uri="{BB962C8B-B14F-4D97-AF65-F5344CB8AC3E}">
        <p14:creationId xmlns:p14="http://schemas.microsoft.com/office/powerpoint/2010/main" val="399917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3" name="TextBox 2"/>
          <p:cNvSpPr txBox="1"/>
          <p:nvPr/>
        </p:nvSpPr>
        <p:spPr>
          <a:xfrm>
            <a:off x="252140" y="288256"/>
            <a:ext cx="4476418" cy="646331"/>
          </a:xfrm>
          <a:prstGeom prst="rect">
            <a:avLst/>
          </a:prstGeom>
          <a:noFill/>
        </p:spPr>
        <p:txBody>
          <a:bodyPr wrap="none" rtlCol="0">
            <a:spAutoFit/>
          </a:bodyPr>
          <a:lstStyle/>
          <a:p>
            <a:r>
              <a:rPr lang="en-PH" sz="3600" b="1" dirty="0" smtClean="0">
                <a:latin typeface="Arial" pitchFamily="34" charset="0"/>
                <a:cs typeface="Arial" pitchFamily="34" charset="0"/>
              </a:rPr>
              <a:t>Speech Act Theory </a:t>
            </a:r>
            <a:endParaRPr lang="en-PH" sz="3600" b="1" dirty="0">
              <a:latin typeface="Arial" pitchFamily="34" charset="0"/>
              <a:cs typeface="Arial" pitchFamily="34" charset="0"/>
            </a:endParaRPr>
          </a:p>
        </p:txBody>
      </p:sp>
      <p:sp>
        <p:nvSpPr>
          <p:cNvPr id="4" name="Rectangle 3"/>
          <p:cNvSpPr/>
          <p:nvPr/>
        </p:nvSpPr>
        <p:spPr>
          <a:xfrm>
            <a:off x="1404268" y="1008336"/>
            <a:ext cx="14185576" cy="2000548"/>
          </a:xfrm>
          <a:prstGeom prst="rect">
            <a:avLst/>
          </a:prstGeom>
        </p:spPr>
        <p:txBody>
          <a:bodyPr wrap="square">
            <a:spAutoFit/>
          </a:bodyPr>
          <a:lstStyle/>
          <a:p>
            <a:pPr algn="just"/>
            <a:r>
              <a:rPr lang="en-US" sz="3000" dirty="0">
                <a:latin typeface="Arial" pitchFamily="34" charset="0"/>
                <a:cs typeface="Arial" pitchFamily="34" charset="0"/>
              </a:rPr>
              <a:t>This </a:t>
            </a:r>
            <a:r>
              <a:rPr lang="en-US" sz="3000" dirty="0" smtClean="0">
                <a:latin typeface="Arial" pitchFamily="34" charset="0"/>
                <a:cs typeface="Arial" pitchFamily="34" charset="0"/>
              </a:rPr>
              <a:t>THEORY has </a:t>
            </a:r>
            <a:r>
              <a:rPr lang="en-US" sz="3000" dirty="0">
                <a:latin typeface="Arial" pitchFamily="34" charset="0"/>
                <a:cs typeface="Arial" pitchFamily="34" charset="0"/>
              </a:rPr>
              <a:t>been studied by </a:t>
            </a:r>
            <a:r>
              <a:rPr lang="en-US" sz="3000" b="1" dirty="0" smtClean="0">
                <a:latin typeface="Arial" pitchFamily="34" charset="0"/>
                <a:cs typeface="Arial" pitchFamily="34" charset="0"/>
              </a:rPr>
              <a:t>J.L</a:t>
            </a:r>
            <a:r>
              <a:rPr lang="en-US" sz="3000" b="1" dirty="0">
                <a:latin typeface="Arial" pitchFamily="34" charset="0"/>
                <a:cs typeface="Arial" pitchFamily="34" charset="0"/>
              </a:rPr>
              <a:t>. </a:t>
            </a:r>
            <a:r>
              <a:rPr lang="en-US" sz="3000" b="1" dirty="0" smtClean="0">
                <a:latin typeface="Arial" pitchFamily="34" charset="0"/>
                <a:cs typeface="Arial" pitchFamily="34" charset="0"/>
              </a:rPr>
              <a:t>Austin (975). </a:t>
            </a:r>
            <a:r>
              <a:rPr lang="en-US" sz="3000" dirty="0" smtClean="0">
                <a:latin typeface="Arial" pitchFamily="34" charset="0"/>
                <a:cs typeface="Arial" pitchFamily="34" charset="0"/>
              </a:rPr>
              <a:t>He claimed </a:t>
            </a:r>
            <a:r>
              <a:rPr lang="en-US" sz="3000" dirty="0">
                <a:latin typeface="Arial" pitchFamily="34" charset="0"/>
                <a:cs typeface="Arial" pitchFamily="34" charset="0"/>
              </a:rPr>
              <a:t>that we do not only use our words to present or state information, but also carry out actions. He called this the Speech Act theory</a:t>
            </a:r>
            <a:r>
              <a:rPr lang="en-US" sz="3000" dirty="0" smtClean="0">
                <a:latin typeface="Arial" pitchFamily="34" charset="0"/>
                <a:cs typeface="Arial" pitchFamily="34" charset="0"/>
              </a:rPr>
              <a:t>. SAT is further developed by </a:t>
            </a:r>
            <a:r>
              <a:rPr lang="en-US" sz="3000" b="1" dirty="0">
                <a:latin typeface="Arial" pitchFamily="34" charset="0"/>
                <a:cs typeface="Arial" pitchFamily="34" charset="0"/>
              </a:rPr>
              <a:t>J.R. Searle</a:t>
            </a:r>
            <a:r>
              <a:rPr lang="en-US" sz="3000" dirty="0">
                <a:latin typeface="Arial" pitchFamily="34" charset="0"/>
                <a:cs typeface="Arial" pitchFamily="34" charset="0"/>
              </a:rPr>
              <a:t>, an American </a:t>
            </a:r>
            <a:r>
              <a:rPr lang="en-US" sz="3000" dirty="0" smtClean="0">
                <a:latin typeface="Arial" pitchFamily="34" charset="0"/>
                <a:cs typeface="Arial" pitchFamily="34" charset="0"/>
              </a:rPr>
              <a:t>philosopher.</a:t>
            </a:r>
            <a:endParaRPr lang="en-PH" sz="3000" dirty="0">
              <a:latin typeface="Arial" pitchFamily="34" charset="0"/>
              <a:cs typeface="Arial" pitchFamily="34" charset="0"/>
            </a:endParaRPr>
          </a:p>
        </p:txBody>
      </p:sp>
      <p:sp>
        <p:nvSpPr>
          <p:cNvPr id="5" name="Rectangle 4"/>
          <p:cNvSpPr/>
          <p:nvPr/>
        </p:nvSpPr>
        <p:spPr>
          <a:xfrm>
            <a:off x="1404268" y="3096568"/>
            <a:ext cx="13897544" cy="569387"/>
          </a:xfrm>
          <a:prstGeom prst="rect">
            <a:avLst/>
          </a:prstGeom>
        </p:spPr>
        <p:txBody>
          <a:bodyPr wrap="square">
            <a:spAutoFit/>
          </a:bodyPr>
          <a:lstStyle/>
          <a:p>
            <a:r>
              <a:rPr lang="en-US" sz="3100" dirty="0">
                <a:latin typeface="Arial" pitchFamily="34" charset="0"/>
                <a:cs typeface="Arial" pitchFamily="34" charset="0"/>
              </a:rPr>
              <a:t>A </a:t>
            </a:r>
            <a:r>
              <a:rPr lang="en-US" sz="3100" b="1" dirty="0" smtClean="0">
                <a:latin typeface="Arial" pitchFamily="34" charset="0"/>
                <a:cs typeface="Arial" pitchFamily="34" charset="0"/>
              </a:rPr>
              <a:t>SPEECH ACT </a:t>
            </a:r>
            <a:r>
              <a:rPr lang="en-US" sz="3100" dirty="0" smtClean="0">
                <a:latin typeface="Arial" pitchFamily="34" charset="0"/>
                <a:cs typeface="Arial" pitchFamily="34" charset="0"/>
              </a:rPr>
              <a:t>is </a:t>
            </a:r>
            <a:r>
              <a:rPr lang="en-US" sz="3100" dirty="0">
                <a:latin typeface="Arial" pitchFamily="34" charset="0"/>
                <a:cs typeface="Arial" pitchFamily="34" charset="0"/>
              </a:rPr>
              <a:t>defined as the ‘force’ in words that forces us to do or act. </a:t>
            </a:r>
            <a:endParaRPr lang="en-PH" sz="3100" dirty="0">
              <a:latin typeface="Arial" pitchFamily="34" charset="0"/>
              <a:cs typeface="Arial" pitchFamily="34" charset="0"/>
            </a:endParaRPr>
          </a:p>
        </p:txBody>
      </p:sp>
      <p:sp>
        <p:nvSpPr>
          <p:cNvPr id="6" name="Rectangle 5"/>
          <p:cNvSpPr/>
          <p:nvPr/>
        </p:nvSpPr>
        <p:spPr>
          <a:xfrm>
            <a:off x="1404268" y="3744640"/>
            <a:ext cx="13969552" cy="1046440"/>
          </a:xfrm>
          <a:prstGeom prst="rect">
            <a:avLst/>
          </a:prstGeom>
        </p:spPr>
        <p:txBody>
          <a:bodyPr wrap="square">
            <a:spAutoFit/>
          </a:bodyPr>
          <a:lstStyle/>
          <a:p>
            <a:pPr algn="just"/>
            <a:r>
              <a:rPr lang="en-US" sz="3100" dirty="0">
                <a:latin typeface="Arial" pitchFamily="34" charset="0"/>
                <a:cs typeface="Arial" pitchFamily="34" charset="0"/>
              </a:rPr>
              <a:t>We use it to describe actions such as requesting, commanding, questioning, apologizing, informing, declaring, </a:t>
            </a:r>
            <a:r>
              <a:rPr lang="en-US" sz="3100" dirty="0" smtClean="0">
                <a:latin typeface="Arial" pitchFamily="34" charset="0"/>
                <a:cs typeface="Arial" pitchFamily="34" charset="0"/>
              </a:rPr>
              <a:t>etc.</a:t>
            </a:r>
            <a:endParaRPr lang="en-PH" sz="3100" dirty="0">
              <a:latin typeface="Arial" pitchFamily="34" charset="0"/>
              <a:cs typeface="Arial" pitchFamily="34" charset="0"/>
            </a:endParaRPr>
          </a:p>
        </p:txBody>
      </p:sp>
      <p:sp>
        <p:nvSpPr>
          <p:cNvPr id="7" name="TextBox 6"/>
          <p:cNvSpPr txBox="1"/>
          <p:nvPr/>
        </p:nvSpPr>
        <p:spPr>
          <a:xfrm>
            <a:off x="4788644" y="4960065"/>
            <a:ext cx="8310801" cy="584775"/>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n-PH" sz="3200" b="1" dirty="0" smtClean="0">
                <a:latin typeface="Arial" pitchFamily="34" charset="0"/>
                <a:cs typeface="Arial" pitchFamily="34" charset="0"/>
              </a:rPr>
              <a:t>THREE KINDS OF SPEECH ACT THEORY </a:t>
            </a:r>
            <a:endParaRPr lang="en-PH" sz="3200" b="1" dirty="0">
              <a:latin typeface="Arial" pitchFamily="34" charset="0"/>
              <a:cs typeface="Arial" pitchFamily="34" charset="0"/>
            </a:endParaRPr>
          </a:p>
        </p:txBody>
      </p:sp>
      <p:sp>
        <p:nvSpPr>
          <p:cNvPr id="8" name="Rectangle 7"/>
          <p:cNvSpPr/>
          <p:nvPr/>
        </p:nvSpPr>
        <p:spPr>
          <a:xfrm>
            <a:off x="1975644" y="5688856"/>
            <a:ext cx="13686208" cy="3031599"/>
          </a:xfrm>
          <a:prstGeom prst="rect">
            <a:avLst/>
          </a:prstGeom>
        </p:spPr>
        <p:txBody>
          <a:bodyPr wrap="square">
            <a:spAutoFit/>
          </a:bodyPr>
          <a:lstStyle/>
          <a:p>
            <a:pPr algn="just"/>
            <a:r>
              <a:rPr lang="en-US" b="1" i="1" dirty="0" smtClean="0">
                <a:latin typeface="Arial" pitchFamily="34" charset="0"/>
                <a:cs typeface="Arial" pitchFamily="34" charset="0"/>
              </a:rPr>
              <a:t>A. </a:t>
            </a:r>
            <a:r>
              <a:rPr lang="en-US" b="1" dirty="0" smtClean="0">
                <a:latin typeface="Arial" pitchFamily="34" charset="0"/>
                <a:cs typeface="Arial" pitchFamily="34" charset="0"/>
              </a:rPr>
              <a:t>LOCUTIONARY ACT</a:t>
            </a:r>
            <a:r>
              <a:rPr lang="en-US" dirty="0" smtClean="0">
                <a:latin typeface="Arial" pitchFamily="34" charset="0"/>
                <a:cs typeface="Arial" pitchFamily="34" charset="0"/>
              </a:rPr>
              <a:t> is </a:t>
            </a:r>
            <a:r>
              <a:rPr lang="en-US" dirty="0">
                <a:latin typeface="Arial" pitchFamily="34" charset="0"/>
                <a:cs typeface="Arial" pitchFamily="34" charset="0"/>
              </a:rPr>
              <a:t>an act of performing an utterance with its intended meaning and hence of a speech act. </a:t>
            </a:r>
            <a:endParaRPr lang="en-US" dirty="0" smtClean="0">
              <a:latin typeface="Arial" pitchFamily="34" charset="0"/>
              <a:cs typeface="Arial" pitchFamily="34" charset="0"/>
            </a:endParaRPr>
          </a:p>
          <a:p>
            <a:pPr algn="just"/>
            <a:endParaRPr lang="en-US" sz="1400" dirty="0" smtClean="0">
              <a:latin typeface="Arial" pitchFamily="34" charset="0"/>
              <a:cs typeface="Arial" pitchFamily="34" charset="0"/>
            </a:endParaRPr>
          </a:p>
          <a:p>
            <a:pPr algn="just"/>
            <a:r>
              <a:rPr lang="en-US" dirty="0">
                <a:latin typeface="Arial" pitchFamily="34" charset="0"/>
                <a:cs typeface="Arial" pitchFamily="34" charset="0"/>
              </a:rPr>
              <a:t>	</a:t>
            </a:r>
            <a:r>
              <a:rPr lang="en-US" dirty="0" smtClean="0">
                <a:latin typeface="Arial" pitchFamily="34" charset="0"/>
                <a:cs typeface="Arial" pitchFamily="34" charset="0"/>
              </a:rPr>
              <a:t>Example:    </a:t>
            </a:r>
            <a:r>
              <a:rPr lang="en-US" sz="3200" b="1" i="1" dirty="0">
                <a:solidFill>
                  <a:srgbClr val="FF0000"/>
                </a:solidFill>
                <a:latin typeface="Arial" pitchFamily="34" charset="0"/>
                <a:cs typeface="Arial" pitchFamily="34" charset="0"/>
              </a:rPr>
              <a:t>Don’t do that</a:t>
            </a:r>
            <a:r>
              <a:rPr lang="en-US" sz="3200" b="1" i="1" dirty="0" smtClean="0">
                <a:solidFill>
                  <a:srgbClr val="FF0000"/>
                </a:solidFill>
                <a:latin typeface="Arial" pitchFamily="34" charset="0"/>
                <a:cs typeface="Arial" pitchFamily="34" charset="0"/>
              </a:rPr>
              <a:t>!</a:t>
            </a:r>
            <a:endParaRPr lang="en-US" sz="3200" b="1" dirty="0">
              <a:solidFill>
                <a:srgbClr val="FF0000"/>
              </a:solidFill>
              <a:latin typeface="Arial" pitchFamily="34" charset="0"/>
              <a:cs typeface="Arial" pitchFamily="34" charset="0"/>
            </a:endParaRPr>
          </a:p>
          <a:p>
            <a:pPr algn="just"/>
            <a:r>
              <a:rPr lang="en-US" dirty="0">
                <a:latin typeface="Arial" pitchFamily="34" charset="0"/>
                <a:cs typeface="Arial" pitchFamily="34" charset="0"/>
              </a:rPr>
              <a:t>	</a:t>
            </a:r>
            <a:r>
              <a:rPr lang="en-US" dirty="0" smtClean="0">
                <a:latin typeface="Arial" pitchFamily="34" charset="0"/>
                <a:cs typeface="Arial" pitchFamily="34" charset="0"/>
              </a:rPr>
              <a:t>This statement shows that someone </a:t>
            </a:r>
            <a:r>
              <a:rPr lang="en-US" dirty="0">
                <a:latin typeface="Arial" pitchFamily="34" charset="0"/>
                <a:cs typeface="Arial" pitchFamily="34" charset="0"/>
              </a:rPr>
              <a:t>is told not to do something, hence a locutionary act with its distinct phonetic, syntactic, and semantic aspects of the utterance. </a:t>
            </a:r>
            <a:endParaRPr lang="en-PH" dirty="0">
              <a:latin typeface="Arial" pitchFamily="34" charset="0"/>
              <a:cs typeface="Arial" pitchFamily="34" charset="0"/>
            </a:endParaRPr>
          </a:p>
        </p:txBody>
      </p:sp>
    </p:spTree>
    <p:extLst>
      <p:ext uri="{BB962C8B-B14F-4D97-AF65-F5344CB8AC3E}">
        <p14:creationId xmlns:p14="http://schemas.microsoft.com/office/powerpoint/2010/main" val="356685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animBg="1"/>
      <p:bldP spid="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3" name="Rectangle 2"/>
          <p:cNvSpPr/>
          <p:nvPr/>
        </p:nvSpPr>
        <p:spPr>
          <a:xfrm>
            <a:off x="1836316" y="394162"/>
            <a:ext cx="13897544" cy="1431161"/>
          </a:xfrm>
          <a:prstGeom prst="rect">
            <a:avLst/>
          </a:prstGeom>
        </p:spPr>
        <p:txBody>
          <a:bodyPr wrap="square">
            <a:spAutoFit/>
          </a:bodyPr>
          <a:lstStyle/>
          <a:p>
            <a:pPr algn="just"/>
            <a:r>
              <a:rPr lang="en-US" b="1" i="1" dirty="0" smtClean="0">
                <a:latin typeface="Arial" pitchFamily="34" charset="0"/>
                <a:cs typeface="Arial" pitchFamily="34" charset="0"/>
              </a:rPr>
              <a:t>B. </a:t>
            </a:r>
            <a:r>
              <a:rPr lang="en-US" b="1" dirty="0" smtClean="0">
                <a:latin typeface="Arial" pitchFamily="34" charset="0"/>
                <a:cs typeface="Arial" pitchFamily="34" charset="0"/>
              </a:rPr>
              <a:t>AN ILLOCUTIONARY ACT</a:t>
            </a:r>
            <a:r>
              <a:rPr lang="en-US" dirty="0" smtClean="0">
                <a:latin typeface="Arial" pitchFamily="34" charset="0"/>
                <a:cs typeface="Arial" pitchFamily="34" charset="0"/>
              </a:rPr>
              <a:t> is </a:t>
            </a:r>
            <a:r>
              <a:rPr lang="en-US" dirty="0">
                <a:latin typeface="Arial" pitchFamily="34" charset="0"/>
                <a:cs typeface="Arial" pitchFamily="34" charset="0"/>
              </a:rPr>
              <a:t>said to be the true speech act. The act expresses an illocutionary force that carries the intended speaker meaning. If locutionary act is what was said and meant, illocutionary is what has to be done or what was done. </a:t>
            </a:r>
            <a:endParaRPr lang="en-PH" dirty="0">
              <a:latin typeface="Arial" pitchFamily="34" charset="0"/>
              <a:cs typeface="Arial" pitchFamily="34" charset="0"/>
            </a:endParaRPr>
          </a:p>
        </p:txBody>
      </p:sp>
      <p:sp>
        <p:nvSpPr>
          <p:cNvPr id="4" name="Rectangle 3"/>
          <p:cNvSpPr/>
          <p:nvPr/>
        </p:nvSpPr>
        <p:spPr>
          <a:xfrm>
            <a:off x="2412380" y="2736528"/>
            <a:ext cx="13537504" cy="5647700"/>
          </a:xfrm>
          <a:prstGeom prst="rect">
            <a:avLst/>
          </a:prstGeom>
        </p:spPr>
        <p:txBody>
          <a:bodyPr wrap="square">
            <a:spAutoFit/>
          </a:bodyPr>
          <a:lstStyle/>
          <a:p>
            <a:pPr marL="514350" indent="-514350" algn="just">
              <a:buAutoNum type="arabicParenBoth"/>
            </a:pPr>
            <a:r>
              <a:rPr lang="en-US" sz="3200" b="1" dirty="0" smtClean="0">
                <a:solidFill>
                  <a:srgbClr val="FF0000"/>
                </a:solidFill>
                <a:latin typeface="Times New Roman" pitchFamily="18" charset="0"/>
                <a:cs typeface="Times New Roman" pitchFamily="18" charset="0"/>
              </a:rPr>
              <a:t>ASSERTIVES</a:t>
            </a:r>
            <a:r>
              <a:rPr lang="en-US" sz="3200" dirty="0" smtClean="0"/>
              <a:t> </a:t>
            </a:r>
            <a:r>
              <a:rPr lang="en-US" sz="3200" dirty="0"/>
              <a:t>– </a:t>
            </a:r>
            <a:r>
              <a:rPr lang="en-US" sz="3300" dirty="0">
                <a:latin typeface="Times New Roman" pitchFamily="18" charset="0"/>
                <a:cs typeface="Times New Roman" pitchFamily="18" charset="0"/>
              </a:rPr>
              <a:t>where speakers assert their intention and beliefs on the proposition by making statements that can be verified as either true or </a:t>
            </a:r>
            <a:r>
              <a:rPr lang="en-US" sz="3300" dirty="0" smtClean="0">
                <a:latin typeface="Times New Roman" pitchFamily="18" charset="0"/>
                <a:cs typeface="Times New Roman" pitchFamily="18" charset="0"/>
              </a:rPr>
              <a:t>false;</a:t>
            </a:r>
          </a:p>
          <a:p>
            <a:pPr marL="514350" indent="-514350">
              <a:buAutoNum type="arabicParenBoth"/>
            </a:pPr>
            <a:r>
              <a:rPr lang="en-US" sz="3200" b="1" dirty="0" smtClean="0">
                <a:solidFill>
                  <a:srgbClr val="FF0000"/>
                </a:solidFill>
                <a:latin typeface="Times New Roman" pitchFamily="18" charset="0"/>
                <a:cs typeface="Times New Roman" pitchFamily="18" charset="0"/>
              </a:rPr>
              <a:t>DIRECTIVES </a:t>
            </a:r>
            <a:r>
              <a:rPr lang="en-US" sz="3200" dirty="0" smtClean="0"/>
              <a:t>– </a:t>
            </a:r>
            <a:r>
              <a:rPr lang="en-US" sz="3300" dirty="0">
                <a:latin typeface="Times New Roman" pitchFamily="18" charset="0"/>
                <a:cs typeface="Times New Roman" pitchFamily="18" charset="0"/>
              </a:rPr>
              <a:t>speech act that are intended to get someone to do what the speaker desires, such as requests and commands; </a:t>
            </a:r>
            <a:endParaRPr lang="en-US" sz="3300" dirty="0" smtClean="0">
              <a:latin typeface="Times New Roman" pitchFamily="18" charset="0"/>
              <a:cs typeface="Times New Roman" pitchFamily="18" charset="0"/>
            </a:endParaRPr>
          </a:p>
          <a:p>
            <a:pPr marL="514350" indent="-514350">
              <a:buAutoNum type="arabicParenBoth"/>
            </a:pPr>
            <a:r>
              <a:rPr lang="en-US" sz="3200" b="1" dirty="0" smtClean="0">
                <a:solidFill>
                  <a:srgbClr val="FF0000"/>
                </a:solidFill>
                <a:latin typeface="Times New Roman" pitchFamily="18" charset="0"/>
                <a:cs typeface="Times New Roman" pitchFamily="18" charset="0"/>
              </a:rPr>
              <a:t>COMMISSIVES</a:t>
            </a:r>
            <a:r>
              <a:rPr lang="en-US" sz="3200" dirty="0" smtClean="0"/>
              <a:t> </a:t>
            </a:r>
            <a:r>
              <a:rPr lang="en-US" sz="3200" dirty="0"/>
              <a:t>– </a:t>
            </a:r>
            <a:r>
              <a:rPr lang="en-US" sz="3300" dirty="0">
                <a:latin typeface="Times New Roman" pitchFamily="18" charset="0"/>
                <a:cs typeface="Times New Roman" pitchFamily="18" charset="0"/>
              </a:rPr>
              <a:t>speech acts of committing to some future actions, such as promises and oaths; </a:t>
            </a:r>
            <a:endParaRPr lang="en-US" sz="3300" dirty="0" smtClean="0">
              <a:latin typeface="Times New Roman" pitchFamily="18" charset="0"/>
              <a:cs typeface="Times New Roman" pitchFamily="18" charset="0"/>
            </a:endParaRPr>
          </a:p>
          <a:p>
            <a:pPr marL="514350" indent="-514350">
              <a:buAutoNum type="arabicParenBoth"/>
            </a:pPr>
            <a:r>
              <a:rPr lang="en-US" sz="3200" b="1" dirty="0" smtClean="0">
                <a:solidFill>
                  <a:srgbClr val="FF0000"/>
                </a:solidFill>
                <a:latin typeface="Times New Roman" pitchFamily="18" charset="0"/>
                <a:cs typeface="Times New Roman" pitchFamily="18" charset="0"/>
              </a:rPr>
              <a:t>EXPRESSIVES</a:t>
            </a:r>
            <a:r>
              <a:rPr lang="en-US" sz="3200" dirty="0" smtClean="0"/>
              <a:t> </a:t>
            </a:r>
            <a:r>
              <a:rPr lang="en-US" sz="3200" dirty="0"/>
              <a:t>– </a:t>
            </a:r>
            <a:r>
              <a:rPr lang="en-US" sz="3300" dirty="0">
                <a:latin typeface="Times New Roman" pitchFamily="18" charset="0"/>
                <a:cs typeface="Times New Roman" pitchFamily="18" charset="0"/>
              </a:rPr>
              <a:t>speech acts that express speaker’s attitudes and emotions manifested through the utterances, such as excuses and thanks; </a:t>
            </a:r>
            <a:r>
              <a:rPr lang="en-US" sz="3300" dirty="0" smtClean="0">
                <a:latin typeface="Times New Roman" pitchFamily="18" charset="0"/>
                <a:cs typeface="Times New Roman" pitchFamily="18" charset="0"/>
              </a:rPr>
              <a:t>and </a:t>
            </a:r>
          </a:p>
          <a:p>
            <a:pPr marL="514350" indent="-514350">
              <a:buAutoNum type="arabicParenBoth"/>
            </a:pPr>
            <a:r>
              <a:rPr lang="en-US" sz="3200" b="1" dirty="0" smtClean="0">
                <a:solidFill>
                  <a:srgbClr val="FF0000"/>
                </a:solidFill>
                <a:latin typeface="Times New Roman" pitchFamily="18" charset="0"/>
                <a:cs typeface="Times New Roman" pitchFamily="18" charset="0"/>
              </a:rPr>
              <a:t>DECLARATIONS</a:t>
            </a:r>
            <a:r>
              <a:rPr lang="en-US" sz="3200" dirty="0" smtClean="0"/>
              <a:t> </a:t>
            </a:r>
            <a:r>
              <a:rPr lang="en-US" sz="3200" dirty="0"/>
              <a:t>– </a:t>
            </a:r>
            <a:r>
              <a:rPr lang="en-US" sz="3300" dirty="0">
                <a:latin typeface="Times New Roman" pitchFamily="18" charset="0"/>
                <a:cs typeface="Times New Roman" pitchFamily="18" charset="0"/>
              </a:rPr>
              <a:t>speech acts that change the propositional content corresponding with reality, such as baptisms, pronouncing someone guilty or pronouncing someone husband and wife</a:t>
            </a:r>
            <a:endParaRPr lang="en-PH" sz="3300" dirty="0">
              <a:latin typeface="Times New Roman" pitchFamily="18" charset="0"/>
              <a:cs typeface="Times New Roman" pitchFamily="18" charset="0"/>
            </a:endParaRPr>
          </a:p>
        </p:txBody>
      </p:sp>
      <p:sp>
        <p:nvSpPr>
          <p:cNvPr id="5" name="Rectangle 4"/>
          <p:cNvSpPr/>
          <p:nvPr/>
        </p:nvSpPr>
        <p:spPr>
          <a:xfrm>
            <a:off x="5076676" y="1944440"/>
            <a:ext cx="6389891" cy="615553"/>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US" sz="3400" b="1" dirty="0">
                <a:latin typeface="Arial" pitchFamily="34" charset="0"/>
                <a:cs typeface="Arial" pitchFamily="34" charset="0"/>
              </a:rPr>
              <a:t>five illocutionary speech acts </a:t>
            </a:r>
            <a:endParaRPr lang="en-PH" sz="3400" b="1" dirty="0">
              <a:latin typeface="Arial" pitchFamily="34" charset="0"/>
              <a:cs typeface="Arial" pitchFamily="34" charset="0"/>
            </a:endParaRPr>
          </a:p>
        </p:txBody>
      </p:sp>
    </p:spTree>
    <p:extLst>
      <p:ext uri="{BB962C8B-B14F-4D97-AF65-F5344CB8AC3E}">
        <p14:creationId xmlns:p14="http://schemas.microsoft.com/office/powerpoint/2010/main" val="356685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3" name="Rectangle 2"/>
          <p:cNvSpPr/>
          <p:nvPr/>
        </p:nvSpPr>
        <p:spPr>
          <a:xfrm>
            <a:off x="2916436" y="216248"/>
            <a:ext cx="12745416" cy="255454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n-US" sz="3200" dirty="0">
                <a:latin typeface="Arial" pitchFamily="34" charset="0"/>
                <a:cs typeface="Arial" pitchFamily="34" charset="0"/>
              </a:rPr>
              <a:t>1. They pledge to recycle as much waste as possible at home.</a:t>
            </a:r>
            <a:endParaRPr lang="en-PH" sz="3200" dirty="0">
              <a:latin typeface="Arial" pitchFamily="34" charset="0"/>
              <a:cs typeface="Arial" pitchFamily="34" charset="0"/>
            </a:endParaRPr>
          </a:p>
          <a:p>
            <a:pPr algn="just"/>
            <a:r>
              <a:rPr lang="en-US" sz="3200" dirty="0">
                <a:latin typeface="Arial" pitchFamily="34" charset="0"/>
                <a:cs typeface="Arial" pitchFamily="34" charset="0"/>
              </a:rPr>
              <a:t>2. The lawmakers affirm the importance of this Bill.</a:t>
            </a:r>
            <a:endParaRPr lang="en-PH" sz="3200" dirty="0">
              <a:latin typeface="Arial" pitchFamily="34" charset="0"/>
              <a:cs typeface="Arial" pitchFamily="34" charset="0"/>
            </a:endParaRPr>
          </a:p>
          <a:p>
            <a:pPr algn="just"/>
            <a:r>
              <a:rPr lang="en-US" sz="3200" dirty="0">
                <a:latin typeface="Arial" pitchFamily="34" charset="0"/>
                <a:cs typeface="Arial" pitchFamily="34" charset="0"/>
              </a:rPr>
              <a:t>3. If you go and see this movie I recommend that you don’t eat first.</a:t>
            </a:r>
            <a:endParaRPr lang="en-PH" sz="3200" dirty="0">
              <a:latin typeface="Arial" pitchFamily="34" charset="0"/>
              <a:cs typeface="Arial" pitchFamily="34" charset="0"/>
            </a:endParaRPr>
          </a:p>
          <a:p>
            <a:pPr algn="just"/>
            <a:r>
              <a:rPr lang="en-US" sz="3200" dirty="0">
                <a:latin typeface="Arial" pitchFamily="34" charset="0"/>
                <a:cs typeface="Arial" pitchFamily="34" charset="0"/>
              </a:rPr>
              <a:t>4. I declare the nominations closed.</a:t>
            </a:r>
            <a:endParaRPr lang="en-PH" sz="3200" dirty="0">
              <a:latin typeface="Arial" pitchFamily="34" charset="0"/>
              <a:cs typeface="Arial" pitchFamily="34" charset="0"/>
            </a:endParaRPr>
          </a:p>
          <a:p>
            <a:pPr algn="just"/>
            <a:r>
              <a:rPr lang="en-US" sz="3200" dirty="0">
                <a:latin typeface="Arial" pitchFamily="34" charset="0"/>
                <a:cs typeface="Arial" pitchFamily="34" charset="0"/>
              </a:rPr>
              <a:t>5. We congratulate you Mr. President for the success of your foreign </a:t>
            </a:r>
            <a:endParaRPr lang="en-PH" sz="3200" dirty="0">
              <a:latin typeface="Arial" pitchFamily="34" charset="0"/>
              <a:cs typeface="Arial" pitchFamily="34" charset="0"/>
            </a:endParaRPr>
          </a:p>
        </p:txBody>
      </p:sp>
      <p:sp>
        <p:nvSpPr>
          <p:cNvPr id="4" name="TextBox 3"/>
          <p:cNvSpPr txBox="1"/>
          <p:nvPr/>
        </p:nvSpPr>
        <p:spPr>
          <a:xfrm>
            <a:off x="204788" y="648296"/>
            <a:ext cx="2457648" cy="1323439"/>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PH" sz="4000" b="1" dirty="0" smtClean="0">
                <a:latin typeface="Arial" pitchFamily="34" charset="0"/>
                <a:cs typeface="Arial" pitchFamily="34" charset="0"/>
              </a:rPr>
              <a:t>Let’s practice!</a:t>
            </a:r>
            <a:endParaRPr lang="en-PH" sz="4000" b="1" dirty="0">
              <a:latin typeface="Arial" pitchFamily="34" charset="0"/>
              <a:cs typeface="Arial" pitchFamily="34" charset="0"/>
            </a:endParaRP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4883" t="30182" r="19144" b="17622"/>
          <a:stretch/>
        </p:blipFill>
        <p:spPr bwMode="auto">
          <a:xfrm>
            <a:off x="5652740" y="2969634"/>
            <a:ext cx="9721080" cy="6205223"/>
          </a:xfrm>
          <a:prstGeom prst="rect">
            <a:avLst/>
          </a:prstGeom>
          <a:ln/>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356685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3" name="Rectangle 2"/>
          <p:cNvSpPr/>
          <p:nvPr/>
        </p:nvSpPr>
        <p:spPr>
          <a:xfrm>
            <a:off x="1476276" y="1276911"/>
            <a:ext cx="13753528" cy="2323713"/>
          </a:xfrm>
          <a:prstGeom prst="rect">
            <a:avLst/>
          </a:prstGeom>
        </p:spPr>
        <p:txBody>
          <a:bodyPr wrap="square">
            <a:spAutoFit/>
          </a:bodyPr>
          <a:lstStyle/>
          <a:p>
            <a:pPr algn="just"/>
            <a:r>
              <a:rPr lang="en-US" b="1" dirty="0" smtClean="0">
                <a:latin typeface="Arial" pitchFamily="34" charset="0"/>
                <a:cs typeface="Arial" pitchFamily="34" charset="0"/>
              </a:rPr>
              <a:t>C. A PERLOCUTIONARY</a:t>
            </a:r>
            <a:r>
              <a:rPr lang="en-US" dirty="0" smtClean="0">
                <a:latin typeface="Arial" pitchFamily="34" charset="0"/>
                <a:cs typeface="Arial" pitchFamily="34" charset="0"/>
              </a:rPr>
              <a:t> </a:t>
            </a:r>
            <a:r>
              <a:rPr lang="en-US" b="1" dirty="0" smtClean="0">
                <a:latin typeface="Arial" pitchFamily="34" charset="0"/>
                <a:cs typeface="Arial" pitchFamily="34" charset="0"/>
              </a:rPr>
              <a:t>ACT</a:t>
            </a:r>
            <a:r>
              <a:rPr lang="en-US" dirty="0" smtClean="0">
                <a:latin typeface="Arial" pitchFamily="34" charset="0"/>
                <a:cs typeface="Arial" pitchFamily="34" charset="0"/>
              </a:rPr>
              <a:t> denotes </a:t>
            </a:r>
            <a:r>
              <a:rPr lang="en-US" dirty="0">
                <a:latin typeface="Arial" pitchFamily="34" charset="0"/>
                <a:cs typeface="Arial" pitchFamily="34" charset="0"/>
              </a:rPr>
              <a:t>the effects on the listener through performing the illocutionary act. These speech acts have an effect on the feelings, thoughts, or actions of the speaker, of the listener, or of other persons. The effects are special to the context or occasion and may or may not be what the speaker intended. </a:t>
            </a:r>
            <a:endParaRPr lang="en-PH" dirty="0">
              <a:latin typeface="Arial" pitchFamily="34" charset="0"/>
              <a:cs typeface="Arial" pitchFamily="34" charset="0"/>
            </a:endParaRPr>
          </a:p>
        </p:txBody>
      </p:sp>
      <p:sp>
        <p:nvSpPr>
          <p:cNvPr id="4" name="Rectangle 3"/>
          <p:cNvSpPr/>
          <p:nvPr/>
        </p:nvSpPr>
        <p:spPr>
          <a:xfrm>
            <a:off x="3564508" y="3811419"/>
            <a:ext cx="10945216" cy="1877437"/>
          </a:xfrm>
          <a:prstGeom prst="rect">
            <a:avLst/>
          </a:prstGeom>
        </p:spPr>
        <p:txBody>
          <a:bodyPr wrap="square">
            <a:spAutoFit/>
          </a:bodyPr>
          <a:lstStyle/>
          <a:p>
            <a:pPr algn="just"/>
            <a:r>
              <a:rPr lang="en-US" dirty="0">
                <a:latin typeface="Arial" pitchFamily="34" charset="0"/>
                <a:cs typeface="Arial" pitchFamily="34" charset="0"/>
              </a:rPr>
              <a:t>In the utterance </a:t>
            </a:r>
            <a:r>
              <a:rPr lang="en-US" dirty="0" smtClean="0">
                <a:latin typeface="Arial" pitchFamily="34" charset="0"/>
                <a:cs typeface="Arial" pitchFamily="34" charset="0"/>
              </a:rPr>
              <a:t>“</a:t>
            </a:r>
            <a:r>
              <a:rPr lang="en-US" i="1" dirty="0" smtClean="0">
                <a:latin typeface="Arial" pitchFamily="34" charset="0"/>
                <a:cs typeface="Arial" pitchFamily="34" charset="0"/>
              </a:rPr>
              <a:t>By the way, I have some chocolate candies here</a:t>
            </a:r>
            <a:r>
              <a:rPr lang="en-US" dirty="0" smtClean="0">
                <a:latin typeface="Arial" pitchFamily="34" charset="0"/>
                <a:cs typeface="Arial" pitchFamily="34" charset="0"/>
              </a:rPr>
              <a:t>; </a:t>
            </a:r>
            <a:r>
              <a:rPr lang="en-US" i="1" dirty="0">
                <a:latin typeface="Arial" pitchFamily="34" charset="0"/>
                <a:cs typeface="Arial" pitchFamily="34" charset="0"/>
              </a:rPr>
              <a:t>would you like some</a:t>
            </a:r>
            <a:r>
              <a:rPr lang="en-US" dirty="0">
                <a:latin typeface="Arial" pitchFamily="34" charset="0"/>
                <a:cs typeface="Arial" pitchFamily="34" charset="0"/>
              </a:rPr>
              <a:t>?” its illocutionary function is an </a:t>
            </a:r>
            <a:r>
              <a:rPr lang="en-US" i="1" dirty="0">
                <a:latin typeface="Arial" pitchFamily="34" charset="0"/>
                <a:cs typeface="Arial" pitchFamily="34" charset="0"/>
              </a:rPr>
              <a:t>offer,</a:t>
            </a:r>
            <a:r>
              <a:rPr lang="en-US" dirty="0">
                <a:latin typeface="Arial" pitchFamily="34" charset="0"/>
                <a:cs typeface="Arial" pitchFamily="34" charset="0"/>
              </a:rPr>
              <a:t> while its intended perlocutionary effect might be to simply express generosity or to show a friendly attitude.</a:t>
            </a:r>
            <a:endParaRPr lang="en-PH" dirty="0">
              <a:latin typeface="Arial" pitchFamily="34" charset="0"/>
              <a:cs typeface="Arial" pitchFamily="34" charset="0"/>
            </a:endParaRPr>
          </a:p>
        </p:txBody>
      </p:sp>
    </p:spTree>
    <p:extLst>
      <p:ext uri="{BB962C8B-B14F-4D97-AF65-F5344CB8AC3E}">
        <p14:creationId xmlns:p14="http://schemas.microsoft.com/office/powerpoint/2010/main" val="356685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2394" t="30258" r="18119" b="20746"/>
          <a:stretch/>
        </p:blipFill>
        <p:spPr bwMode="auto">
          <a:xfrm>
            <a:off x="2906869" y="1512392"/>
            <a:ext cx="11962895" cy="6658964"/>
          </a:xfrm>
          <a:prstGeom prst="rect">
            <a:avLst/>
          </a:prstGeom>
          <a:ln/>
        </p:spPr>
        <p:style>
          <a:lnRef idx="2">
            <a:schemeClr val="accent2"/>
          </a:lnRef>
          <a:fillRef idx="1">
            <a:schemeClr val="lt1"/>
          </a:fillRef>
          <a:effectRef idx="0">
            <a:schemeClr val="accent2"/>
          </a:effectRef>
          <a:fontRef idx="minor">
            <a:schemeClr val="dk1"/>
          </a:fontRef>
        </p:style>
      </p:pic>
      <p:sp>
        <p:nvSpPr>
          <p:cNvPr id="6" name="TextBox 5"/>
          <p:cNvSpPr txBox="1"/>
          <p:nvPr/>
        </p:nvSpPr>
        <p:spPr>
          <a:xfrm>
            <a:off x="983671" y="708001"/>
            <a:ext cx="3398687" cy="584775"/>
          </a:xfrm>
          <a:prstGeom prst="rect">
            <a:avLst/>
          </a:prstGeom>
          <a:noFill/>
        </p:spPr>
        <p:txBody>
          <a:bodyPr wrap="none" rtlCol="0">
            <a:spAutoFit/>
          </a:bodyPr>
          <a:lstStyle/>
          <a:p>
            <a:r>
              <a:rPr lang="en-PH" sz="3200" b="1" i="1" dirty="0" smtClean="0">
                <a:latin typeface="Arial" pitchFamily="34" charset="0"/>
                <a:cs typeface="Arial" pitchFamily="34" charset="0"/>
              </a:rPr>
              <a:t>As a summary…</a:t>
            </a:r>
            <a:endParaRPr lang="en-PH" sz="3200" b="1" i="1" dirty="0">
              <a:latin typeface="Arial" pitchFamily="34" charset="0"/>
              <a:cs typeface="Arial" pitchFamily="34" charset="0"/>
            </a:endParaRPr>
          </a:p>
        </p:txBody>
      </p:sp>
    </p:spTree>
    <p:extLst>
      <p:ext uri="{BB962C8B-B14F-4D97-AF65-F5344CB8AC3E}">
        <p14:creationId xmlns:p14="http://schemas.microsoft.com/office/powerpoint/2010/main" val="205493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65" y="8713192"/>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TextBox 4"/>
          <p:cNvSpPr txBox="1"/>
          <p:nvPr/>
        </p:nvSpPr>
        <p:spPr>
          <a:xfrm>
            <a:off x="828204" y="504280"/>
            <a:ext cx="14401600" cy="2000548"/>
          </a:xfrm>
          <a:prstGeom prst="rect">
            <a:avLst/>
          </a:prstGeom>
          <a:noFill/>
        </p:spPr>
        <p:txBody>
          <a:bodyPr wrap="square" rtlCol="0">
            <a:spAutoFit/>
          </a:bodyPr>
          <a:lstStyle/>
          <a:p>
            <a:pPr algn="just"/>
            <a:r>
              <a:rPr lang="en-PH" sz="4300" b="1" dirty="0" smtClean="0">
                <a:latin typeface="Arial" pitchFamily="34" charset="0"/>
                <a:cs typeface="Arial" pitchFamily="34" charset="0"/>
              </a:rPr>
              <a:t>SOCIOLINGUISTICS</a:t>
            </a:r>
            <a:r>
              <a:rPr lang="en-PH" sz="4400" dirty="0" smtClean="0">
                <a:latin typeface="Arial" pitchFamily="34" charset="0"/>
                <a:cs typeface="Arial" pitchFamily="34" charset="0"/>
              </a:rPr>
              <a:t>  </a:t>
            </a:r>
            <a:r>
              <a:rPr lang="en-PH" sz="4000" dirty="0" smtClean="0">
                <a:latin typeface="Arial" pitchFamily="34" charset="0"/>
                <a:cs typeface="Arial" pitchFamily="34" charset="0"/>
              </a:rPr>
              <a:t>is concerned with language in its social context. - - - the relations between language and the society. </a:t>
            </a:r>
            <a:endParaRPr lang="en-PH" sz="4000" dirty="0">
              <a:latin typeface="Arial" pitchFamily="34" charset="0"/>
              <a:cs typeface="Arial" pitchFamily="34" charset="0"/>
            </a:endParaRPr>
          </a:p>
        </p:txBody>
      </p:sp>
      <p:sp>
        <p:nvSpPr>
          <p:cNvPr id="6" name="TextBox 5"/>
          <p:cNvSpPr txBox="1"/>
          <p:nvPr/>
        </p:nvSpPr>
        <p:spPr>
          <a:xfrm>
            <a:off x="828204" y="2472884"/>
            <a:ext cx="14401600" cy="1415772"/>
          </a:xfrm>
          <a:prstGeom prst="rect">
            <a:avLst/>
          </a:prstGeom>
          <a:noFill/>
        </p:spPr>
        <p:txBody>
          <a:bodyPr wrap="square" rtlCol="0">
            <a:spAutoFit/>
          </a:bodyPr>
          <a:lstStyle/>
          <a:p>
            <a:pPr algn="just"/>
            <a:r>
              <a:rPr lang="en-PH" sz="4300" b="1" dirty="0" smtClean="0">
                <a:latin typeface="Arial" pitchFamily="34" charset="0"/>
                <a:cs typeface="Arial" pitchFamily="34" charset="0"/>
              </a:rPr>
              <a:t>PSYCHOLINGUISTICS</a:t>
            </a:r>
            <a:r>
              <a:rPr lang="en-PH" sz="4300" dirty="0" smtClean="0">
                <a:latin typeface="Arial" pitchFamily="34" charset="0"/>
                <a:cs typeface="Arial" pitchFamily="34" charset="0"/>
              </a:rPr>
              <a:t> </a:t>
            </a:r>
            <a:r>
              <a:rPr lang="en-PH" sz="4000" dirty="0" smtClean="0">
                <a:latin typeface="Arial" pitchFamily="34" charset="0"/>
                <a:cs typeface="Arial" pitchFamily="34" charset="0"/>
              </a:rPr>
              <a:t>investigates the mental processes underlying the language processing. </a:t>
            </a:r>
            <a:endParaRPr lang="en-PH" sz="4000" dirty="0">
              <a:latin typeface="Arial" pitchFamily="34" charset="0"/>
              <a:cs typeface="Arial" pitchFamily="34" charset="0"/>
            </a:endParaRPr>
          </a:p>
        </p:txBody>
      </p:sp>
      <p:sp>
        <p:nvSpPr>
          <p:cNvPr id="7" name="TextBox 6"/>
          <p:cNvSpPr txBox="1"/>
          <p:nvPr/>
        </p:nvSpPr>
        <p:spPr>
          <a:xfrm>
            <a:off x="756196" y="4104680"/>
            <a:ext cx="14473608" cy="1415772"/>
          </a:xfrm>
          <a:prstGeom prst="rect">
            <a:avLst/>
          </a:prstGeom>
          <a:noFill/>
        </p:spPr>
        <p:txBody>
          <a:bodyPr wrap="square" rtlCol="0">
            <a:spAutoFit/>
          </a:bodyPr>
          <a:lstStyle/>
          <a:p>
            <a:r>
              <a:rPr lang="en-PH" sz="4300" b="1" dirty="0" smtClean="0">
                <a:latin typeface="Arial" pitchFamily="34" charset="0"/>
                <a:cs typeface="Arial" pitchFamily="34" charset="0"/>
              </a:rPr>
              <a:t>NEUROLINGUISTICS</a:t>
            </a:r>
            <a:r>
              <a:rPr lang="en-PH" sz="4300" dirty="0" smtClean="0">
                <a:latin typeface="Arial" pitchFamily="34" charset="0"/>
                <a:cs typeface="Arial" pitchFamily="34" charset="0"/>
              </a:rPr>
              <a:t>  </a:t>
            </a:r>
            <a:r>
              <a:rPr lang="en-PH" sz="4000" dirty="0" smtClean="0">
                <a:latin typeface="Arial" pitchFamily="34" charset="0"/>
                <a:cs typeface="Arial" pitchFamily="34" charset="0"/>
              </a:rPr>
              <a:t>is biologically oriented, focusing on the brain’s language processing attitude </a:t>
            </a:r>
            <a:endParaRPr lang="en-PH" sz="4000" dirty="0">
              <a:latin typeface="Arial" pitchFamily="34" charset="0"/>
              <a:cs typeface="Arial" pitchFamily="34" charset="0"/>
            </a:endParaRPr>
          </a:p>
        </p:txBody>
      </p:sp>
      <p:sp>
        <p:nvSpPr>
          <p:cNvPr id="8" name="TextBox 7"/>
          <p:cNvSpPr txBox="1"/>
          <p:nvPr/>
        </p:nvSpPr>
        <p:spPr>
          <a:xfrm>
            <a:off x="756196" y="5832872"/>
            <a:ext cx="14473608" cy="2600712"/>
          </a:xfrm>
          <a:prstGeom prst="rect">
            <a:avLst/>
          </a:prstGeom>
          <a:noFill/>
        </p:spPr>
        <p:txBody>
          <a:bodyPr wrap="square" rtlCol="0">
            <a:spAutoFit/>
          </a:bodyPr>
          <a:lstStyle/>
          <a:p>
            <a:pPr algn="just"/>
            <a:r>
              <a:rPr lang="en-PH" sz="4300" b="1" dirty="0" smtClean="0">
                <a:latin typeface="Arial" pitchFamily="34" charset="0"/>
                <a:cs typeface="Arial" pitchFamily="34" charset="0"/>
              </a:rPr>
              <a:t>TYPOLOGY</a:t>
            </a:r>
            <a:r>
              <a:rPr lang="en-PH" sz="4300" dirty="0" smtClean="0">
                <a:latin typeface="Arial" pitchFamily="34" charset="0"/>
                <a:cs typeface="Arial" pitchFamily="34" charset="0"/>
              </a:rPr>
              <a:t> </a:t>
            </a:r>
            <a:r>
              <a:rPr lang="en-PH" sz="4000" dirty="0" smtClean="0">
                <a:latin typeface="Arial" pitchFamily="34" charset="0"/>
                <a:cs typeface="Arial" pitchFamily="34" charset="0"/>
              </a:rPr>
              <a:t>seeks to discover and account for the variation by classifying languages into types according to some structural features and classifying linguistic structures according  to their similarities and differences. </a:t>
            </a:r>
            <a:endParaRPr lang="en-PH" sz="4000" dirty="0">
              <a:latin typeface="Arial" pitchFamily="34" charset="0"/>
              <a:cs typeface="Arial" pitchFamily="34" charset="0"/>
            </a:endParaRPr>
          </a:p>
        </p:txBody>
      </p:sp>
    </p:spTree>
    <p:extLst>
      <p:ext uri="{BB962C8B-B14F-4D97-AF65-F5344CB8AC3E}">
        <p14:creationId xmlns:p14="http://schemas.microsoft.com/office/powerpoint/2010/main" val="166806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Awesome PowerPoint Backgrounds &amp; Templates for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1" y="216248"/>
            <a:ext cx="15867445" cy="89289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196356" y="3456608"/>
            <a:ext cx="12394740" cy="1569660"/>
          </a:xfrm>
          <a:prstGeom prst="rect">
            <a:avLst/>
          </a:prstGeom>
        </p:spPr>
        <p:style>
          <a:lnRef idx="3">
            <a:schemeClr val="lt1"/>
          </a:lnRef>
          <a:fillRef idx="1">
            <a:schemeClr val="dk1"/>
          </a:fillRef>
          <a:effectRef idx="1">
            <a:schemeClr val="dk1"/>
          </a:effectRef>
          <a:fontRef idx="minor">
            <a:schemeClr val="lt1"/>
          </a:fontRef>
        </p:style>
        <p:txBody>
          <a:bodyPr wrap="none" rtlCol="0">
            <a:spAutoFit/>
          </a:bodyPr>
          <a:lstStyle/>
          <a:p>
            <a:r>
              <a:rPr lang="en-PH" sz="6600" b="1" dirty="0" smtClean="0">
                <a:solidFill>
                  <a:srgbClr val="FFFF00"/>
                </a:solidFill>
                <a:latin typeface="AR JULIAN" pitchFamily="2" charset="0"/>
              </a:rPr>
              <a:t>Introduction to </a:t>
            </a:r>
            <a:r>
              <a:rPr lang="en-PH" sz="9600" b="1" dirty="0" smtClean="0">
                <a:solidFill>
                  <a:srgbClr val="FFFF00"/>
                </a:solidFill>
                <a:latin typeface="AR JULIAN" pitchFamily="2" charset="0"/>
              </a:rPr>
              <a:t>stylistics </a:t>
            </a:r>
            <a:endParaRPr lang="en-PH" sz="9600" b="1" dirty="0">
              <a:solidFill>
                <a:srgbClr val="FFFF00"/>
              </a:solidFill>
              <a:latin typeface="AR JULIAN" pitchFamily="2" charset="0"/>
            </a:endParaRPr>
          </a:p>
        </p:txBody>
      </p:sp>
    </p:spTree>
    <p:extLst>
      <p:ext uri="{BB962C8B-B14F-4D97-AF65-F5344CB8AC3E}">
        <p14:creationId xmlns:p14="http://schemas.microsoft.com/office/powerpoint/2010/main" val="4179146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 quote - Powerpoint background design ❣ © google,... | Faceboo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dirty="0"/>
          </a:p>
        </p:txBody>
      </p:sp>
      <p:sp>
        <p:nvSpPr>
          <p:cNvPr id="5" name="AutoShape 4" descr="I quote - Powerpoint background design ❣ © google,... | Faceboo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dirty="0"/>
          </a:p>
        </p:txBody>
      </p:sp>
      <p:sp>
        <p:nvSpPr>
          <p:cNvPr id="6" name="AutoShape 6" descr="I quote - Powerpoint background design ❣ © google,... | Faceboo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dirty="0"/>
          </a:p>
        </p:txBody>
      </p:sp>
      <p:pic>
        <p:nvPicPr>
          <p:cNvPr id="56331" name="Picture 11" descr="Free download pptgardenblogspotcomBack to School Bulletin Board Writing  Paper [960x720] for your Desktop, Mobile &amp; Tablet | Explore 48+ Free School  Backgrounds and Wallpapers | School Desktop Wallpaper, Schools Out  Wallpap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49484" y="8353152"/>
            <a:ext cx="3816424" cy="86409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12578877" y="8539559"/>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292458" y="1368376"/>
            <a:ext cx="3272050" cy="707886"/>
          </a:xfrm>
          <a:prstGeom prst="rect">
            <a:avLst/>
          </a:prstGeom>
          <a:noFill/>
        </p:spPr>
        <p:txBody>
          <a:bodyPr wrap="none" rtlCol="0">
            <a:spAutoFit/>
          </a:bodyPr>
          <a:lstStyle/>
          <a:p>
            <a:r>
              <a:rPr lang="en-PH" sz="4000" b="1" dirty="0" smtClean="0">
                <a:latin typeface="Arial" pitchFamily="34" charset="0"/>
                <a:cs typeface="Arial" pitchFamily="34" charset="0"/>
              </a:rPr>
              <a:t>STYLISTICS</a:t>
            </a:r>
            <a:r>
              <a:rPr lang="en-PH" sz="3600" b="1" dirty="0" smtClean="0">
                <a:latin typeface="Arial" pitchFamily="34" charset="0"/>
                <a:cs typeface="Arial" pitchFamily="34" charset="0"/>
              </a:rPr>
              <a:t> </a:t>
            </a:r>
            <a:endParaRPr lang="en-PH" sz="3600" b="1" dirty="0">
              <a:latin typeface="Arial" pitchFamily="34" charset="0"/>
              <a:cs typeface="Arial" pitchFamily="34" charset="0"/>
            </a:endParaRPr>
          </a:p>
        </p:txBody>
      </p:sp>
      <p:sp>
        <p:nvSpPr>
          <p:cNvPr id="3" name="TextBox 2"/>
          <p:cNvSpPr txBox="1"/>
          <p:nvPr/>
        </p:nvSpPr>
        <p:spPr>
          <a:xfrm>
            <a:off x="3524190" y="144240"/>
            <a:ext cx="12376430" cy="332398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571500" indent="-571500" algn="just">
              <a:buFont typeface="Wingdings" pitchFamily="2" charset="2"/>
              <a:buChar char="v"/>
            </a:pPr>
            <a:r>
              <a:rPr lang="en-PH" dirty="0" smtClean="0">
                <a:latin typeface="Arial" pitchFamily="34" charset="0"/>
                <a:cs typeface="Arial" pitchFamily="34" charset="0"/>
              </a:rPr>
              <a:t>It is a method of textual representation in which primary of place is assigned in language (Simpson, 2004).</a:t>
            </a:r>
          </a:p>
          <a:p>
            <a:pPr marL="571500" indent="-571500" algn="just">
              <a:buFont typeface="Wingdings" pitchFamily="2" charset="2"/>
              <a:buChar char="v"/>
            </a:pPr>
            <a:r>
              <a:rPr lang="en-PH" dirty="0" smtClean="0">
                <a:latin typeface="Arial" pitchFamily="34" charset="0"/>
                <a:cs typeface="Arial" pitchFamily="34" charset="0"/>
              </a:rPr>
              <a:t>It is the application of concepts from linguistics and allied disciplines in the analysis and interpretation of communication through language (Otanes, </a:t>
            </a:r>
            <a:r>
              <a:rPr lang="en-PH" dirty="0" err="1" smtClean="0">
                <a:latin typeface="Arial" pitchFamily="34" charset="0"/>
                <a:cs typeface="Arial" pitchFamily="34" charset="0"/>
              </a:rPr>
              <a:t>ms.</a:t>
            </a:r>
            <a:r>
              <a:rPr lang="en-PH" dirty="0" smtClean="0">
                <a:latin typeface="Arial" pitchFamily="34" charset="0"/>
                <a:cs typeface="Arial" pitchFamily="34" charset="0"/>
              </a:rPr>
              <a:t>). </a:t>
            </a:r>
          </a:p>
          <a:p>
            <a:pPr marL="571500" indent="-571500" algn="just">
              <a:buFont typeface="Wingdings" pitchFamily="2" charset="2"/>
              <a:buChar char="v"/>
            </a:pPr>
            <a:r>
              <a:rPr lang="en-PH" dirty="0" smtClean="0">
                <a:latin typeface="Arial" pitchFamily="34" charset="0"/>
                <a:cs typeface="Arial" pitchFamily="34" charset="0"/>
              </a:rPr>
              <a:t>It is the study of literary discourse from a linguistic orientation. *Widdowson, 1975). </a:t>
            </a:r>
            <a:endParaRPr lang="en-PH" dirty="0">
              <a:latin typeface="Arial" pitchFamily="34" charset="0"/>
              <a:cs typeface="Arial" pitchFamily="34" charset="0"/>
            </a:endParaRPr>
          </a:p>
        </p:txBody>
      </p:sp>
      <p:sp>
        <p:nvSpPr>
          <p:cNvPr id="7" name="TextBox 6"/>
          <p:cNvSpPr txBox="1"/>
          <p:nvPr/>
        </p:nvSpPr>
        <p:spPr>
          <a:xfrm>
            <a:off x="180132" y="3528616"/>
            <a:ext cx="6887591" cy="584775"/>
          </a:xfrm>
          <a:prstGeom prst="rect">
            <a:avLst/>
          </a:prstGeom>
          <a:noFill/>
        </p:spPr>
        <p:txBody>
          <a:bodyPr wrap="none" rtlCol="0">
            <a:spAutoFit/>
          </a:bodyPr>
          <a:lstStyle/>
          <a:p>
            <a:r>
              <a:rPr lang="en-PH" sz="3200" b="1" dirty="0" smtClean="0">
                <a:latin typeface="Times New Roman" pitchFamily="18" charset="0"/>
                <a:cs typeface="Times New Roman" pitchFamily="18" charset="0"/>
              </a:rPr>
              <a:t>COMMON ELEMENTS OF STYLE</a:t>
            </a:r>
            <a:endParaRPr lang="en-PH" sz="3200" b="1" dirty="0">
              <a:latin typeface="Times New Roman" pitchFamily="18" charset="0"/>
              <a:cs typeface="Times New Roman" pitchFamily="18" charset="0"/>
            </a:endParaRPr>
          </a:p>
        </p:txBody>
      </p:sp>
      <p:sp>
        <p:nvSpPr>
          <p:cNvPr id="8" name="TextBox 7"/>
          <p:cNvSpPr txBox="1"/>
          <p:nvPr/>
        </p:nvSpPr>
        <p:spPr>
          <a:xfrm>
            <a:off x="540172" y="4176688"/>
            <a:ext cx="15360448" cy="4201150"/>
          </a:xfrm>
          <a:prstGeom prst="rect">
            <a:avLst/>
          </a:prstGeom>
          <a:noFill/>
        </p:spPr>
        <p:txBody>
          <a:bodyPr wrap="square" rtlCol="0">
            <a:spAutoFit/>
          </a:bodyPr>
          <a:lstStyle/>
          <a:p>
            <a:pPr marL="457200" indent="-457200" algn="just">
              <a:buFont typeface="Wingdings" pitchFamily="2" charset="2"/>
              <a:buChar char="ü"/>
            </a:pPr>
            <a:r>
              <a:rPr lang="en-PH" sz="3000" b="1" dirty="0" smtClean="0">
                <a:latin typeface="Arial" pitchFamily="34" charset="0"/>
                <a:cs typeface="Arial" pitchFamily="34" charset="0"/>
              </a:rPr>
              <a:t>Word Choice. </a:t>
            </a:r>
            <a:r>
              <a:rPr lang="en-PH" sz="3000" dirty="0" smtClean="0">
                <a:latin typeface="Times New Roman" pitchFamily="18" charset="0"/>
                <a:cs typeface="Times New Roman" pitchFamily="18" charset="0"/>
              </a:rPr>
              <a:t>The style manifests itself through words - - - the kinds of words selected by the writer and in their arrangement proper words in their proper words. </a:t>
            </a:r>
          </a:p>
          <a:p>
            <a:pPr marL="457200" indent="-457200" algn="just">
              <a:buFont typeface="Wingdings" pitchFamily="2" charset="2"/>
              <a:buChar char="ü"/>
            </a:pPr>
            <a:r>
              <a:rPr lang="en-PH" sz="3000" b="1" dirty="0" smtClean="0">
                <a:latin typeface="Arial" pitchFamily="34" charset="0"/>
                <a:cs typeface="Arial" pitchFamily="34" charset="0"/>
              </a:rPr>
              <a:t>Sentence Structure</a:t>
            </a:r>
            <a:r>
              <a:rPr lang="en-PH" sz="3000" dirty="0" smtClean="0">
                <a:latin typeface="Times New Roman" pitchFamily="18" charset="0"/>
                <a:cs typeface="Times New Roman" pitchFamily="18" charset="0"/>
              </a:rPr>
              <a:t>. The main point of writing through which style is revealed the unit in which a writer arranges his words. </a:t>
            </a:r>
          </a:p>
          <a:p>
            <a:pPr marL="457200" indent="-457200" algn="just">
              <a:buFont typeface="Wingdings" pitchFamily="2" charset="2"/>
              <a:buChar char="ü"/>
            </a:pPr>
            <a:r>
              <a:rPr lang="en-PH" sz="3000" b="1" dirty="0" smtClean="0">
                <a:latin typeface="Arial" pitchFamily="34" charset="0"/>
                <a:cs typeface="Arial" pitchFamily="34" charset="0"/>
              </a:rPr>
              <a:t>Paragraph Patterns. </a:t>
            </a:r>
            <a:r>
              <a:rPr lang="en-PH" sz="3000" dirty="0" smtClean="0">
                <a:latin typeface="Times New Roman" pitchFamily="18" charset="0"/>
                <a:cs typeface="Times New Roman" pitchFamily="18" charset="0"/>
              </a:rPr>
              <a:t>The best and about the shortest unit if composition in which style can be seen advantageously; it is the chief unit of development, of movement and of rhythm, </a:t>
            </a:r>
          </a:p>
          <a:p>
            <a:pPr marL="457200" indent="-457200" algn="just">
              <a:buFont typeface="Wingdings" pitchFamily="2" charset="2"/>
              <a:buChar char="ü"/>
            </a:pPr>
            <a:r>
              <a:rPr lang="en-PH" sz="3100" b="1" dirty="0" smtClean="0">
                <a:latin typeface="Arial" pitchFamily="34" charset="0"/>
                <a:cs typeface="Arial" pitchFamily="34" charset="0"/>
              </a:rPr>
              <a:t>Structure </a:t>
            </a:r>
          </a:p>
          <a:p>
            <a:pPr marL="1917954" lvl="2" indent="-457200" algn="just">
              <a:buFont typeface="Arial" pitchFamily="34" charset="0"/>
              <a:buChar char="•"/>
            </a:pPr>
            <a:r>
              <a:rPr lang="en-PH" sz="2800" i="1" u="sng" dirty="0" smtClean="0">
                <a:latin typeface="Times New Roman" pitchFamily="18" charset="0"/>
                <a:cs typeface="Times New Roman" pitchFamily="18" charset="0"/>
              </a:rPr>
              <a:t>intrinsic</a:t>
            </a:r>
            <a:r>
              <a:rPr lang="en-PH" sz="2800" dirty="0" smtClean="0">
                <a:latin typeface="Times New Roman" pitchFamily="18" charset="0"/>
                <a:cs typeface="Times New Roman" pitchFamily="18" charset="0"/>
              </a:rPr>
              <a:t> (employed in a short composition and appropriate to the familiar essay</a:t>
            </a:r>
          </a:p>
          <a:p>
            <a:pPr marL="1917954" lvl="2" indent="-457200" algn="just">
              <a:buFont typeface="Arial" pitchFamily="34" charset="0"/>
              <a:buChar char="•"/>
            </a:pPr>
            <a:r>
              <a:rPr lang="en-PH" sz="2800" i="1" u="sng" dirty="0" smtClean="0">
                <a:latin typeface="Times New Roman" pitchFamily="18" charset="0"/>
                <a:cs typeface="Times New Roman" pitchFamily="18" charset="0"/>
              </a:rPr>
              <a:t>extrinsic</a:t>
            </a:r>
            <a:r>
              <a:rPr lang="en-PH" sz="2800" dirty="0" smtClean="0">
                <a:latin typeface="Times New Roman" pitchFamily="18" charset="0"/>
                <a:cs typeface="Times New Roman" pitchFamily="18" charset="0"/>
              </a:rPr>
              <a:t> (employed logical arrangement of ideas and in a formal essay, formal structure. </a:t>
            </a:r>
          </a:p>
        </p:txBody>
      </p:sp>
    </p:spTree>
    <p:extLst>
      <p:ext uri="{BB962C8B-B14F-4D97-AF65-F5344CB8AC3E}">
        <p14:creationId xmlns:p14="http://schemas.microsoft.com/office/powerpoint/2010/main" val="243538954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1" descr="Free download pptgardenblogspotcomBack to School Bulletin Board Writing  Paper [960x720] for your Desktop, Mobile &amp; Tablet | Explore 48+ Free School  Backgrounds and Wallpapers | School Desktop Wallpaper, Schools Out  Wallpap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49484" y="8353152"/>
            <a:ext cx="3816424" cy="86409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2578877" y="8539559"/>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4" name="TextBox 3"/>
          <p:cNvSpPr txBox="1"/>
          <p:nvPr/>
        </p:nvSpPr>
        <p:spPr>
          <a:xfrm>
            <a:off x="163885" y="144240"/>
            <a:ext cx="6784999" cy="584775"/>
          </a:xfrm>
          <a:prstGeom prst="rect">
            <a:avLst/>
          </a:prstGeom>
          <a:noFill/>
        </p:spPr>
        <p:txBody>
          <a:bodyPr wrap="none" rtlCol="0">
            <a:spAutoFit/>
          </a:bodyPr>
          <a:lstStyle/>
          <a:p>
            <a:r>
              <a:rPr lang="en-PH" sz="3200" b="1" dirty="0" smtClean="0">
                <a:latin typeface="Times New Roman" pitchFamily="18" charset="0"/>
                <a:cs typeface="Times New Roman" pitchFamily="18" charset="0"/>
              </a:rPr>
              <a:t>COMMON ELEMENTS OF STYLE </a:t>
            </a:r>
            <a:endParaRPr lang="en-PH" sz="3200" b="1" dirty="0">
              <a:latin typeface="Times New Roman" pitchFamily="18" charset="0"/>
              <a:cs typeface="Times New Roman" pitchFamily="18" charset="0"/>
            </a:endParaRPr>
          </a:p>
        </p:txBody>
      </p:sp>
      <p:sp>
        <p:nvSpPr>
          <p:cNvPr id="2" name="TextBox 1"/>
          <p:cNvSpPr txBox="1"/>
          <p:nvPr/>
        </p:nvSpPr>
        <p:spPr>
          <a:xfrm>
            <a:off x="628650" y="792312"/>
            <a:ext cx="15127954" cy="7971413"/>
          </a:xfrm>
          <a:prstGeom prst="rect">
            <a:avLst/>
          </a:prstGeom>
          <a:noFill/>
        </p:spPr>
        <p:txBody>
          <a:bodyPr wrap="square" rtlCol="0">
            <a:spAutoFit/>
          </a:bodyPr>
          <a:lstStyle/>
          <a:p>
            <a:pPr marL="457200" indent="-457200" algn="just">
              <a:buFont typeface="Wingdings" pitchFamily="2" charset="2"/>
              <a:buChar char="ü"/>
            </a:pPr>
            <a:r>
              <a:rPr lang="en-PH" sz="3000" b="1" dirty="0" smtClean="0">
                <a:latin typeface="Arial" pitchFamily="34" charset="0"/>
                <a:cs typeface="Arial" pitchFamily="34" charset="0"/>
              </a:rPr>
              <a:t>Movement. </a:t>
            </a:r>
            <a:r>
              <a:rPr lang="en-PH" sz="3000" dirty="0" smtClean="0">
                <a:latin typeface="Times New Roman" pitchFamily="18" charset="0"/>
                <a:cs typeface="Times New Roman" pitchFamily="18" charset="0"/>
              </a:rPr>
              <a:t>It is the way in which a literary work develops as it progresses. </a:t>
            </a:r>
          </a:p>
          <a:p>
            <a:pPr marL="457200" indent="-457200" algn="just">
              <a:buFont typeface="Wingdings" pitchFamily="2" charset="2"/>
              <a:buChar char="ü"/>
            </a:pPr>
            <a:r>
              <a:rPr lang="en-PH" sz="3000" b="1" dirty="0" smtClean="0">
                <a:latin typeface="Arial" pitchFamily="34" charset="0"/>
                <a:cs typeface="Arial" pitchFamily="34" charset="0"/>
              </a:rPr>
              <a:t>Time. </a:t>
            </a:r>
            <a:r>
              <a:rPr lang="en-PH" sz="3000" dirty="0" smtClean="0">
                <a:latin typeface="Times New Roman" pitchFamily="18" charset="0"/>
                <a:cs typeface="Times New Roman" pitchFamily="18" charset="0"/>
              </a:rPr>
              <a:t>It is the dominant qualities of style are mainly determined by tone.   </a:t>
            </a:r>
          </a:p>
          <a:p>
            <a:pPr marL="457200" indent="-457200" algn="just">
              <a:buFont typeface="Wingdings" pitchFamily="2" charset="2"/>
              <a:buChar char="ü"/>
            </a:pPr>
            <a:r>
              <a:rPr lang="en-PH" sz="3000" b="1" dirty="0" smtClean="0">
                <a:latin typeface="Arial" pitchFamily="34" charset="0"/>
                <a:cs typeface="Arial" pitchFamily="34" charset="0"/>
              </a:rPr>
              <a:t>Imagery</a:t>
            </a:r>
            <a:r>
              <a:rPr lang="en-PH" sz="3000" b="1" dirty="0">
                <a:latin typeface="Arial" pitchFamily="34" charset="0"/>
                <a:cs typeface="Arial" pitchFamily="34" charset="0"/>
              </a:rPr>
              <a:t>. </a:t>
            </a:r>
            <a:r>
              <a:rPr lang="en-PH" sz="3000" dirty="0" smtClean="0">
                <a:latin typeface="Times New Roman" pitchFamily="18" charset="0"/>
                <a:cs typeface="Times New Roman" pitchFamily="18" charset="0"/>
              </a:rPr>
              <a:t>It can </a:t>
            </a:r>
            <a:r>
              <a:rPr lang="en-PH" sz="3000" dirty="0">
                <a:latin typeface="Times New Roman" pitchFamily="18" charset="0"/>
                <a:cs typeface="Times New Roman" pitchFamily="18" charset="0"/>
              </a:rPr>
              <a:t>make something abstract, like an emotion or theory, seem more concrete and tangible to the reader. By using imagery, writers can evoke the feeling they want to talk about in their readers.</a:t>
            </a:r>
            <a:endParaRPr lang="en-PH" sz="3000" dirty="0" smtClean="0">
              <a:latin typeface="Times New Roman" pitchFamily="18" charset="0"/>
              <a:cs typeface="Times New Roman" pitchFamily="18" charset="0"/>
            </a:endParaRPr>
          </a:p>
          <a:p>
            <a:pPr marL="457200" indent="-457200" algn="just">
              <a:buFont typeface="Wingdings" pitchFamily="2" charset="2"/>
              <a:buChar char="ü"/>
            </a:pPr>
            <a:r>
              <a:rPr lang="en-PH" sz="3000" b="1" dirty="0" smtClean="0">
                <a:latin typeface="Arial" pitchFamily="34" charset="0"/>
                <a:cs typeface="Arial" pitchFamily="34" charset="0"/>
              </a:rPr>
              <a:t>Allusions</a:t>
            </a:r>
            <a:r>
              <a:rPr lang="en-PH" sz="3000" b="1" dirty="0">
                <a:latin typeface="Arial" pitchFamily="34" charset="0"/>
                <a:cs typeface="Arial" pitchFamily="34" charset="0"/>
              </a:rPr>
              <a:t>. </a:t>
            </a:r>
            <a:r>
              <a:rPr lang="en-PH" sz="3000" dirty="0" smtClean="0">
                <a:latin typeface="Times New Roman" pitchFamily="18" charset="0"/>
                <a:cs typeface="Times New Roman" pitchFamily="18" charset="0"/>
              </a:rPr>
              <a:t>These are </a:t>
            </a:r>
            <a:r>
              <a:rPr lang="en-PH" sz="3000" dirty="0">
                <a:latin typeface="Times New Roman" pitchFamily="18" charset="0"/>
                <a:cs typeface="Times New Roman" pitchFamily="18" charset="0"/>
              </a:rPr>
              <a:t>used as stylistic devices to help contextualize a story by referencing a well-known person, place, event, or another literary work. </a:t>
            </a:r>
            <a:endParaRPr lang="en-PH" sz="3000" dirty="0" smtClean="0">
              <a:latin typeface="Times New Roman" pitchFamily="18" charset="0"/>
              <a:cs typeface="Times New Roman" pitchFamily="18" charset="0"/>
            </a:endParaRPr>
          </a:p>
          <a:p>
            <a:pPr marL="457200" indent="-457200" algn="just">
              <a:buFont typeface="Wingdings" pitchFamily="2" charset="2"/>
              <a:buChar char="ü"/>
            </a:pPr>
            <a:r>
              <a:rPr lang="en-PH" sz="3000" b="1" dirty="0" smtClean="0">
                <a:latin typeface="Arial" pitchFamily="34" charset="0"/>
                <a:cs typeface="Arial" pitchFamily="34" charset="0"/>
              </a:rPr>
              <a:t>Phrasing</a:t>
            </a:r>
            <a:r>
              <a:rPr lang="en-PH" sz="3000" dirty="0">
                <a:latin typeface="Times New Roman" pitchFamily="18" charset="0"/>
                <a:cs typeface="Times New Roman" pitchFamily="18" charset="0"/>
              </a:rPr>
              <a:t>. </a:t>
            </a:r>
            <a:r>
              <a:rPr lang="en-PH" sz="3000" dirty="0" smtClean="0">
                <a:latin typeface="Times New Roman" pitchFamily="18" charset="0"/>
                <a:cs typeface="Times New Roman" pitchFamily="18" charset="0"/>
              </a:rPr>
              <a:t>It is </a:t>
            </a:r>
            <a:r>
              <a:rPr lang="en-PH" sz="3000" dirty="0">
                <a:latin typeface="Times New Roman" pitchFamily="18" charset="0"/>
                <a:cs typeface="Times New Roman" pitchFamily="18" charset="0"/>
              </a:rPr>
              <a:t>the way in which something is put into words. It is related to the concept of phraseology, which can be defined as the way in which words and phrases are organized into larger </a:t>
            </a:r>
            <a:r>
              <a:rPr lang="en-PH" sz="3000" dirty="0" smtClean="0">
                <a:latin typeface="Times New Roman" pitchFamily="18" charset="0"/>
                <a:cs typeface="Times New Roman" pitchFamily="18" charset="0"/>
              </a:rPr>
              <a:t>components (or </a:t>
            </a:r>
            <a:r>
              <a:rPr lang="en-PH" sz="3000" dirty="0">
                <a:latin typeface="Times New Roman" pitchFamily="18" charset="0"/>
                <a:cs typeface="Times New Roman" pitchFamily="18" charset="0"/>
              </a:rPr>
              <a:t>chunks). </a:t>
            </a:r>
            <a:endParaRPr lang="en-PH" sz="3000" dirty="0" smtClean="0">
              <a:latin typeface="Times New Roman" pitchFamily="18" charset="0"/>
              <a:cs typeface="Times New Roman" pitchFamily="18" charset="0"/>
            </a:endParaRPr>
          </a:p>
          <a:p>
            <a:pPr marL="457200" indent="-457200" algn="just">
              <a:buFont typeface="Wingdings" pitchFamily="2" charset="2"/>
              <a:buChar char="ü"/>
            </a:pPr>
            <a:r>
              <a:rPr lang="en-PH" sz="3000" b="1" dirty="0">
                <a:latin typeface="Arial" pitchFamily="34" charset="0"/>
                <a:cs typeface="Arial" pitchFamily="34" charset="0"/>
              </a:rPr>
              <a:t>Sound Patterns</a:t>
            </a:r>
            <a:r>
              <a:rPr lang="en-PH" sz="3000" dirty="0">
                <a:latin typeface="Arial" pitchFamily="34" charset="0"/>
                <a:cs typeface="Arial" pitchFamily="34" charset="0"/>
              </a:rPr>
              <a:t>. </a:t>
            </a:r>
            <a:r>
              <a:rPr lang="en-PH" sz="3000" dirty="0" smtClean="0">
                <a:latin typeface="Times New Roman" pitchFamily="18" charset="0"/>
                <a:cs typeface="Times New Roman" pitchFamily="18" charset="0"/>
              </a:rPr>
              <a:t>These </a:t>
            </a:r>
            <a:r>
              <a:rPr lang="en-PH" sz="3000" dirty="0">
                <a:latin typeface="Times New Roman" pitchFamily="18" charset="0"/>
                <a:cs typeface="Times New Roman" pitchFamily="18" charset="0"/>
              </a:rPr>
              <a:t>connections create meaning patterns. Three of these sound patterns shall be considered in more detail here: alliteration, assonance and onomatopoeia</a:t>
            </a:r>
          </a:p>
          <a:p>
            <a:pPr marL="457200" indent="-457200" algn="just">
              <a:buFont typeface="Wingdings" pitchFamily="2" charset="2"/>
              <a:buChar char="ü"/>
            </a:pPr>
            <a:r>
              <a:rPr lang="en-PH" sz="3000" b="1" dirty="0">
                <a:latin typeface="Arial" pitchFamily="34" charset="0"/>
                <a:cs typeface="Arial" pitchFamily="34" charset="0"/>
              </a:rPr>
              <a:t>Rhythm. </a:t>
            </a:r>
            <a:r>
              <a:rPr lang="en-PH" sz="3000" dirty="0" smtClean="0">
                <a:latin typeface="Times New Roman" pitchFamily="18" charset="0"/>
                <a:cs typeface="Times New Roman" pitchFamily="18" charset="0"/>
              </a:rPr>
              <a:t>Languages </a:t>
            </a:r>
            <a:r>
              <a:rPr lang="en-PH" sz="3000" dirty="0">
                <a:latin typeface="Times New Roman" pitchFamily="18" charset="0"/>
                <a:cs typeface="Times New Roman" pitchFamily="18" charset="0"/>
              </a:rPr>
              <a:t>use rhythms composed of syllables that are variously stressed and unstressed, all in a variety of patterns that, though discernible and often complex under analysis, we mostly use unconsciously. </a:t>
            </a:r>
          </a:p>
          <a:p>
            <a:pPr marL="457200" indent="-457200" algn="just">
              <a:buFont typeface="Wingdings" pitchFamily="2" charset="2"/>
              <a:buChar char="ü"/>
            </a:pPr>
            <a:r>
              <a:rPr lang="en-PH" sz="3000" b="1" dirty="0" smtClean="0">
                <a:latin typeface="Arial" pitchFamily="34" charset="0"/>
                <a:cs typeface="Arial" pitchFamily="34" charset="0"/>
              </a:rPr>
              <a:t>Visual Devices</a:t>
            </a:r>
            <a:r>
              <a:rPr lang="en-PH" sz="3000" dirty="0">
                <a:latin typeface="Times New Roman" pitchFamily="18" charset="0"/>
                <a:cs typeface="Times New Roman" pitchFamily="18" charset="0"/>
              </a:rPr>
              <a:t>. visual language is a system of communication using visual elements. </a:t>
            </a:r>
            <a:r>
              <a:rPr lang="en-PH" sz="3000" dirty="0" smtClean="0">
                <a:latin typeface="Times New Roman" pitchFamily="18" charset="0"/>
                <a:cs typeface="Times New Roman" pitchFamily="18" charset="0"/>
              </a:rPr>
              <a:t>These also help users </a:t>
            </a:r>
            <a:r>
              <a:rPr lang="en-PH" sz="3000" dirty="0">
                <a:latin typeface="Times New Roman" pitchFamily="18" charset="0"/>
                <a:cs typeface="Times New Roman" pitchFamily="18" charset="0"/>
              </a:rPr>
              <a:t>perceive and comprehend visible signs.</a:t>
            </a:r>
          </a:p>
        </p:txBody>
      </p:sp>
    </p:spTree>
    <p:extLst>
      <p:ext uri="{BB962C8B-B14F-4D97-AF65-F5344CB8AC3E}">
        <p14:creationId xmlns:p14="http://schemas.microsoft.com/office/powerpoint/2010/main" val="16224947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1" descr="Free download pptgardenblogspotcomBack to School Bulletin Board Writing  Paper [960x720] for your Desktop, Mobile &amp; Tablet | Explore 48+ Free School  Backgrounds and Wallpapers | School Desktop Wallpaper, Schools Out  Wallpap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49484" y="8353152"/>
            <a:ext cx="3816424" cy="86409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2578877" y="8539559"/>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324148" y="288256"/>
            <a:ext cx="5725414" cy="830997"/>
          </a:xfrm>
          <a:prstGeom prst="rect">
            <a:avLst/>
          </a:prstGeom>
        </p:spPr>
        <p:style>
          <a:lnRef idx="3">
            <a:schemeClr val="lt1"/>
          </a:lnRef>
          <a:fillRef idx="1">
            <a:schemeClr val="dk1"/>
          </a:fillRef>
          <a:effectRef idx="1">
            <a:schemeClr val="dk1"/>
          </a:effectRef>
          <a:fontRef idx="minor">
            <a:schemeClr val="lt1"/>
          </a:fontRef>
        </p:style>
        <p:txBody>
          <a:bodyPr wrap="none" rtlCol="0">
            <a:spAutoFit/>
          </a:bodyPr>
          <a:lstStyle/>
          <a:p>
            <a:r>
              <a:rPr lang="en-PH" sz="4800" b="1" dirty="0" smtClean="0">
                <a:latin typeface="Arial" pitchFamily="34" charset="0"/>
                <a:cs typeface="Arial" pitchFamily="34" charset="0"/>
              </a:rPr>
              <a:t>Types of Stylistics </a:t>
            </a:r>
            <a:endParaRPr lang="en-PH" sz="4800" b="1" dirty="0">
              <a:latin typeface="Arial" pitchFamily="34" charset="0"/>
              <a:cs typeface="Arial" pitchFamily="34" charset="0"/>
            </a:endParaRPr>
          </a:p>
        </p:txBody>
      </p:sp>
      <p:sp>
        <p:nvSpPr>
          <p:cNvPr id="4" name="TextBox 3"/>
          <p:cNvSpPr txBox="1"/>
          <p:nvPr/>
        </p:nvSpPr>
        <p:spPr>
          <a:xfrm>
            <a:off x="809797" y="1224360"/>
            <a:ext cx="15090823" cy="1569660"/>
          </a:xfrm>
          <a:prstGeom prst="rect">
            <a:avLst/>
          </a:prstGeom>
          <a:noFill/>
        </p:spPr>
        <p:txBody>
          <a:bodyPr wrap="square" rtlCol="0">
            <a:spAutoFit/>
          </a:bodyPr>
          <a:lstStyle/>
          <a:p>
            <a:pPr algn="just"/>
            <a:r>
              <a:rPr lang="en-PH" sz="3200" b="1" dirty="0" smtClean="0">
                <a:latin typeface="Arial" pitchFamily="34" charset="0"/>
                <a:cs typeface="Arial" pitchFamily="34" charset="0"/>
              </a:rPr>
              <a:t>A. Linguistic Stylistics </a:t>
            </a:r>
            <a:r>
              <a:rPr lang="en-PH" sz="3100" dirty="0" smtClean="0">
                <a:latin typeface="Arial" pitchFamily="34" charset="0"/>
                <a:cs typeface="Arial" pitchFamily="34" charset="0"/>
              </a:rPr>
              <a:t>is primarily concerned with the use of language and its effects in a text</a:t>
            </a:r>
            <a:r>
              <a:rPr lang="en-PH" sz="3100" dirty="0">
                <a:latin typeface="Arial" pitchFamily="34" charset="0"/>
                <a:cs typeface="Arial" pitchFamily="34" charset="0"/>
              </a:rPr>
              <a:t>. </a:t>
            </a:r>
            <a:r>
              <a:rPr lang="en-PH" sz="3100" dirty="0" smtClean="0">
                <a:latin typeface="Arial" pitchFamily="34" charset="0"/>
                <a:cs typeface="Arial" pitchFamily="34" charset="0"/>
              </a:rPr>
              <a:t>It has </a:t>
            </a:r>
            <a:r>
              <a:rPr lang="en-PH" sz="3100" dirty="0">
                <a:latin typeface="Arial" pitchFamily="34" charset="0"/>
                <a:cs typeface="Arial" pitchFamily="34" charset="0"/>
              </a:rPr>
              <a:t>to do with a stylistic study that relies heavily on the scientific rules of language in its analysis.</a:t>
            </a:r>
          </a:p>
        </p:txBody>
      </p:sp>
      <p:sp>
        <p:nvSpPr>
          <p:cNvPr id="7" name="Rectangle 6"/>
          <p:cNvSpPr/>
          <p:nvPr/>
        </p:nvSpPr>
        <p:spPr>
          <a:xfrm>
            <a:off x="1548284" y="2880544"/>
            <a:ext cx="14185576" cy="1938992"/>
          </a:xfrm>
          <a:prstGeom prst="rect">
            <a:avLst/>
          </a:prstGeom>
        </p:spPr>
        <p:txBody>
          <a:bodyPr wrap="square">
            <a:spAutoFit/>
          </a:bodyPr>
          <a:lstStyle/>
          <a:p>
            <a:pPr algn="just"/>
            <a:r>
              <a:rPr lang="en-PH" sz="3000" dirty="0">
                <a:latin typeface="Times New Roman" pitchFamily="18" charset="0"/>
                <a:cs typeface="Times New Roman" pitchFamily="18" charset="0"/>
              </a:rPr>
              <a:t>Linguistic stylistics, however, looks for style in terms of linguistic features of a text at different levels of linguistic description like </a:t>
            </a:r>
            <a:r>
              <a:rPr lang="en-PH" sz="3000" b="1" dirty="0">
                <a:latin typeface="Times New Roman" pitchFamily="18" charset="0"/>
                <a:cs typeface="Times New Roman" pitchFamily="18" charset="0"/>
              </a:rPr>
              <a:t>phonology (onomatopoeia, alliteration, eye dialect, and rhyme), syntax (repetition, and question in the narrative), grammar (dialect), and </a:t>
            </a:r>
            <a:r>
              <a:rPr lang="en-PH" sz="3000" b="1" dirty="0" smtClean="0">
                <a:latin typeface="Times New Roman" pitchFamily="18" charset="0"/>
                <a:cs typeface="Times New Roman" pitchFamily="18" charset="0"/>
              </a:rPr>
              <a:t>semantics </a:t>
            </a:r>
            <a:r>
              <a:rPr lang="en-PH" sz="3000" b="1" dirty="0">
                <a:latin typeface="Times New Roman" pitchFamily="18" charset="0"/>
                <a:cs typeface="Times New Roman" pitchFamily="18" charset="0"/>
              </a:rPr>
              <a:t>(metaphor, irony, and simile)</a:t>
            </a:r>
            <a:r>
              <a:rPr lang="en-PH" sz="3000" dirty="0">
                <a:latin typeface="Times New Roman" pitchFamily="18" charset="0"/>
                <a:cs typeface="Times New Roman" pitchFamily="18" charset="0"/>
              </a:rPr>
              <a:t>.</a:t>
            </a:r>
          </a:p>
        </p:txBody>
      </p:sp>
      <p:sp>
        <p:nvSpPr>
          <p:cNvPr id="8" name="TextBox 7"/>
          <p:cNvSpPr txBox="1"/>
          <p:nvPr/>
        </p:nvSpPr>
        <p:spPr>
          <a:xfrm>
            <a:off x="809797" y="5112792"/>
            <a:ext cx="14924063" cy="2062103"/>
          </a:xfrm>
          <a:prstGeom prst="rect">
            <a:avLst/>
          </a:prstGeom>
          <a:noFill/>
        </p:spPr>
        <p:txBody>
          <a:bodyPr wrap="square" rtlCol="0">
            <a:spAutoFit/>
          </a:bodyPr>
          <a:lstStyle/>
          <a:p>
            <a:pPr algn="just"/>
            <a:r>
              <a:rPr lang="en-PH" sz="3200" b="1" dirty="0" smtClean="0">
                <a:latin typeface="Arial" pitchFamily="34" charset="0"/>
                <a:cs typeface="Arial" pitchFamily="34" charset="0"/>
              </a:rPr>
              <a:t>B. Literary Stylistics </a:t>
            </a:r>
            <a:r>
              <a:rPr lang="en-PH" sz="3100" dirty="0" smtClean="0">
                <a:latin typeface="Arial" pitchFamily="34" charset="0"/>
                <a:cs typeface="Arial" pitchFamily="34" charset="0"/>
              </a:rPr>
              <a:t>is primarily concerned with messages and the interest in codes (languages) lies in the meaning they convey in particular instances of use. The beauty of language and how it issued to capture reality is also the focal concern of literary stylistics  </a:t>
            </a:r>
            <a:endParaRPr lang="en-PH" sz="3100" dirty="0">
              <a:latin typeface="Arial" pitchFamily="34" charset="0"/>
              <a:cs typeface="Arial" pitchFamily="34" charset="0"/>
            </a:endParaRPr>
          </a:p>
        </p:txBody>
      </p:sp>
    </p:spTree>
    <p:extLst>
      <p:ext uri="{BB962C8B-B14F-4D97-AF65-F5344CB8AC3E}">
        <p14:creationId xmlns:p14="http://schemas.microsoft.com/office/powerpoint/2010/main" val="182903604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1" descr="Free download pptgardenblogspotcomBack to School Bulletin Board Writing  Paper [960x720] for your Desktop, Mobile &amp; Tablet | Explore 48+ Free School  Backgrounds and Wallpapers | School Desktop Wallpaper, Schools Out  Wallpap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49484" y="8353152"/>
            <a:ext cx="3816424" cy="86409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2578877" y="8539559"/>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324148" y="360264"/>
            <a:ext cx="9001000" cy="646331"/>
          </a:xfrm>
          <a:prstGeom prst="rect">
            <a:avLst/>
          </a:prstGeom>
          <a:noFill/>
        </p:spPr>
        <p:txBody>
          <a:bodyPr wrap="square" rtlCol="0">
            <a:spAutoFit/>
          </a:bodyPr>
          <a:lstStyle/>
          <a:p>
            <a:r>
              <a:rPr lang="en-PH" sz="3600" b="1" dirty="0" smtClean="0">
                <a:latin typeface="Arial" pitchFamily="34" charset="0"/>
                <a:cs typeface="Arial" pitchFamily="34" charset="0"/>
              </a:rPr>
              <a:t>Functional Styles of English Language </a:t>
            </a:r>
            <a:endParaRPr lang="en-PH" sz="3600" b="1" dirty="0">
              <a:latin typeface="Arial" pitchFamily="34" charset="0"/>
              <a:cs typeface="Arial" pitchFamily="34" charset="0"/>
            </a:endParaRPr>
          </a:p>
        </p:txBody>
      </p:sp>
      <p:sp>
        <p:nvSpPr>
          <p:cNvPr id="3" name="TextBox 2"/>
          <p:cNvSpPr txBox="1"/>
          <p:nvPr/>
        </p:nvSpPr>
        <p:spPr>
          <a:xfrm>
            <a:off x="828204" y="1415991"/>
            <a:ext cx="6579045" cy="584775"/>
          </a:xfrm>
          <a:prstGeom prst="rect">
            <a:avLst/>
          </a:prstGeom>
          <a:noFill/>
        </p:spPr>
        <p:txBody>
          <a:bodyPr wrap="none" rtlCol="0">
            <a:spAutoFit/>
          </a:bodyPr>
          <a:lstStyle/>
          <a:p>
            <a:r>
              <a:rPr lang="en-PH" sz="3200" b="1" smtClean="0">
                <a:solidFill>
                  <a:srgbClr val="FF0000"/>
                </a:solidFill>
                <a:latin typeface="Times New Roman" pitchFamily="18" charset="0"/>
                <a:cs typeface="Times New Roman" pitchFamily="18" charset="0"/>
              </a:rPr>
              <a:t>1.  Classification </a:t>
            </a:r>
            <a:r>
              <a:rPr lang="en-PH" sz="3200" b="1" dirty="0" smtClean="0">
                <a:solidFill>
                  <a:srgbClr val="FF0000"/>
                </a:solidFill>
                <a:latin typeface="Times New Roman" pitchFamily="18" charset="0"/>
                <a:cs typeface="Times New Roman" pitchFamily="18" charset="0"/>
              </a:rPr>
              <a:t>of Language Styles </a:t>
            </a:r>
            <a:endParaRPr lang="en-PH" sz="3200" b="1" dirty="0">
              <a:solidFill>
                <a:srgbClr val="FF0000"/>
              </a:solidFill>
              <a:latin typeface="Times New Roman" pitchFamily="18" charset="0"/>
              <a:cs typeface="Times New Roman" pitchFamily="18" charset="0"/>
            </a:endParaRPr>
          </a:p>
        </p:txBody>
      </p:sp>
      <p:sp>
        <p:nvSpPr>
          <p:cNvPr id="4" name="TextBox 3"/>
          <p:cNvSpPr txBox="1"/>
          <p:nvPr/>
        </p:nvSpPr>
        <p:spPr>
          <a:xfrm>
            <a:off x="1620292" y="2144782"/>
            <a:ext cx="13825536" cy="3170099"/>
          </a:xfrm>
          <a:prstGeom prst="rect">
            <a:avLst/>
          </a:prstGeom>
          <a:noFill/>
        </p:spPr>
        <p:txBody>
          <a:bodyPr wrap="square" rtlCol="0">
            <a:spAutoFit/>
          </a:bodyPr>
          <a:lstStyle/>
          <a:p>
            <a:pPr marL="514350" indent="-514350" algn="just">
              <a:buAutoNum type="alphaLcPeriod"/>
            </a:pPr>
            <a:r>
              <a:rPr lang="en-PH" b="1" dirty="0" smtClean="0">
                <a:solidFill>
                  <a:srgbClr val="002060"/>
                </a:solidFill>
                <a:latin typeface="Arial" pitchFamily="34" charset="0"/>
                <a:cs typeface="Arial" pitchFamily="34" charset="0"/>
              </a:rPr>
              <a:t>Publication Style. </a:t>
            </a:r>
            <a:r>
              <a:rPr lang="en-PH" dirty="0" smtClean="0">
                <a:latin typeface="Arial" pitchFamily="34" charset="0"/>
                <a:cs typeface="Arial" pitchFamily="34" charset="0"/>
              </a:rPr>
              <a:t>It is used in public speeches and printed works, which are addressed to a broad audience and devoted to important social or political events, public problems of cultural and moral character.  </a:t>
            </a:r>
          </a:p>
          <a:p>
            <a:pPr lvl="0" algn="just" defTabSz="914400" fontAlgn="base">
              <a:spcBef>
                <a:spcPct val="0"/>
              </a:spcBef>
              <a:spcAft>
                <a:spcPct val="0"/>
              </a:spcAft>
            </a:pPr>
            <a:r>
              <a:rPr lang="en-PH" dirty="0" smtClean="0">
                <a:latin typeface="Arial" pitchFamily="34" charset="0"/>
                <a:cs typeface="Arial" pitchFamily="34" charset="0"/>
              </a:rPr>
              <a:t>b. </a:t>
            </a:r>
            <a:r>
              <a:rPr lang="en-PH" b="1" dirty="0" smtClean="0">
                <a:solidFill>
                  <a:srgbClr val="002060"/>
                </a:solidFill>
                <a:latin typeface="Arial" pitchFamily="34" charset="0"/>
                <a:cs typeface="Arial" pitchFamily="34" charset="0"/>
              </a:rPr>
              <a:t>Official Documents</a:t>
            </a:r>
            <a:r>
              <a:rPr lang="en-PH" dirty="0" smtClean="0">
                <a:solidFill>
                  <a:srgbClr val="002060"/>
                </a:solidFill>
                <a:latin typeface="Arial" pitchFamily="34" charset="0"/>
                <a:cs typeface="Arial" pitchFamily="34" charset="0"/>
              </a:rPr>
              <a:t>. </a:t>
            </a:r>
            <a:r>
              <a:rPr lang="en-US" sz="2800" dirty="0">
                <a:solidFill>
                  <a:srgbClr val="000000"/>
                </a:solidFill>
                <a:latin typeface="Arial" pitchFamily="34" charset="0"/>
                <a:cs typeface="Arial" pitchFamily="34" charset="0"/>
              </a:rPr>
              <a:t>Official documents are written in a formal, “cold” or matter-of-fact style of speech. The style of official documents, or ‘officialese’ as it is sometimes called, is not homogeneous and is represented by the following sub-styles, or varieties:</a:t>
            </a:r>
            <a:endParaRPr lang="en-US" sz="4800" dirty="0">
              <a:latin typeface="Arial" pitchFamily="34" charset="0"/>
              <a:cs typeface="Arial" pitchFamily="34" charset="0"/>
            </a:endParaRPr>
          </a:p>
        </p:txBody>
      </p:sp>
      <p:sp>
        <p:nvSpPr>
          <p:cNvPr id="7" name="Rectangle 1"/>
          <p:cNvSpPr>
            <a:spLocks noChangeArrowheads="1"/>
          </p:cNvSpPr>
          <p:nvPr/>
        </p:nvSpPr>
        <p:spPr bwMode="auto">
          <a:xfrm>
            <a:off x="3348484" y="5169118"/>
            <a:ext cx="691276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800" b="0" i="0" u="none" strike="noStrike" cap="none" normalizeH="0" baseline="0" dirty="0" smtClean="0">
                <a:ln>
                  <a:noFill/>
                </a:ln>
                <a:solidFill>
                  <a:schemeClr val="tx1"/>
                </a:solidFill>
                <a:effectLst/>
                <a:latin typeface="Arial" pitchFamily="34" charset="0"/>
                <a:cs typeface="Arial" pitchFamily="34" charset="0"/>
              </a:rPr>
              <a:t>the language of business documents,</a:t>
            </a:r>
          </a:p>
          <a:p>
            <a:pPr marL="457200" marR="0" lvl="0" indent="-457200"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800" b="0" i="0" u="none" strike="noStrike" cap="none" normalizeH="0" baseline="0" dirty="0" smtClean="0">
                <a:ln>
                  <a:noFill/>
                </a:ln>
                <a:solidFill>
                  <a:schemeClr val="tx1"/>
                </a:solidFill>
                <a:effectLst/>
                <a:latin typeface="Arial" pitchFamily="34" charset="0"/>
                <a:cs typeface="Arial" pitchFamily="34" charset="0"/>
              </a:rPr>
              <a:t>the language of legal documents</a:t>
            </a:r>
          </a:p>
          <a:p>
            <a:pPr marL="457200" marR="0" lvl="0" indent="-457200"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800" b="0" i="0" u="none" strike="noStrike" cap="none" normalizeH="0" baseline="0" dirty="0" smtClean="0">
                <a:ln>
                  <a:noFill/>
                </a:ln>
                <a:solidFill>
                  <a:schemeClr val="tx1"/>
                </a:solidFill>
                <a:effectLst/>
                <a:latin typeface="Arial" pitchFamily="34" charset="0"/>
                <a:cs typeface="Arial" pitchFamily="34" charset="0"/>
              </a:rPr>
              <a:t>the language of diplomacy,</a:t>
            </a:r>
          </a:p>
          <a:p>
            <a:pPr marL="457200" marR="0" lvl="0" indent="-457200"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800" b="0" i="0" u="none" strike="noStrike" cap="none" normalizeH="0" baseline="0" dirty="0" smtClean="0">
                <a:ln>
                  <a:noFill/>
                </a:ln>
                <a:solidFill>
                  <a:schemeClr val="tx1"/>
                </a:solidFill>
                <a:effectLst/>
                <a:latin typeface="Arial" pitchFamily="34" charset="0"/>
                <a:cs typeface="Arial" pitchFamily="34" charset="0"/>
              </a:rPr>
              <a:t>the language of military documents.</a:t>
            </a:r>
          </a:p>
        </p:txBody>
      </p:sp>
    </p:spTree>
    <p:extLst>
      <p:ext uri="{BB962C8B-B14F-4D97-AF65-F5344CB8AC3E}">
        <p14:creationId xmlns:p14="http://schemas.microsoft.com/office/powerpoint/2010/main" val="276216045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1" descr="Free download pptgardenblogspotcomBack to School Bulletin Board Writing  Paper [960x720] for your Desktop, Mobile &amp; Tablet | Explore 48+ Free School  Backgrounds and Wallpapers | School Desktop Wallpaper, Schools Out  Wallpap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49484" y="8353152"/>
            <a:ext cx="3816424" cy="86409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2578877" y="8539559"/>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324148" y="360264"/>
            <a:ext cx="4188967" cy="584775"/>
          </a:xfrm>
          <a:prstGeom prst="rect">
            <a:avLst/>
          </a:prstGeom>
          <a:noFill/>
        </p:spPr>
        <p:txBody>
          <a:bodyPr wrap="none" rtlCol="0">
            <a:spAutoFit/>
          </a:bodyPr>
          <a:lstStyle/>
          <a:p>
            <a:r>
              <a:rPr lang="en-PH" sz="3200" b="1" dirty="0" smtClean="0">
                <a:latin typeface="Arial" pitchFamily="34" charset="0"/>
                <a:cs typeface="Arial" pitchFamily="34" charset="0"/>
              </a:rPr>
              <a:t>IMPORTANT NAMES</a:t>
            </a:r>
            <a:endParaRPr lang="en-PH" sz="3200" b="1" dirty="0">
              <a:latin typeface="Arial" pitchFamily="34" charset="0"/>
              <a:cs typeface="Arial" pitchFamily="34" charset="0"/>
            </a:endParaRPr>
          </a:p>
        </p:txBody>
      </p:sp>
      <p:sp>
        <p:nvSpPr>
          <p:cNvPr id="3" name="TextBox 2"/>
          <p:cNvSpPr txBox="1"/>
          <p:nvPr/>
        </p:nvSpPr>
        <p:spPr>
          <a:xfrm>
            <a:off x="684188" y="1008336"/>
            <a:ext cx="15072416" cy="7602081"/>
          </a:xfrm>
          <a:prstGeom prst="rect">
            <a:avLst/>
          </a:prstGeom>
          <a:noFill/>
        </p:spPr>
        <p:txBody>
          <a:bodyPr wrap="square" rtlCol="0">
            <a:spAutoFit/>
          </a:bodyPr>
          <a:lstStyle/>
          <a:p>
            <a:pPr marL="457200" indent="-457200" algn="just">
              <a:buFont typeface="Wingdings" pitchFamily="2" charset="2"/>
              <a:buChar char="v"/>
            </a:pPr>
            <a:r>
              <a:rPr lang="en-PH" sz="3200" b="1" dirty="0" smtClean="0">
                <a:latin typeface="Arial" pitchFamily="34" charset="0"/>
                <a:cs typeface="Arial" pitchFamily="34" charset="0"/>
              </a:rPr>
              <a:t>Roman Jacobson </a:t>
            </a:r>
            <a:r>
              <a:rPr lang="en-PH" sz="3200" dirty="0" smtClean="0">
                <a:latin typeface="Arial" pitchFamily="34" charset="0"/>
                <a:cs typeface="Arial" pitchFamily="34" charset="0"/>
              </a:rPr>
              <a:t>– represented formalistic linguistics </a:t>
            </a:r>
            <a:r>
              <a:rPr lang="en-PH" sz="3000" i="1" dirty="0" smtClean="0">
                <a:latin typeface="Times New Roman" pitchFamily="18" charset="0"/>
                <a:cs typeface="Times New Roman" pitchFamily="18" charset="0"/>
              </a:rPr>
              <a:t>(</a:t>
            </a:r>
            <a:r>
              <a:rPr lang="en-PH" i="1" dirty="0" smtClean="0">
                <a:latin typeface="Times New Roman" pitchFamily="18" charset="0"/>
                <a:cs typeface="Times New Roman" pitchFamily="18" charset="0"/>
              </a:rPr>
              <a:t>It uses </a:t>
            </a:r>
            <a:r>
              <a:rPr lang="en-PH" i="1" dirty="0">
                <a:latin typeface="Times New Roman" pitchFamily="18" charset="0"/>
                <a:cs typeface="Times New Roman" pitchFamily="18" charset="0"/>
              </a:rPr>
              <a:t>applied mathematical methods for the analysis of natural languages. Such methods include formal languages, formal grammars and first-order logical </a:t>
            </a:r>
            <a:r>
              <a:rPr lang="en-PH" i="1" dirty="0" smtClean="0">
                <a:latin typeface="Times New Roman" pitchFamily="18" charset="0"/>
                <a:cs typeface="Times New Roman" pitchFamily="18" charset="0"/>
              </a:rPr>
              <a:t>expressions).</a:t>
            </a:r>
          </a:p>
          <a:p>
            <a:pPr marL="457200" indent="-457200" algn="just">
              <a:buFont typeface="Wingdings" pitchFamily="2" charset="2"/>
              <a:buChar char="v"/>
            </a:pPr>
            <a:r>
              <a:rPr lang="en-PH" sz="3200" b="1" dirty="0" smtClean="0">
                <a:latin typeface="Arial" pitchFamily="34" charset="0"/>
                <a:cs typeface="Arial" pitchFamily="34" charset="0"/>
              </a:rPr>
              <a:t>Michael </a:t>
            </a:r>
            <a:r>
              <a:rPr lang="en-PH" sz="3200" b="1" dirty="0" err="1" smtClean="0">
                <a:latin typeface="Arial" pitchFamily="34" charset="0"/>
                <a:cs typeface="Arial" pitchFamily="34" charset="0"/>
              </a:rPr>
              <a:t>Halliday</a:t>
            </a:r>
            <a:r>
              <a:rPr lang="en-PH" sz="3200" b="1" dirty="0" smtClean="0">
                <a:latin typeface="Arial" pitchFamily="34" charset="0"/>
                <a:cs typeface="Arial" pitchFamily="34" charset="0"/>
              </a:rPr>
              <a:t> </a:t>
            </a:r>
            <a:r>
              <a:rPr lang="en-PH" sz="3200" dirty="0" smtClean="0">
                <a:latin typeface="Arial" pitchFamily="34" charset="0"/>
                <a:cs typeface="Arial" pitchFamily="34" charset="0"/>
              </a:rPr>
              <a:t>– represented </a:t>
            </a:r>
            <a:r>
              <a:rPr lang="en-PH" sz="3200" dirty="0">
                <a:latin typeface="Arial" pitchFamily="34" charset="0"/>
                <a:cs typeface="Arial" pitchFamily="34" charset="0"/>
              </a:rPr>
              <a:t>functionalist linguistics </a:t>
            </a:r>
            <a:r>
              <a:rPr lang="en-PH" dirty="0" smtClean="0">
                <a:latin typeface="Arial" pitchFamily="34" charset="0"/>
                <a:cs typeface="Arial" pitchFamily="34" charset="0"/>
              </a:rPr>
              <a:t>(</a:t>
            </a:r>
            <a:r>
              <a:rPr lang="en-PH" i="1" dirty="0" smtClean="0">
                <a:latin typeface="Times New Roman" pitchFamily="18" charset="0"/>
                <a:cs typeface="Times New Roman" pitchFamily="18" charset="0"/>
              </a:rPr>
              <a:t>It is </a:t>
            </a:r>
            <a:r>
              <a:rPr lang="en-PH" i="1" dirty="0">
                <a:latin typeface="Times New Roman" pitchFamily="18" charset="0"/>
                <a:cs typeface="Times New Roman" pitchFamily="18" charset="0"/>
              </a:rPr>
              <a:t>an approach to the study of language characterized by taking systematically into account the speaker's and the hearer's side, and the communicative needs of the speaker and of the given language </a:t>
            </a:r>
            <a:r>
              <a:rPr lang="en-PH" i="1" dirty="0" smtClean="0">
                <a:latin typeface="Times New Roman" pitchFamily="18" charset="0"/>
                <a:cs typeface="Times New Roman" pitchFamily="18" charset="0"/>
              </a:rPr>
              <a:t>community). </a:t>
            </a:r>
          </a:p>
          <a:p>
            <a:pPr marL="457200" indent="-457200" algn="just">
              <a:buFont typeface="Wingdings" pitchFamily="2" charset="2"/>
              <a:buChar char="v"/>
            </a:pPr>
            <a:r>
              <a:rPr lang="en-PH" sz="3200" b="1" dirty="0" smtClean="0">
                <a:latin typeface="Arial" pitchFamily="34" charset="0"/>
                <a:cs typeface="Arial" pitchFamily="34" charset="0"/>
              </a:rPr>
              <a:t>Stanley E. Fish and Michael </a:t>
            </a:r>
            <a:r>
              <a:rPr lang="en-PH" sz="3200" b="1" dirty="0" err="1" smtClean="0">
                <a:latin typeface="Arial" pitchFamily="34" charset="0"/>
                <a:cs typeface="Arial" pitchFamily="34" charset="0"/>
              </a:rPr>
              <a:t>Toolan</a:t>
            </a:r>
            <a:r>
              <a:rPr lang="en-PH" sz="3200" b="1" dirty="0" smtClean="0">
                <a:latin typeface="Arial" pitchFamily="34" charset="0"/>
                <a:cs typeface="Arial" pitchFamily="34" charset="0"/>
              </a:rPr>
              <a:t> </a:t>
            </a:r>
            <a:r>
              <a:rPr lang="en-PH" sz="3200" dirty="0" smtClean="0">
                <a:latin typeface="Arial" pitchFamily="34" charset="0"/>
                <a:cs typeface="Arial" pitchFamily="34" charset="0"/>
              </a:rPr>
              <a:t>– represented affective </a:t>
            </a:r>
            <a:r>
              <a:rPr lang="en-PH" sz="3200" dirty="0">
                <a:latin typeface="Arial" pitchFamily="34" charset="0"/>
                <a:cs typeface="Arial" pitchFamily="34" charset="0"/>
              </a:rPr>
              <a:t>stylistics </a:t>
            </a:r>
            <a:r>
              <a:rPr lang="en-PH" sz="3200" dirty="0" smtClean="0">
                <a:latin typeface="Arial" pitchFamily="34" charset="0"/>
                <a:cs typeface="Arial" pitchFamily="34" charset="0"/>
              </a:rPr>
              <a:t>(</a:t>
            </a:r>
            <a:r>
              <a:rPr lang="en-PH" i="1" dirty="0" smtClean="0">
                <a:latin typeface="Times New Roman" pitchFamily="18" charset="0"/>
                <a:cs typeface="Times New Roman" pitchFamily="18" charset="0"/>
              </a:rPr>
              <a:t>It is used to </a:t>
            </a:r>
            <a:r>
              <a:rPr lang="en-PH" i="1" dirty="0">
                <a:latin typeface="Times New Roman" pitchFamily="18" charset="0"/>
                <a:cs typeface="Times New Roman" pitchFamily="18" charset="0"/>
              </a:rPr>
              <a:t>describe the process through which the reading of a text contributes to its meaning and does not merely extract </a:t>
            </a:r>
            <a:r>
              <a:rPr lang="en-PH" i="1" dirty="0" smtClean="0">
                <a:latin typeface="Times New Roman" pitchFamily="18" charset="0"/>
                <a:cs typeface="Times New Roman" pitchFamily="18" charset="0"/>
              </a:rPr>
              <a:t>it).</a:t>
            </a:r>
          </a:p>
          <a:p>
            <a:pPr marL="457200" indent="-457200" algn="just">
              <a:buFont typeface="Wingdings" pitchFamily="2" charset="2"/>
              <a:buChar char="v"/>
            </a:pPr>
            <a:r>
              <a:rPr lang="en-PH" sz="3200" b="1" dirty="0" smtClean="0">
                <a:latin typeface="Arial" pitchFamily="34" charset="0"/>
                <a:cs typeface="Arial" pitchFamily="34" charset="0"/>
              </a:rPr>
              <a:t>H. G. Widdowson, Ronald Carter, and Paul Simpson </a:t>
            </a:r>
            <a:r>
              <a:rPr lang="en-PH" sz="3200" dirty="0" smtClean="0">
                <a:latin typeface="Arial" pitchFamily="34" charset="0"/>
                <a:cs typeface="Arial" pitchFamily="34" charset="0"/>
              </a:rPr>
              <a:t>– represented </a:t>
            </a:r>
            <a:r>
              <a:rPr lang="en-PH" sz="3200" dirty="0">
                <a:latin typeface="Arial" pitchFamily="34" charset="0"/>
                <a:cs typeface="Arial" pitchFamily="34" charset="0"/>
              </a:rPr>
              <a:t>pedagogical stylistics </a:t>
            </a:r>
            <a:r>
              <a:rPr lang="en-PH" i="1" dirty="0" smtClean="0">
                <a:latin typeface="Times New Roman" pitchFamily="18" charset="0"/>
                <a:cs typeface="Times New Roman" pitchFamily="18" charset="0"/>
              </a:rPr>
              <a:t>(It is </a:t>
            </a:r>
            <a:r>
              <a:rPr lang="en-PH" i="1" dirty="0">
                <a:latin typeface="Times New Roman" pitchFamily="18" charset="0"/>
                <a:cs typeface="Times New Roman" pitchFamily="18" charset="0"/>
              </a:rPr>
              <a:t>a field that looks at employing stylistic analysis in teaching, with the aim of enabling students to better understand literature, language and also improving their language </a:t>
            </a:r>
            <a:r>
              <a:rPr lang="en-PH" i="1" dirty="0" smtClean="0">
                <a:latin typeface="Times New Roman" pitchFamily="18" charset="0"/>
                <a:cs typeface="Times New Roman" pitchFamily="18" charset="0"/>
              </a:rPr>
              <a:t>acquisition). </a:t>
            </a:r>
          </a:p>
          <a:p>
            <a:pPr marL="457200" indent="-457200" algn="just">
              <a:buFont typeface="Wingdings" pitchFamily="2" charset="2"/>
              <a:buChar char="v"/>
            </a:pPr>
            <a:r>
              <a:rPr lang="en-PH" sz="3200" b="1" dirty="0" smtClean="0">
                <a:latin typeface="Arial" pitchFamily="34" charset="0"/>
                <a:cs typeface="Arial" pitchFamily="34" charset="0"/>
              </a:rPr>
              <a:t>Mick Short, May Louise Pratt, and Peter </a:t>
            </a:r>
            <a:r>
              <a:rPr lang="en-PH" sz="3200" b="1" dirty="0" err="1" smtClean="0">
                <a:latin typeface="Arial" pitchFamily="34" charset="0"/>
                <a:cs typeface="Arial" pitchFamily="34" charset="0"/>
              </a:rPr>
              <a:t>Verdonk</a:t>
            </a:r>
            <a:r>
              <a:rPr lang="en-PH" sz="3200" b="1" dirty="0" smtClean="0">
                <a:latin typeface="Arial" pitchFamily="34" charset="0"/>
                <a:cs typeface="Arial" pitchFamily="34" charset="0"/>
              </a:rPr>
              <a:t> </a:t>
            </a:r>
            <a:r>
              <a:rPr lang="en-PH" sz="3200" dirty="0" smtClean="0">
                <a:latin typeface="Arial" pitchFamily="34" charset="0"/>
                <a:cs typeface="Arial" pitchFamily="34" charset="0"/>
              </a:rPr>
              <a:t>– represented work on pragmatic stylistics </a:t>
            </a:r>
            <a:r>
              <a:rPr lang="en-PH" i="1" dirty="0" smtClean="0">
                <a:latin typeface="Times New Roman" pitchFamily="18" charset="0"/>
                <a:cs typeface="Times New Roman" pitchFamily="18" charset="0"/>
              </a:rPr>
              <a:t>(It focuses on how </a:t>
            </a:r>
            <a:r>
              <a:rPr lang="en-PH" i="1" dirty="0">
                <a:latin typeface="Times New Roman" pitchFamily="18" charset="0"/>
                <a:cs typeface="Times New Roman" pitchFamily="18" charset="0"/>
              </a:rPr>
              <a:t>language users interact, communicate and interpret each others' linguistic </a:t>
            </a:r>
            <a:r>
              <a:rPr lang="en-PH" i="1" dirty="0" smtClean="0">
                <a:latin typeface="Times New Roman" pitchFamily="18" charset="0"/>
                <a:cs typeface="Times New Roman" pitchFamily="18" charset="0"/>
              </a:rPr>
              <a:t>behaviour). </a:t>
            </a:r>
            <a:endParaRPr lang="en-PH" i="1" dirty="0">
              <a:latin typeface="Times New Roman" pitchFamily="18" charset="0"/>
              <a:cs typeface="Times New Roman" pitchFamily="18" charset="0"/>
            </a:endParaRPr>
          </a:p>
        </p:txBody>
      </p:sp>
    </p:spTree>
    <p:extLst>
      <p:ext uri="{BB962C8B-B14F-4D97-AF65-F5344CB8AC3E}">
        <p14:creationId xmlns:p14="http://schemas.microsoft.com/office/powerpoint/2010/main" val="1949236076"/>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Writing Powerpoint Backgroun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24" y="144016"/>
            <a:ext cx="16021892" cy="914524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500612" y="3665081"/>
            <a:ext cx="8792792" cy="1015663"/>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n-PH" sz="6000" b="1" dirty="0" smtClean="0">
                <a:latin typeface="Century Gothic" pitchFamily="34" charset="0"/>
              </a:rPr>
              <a:t>LANGUAGE RESEARCH </a:t>
            </a:r>
            <a:endParaRPr lang="en-PH" sz="6000" b="1" dirty="0">
              <a:latin typeface="Century Gothic" pitchFamily="34" charset="0"/>
            </a:endParaRPr>
          </a:p>
        </p:txBody>
      </p:sp>
    </p:spTree>
    <p:extLst>
      <p:ext uri="{BB962C8B-B14F-4D97-AF65-F5344CB8AC3E}">
        <p14:creationId xmlns:p14="http://schemas.microsoft.com/office/powerpoint/2010/main" val="80264740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descr="Simple Notebook on Black Powerpoint Template | Background for powerpoint  presentation, Presentation background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2" y="144240"/>
            <a:ext cx="15769752" cy="90730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2349484" y="8323535"/>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1836316" y="720304"/>
            <a:ext cx="7725192"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PH" sz="3600" b="1" dirty="0" smtClean="0">
                <a:latin typeface="Arial" pitchFamily="34" charset="0"/>
                <a:cs typeface="Arial" pitchFamily="34" charset="0"/>
              </a:rPr>
              <a:t>Research in Language Education  </a:t>
            </a:r>
            <a:endParaRPr lang="en-PH" sz="3600" b="1" dirty="0">
              <a:latin typeface="Arial" pitchFamily="34" charset="0"/>
              <a:cs typeface="Arial" pitchFamily="34" charset="0"/>
            </a:endParaRPr>
          </a:p>
        </p:txBody>
      </p:sp>
      <p:sp>
        <p:nvSpPr>
          <p:cNvPr id="3" name="TextBox 2"/>
          <p:cNvSpPr txBox="1"/>
          <p:nvPr/>
        </p:nvSpPr>
        <p:spPr>
          <a:xfrm>
            <a:off x="2340372" y="1440384"/>
            <a:ext cx="13186839" cy="2062103"/>
          </a:xfrm>
          <a:prstGeom prst="rect">
            <a:avLst/>
          </a:prstGeom>
          <a:noFill/>
        </p:spPr>
        <p:txBody>
          <a:bodyPr wrap="square" rtlCol="0">
            <a:spAutoFit/>
          </a:bodyPr>
          <a:lstStyle/>
          <a:p>
            <a:pPr algn="just"/>
            <a:r>
              <a:rPr lang="en-PH" sz="3200" dirty="0" smtClean="0">
                <a:latin typeface="Times New Roman" pitchFamily="18" charset="0"/>
                <a:cs typeface="Times New Roman" pitchFamily="18" charset="0"/>
              </a:rPr>
              <a:t>It refers to as an exploration of one kind of another, sometimes formal  and technical (Brown and Rodgers, 2009).  A good way to understand the nature of research is to first experience it by doing it, initially in a simple and elementary way. </a:t>
            </a:r>
            <a:endParaRPr lang="en-PH" sz="3200" dirty="0">
              <a:latin typeface="Times New Roman" pitchFamily="18" charset="0"/>
              <a:cs typeface="Times New Roman" pitchFamily="18" charset="0"/>
            </a:endParaRPr>
          </a:p>
        </p:txBody>
      </p:sp>
      <p:sp>
        <p:nvSpPr>
          <p:cNvPr id="8" name="Rectangle 7"/>
          <p:cNvSpPr/>
          <p:nvPr/>
        </p:nvSpPr>
        <p:spPr>
          <a:xfrm>
            <a:off x="3204468" y="3602732"/>
            <a:ext cx="10805887" cy="584775"/>
          </a:xfrm>
          <a:prstGeom prst="rect">
            <a:avLst/>
          </a:prstGeom>
        </p:spPr>
        <p:txBody>
          <a:bodyPr wrap="square">
            <a:spAutoFit/>
          </a:bodyPr>
          <a:lstStyle/>
          <a:p>
            <a:pPr algn="ctr"/>
            <a:r>
              <a:rPr lang="en-PH" sz="3200" b="1" dirty="0">
                <a:latin typeface="Arial" pitchFamily="34" charset="0"/>
                <a:cs typeface="Arial" pitchFamily="34" charset="0"/>
              </a:rPr>
              <a:t>List of research studies to enhance language learning </a:t>
            </a:r>
          </a:p>
        </p:txBody>
      </p:sp>
      <p:sp>
        <p:nvSpPr>
          <p:cNvPr id="9" name="TextBox 8"/>
          <p:cNvSpPr txBox="1"/>
          <p:nvPr/>
        </p:nvSpPr>
        <p:spPr>
          <a:xfrm>
            <a:off x="2780386" y="4392712"/>
            <a:ext cx="12305402" cy="3323987"/>
          </a:xfrm>
          <a:prstGeom prst="rect">
            <a:avLst/>
          </a:prstGeom>
          <a:noFill/>
        </p:spPr>
        <p:txBody>
          <a:bodyPr wrap="square" rtlCol="0">
            <a:spAutoFit/>
          </a:bodyPr>
          <a:lstStyle/>
          <a:p>
            <a:r>
              <a:rPr lang="en-PH" sz="3000" dirty="0" smtClean="0"/>
              <a:t>Language and Advertising 		Language and Community </a:t>
            </a:r>
          </a:p>
          <a:p>
            <a:r>
              <a:rPr lang="en-PH" sz="3000" dirty="0" smtClean="0"/>
              <a:t>Language and Cultural Identity 	Language and Culture</a:t>
            </a:r>
          </a:p>
          <a:p>
            <a:r>
              <a:rPr lang="en-PH" sz="3000" dirty="0" smtClean="0"/>
              <a:t>Language and Gender 		Language and Power </a:t>
            </a:r>
          </a:p>
          <a:p>
            <a:r>
              <a:rPr lang="en-PH" sz="3000" dirty="0" smtClean="0"/>
              <a:t>Language and Sexism		Language and the Media </a:t>
            </a:r>
          </a:p>
          <a:p>
            <a:r>
              <a:rPr lang="en-PH" sz="3000" dirty="0" smtClean="0"/>
              <a:t>Language of Politics 		Language and Technology </a:t>
            </a:r>
          </a:p>
          <a:p>
            <a:r>
              <a:rPr lang="en-PH" sz="3000" dirty="0" smtClean="0"/>
              <a:t>Offensive Language and Free Speech	Standard and Non-Standard English 		</a:t>
            </a:r>
            <a:endParaRPr lang="en-PH" sz="3000" dirty="0"/>
          </a:p>
        </p:txBody>
      </p:sp>
    </p:spTree>
    <p:extLst>
      <p:ext uri="{BB962C8B-B14F-4D97-AF65-F5344CB8AC3E}">
        <p14:creationId xmlns:p14="http://schemas.microsoft.com/office/powerpoint/2010/main" val="153671867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descr="Simple Notebook on Black Powerpoint Template | Background for powerpoint  presentation, Presentation background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2" y="144240"/>
            <a:ext cx="15769752" cy="90730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349484" y="8323535"/>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1764308" y="650037"/>
            <a:ext cx="12265089" cy="646331"/>
          </a:xfrm>
          <a:prstGeom prst="rect">
            <a:avLst/>
          </a:prstGeom>
          <a:noFill/>
        </p:spPr>
        <p:txBody>
          <a:bodyPr wrap="none" rtlCol="0">
            <a:spAutoFit/>
          </a:bodyPr>
          <a:lstStyle/>
          <a:p>
            <a:r>
              <a:rPr lang="en-PH" sz="3600" b="1" dirty="0" smtClean="0">
                <a:latin typeface="Arial" pitchFamily="34" charset="0"/>
                <a:cs typeface="Arial" pitchFamily="34" charset="0"/>
              </a:rPr>
              <a:t>Qualitative Language Research (Brown &amp;Rodger, 2009)</a:t>
            </a:r>
            <a:endParaRPr lang="en-PH" sz="3600" b="1" dirty="0">
              <a:latin typeface="Arial" pitchFamily="34" charset="0"/>
              <a:cs typeface="Arial" pitchFamily="34" charset="0"/>
            </a:endParaRPr>
          </a:p>
        </p:txBody>
      </p:sp>
      <p:sp>
        <p:nvSpPr>
          <p:cNvPr id="4" name="TextBox 3"/>
          <p:cNvSpPr txBox="1"/>
          <p:nvPr/>
        </p:nvSpPr>
        <p:spPr>
          <a:xfrm>
            <a:off x="1980332" y="1296368"/>
            <a:ext cx="4476482" cy="584775"/>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n-PH" sz="3200" b="1" dirty="0" smtClean="0">
                <a:latin typeface="Times New Roman" pitchFamily="18" charset="0"/>
                <a:cs typeface="Times New Roman" pitchFamily="18" charset="0"/>
              </a:rPr>
              <a:t>A. Case Study Research </a:t>
            </a:r>
            <a:endParaRPr lang="en-PH" sz="3200" b="1" dirty="0">
              <a:latin typeface="Times New Roman" pitchFamily="18" charset="0"/>
              <a:cs typeface="Times New Roman" pitchFamily="18" charset="0"/>
            </a:endParaRPr>
          </a:p>
        </p:txBody>
      </p:sp>
      <p:sp>
        <p:nvSpPr>
          <p:cNvPr id="8" name="TextBox 7"/>
          <p:cNvSpPr txBox="1"/>
          <p:nvPr/>
        </p:nvSpPr>
        <p:spPr>
          <a:xfrm>
            <a:off x="1908324" y="5310537"/>
            <a:ext cx="5103257" cy="584775"/>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n-PH" sz="3200" b="1" dirty="0" smtClean="0">
                <a:latin typeface="Times New Roman" pitchFamily="18" charset="0"/>
                <a:cs typeface="Times New Roman" pitchFamily="18" charset="0"/>
              </a:rPr>
              <a:t>B. Developmental Research </a:t>
            </a:r>
            <a:endParaRPr lang="en-PH" sz="3200" b="1" dirty="0">
              <a:latin typeface="Times New Roman" pitchFamily="18" charset="0"/>
              <a:cs typeface="Times New Roman" pitchFamily="18" charset="0"/>
            </a:endParaRPr>
          </a:p>
        </p:txBody>
      </p:sp>
      <p:sp>
        <p:nvSpPr>
          <p:cNvPr id="5" name="TextBox 4"/>
          <p:cNvSpPr txBox="1"/>
          <p:nvPr/>
        </p:nvSpPr>
        <p:spPr>
          <a:xfrm>
            <a:off x="2124348" y="2016448"/>
            <a:ext cx="13402863" cy="1384995"/>
          </a:xfrm>
          <a:prstGeom prst="rect">
            <a:avLst/>
          </a:prstGeom>
          <a:noFill/>
        </p:spPr>
        <p:txBody>
          <a:bodyPr wrap="square" rtlCol="0">
            <a:spAutoFit/>
          </a:bodyPr>
          <a:lstStyle/>
          <a:p>
            <a:pPr marL="457200" indent="-457200" algn="just">
              <a:buFont typeface="Arial" pitchFamily="34" charset="0"/>
              <a:buChar char="•"/>
            </a:pPr>
            <a:r>
              <a:rPr lang="en-PH" sz="2800" dirty="0" smtClean="0">
                <a:latin typeface="Arial" pitchFamily="34" charset="0"/>
                <a:cs typeface="Arial" pitchFamily="34" charset="0"/>
              </a:rPr>
              <a:t>It comprises an intensive study of the background, current status, and environmental interactions of a given social unit; an individual, a group, an institution, or a community. </a:t>
            </a:r>
            <a:endParaRPr lang="en-PH" sz="2800" dirty="0">
              <a:latin typeface="Arial" pitchFamily="34" charset="0"/>
              <a:cs typeface="Arial" pitchFamily="34" charset="0"/>
            </a:endParaRPr>
          </a:p>
        </p:txBody>
      </p:sp>
      <p:sp>
        <p:nvSpPr>
          <p:cNvPr id="9" name="TextBox 8"/>
          <p:cNvSpPr txBox="1"/>
          <p:nvPr/>
        </p:nvSpPr>
        <p:spPr>
          <a:xfrm>
            <a:off x="2295960" y="6041344"/>
            <a:ext cx="13221876" cy="1015663"/>
          </a:xfrm>
          <a:prstGeom prst="rect">
            <a:avLst/>
          </a:prstGeom>
          <a:noFill/>
        </p:spPr>
        <p:txBody>
          <a:bodyPr wrap="square" rtlCol="0">
            <a:spAutoFit/>
          </a:bodyPr>
          <a:lstStyle/>
          <a:p>
            <a:pPr marL="457200" indent="-457200">
              <a:buFont typeface="Arial" pitchFamily="34" charset="0"/>
              <a:buChar char="•"/>
            </a:pPr>
            <a:r>
              <a:rPr lang="en-PH" sz="3000" dirty="0" smtClean="0">
                <a:latin typeface="Arial" pitchFamily="34" charset="0"/>
                <a:cs typeface="Arial" pitchFamily="34" charset="0"/>
              </a:rPr>
              <a:t>It comprises as investigation of patterns and sequences and change as a function of time. </a:t>
            </a:r>
            <a:endParaRPr lang="en-PH" sz="3000" dirty="0">
              <a:latin typeface="Arial" pitchFamily="34" charset="0"/>
              <a:cs typeface="Arial" pitchFamily="34" charset="0"/>
            </a:endParaRPr>
          </a:p>
        </p:txBody>
      </p:sp>
      <p:sp>
        <p:nvSpPr>
          <p:cNvPr id="11" name="Rectangle 10"/>
          <p:cNvSpPr/>
          <p:nvPr/>
        </p:nvSpPr>
        <p:spPr>
          <a:xfrm>
            <a:off x="2124348" y="3384600"/>
            <a:ext cx="13393488" cy="1877437"/>
          </a:xfrm>
          <a:prstGeom prst="rect">
            <a:avLst/>
          </a:prstGeom>
        </p:spPr>
        <p:txBody>
          <a:bodyPr wrap="square">
            <a:spAutoFit/>
          </a:bodyPr>
          <a:lstStyle/>
          <a:p>
            <a:pPr marL="457200" indent="-457200" algn="just">
              <a:buFont typeface="Arial" pitchFamily="34" charset="0"/>
              <a:buChar char="•"/>
            </a:pPr>
            <a:r>
              <a:rPr lang="en-PH" sz="2800" dirty="0" smtClean="0">
                <a:latin typeface="Arial" pitchFamily="34" charset="0"/>
                <a:cs typeface="Arial" pitchFamily="34" charset="0"/>
              </a:rPr>
              <a:t>Case </a:t>
            </a:r>
            <a:r>
              <a:rPr lang="en-PH" sz="2800" dirty="0">
                <a:latin typeface="Arial" pitchFamily="34" charset="0"/>
                <a:cs typeface="Arial" pitchFamily="34" charset="0"/>
              </a:rPr>
              <a:t>studies, a form of task-based learning (TBL), allow teachers to implement the communicative approach: the central focus is on completing a task, and students use language as a tool to communicate their ideas instead of doing language exercises to practice a grammar point or lexical item.</a:t>
            </a:r>
          </a:p>
        </p:txBody>
      </p:sp>
      <p:sp>
        <p:nvSpPr>
          <p:cNvPr id="12" name="TextBox 11"/>
          <p:cNvSpPr txBox="1"/>
          <p:nvPr/>
        </p:nvSpPr>
        <p:spPr>
          <a:xfrm>
            <a:off x="2052340" y="7124723"/>
            <a:ext cx="4635436" cy="1431161"/>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PH" dirty="0" smtClean="0">
                <a:latin typeface="Times New Roman" pitchFamily="18" charset="0"/>
                <a:cs typeface="Times New Roman" pitchFamily="18" charset="0"/>
              </a:rPr>
              <a:t> Michael </a:t>
            </a:r>
            <a:r>
              <a:rPr lang="en-PH" dirty="0" err="1" smtClean="0">
                <a:latin typeface="Times New Roman" pitchFamily="18" charset="0"/>
                <a:cs typeface="Times New Roman" pitchFamily="18" charset="0"/>
              </a:rPr>
              <a:t>Halliday</a:t>
            </a:r>
            <a:r>
              <a:rPr lang="en-PH" dirty="0" smtClean="0">
                <a:latin typeface="Times New Roman" pitchFamily="18" charset="0"/>
                <a:cs typeface="Times New Roman" pitchFamily="18" charset="0"/>
              </a:rPr>
              <a:t> (1975)</a:t>
            </a:r>
          </a:p>
          <a:p>
            <a:r>
              <a:rPr lang="en-PH" dirty="0" smtClean="0">
                <a:latin typeface="Times New Roman" pitchFamily="18" charset="0"/>
                <a:cs typeface="Times New Roman" pitchFamily="18" charset="0"/>
              </a:rPr>
              <a:t> Werner Leopold (1939-1949)</a:t>
            </a:r>
          </a:p>
          <a:p>
            <a:r>
              <a:rPr lang="en-PH" dirty="0" smtClean="0">
                <a:latin typeface="Times New Roman" pitchFamily="18" charset="0"/>
                <a:cs typeface="Times New Roman" pitchFamily="18" charset="0"/>
              </a:rPr>
              <a:t> Ruth Weir (1862) </a:t>
            </a:r>
            <a:endParaRPr lang="en-PH" dirty="0">
              <a:latin typeface="Times New Roman" pitchFamily="18" charset="0"/>
              <a:cs typeface="Times New Roman" pitchFamily="18" charset="0"/>
            </a:endParaRPr>
          </a:p>
        </p:txBody>
      </p:sp>
      <p:sp>
        <p:nvSpPr>
          <p:cNvPr id="13" name="Right Arrow 12"/>
          <p:cNvSpPr/>
          <p:nvPr/>
        </p:nvSpPr>
        <p:spPr>
          <a:xfrm>
            <a:off x="6759784" y="7561064"/>
            <a:ext cx="1053196" cy="360040"/>
          </a:xfrm>
          <a:prstGeom prst="rightArrow">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TextBox 13"/>
          <p:cNvSpPr txBox="1"/>
          <p:nvPr/>
        </p:nvSpPr>
        <p:spPr>
          <a:xfrm>
            <a:off x="7884988" y="7224251"/>
            <a:ext cx="5040560" cy="1077218"/>
          </a:xfrm>
          <a:prstGeom prst="rect">
            <a:avLst/>
          </a:prstGeom>
          <a:noFill/>
        </p:spPr>
        <p:txBody>
          <a:bodyPr wrap="square" rtlCol="0">
            <a:spAutoFit/>
          </a:bodyPr>
          <a:lstStyle/>
          <a:p>
            <a:r>
              <a:rPr lang="en-PH" sz="3200" dirty="0" smtClean="0">
                <a:latin typeface="Arial Narrow" pitchFamily="34" charset="0"/>
              </a:rPr>
              <a:t>Linguists who published studies of the language development </a:t>
            </a:r>
            <a:endParaRPr lang="en-PH" sz="3200" dirty="0">
              <a:latin typeface="Arial Narrow" pitchFamily="34" charset="0"/>
            </a:endParaRPr>
          </a:p>
        </p:txBody>
      </p:sp>
    </p:spTree>
    <p:extLst>
      <p:ext uri="{BB962C8B-B14F-4D97-AF65-F5344CB8AC3E}">
        <p14:creationId xmlns:p14="http://schemas.microsoft.com/office/powerpoint/2010/main" val="91472296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descr="Simple Notebook on Black Powerpoint Template | Background for powerpoint  presentation, Presentation background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2" y="144240"/>
            <a:ext cx="15769752" cy="90730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349484" y="8323535"/>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1890771" y="792312"/>
            <a:ext cx="9378593" cy="707886"/>
          </a:xfrm>
          <a:prstGeom prst="rect">
            <a:avLst/>
          </a:prstGeom>
          <a:noFill/>
        </p:spPr>
        <p:txBody>
          <a:bodyPr wrap="none" rtlCol="0">
            <a:spAutoFit/>
          </a:bodyPr>
          <a:lstStyle/>
          <a:p>
            <a:r>
              <a:rPr lang="en-PH" sz="4000" b="1" dirty="0" smtClean="0">
                <a:solidFill>
                  <a:srgbClr val="FF0000"/>
                </a:solidFill>
                <a:latin typeface="Times New Roman" pitchFamily="18" charset="0"/>
                <a:cs typeface="Times New Roman" pitchFamily="18" charset="0"/>
              </a:rPr>
              <a:t>Introspective Research : Verbal Protocols </a:t>
            </a:r>
            <a:endParaRPr lang="en-PH" sz="4000" b="1" dirty="0">
              <a:solidFill>
                <a:srgbClr val="FF0000"/>
              </a:solidFill>
              <a:latin typeface="Times New Roman" pitchFamily="18" charset="0"/>
              <a:cs typeface="Times New Roman" pitchFamily="18" charset="0"/>
            </a:endParaRPr>
          </a:p>
        </p:txBody>
      </p:sp>
      <p:sp>
        <p:nvSpPr>
          <p:cNvPr id="4" name="TextBox 3"/>
          <p:cNvSpPr txBox="1"/>
          <p:nvPr/>
        </p:nvSpPr>
        <p:spPr>
          <a:xfrm>
            <a:off x="2340372" y="1656408"/>
            <a:ext cx="13177464" cy="1569660"/>
          </a:xfrm>
          <a:prstGeom prst="rect">
            <a:avLst/>
          </a:prstGeom>
          <a:noFill/>
        </p:spPr>
        <p:txBody>
          <a:bodyPr wrap="square" rtlCol="0">
            <a:spAutoFit/>
          </a:bodyPr>
          <a:lstStyle/>
          <a:p>
            <a:pPr algn="just"/>
            <a:r>
              <a:rPr lang="en-PH" sz="3200" dirty="0" smtClean="0">
                <a:latin typeface="Arial" pitchFamily="34" charset="0"/>
                <a:cs typeface="Arial" pitchFamily="34" charset="0"/>
              </a:rPr>
              <a:t>The researchers using </a:t>
            </a:r>
            <a:r>
              <a:rPr lang="en-PH" sz="3200" u="sng" dirty="0" smtClean="0">
                <a:latin typeface="Arial" pitchFamily="34" charset="0"/>
                <a:cs typeface="Arial" pitchFamily="34" charset="0"/>
              </a:rPr>
              <a:t>INTROSPECTIVE TECHNIQUES</a:t>
            </a:r>
            <a:r>
              <a:rPr lang="en-PH" sz="3200" dirty="0" smtClean="0">
                <a:latin typeface="Arial" pitchFamily="34" charset="0"/>
                <a:cs typeface="Arial" pitchFamily="34" charset="0"/>
              </a:rPr>
              <a:t>  usually sets a task and then asks participants to report on what their brains are processing as they carry out the task.</a:t>
            </a:r>
            <a:endParaRPr lang="en-PH" sz="3200" dirty="0">
              <a:latin typeface="Arial" pitchFamily="34" charset="0"/>
              <a:cs typeface="Arial" pitchFamily="34" charset="0"/>
            </a:endParaRPr>
          </a:p>
        </p:txBody>
      </p:sp>
      <p:sp>
        <p:nvSpPr>
          <p:cNvPr id="5" name="TextBox 4"/>
          <p:cNvSpPr txBox="1"/>
          <p:nvPr/>
        </p:nvSpPr>
        <p:spPr>
          <a:xfrm>
            <a:off x="1908324" y="3655789"/>
            <a:ext cx="9825126" cy="569387"/>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n-PH" sz="3100" dirty="0" smtClean="0">
                <a:solidFill>
                  <a:srgbClr val="FFFF00"/>
                </a:solidFill>
                <a:latin typeface="Arial" pitchFamily="34" charset="0"/>
                <a:cs typeface="Arial" pitchFamily="34" charset="0"/>
              </a:rPr>
              <a:t>General Principles that apply to introspective research </a:t>
            </a:r>
            <a:endParaRPr lang="en-PH" sz="3100" dirty="0">
              <a:solidFill>
                <a:srgbClr val="FFFF00"/>
              </a:solidFill>
              <a:latin typeface="Arial" pitchFamily="34" charset="0"/>
              <a:cs typeface="Arial" pitchFamily="34" charset="0"/>
            </a:endParaRPr>
          </a:p>
        </p:txBody>
      </p:sp>
      <p:sp>
        <p:nvSpPr>
          <p:cNvPr id="6" name="TextBox 5"/>
          <p:cNvSpPr txBox="1"/>
          <p:nvPr/>
        </p:nvSpPr>
        <p:spPr>
          <a:xfrm>
            <a:off x="2568439" y="4447877"/>
            <a:ext cx="9422772" cy="1384995"/>
          </a:xfrm>
          <a:prstGeom prst="rect">
            <a:avLst/>
          </a:prstGeom>
          <a:noFill/>
        </p:spPr>
        <p:txBody>
          <a:bodyPr wrap="none" rtlCol="0">
            <a:spAutoFit/>
          </a:bodyPr>
          <a:lstStyle/>
          <a:p>
            <a:pPr marL="514350" indent="-514350">
              <a:buAutoNum type="arabicPeriod"/>
            </a:pPr>
            <a:r>
              <a:rPr lang="en-PH" sz="2800" dirty="0" smtClean="0">
                <a:latin typeface="Arial" pitchFamily="34" charset="0"/>
                <a:cs typeface="Arial" pitchFamily="34" charset="0"/>
              </a:rPr>
              <a:t>Always use a tape recorder or other recording devices </a:t>
            </a:r>
          </a:p>
          <a:p>
            <a:pPr marL="514350" indent="-514350">
              <a:buAutoNum type="arabicPeriod"/>
            </a:pPr>
            <a:r>
              <a:rPr lang="en-PH" sz="2800" dirty="0" smtClean="0">
                <a:latin typeface="Arial" pitchFamily="34" charset="0"/>
                <a:cs typeface="Arial" pitchFamily="34" charset="0"/>
              </a:rPr>
              <a:t>Think aloud. Don’t talk </a:t>
            </a:r>
          </a:p>
          <a:p>
            <a:pPr marL="514350" indent="-514350">
              <a:buAutoNum type="arabicPeriod"/>
            </a:pPr>
            <a:r>
              <a:rPr lang="en-PH" sz="2800" dirty="0" smtClean="0">
                <a:latin typeface="Arial" pitchFamily="34" charset="0"/>
                <a:cs typeface="Arial" pitchFamily="34" charset="0"/>
              </a:rPr>
              <a:t>Do not be too directive in instructions to participants </a:t>
            </a:r>
            <a:endParaRPr lang="en-PH" sz="2800" dirty="0">
              <a:latin typeface="Arial" pitchFamily="34" charset="0"/>
              <a:cs typeface="Arial" pitchFamily="34" charset="0"/>
            </a:endParaRPr>
          </a:p>
        </p:txBody>
      </p:sp>
      <p:sp>
        <p:nvSpPr>
          <p:cNvPr id="7" name="TextBox 6"/>
          <p:cNvSpPr txBox="1"/>
          <p:nvPr/>
        </p:nvSpPr>
        <p:spPr>
          <a:xfrm>
            <a:off x="2484388" y="6057895"/>
            <a:ext cx="12681980" cy="1431161"/>
          </a:xfrm>
          <a:prstGeom prst="rect">
            <a:avLst/>
          </a:prstGeom>
          <a:noFill/>
        </p:spPr>
        <p:txBody>
          <a:bodyPr wrap="square" rtlCol="0">
            <a:spAutoFit/>
          </a:bodyPr>
          <a:lstStyle/>
          <a:p>
            <a:pPr algn="just"/>
            <a:r>
              <a:rPr lang="en-PH" dirty="0" smtClean="0">
                <a:latin typeface="Arial" pitchFamily="34" charset="0"/>
                <a:cs typeface="Arial" pitchFamily="34" charset="0"/>
              </a:rPr>
              <a:t>Most introspective / retrospective data are recorded on a tape recorder.   In addition, the research may have made notes and / or have done partial transcriptions .</a:t>
            </a:r>
            <a:endParaRPr lang="en-PH" dirty="0">
              <a:latin typeface="Arial" pitchFamily="34" charset="0"/>
              <a:cs typeface="Arial" pitchFamily="34" charset="0"/>
            </a:endParaRPr>
          </a:p>
        </p:txBody>
      </p:sp>
    </p:spTree>
    <p:extLst>
      <p:ext uri="{BB962C8B-B14F-4D97-AF65-F5344CB8AC3E}">
        <p14:creationId xmlns:p14="http://schemas.microsoft.com/office/powerpoint/2010/main" val="914722961"/>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descr="Simple Notebook on Black Powerpoint Template | Background for powerpoint  presentation, Presentation background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2" y="144240"/>
            <a:ext cx="15769752" cy="90730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349484" y="8323535"/>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4" name="TextBox 3"/>
          <p:cNvSpPr txBox="1"/>
          <p:nvPr/>
        </p:nvSpPr>
        <p:spPr>
          <a:xfrm>
            <a:off x="1890771" y="576288"/>
            <a:ext cx="9319795" cy="707886"/>
          </a:xfrm>
          <a:prstGeom prst="rect">
            <a:avLst/>
          </a:prstGeom>
          <a:noFill/>
        </p:spPr>
        <p:txBody>
          <a:bodyPr wrap="none" rtlCol="0">
            <a:spAutoFit/>
          </a:bodyPr>
          <a:lstStyle/>
          <a:p>
            <a:r>
              <a:rPr lang="en-PH" sz="4000" b="1" dirty="0" smtClean="0">
                <a:solidFill>
                  <a:srgbClr val="FF0000"/>
                </a:solidFill>
                <a:latin typeface="Times New Roman" pitchFamily="18" charset="0"/>
                <a:cs typeface="Times New Roman" pitchFamily="18" charset="0"/>
              </a:rPr>
              <a:t>Classroom Research: Interaction Analysis</a:t>
            </a:r>
            <a:endParaRPr lang="en-PH" sz="4000" b="1" dirty="0">
              <a:solidFill>
                <a:srgbClr val="FF0000"/>
              </a:solidFill>
              <a:latin typeface="Times New Roman" pitchFamily="18" charset="0"/>
              <a:cs typeface="Times New Roman" pitchFamily="18" charset="0"/>
            </a:endParaRPr>
          </a:p>
        </p:txBody>
      </p:sp>
      <p:sp>
        <p:nvSpPr>
          <p:cNvPr id="5" name="TextBox 4"/>
          <p:cNvSpPr txBox="1"/>
          <p:nvPr/>
        </p:nvSpPr>
        <p:spPr>
          <a:xfrm>
            <a:off x="2268364" y="1368376"/>
            <a:ext cx="13177464" cy="2769989"/>
          </a:xfrm>
          <a:prstGeom prst="rect">
            <a:avLst/>
          </a:prstGeom>
          <a:noFill/>
        </p:spPr>
        <p:txBody>
          <a:bodyPr wrap="square" rtlCol="0">
            <a:spAutoFit/>
          </a:bodyPr>
          <a:lstStyle/>
          <a:p>
            <a:pPr algn="just"/>
            <a:r>
              <a:rPr lang="en-PH" dirty="0" smtClean="0">
                <a:latin typeface="Arial" pitchFamily="34" charset="0"/>
                <a:cs typeface="Arial" pitchFamily="34" charset="0"/>
              </a:rPr>
              <a:t>This research is an analysis about teachers and learners and how they interact in the broad set of contexts labeled as classrooms. Hey cover term “ classroom” we take to cover a wide range of learning contexts where learners and teachers meet in the context of second language acquisition – classes in schools, multimedia tabs, distance learning situations, one-to-one tutoring, on-the-job training, and among others. This research has been used with  respect to:</a:t>
            </a:r>
            <a:endParaRPr lang="en-PH" dirty="0">
              <a:latin typeface="Arial" pitchFamily="34" charset="0"/>
              <a:cs typeface="Arial" pitchFamily="34" charset="0"/>
            </a:endParaRPr>
          </a:p>
        </p:txBody>
      </p:sp>
      <p:sp>
        <p:nvSpPr>
          <p:cNvPr id="2" name="TextBox 1"/>
          <p:cNvSpPr txBox="1"/>
          <p:nvPr/>
        </p:nvSpPr>
        <p:spPr>
          <a:xfrm>
            <a:off x="3636516" y="4176688"/>
            <a:ext cx="9412128" cy="1815882"/>
          </a:xfrm>
          <a:prstGeom prst="rect">
            <a:avLst/>
          </a:prstGeom>
          <a:noFill/>
        </p:spPr>
        <p:txBody>
          <a:bodyPr wrap="none" rtlCol="0">
            <a:spAutoFit/>
          </a:bodyPr>
          <a:lstStyle/>
          <a:p>
            <a:pPr marL="457200" indent="-457200">
              <a:buFont typeface="Wingdings" pitchFamily="2" charset="2"/>
              <a:buChar char="q"/>
            </a:pPr>
            <a:r>
              <a:rPr lang="en-PH" sz="2800" dirty="0" smtClean="0">
                <a:latin typeface="Times New Roman" pitchFamily="18" charset="0"/>
                <a:cs typeface="Times New Roman" pitchFamily="18" charset="0"/>
              </a:rPr>
              <a:t>theories and linguistic description </a:t>
            </a:r>
          </a:p>
          <a:p>
            <a:pPr marL="457200" indent="-457200">
              <a:buFont typeface="Wingdings" pitchFamily="2" charset="2"/>
              <a:buChar char="q"/>
            </a:pPr>
            <a:r>
              <a:rPr lang="en-PH" sz="2800" dirty="0" smtClean="0">
                <a:latin typeface="Times New Roman" pitchFamily="18" charset="0"/>
                <a:cs typeface="Times New Roman" pitchFamily="18" charset="0"/>
              </a:rPr>
              <a:t>models of second language acquisition</a:t>
            </a:r>
          </a:p>
          <a:p>
            <a:pPr marL="457200" indent="-457200">
              <a:buFont typeface="Wingdings" pitchFamily="2" charset="2"/>
              <a:buChar char="q"/>
            </a:pPr>
            <a:r>
              <a:rPr lang="en-PH" sz="2800" dirty="0" smtClean="0">
                <a:latin typeface="Times New Roman" pitchFamily="18" charset="0"/>
                <a:cs typeface="Times New Roman" pitchFamily="18" charset="0"/>
              </a:rPr>
              <a:t>instructional exchanges between teachers and learners </a:t>
            </a:r>
          </a:p>
          <a:p>
            <a:pPr marL="457200" indent="-457200">
              <a:buFont typeface="Wingdings" pitchFamily="2" charset="2"/>
              <a:buChar char="q"/>
            </a:pPr>
            <a:r>
              <a:rPr lang="en-PH" sz="2800" dirty="0" smtClean="0">
                <a:latin typeface="Times New Roman" pitchFamily="18" charset="0"/>
                <a:cs typeface="Times New Roman" pitchFamily="18" charset="0"/>
              </a:rPr>
              <a:t>task completion conversation between teachers and learners </a:t>
            </a:r>
            <a:endParaRPr lang="en-PH" sz="2800" dirty="0">
              <a:latin typeface="Times New Roman" pitchFamily="18" charset="0"/>
              <a:cs typeface="Times New Roman" pitchFamily="18" charset="0"/>
            </a:endParaRPr>
          </a:p>
        </p:txBody>
      </p:sp>
      <p:sp>
        <p:nvSpPr>
          <p:cNvPr id="6" name="TextBox 5"/>
          <p:cNvSpPr txBox="1"/>
          <p:nvPr/>
        </p:nvSpPr>
        <p:spPr>
          <a:xfrm>
            <a:off x="2250076" y="6120904"/>
            <a:ext cx="6367449" cy="2431435"/>
          </a:xfrm>
          <a:prstGeom prst="rect">
            <a:avLst/>
          </a:prstGeom>
          <a:noFill/>
        </p:spPr>
        <p:txBody>
          <a:bodyPr wrap="none" rtlCol="0">
            <a:spAutoFit/>
          </a:bodyPr>
          <a:lstStyle/>
          <a:p>
            <a:r>
              <a:rPr lang="en-PH" sz="2800" dirty="0" smtClean="0">
                <a:latin typeface="Arial" pitchFamily="34" charset="0"/>
                <a:cs typeface="Arial" pitchFamily="34" charset="0"/>
              </a:rPr>
              <a:t>Some principal topics to answer:</a:t>
            </a:r>
          </a:p>
          <a:p>
            <a:pPr marL="457200" indent="-457200">
              <a:buFont typeface="Arial" charset="0"/>
              <a:buChar char="•"/>
            </a:pPr>
            <a:r>
              <a:rPr lang="en-PH" sz="2400" dirty="0" smtClean="0">
                <a:latin typeface="Arial" pitchFamily="34" charset="0"/>
                <a:cs typeface="Arial" pitchFamily="34" charset="0"/>
              </a:rPr>
              <a:t>teacher questions </a:t>
            </a:r>
          </a:p>
          <a:p>
            <a:pPr marL="457200" indent="-457200">
              <a:buFont typeface="Arial" charset="0"/>
              <a:buChar char="•"/>
            </a:pPr>
            <a:r>
              <a:rPr lang="en-PH" sz="2400" dirty="0" smtClean="0">
                <a:latin typeface="Arial" pitchFamily="34" charset="0"/>
                <a:cs typeface="Arial" pitchFamily="34" charset="0"/>
              </a:rPr>
              <a:t>teacher error corrections </a:t>
            </a:r>
          </a:p>
          <a:p>
            <a:pPr marL="457200" indent="-457200">
              <a:buFont typeface="Arial" charset="0"/>
              <a:buChar char="•"/>
            </a:pPr>
            <a:r>
              <a:rPr lang="en-PH" sz="2400" dirty="0" smtClean="0">
                <a:latin typeface="Arial" pitchFamily="34" charset="0"/>
                <a:cs typeface="Arial" pitchFamily="34" charset="0"/>
              </a:rPr>
              <a:t>quantity of teacher speech </a:t>
            </a:r>
          </a:p>
          <a:p>
            <a:pPr marL="457200" indent="-457200">
              <a:buFont typeface="Arial" charset="0"/>
              <a:buChar char="•"/>
            </a:pPr>
            <a:r>
              <a:rPr lang="en-PH" sz="2400" dirty="0" smtClean="0">
                <a:latin typeface="Arial" pitchFamily="34" charset="0"/>
                <a:cs typeface="Arial" pitchFamily="34" charset="0"/>
              </a:rPr>
              <a:t>teacher explanations</a:t>
            </a:r>
          </a:p>
          <a:p>
            <a:pPr marL="457200" indent="-457200">
              <a:buFont typeface="Arial" charset="0"/>
              <a:buChar char="•"/>
            </a:pPr>
            <a:r>
              <a:rPr lang="en-PH" sz="2400" dirty="0" smtClean="0">
                <a:latin typeface="Arial" pitchFamily="34" charset="0"/>
                <a:cs typeface="Arial" pitchFamily="34" charset="0"/>
              </a:rPr>
              <a:t>teacher “wait-time” for student response</a:t>
            </a:r>
            <a:r>
              <a:rPr lang="en-PH" sz="2800" dirty="0" smtClean="0">
                <a:latin typeface="Arial" pitchFamily="34" charset="0"/>
                <a:cs typeface="Arial" pitchFamily="34" charset="0"/>
              </a:rPr>
              <a:t>s </a:t>
            </a:r>
            <a:endParaRPr lang="en-PH" sz="2800" dirty="0">
              <a:latin typeface="Arial" pitchFamily="34" charset="0"/>
              <a:cs typeface="Arial" pitchFamily="34" charset="0"/>
            </a:endParaRPr>
          </a:p>
        </p:txBody>
      </p:sp>
    </p:spTree>
    <p:extLst>
      <p:ext uri="{BB962C8B-B14F-4D97-AF65-F5344CB8AC3E}">
        <p14:creationId xmlns:p14="http://schemas.microsoft.com/office/powerpoint/2010/main" val="91472296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descr="Simple Notebook on Black Powerpoint Template | Background for powerpoint  presentation, Presentation background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2" y="144240"/>
            <a:ext cx="15769752" cy="90730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349484" y="8323535"/>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1908324" y="792312"/>
            <a:ext cx="12983041" cy="646331"/>
          </a:xfrm>
          <a:prstGeom prst="rect">
            <a:avLst/>
          </a:prstGeom>
          <a:noFill/>
        </p:spPr>
        <p:txBody>
          <a:bodyPr wrap="none" rtlCol="0">
            <a:spAutoFit/>
          </a:bodyPr>
          <a:lstStyle/>
          <a:p>
            <a:r>
              <a:rPr lang="en-PH" sz="3600" b="1" dirty="0" smtClean="0">
                <a:latin typeface="Arial" pitchFamily="34" charset="0"/>
                <a:cs typeface="Arial" pitchFamily="34" charset="0"/>
              </a:rPr>
              <a:t>Quantitative Language Research (Brown &amp; Rodgers, 2009</a:t>
            </a:r>
            <a:r>
              <a:rPr lang="en-PH" sz="3600" dirty="0" smtClean="0">
                <a:latin typeface="Arial" pitchFamily="34" charset="0"/>
                <a:cs typeface="Arial" pitchFamily="34" charset="0"/>
              </a:rPr>
              <a:t>)</a:t>
            </a:r>
            <a:endParaRPr lang="en-PH" sz="3600" dirty="0">
              <a:latin typeface="Arial" pitchFamily="34" charset="0"/>
              <a:cs typeface="Arial" pitchFamily="34" charset="0"/>
            </a:endParaRPr>
          </a:p>
        </p:txBody>
      </p:sp>
      <p:sp>
        <p:nvSpPr>
          <p:cNvPr id="4" name="TextBox 3"/>
          <p:cNvSpPr txBox="1"/>
          <p:nvPr/>
        </p:nvSpPr>
        <p:spPr>
          <a:xfrm>
            <a:off x="2411296" y="1656408"/>
            <a:ext cx="10267426" cy="646331"/>
          </a:xfrm>
          <a:prstGeom prst="rect">
            <a:avLst/>
          </a:prstGeom>
          <a:noFill/>
        </p:spPr>
        <p:txBody>
          <a:bodyPr wrap="none" rtlCol="0">
            <a:spAutoFit/>
          </a:bodyPr>
          <a:lstStyle/>
          <a:p>
            <a:r>
              <a:rPr lang="en-PH" sz="3600" b="1" dirty="0" smtClean="0">
                <a:solidFill>
                  <a:srgbClr val="FF0000"/>
                </a:solidFill>
              </a:rPr>
              <a:t>A</a:t>
            </a:r>
            <a:r>
              <a:rPr lang="en-PH" sz="3600" b="1" dirty="0" smtClean="0">
                <a:solidFill>
                  <a:srgbClr val="FF0000"/>
                </a:solidFill>
                <a:latin typeface="Times New Roman" pitchFamily="18" charset="0"/>
                <a:cs typeface="Times New Roman" pitchFamily="18" charset="0"/>
              </a:rPr>
              <a:t>. Descriptive Statistics Research: Survey Analysis </a:t>
            </a:r>
            <a:endParaRPr lang="en-PH" sz="3600" b="1" dirty="0">
              <a:solidFill>
                <a:srgbClr val="FF0000"/>
              </a:solidFill>
              <a:latin typeface="Times New Roman" pitchFamily="18" charset="0"/>
              <a:cs typeface="Times New Roman" pitchFamily="18" charset="0"/>
            </a:endParaRPr>
          </a:p>
        </p:txBody>
      </p:sp>
      <p:sp>
        <p:nvSpPr>
          <p:cNvPr id="5" name="TextBox 4"/>
          <p:cNvSpPr txBox="1"/>
          <p:nvPr/>
        </p:nvSpPr>
        <p:spPr>
          <a:xfrm>
            <a:off x="2844428" y="2304480"/>
            <a:ext cx="12529392" cy="2554545"/>
          </a:xfrm>
          <a:prstGeom prst="rect">
            <a:avLst/>
          </a:prstGeom>
          <a:noFill/>
        </p:spPr>
        <p:txBody>
          <a:bodyPr wrap="square" rtlCol="0">
            <a:spAutoFit/>
          </a:bodyPr>
          <a:lstStyle/>
          <a:p>
            <a:pPr marL="457200" indent="-457200" algn="just">
              <a:buFont typeface="Wingdings" pitchFamily="2" charset="2"/>
              <a:buChar char="v"/>
            </a:pPr>
            <a:r>
              <a:rPr lang="en-PH" sz="3200" dirty="0" smtClean="0">
                <a:latin typeface="Arial" pitchFamily="34" charset="0"/>
                <a:cs typeface="Arial" pitchFamily="34" charset="0"/>
              </a:rPr>
              <a:t>Surveys have been used in language teaching and learning literature. There have been articles about individual learning differences like motivation, learning styles, personality, anxiety, and language leaning, attitudes towards language leanring and among others. </a:t>
            </a:r>
            <a:endParaRPr lang="en-PH" sz="3200" dirty="0">
              <a:latin typeface="Arial" pitchFamily="34" charset="0"/>
              <a:cs typeface="Arial" pitchFamily="34" charset="0"/>
            </a:endParaRPr>
          </a:p>
        </p:txBody>
      </p:sp>
      <p:sp>
        <p:nvSpPr>
          <p:cNvPr id="6" name="TextBox 5"/>
          <p:cNvSpPr txBox="1"/>
          <p:nvPr/>
        </p:nvSpPr>
        <p:spPr>
          <a:xfrm>
            <a:off x="2628404" y="4888057"/>
            <a:ext cx="4769254" cy="584775"/>
          </a:xfrm>
          <a:prstGeom prst="rect">
            <a:avLst/>
          </a:prstGeom>
          <a:noFill/>
        </p:spPr>
        <p:txBody>
          <a:bodyPr wrap="none" rtlCol="0">
            <a:spAutoFit/>
          </a:bodyPr>
          <a:lstStyle/>
          <a:p>
            <a:r>
              <a:rPr lang="en-PH" sz="3200" dirty="0" smtClean="0">
                <a:solidFill>
                  <a:srgbClr val="002060"/>
                </a:solidFill>
                <a:latin typeface="Times New Roman" pitchFamily="18" charset="0"/>
                <a:cs typeface="Times New Roman" pitchFamily="18" charset="0"/>
              </a:rPr>
              <a:t>Analyzing Descriptive Data</a:t>
            </a:r>
            <a:endParaRPr lang="en-PH" sz="3200" dirty="0">
              <a:solidFill>
                <a:srgbClr val="002060"/>
              </a:solidFill>
              <a:latin typeface="Times New Roman" pitchFamily="18" charset="0"/>
              <a:cs typeface="Times New Roman" pitchFamily="18" charset="0"/>
            </a:endParaRPr>
          </a:p>
        </p:txBody>
      </p:sp>
      <p:sp>
        <p:nvSpPr>
          <p:cNvPr id="7" name="TextBox 6"/>
          <p:cNvSpPr txBox="1"/>
          <p:nvPr/>
        </p:nvSpPr>
        <p:spPr>
          <a:xfrm>
            <a:off x="3204468" y="5602327"/>
            <a:ext cx="12169352" cy="2246769"/>
          </a:xfrm>
          <a:prstGeom prst="rect">
            <a:avLst/>
          </a:prstGeom>
          <a:noFill/>
        </p:spPr>
        <p:txBody>
          <a:bodyPr wrap="square" rtlCol="0">
            <a:spAutoFit/>
          </a:bodyPr>
          <a:lstStyle/>
          <a:p>
            <a:pPr marL="457200" indent="-457200" algn="just">
              <a:buFont typeface="Wingdings" pitchFamily="2" charset="2"/>
              <a:buChar char="Ø"/>
            </a:pPr>
            <a:r>
              <a:rPr lang="en-PH" sz="2800" dirty="0" smtClean="0">
                <a:latin typeface="Arial" pitchFamily="34" charset="0"/>
                <a:cs typeface="Arial" pitchFamily="34" charset="0"/>
              </a:rPr>
              <a:t>Descriptive statistics will be used to characterize or to describe a set of numbers in terms of central tendency and to show how the numbers disperse, or vary, around the center. Frequencies and percentages, graphical display of data, central tendency, and dispersion are the four areas concerned in descriptive research.  </a:t>
            </a:r>
            <a:endParaRPr lang="en-PH" sz="2800" dirty="0">
              <a:latin typeface="Arial" pitchFamily="34" charset="0"/>
              <a:cs typeface="Arial" pitchFamily="34" charset="0"/>
            </a:endParaRPr>
          </a:p>
        </p:txBody>
      </p:sp>
    </p:spTree>
    <p:extLst>
      <p:ext uri="{BB962C8B-B14F-4D97-AF65-F5344CB8AC3E}">
        <p14:creationId xmlns:p14="http://schemas.microsoft.com/office/powerpoint/2010/main" val="91472296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descr="Simple Notebook on Black Powerpoint Template | Background for powerpoint  presentation, Presentation background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880" y="144240"/>
            <a:ext cx="15769752" cy="90730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349484" y="8323535"/>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4" name="TextBox 3"/>
          <p:cNvSpPr txBox="1"/>
          <p:nvPr/>
        </p:nvSpPr>
        <p:spPr>
          <a:xfrm>
            <a:off x="1980332" y="866061"/>
            <a:ext cx="13478498" cy="646331"/>
          </a:xfrm>
          <a:prstGeom prst="rect">
            <a:avLst/>
          </a:prstGeom>
          <a:noFill/>
        </p:spPr>
        <p:txBody>
          <a:bodyPr wrap="none" rtlCol="0">
            <a:spAutoFit/>
          </a:bodyPr>
          <a:lstStyle/>
          <a:p>
            <a:r>
              <a:rPr lang="en-PH" sz="3600" b="1" dirty="0" smtClean="0">
                <a:solidFill>
                  <a:srgbClr val="FF0000"/>
                </a:solidFill>
              </a:rPr>
              <a:t>A</a:t>
            </a:r>
            <a:r>
              <a:rPr lang="en-PH" sz="3600" b="1" dirty="0" smtClean="0">
                <a:solidFill>
                  <a:srgbClr val="FF0000"/>
                </a:solidFill>
                <a:latin typeface="Times New Roman" pitchFamily="18" charset="0"/>
                <a:cs typeface="Times New Roman" pitchFamily="18" charset="0"/>
              </a:rPr>
              <a:t>. Correlational Research: Language Learning / Teaching Attitudes</a:t>
            </a:r>
            <a:endParaRPr lang="en-PH" sz="3600" b="1" dirty="0">
              <a:solidFill>
                <a:srgbClr val="FF0000"/>
              </a:solidFill>
              <a:latin typeface="Times New Roman" pitchFamily="18" charset="0"/>
              <a:cs typeface="Times New Roman" pitchFamily="18" charset="0"/>
            </a:endParaRPr>
          </a:p>
        </p:txBody>
      </p:sp>
      <p:sp>
        <p:nvSpPr>
          <p:cNvPr id="2" name="TextBox 1"/>
          <p:cNvSpPr txBox="1"/>
          <p:nvPr/>
        </p:nvSpPr>
        <p:spPr>
          <a:xfrm>
            <a:off x="2628404" y="1651759"/>
            <a:ext cx="12758418" cy="2092881"/>
          </a:xfrm>
          <a:prstGeom prst="rect">
            <a:avLst/>
          </a:prstGeom>
          <a:noFill/>
        </p:spPr>
        <p:txBody>
          <a:bodyPr wrap="square" rtlCol="0">
            <a:spAutoFit/>
          </a:bodyPr>
          <a:lstStyle/>
          <a:p>
            <a:pPr algn="just"/>
            <a:r>
              <a:rPr lang="en-PH" dirty="0" smtClean="0">
                <a:latin typeface="Arial" pitchFamily="34" charset="0"/>
                <a:cs typeface="Arial" pitchFamily="34" charset="0"/>
              </a:rPr>
              <a:t>In language research, one purpose if often to explore the degree to which two sets of numbers are related to each other in one way or another. </a:t>
            </a:r>
          </a:p>
          <a:p>
            <a:pPr algn="just"/>
            <a:endParaRPr lang="en-PH" sz="1200" dirty="0" smtClean="0">
              <a:latin typeface="Arial" pitchFamily="34" charset="0"/>
              <a:cs typeface="Arial" pitchFamily="34" charset="0"/>
            </a:endParaRPr>
          </a:p>
          <a:p>
            <a:pPr algn="just"/>
            <a:r>
              <a:rPr lang="en-PH" sz="2800" dirty="0" smtClean="0">
                <a:latin typeface="Arial" pitchFamily="34" charset="0"/>
                <a:cs typeface="Arial" pitchFamily="34" charset="0"/>
              </a:rPr>
              <a:t>Nunan (1991) presents the study that examines the relationship between the attitudes of students and teachers to the following activities: </a:t>
            </a:r>
            <a:endParaRPr lang="en-PH" sz="2800" dirty="0">
              <a:latin typeface="Arial" pitchFamily="34" charset="0"/>
              <a:cs typeface="Arial" pitchFamily="34" charset="0"/>
            </a:endParaRPr>
          </a:p>
        </p:txBody>
      </p:sp>
      <p:sp>
        <p:nvSpPr>
          <p:cNvPr id="5" name="TextBox 4"/>
          <p:cNvSpPr txBox="1"/>
          <p:nvPr/>
        </p:nvSpPr>
        <p:spPr>
          <a:xfrm>
            <a:off x="5004668" y="3847420"/>
            <a:ext cx="5992346" cy="4031873"/>
          </a:xfrm>
          <a:prstGeom prst="rect">
            <a:avLst/>
          </a:prstGeom>
          <a:noFill/>
        </p:spPr>
        <p:txBody>
          <a:bodyPr wrap="none" rtlCol="0">
            <a:spAutoFit/>
          </a:bodyPr>
          <a:lstStyle/>
          <a:p>
            <a:pPr marL="514350" indent="-514350">
              <a:buAutoNum type="arabicPeriod"/>
            </a:pPr>
            <a:r>
              <a:rPr lang="en-PH" sz="3200" dirty="0" smtClean="0">
                <a:latin typeface="Times New Roman" pitchFamily="18" charset="0"/>
                <a:cs typeface="Times New Roman" pitchFamily="18" charset="0"/>
              </a:rPr>
              <a:t>Conversational practice</a:t>
            </a:r>
          </a:p>
          <a:p>
            <a:pPr marL="514350" indent="-514350">
              <a:buAutoNum type="arabicPeriod"/>
            </a:pPr>
            <a:r>
              <a:rPr lang="en-PH" sz="3200" dirty="0" smtClean="0">
                <a:latin typeface="Times New Roman" pitchFamily="18" charset="0"/>
                <a:cs typeface="Times New Roman" pitchFamily="18" charset="0"/>
              </a:rPr>
              <a:t>Error correction</a:t>
            </a:r>
          </a:p>
          <a:p>
            <a:pPr marL="514350" indent="-514350">
              <a:buAutoNum type="arabicPeriod"/>
            </a:pPr>
            <a:r>
              <a:rPr lang="en-PH" sz="3200" dirty="0" smtClean="0">
                <a:latin typeface="Times New Roman" pitchFamily="18" charset="0"/>
                <a:cs typeface="Times New Roman" pitchFamily="18" charset="0"/>
              </a:rPr>
              <a:t>Language games </a:t>
            </a:r>
          </a:p>
          <a:p>
            <a:pPr marL="514350" indent="-514350">
              <a:buAutoNum type="arabicPeriod"/>
            </a:pPr>
            <a:r>
              <a:rPr lang="en-PH" sz="3200" dirty="0" smtClean="0">
                <a:latin typeface="Times New Roman" pitchFamily="18" charset="0"/>
                <a:cs typeface="Times New Roman" pitchFamily="18" charset="0"/>
              </a:rPr>
              <a:t>Pair work</a:t>
            </a:r>
          </a:p>
          <a:p>
            <a:pPr marL="514350" indent="-514350">
              <a:buAutoNum type="arabicPeriod"/>
            </a:pPr>
            <a:r>
              <a:rPr lang="en-PH" sz="3200" dirty="0" smtClean="0">
                <a:latin typeface="Times New Roman" pitchFamily="18" charset="0"/>
                <a:cs typeface="Times New Roman" pitchFamily="18" charset="0"/>
              </a:rPr>
              <a:t>Pronunciation practices</a:t>
            </a:r>
          </a:p>
          <a:p>
            <a:pPr marL="514350" indent="-514350">
              <a:buAutoNum type="arabicPeriod"/>
            </a:pPr>
            <a:r>
              <a:rPr lang="en-PH" sz="3200" dirty="0" smtClean="0">
                <a:latin typeface="Times New Roman" pitchFamily="18" charset="0"/>
                <a:cs typeface="Times New Roman" pitchFamily="18" charset="0"/>
              </a:rPr>
              <a:t>Student self-discovery of errors </a:t>
            </a:r>
          </a:p>
          <a:p>
            <a:pPr marL="514350" indent="-514350">
              <a:buAutoNum type="arabicPeriod"/>
            </a:pPr>
            <a:r>
              <a:rPr lang="en-PH" sz="3200" dirty="0" smtClean="0">
                <a:latin typeface="Times New Roman" pitchFamily="18" charset="0"/>
                <a:cs typeface="Times New Roman" pitchFamily="18" charset="0"/>
              </a:rPr>
              <a:t>Using pictures / films/ videos </a:t>
            </a:r>
          </a:p>
          <a:p>
            <a:pPr marL="514350" indent="-514350">
              <a:buAutoNum type="arabicPeriod"/>
            </a:pPr>
            <a:r>
              <a:rPr lang="en-PH" sz="3200" dirty="0" smtClean="0">
                <a:latin typeface="Times New Roman" pitchFamily="18" charset="0"/>
                <a:cs typeface="Times New Roman" pitchFamily="18" charset="0"/>
              </a:rPr>
              <a:t>Vocabulary development </a:t>
            </a:r>
          </a:p>
        </p:txBody>
      </p:sp>
    </p:spTree>
    <p:extLst>
      <p:ext uri="{BB962C8B-B14F-4D97-AF65-F5344CB8AC3E}">
        <p14:creationId xmlns:p14="http://schemas.microsoft.com/office/powerpoint/2010/main" val="91472296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descr="Simple Notebook on Black Powerpoint Template | Background for powerpoint  presentation, Presentation background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2" y="144240"/>
            <a:ext cx="15769752" cy="90730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349484" y="8323535"/>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4" name="TextBox 3"/>
          <p:cNvSpPr txBox="1"/>
          <p:nvPr/>
        </p:nvSpPr>
        <p:spPr>
          <a:xfrm>
            <a:off x="1908324" y="792312"/>
            <a:ext cx="13410274" cy="646331"/>
          </a:xfrm>
          <a:prstGeom prst="rect">
            <a:avLst/>
          </a:prstGeom>
          <a:noFill/>
        </p:spPr>
        <p:txBody>
          <a:bodyPr wrap="none" rtlCol="0">
            <a:spAutoFit/>
          </a:bodyPr>
          <a:lstStyle/>
          <a:p>
            <a:r>
              <a:rPr lang="en-PH" sz="3600" b="1" dirty="0" smtClean="0">
                <a:solidFill>
                  <a:srgbClr val="FF0000"/>
                </a:solidFill>
              </a:rPr>
              <a:t>A</a:t>
            </a:r>
            <a:r>
              <a:rPr lang="en-PH" sz="3600" b="1" dirty="0" smtClean="0">
                <a:solidFill>
                  <a:srgbClr val="FF0000"/>
                </a:solidFill>
                <a:latin typeface="Times New Roman" pitchFamily="18" charset="0"/>
                <a:cs typeface="Times New Roman" pitchFamily="18" charset="0"/>
              </a:rPr>
              <a:t>. Quasi-Experimental Research: Vocabulary Leanring Techniques </a:t>
            </a:r>
            <a:endParaRPr lang="en-PH" sz="3600" b="1" dirty="0">
              <a:solidFill>
                <a:srgbClr val="FF0000"/>
              </a:solidFill>
              <a:latin typeface="Times New Roman" pitchFamily="18" charset="0"/>
              <a:cs typeface="Times New Roman" pitchFamily="18" charset="0"/>
            </a:endParaRPr>
          </a:p>
        </p:txBody>
      </p:sp>
      <p:sp>
        <p:nvSpPr>
          <p:cNvPr id="5" name="Rectangle 4"/>
          <p:cNvSpPr/>
          <p:nvPr/>
        </p:nvSpPr>
        <p:spPr>
          <a:xfrm>
            <a:off x="1908324" y="1666275"/>
            <a:ext cx="13609512" cy="3662541"/>
          </a:xfrm>
          <a:prstGeom prst="rect">
            <a:avLst/>
          </a:prstGeom>
        </p:spPr>
        <p:txBody>
          <a:bodyPr wrap="square">
            <a:spAutoFit/>
          </a:bodyPr>
          <a:lstStyle/>
          <a:p>
            <a:pPr algn="just"/>
            <a:r>
              <a:rPr lang="en-PH" dirty="0" smtClean="0"/>
              <a:t>	</a:t>
            </a:r>
            <a:r>
              <a:rPr lang="en-PH" dirty="0" smtClean="0">
                <a:latin typeface="Arial" pitchFamily="34" charset="0"/>
                <a:cs typeface="Arial" pitchFamily="34" charset="0"/>
              </a:rPr>
              <a:t>Vocabulary </a:t>
            </a:r>
            <a:r>
              <a:rPr lang="en-PH" dirty="0">
                <a:latin typeface="Arial" pitchFamily="34" charset="0"/>
                <a:cs typeface="Arial" pitchFamily="34" charset="0"/>
              </a:rPr>
              <a:t>learning strategies can be considered as a part of general learning strategies in second language acquisition. O’Malley and Chamot </a:t>
            </a:r>
            <a:r>
              <a:rPr lang="en-PH" dirty="0" smtClean="0">
                <a:latin typeface="Arial" pitchFamily="34" charset="0"/>
                <a:cs typeface="Arial" pitchFamily="34" charset="0"/>
              </a:rPr>
              <a:t>(1990) describe </a:t>
            </a:r>
            <a:r>
              <a:rPr lang="en-PH" dirty="0">
                <a:latin typeface="Arial" pitchFamily="34" charset="0"/>
                <a:cs typeface="Arial" pitchFamily="34" charset="0"/>
              </a:rPr>
              <a:t>learning strategies as the specific thoughts or behaviors that learners apply to help them understand, learn, or maintain new </a:t>
            </a:r>
            <a:r>
              <a:rPr lang="en-PH" dirty="0" smtClean="0">
                <a:latin typeface="Arial" pitchFamily="34" charset="0"/>
                <a:cs typeface="Arial" pitchFamily="34" charset="0"/>
              </a:rPr>
              <a:t>information. Exploring </a:t>
            </a:r>
            <a:r>
              <a:rPr lang="en-PH" dirty="0">
                <a:latin typeface="Arial" pitchFamily="34" charset="0"/>
                <a:cs typeface="Arial" pitchFamily="34" charset="0"/>
              </a:rPr>
              <a:t>the vocabulary learning strategies use of English language students can reveal individual differences in vocabulary learning among students, and encourage EFL teachers and curriculum developers to design materials and activities which would help the learners improve their vocabulary </a:t>
            </a:r>
            <a:r>
              <a:rPr lang="en-PH" dirty="0" smtClean="0">
                <a:latin typeface="Arial" pitchFamily="34" charset="0"/>
                <a:cs typeface="Arial" pitchFamily="34" charset="0"/>
              </a:rPr>
              <a:t>learning (Ghalibe, et al., 2020). </a:t>
            </a:r>
            <a:endParaRPr lang="en-PH" dirty="0">
              <a:latin typeface="Arial" pitchFamily="34" charset="0"/>
              <a:cs typeface="Arial" pitchFamily="34" charset="0"/>
            </a:endParaRPr>
          </a:p>
        </p:txBody>
      </p:sp>
      <p:sp>
        <p:nvSpPr>
          <p:cNvPr id="9" name="Rectangle 8"/>
          <p:cNvSpPr/>
          <p:nvPr/>
        </p:nvSpPr>
        <p:spPr>
          <a:xfrm>
            <a:off x="1980332" y="5467603"/>
            <a:ext cx="13338266" cy="1877437"/>
          </a:xfrm>
          <a:prstGeom prst="rect">
            <a:avLst/>
          </a:prstGeom>
        </p:spPr>
        <p:txBody>
          <a:bodyPr wrap="square">
            <a:spAutoFit/>
          </a:bodyPr>
          <a:lstStyle/>
          <a:p>
            <a:pPr algn="just"/>
            <a:r>
              <a:rPr lang="en-PH" dirty="0" smtClean="0">
                <a:latin typeface="Arial" pitchFamily="34" charset="0"/>
                <a:cs typeface="Arial" pitchFamily="34" charset="0"/>
              </a:rPr>
              <a:t>	 Schmitt (1997) cited that the most </a:t>
            </a:r>
            <a:r>
              <a:rPr lang="en-PH" dirty="0">
                <a:latin typeface="Arial" pitchFamily="34" charset="0"/>
                <a:cs typeface="Arial" pitchFamily="34" charset="0"/>
              </a:rPr>
              <a:t>frequently used vocabulary learning strategies by learners are </a:t>
            </a:r>
            <a:r>
              <a:rPr lang="en-PH" b="1" dirty="0">
                <a:solidFill>
                  <a:srgbClr val="002060"/>
                </a:solidFill>
                <a:latin typeface="Arial" pitchFamily="34" charset="0"/>
                <a:cs typeface="Arial" pitchFamily="34" charset="0"/>
              </a:rPr>
              <a:t>using a bilingual dictionary, verbal and written repetition, studying the spelling, guessing from context, and asking classmates for meaning</a:t>
            </a:r>
            <a:r>
              <a:rPr lang="en-PH" dirty="0">
                <a:solidFill>
                  <a:srgbClr val="002060"/>
                </a:solidFill>
                <a:latin typeface="Arial" pitchFamily="34" charset="0"/>
                <a:cs typeface="Arial" pitchFamily="34" charset="0"/>
              </a:rPr>
              <a:t> </a:t>
            </a:r>
          </a:p>
        </p:txBody>
      </p:sp>
    </p:spTree>
    <p:extLst>
      <p:ext uri="{BB962C8B-B14F-4D97-AF65-F5344CB8AC3E}">
        <p14:creationId xmlns:p14="http://schemas.microsoft.com/office/powerpoint/2010/main" val="914722961"/>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descr="Simple Notebook on Black Powerpoint Template | Background for powerpoint  presentation, Presentation backgrounds,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32" y="144240"/>
            <a:ext cx="15769752" cy="90730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349484" y="8323535"/>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1908324" y="792312"/>
            <a:ext cx="2775119" cy="646331"/>
          </a:xfrm>
          <a:prstGeom prst="rect">
            <a:avLst/>
          </a:prstGeom>
          <a:noFill/>
        </p:spPr>
        <p:txBody>
          <a:bodyPr wrap="none" rtlCol="0">
            <a:spAutoFit/>
          </a:bodyPr>
          <a:lstStyle/>
          <a:p>
            <a:r>
              <a:rPr lang="en-PH" sz="3600" b="1" dirty="0" smtClean="0">
                <a:solidFill>
                  <a:srgbClr val="002060"/>
                </a:solidFill>
                <a:latin typeface="Arial" pitchFamily="34" charset="0"/>
                <a:cs typeface="Arial" pitchFamily="34" charset="0"/>
              </a:rPr>
              <a:t>References</a:t>
            </a:r>
            <a:r>
              <a:rPr lang="en-PH" b="1" dirty="0" smtClean="0">
                <a:solidFill>
                  <a:srgbClr val="002060"/>
                </a:solidFill>
                <a:latin typeface="Arial" pitchFamily="34" charset="0"/>
                <a:cs typeface="Arial" pitchFamily="34" charset="0"/>
              </a:rPr>
              <a:t> </a:t>
            </a:r>
            <a:endParaRPr lang="en-PH" b="1" dirty="0">
              <a:solidFill>
                <a:srgbClr val="002060"/>
              </a:solidFill>
              <a:latin typeface="Arial" pitchFamily="34" charset="0"/>
              <a:cs typeface="Arial" pitchFamily="34" charset="0"/>
            </a:endParaRPr>
          </a:p>
        </p:txBody>
      </p:sp>
      <p:sp>
        <p:nvSpPr>
          <p:cNvPr id="5" name="Rectangle 4"/>
          <p:cNvSpPr/>
          <p:nvPr/>
        </p:nvSpPr>
        <p:spPr>
          <a:xfrm>
            <a:off x="2023049" y="3674954"/>
            <a:ext cx="13513072" cy="861774"/>
          </a:xfrm>
          <a:prstGeom prst="rect">
            <a:avLst/>
          </a:prstGeom>
        </p:spPr>
        <p:txBody>
          <a:bodyPr wrap="square">
            <a:spAutoFit/>
          </a:bodyPr>
          <a:lstStyle/>
          <a:p>
            <a:r>
              <a:rPr lang="en-PH" sz="2500" dirty="0"/>
              <a:t>O’Malley, J. M., Chamot, A. U., Stewner-Manzanares, G., Russo, R., &amp; </a:t>
            </a:r>
            <a:r>
              <a:rPr lang="en-PH" sz="2500" dirty="0" err="1"/>
              <a:t>Kuper</a:t>
            </a:r>
            <a:r>
              <a:rPr lang="en-PH" sz="2500" dirty="0"/>
              <a:t>, I. (1985). Learning strategy applications with students of English as a second language. </a:t>
            </a:r>
            <a:r>
              <a:rPr lang="en-PH" sz="2500" i="1" dirty="0"/>
              <a:t>TESOL Quarterly</a:t>
            </a:r>
            <a:r>
              <a:rPr lang="en-PH" sz="2500" dirty="0"/>
              <a:t>, 19(3), 285–296. </a:t>
            </a:r>
            <a:endParaRPr lang="en-PH" sz="2500" b="1" dirty="0"/>
          </a:p>
        </p:txBody>
      </p:sp>
      <p:sp>
        <p:nvSpPr>
          <p:cNvPr id="8" name="Rectangle 7"/>
          <p:cNvSpPr/>
          <p:nvPr/>
        </p:nvSpPr>
        <p:spPr>
          <a:xfrm>
            <a:off x="1980332" y="5187122"/>
            <a:ext cx="13313270" cy="861774"/>
          </a:xfrm>
          <a:prstGeom prst="rect">
            <a:avLst/>
          </a:prstGeom>
        </p:spPr>
        <p:txBody>
          <a:bodyPr wrap="square">
            <a:spAutoFit/>
          </a:bodyPr>
          <a:lstStyle/>
          <a:p>
            <a:r>
              <a:rPr lang="en-PH" sz="2500" dirty="0"/>
              <a:t>Schmitt, N. (1997). </a:t>
            </a:r>
            <a:r>
              <a:rPr lang="en-PH" sz="2500" i="1" dirty="0"/>
              <a:t>Vocabulary learning strategies</a:t>
            </a:r>
            <a:r>
              <a:rPr lang="en-PH" sz="2500" dirty="0"/>
              <a:t>. </a:t>
            </a:r>
            <a:r>
              <a:rPr lang="en-PH" sz="2500" dirty="0" smtClean="0"/>
              <a:t>In</a:t>
            </a:r>
            <a:r>
              <a:rPr lang="en-PH" sz="2500" dirty="0"/>
              <a:t> N. Schmitt &amp; M. McCarthy (Eds.), Vocabulary: Description, acquisition, and pedagogy (pp. 199–227). Cambridge University Press</a:t>
            </a:r>
            <a:r>
              <a:rPr lang="en-PH" sz="2500" dirty="0" smtClean="0"/>
              <a:t>.</a:t>
            </a:r>
            <a:endParaRPr lang="en-PH" sz="2500" dirty="0"/>
          </a:p>
        </p:txBody>
      </p:sp>
      <p:sp>
        <p:nvSpPr>
          <p:cNvPr id="9" name="Rectangle 8"/>
          <p:cNvSpPr/>
          <p:nvPr/>
        </p:nvSpPr>
        <p:spPr>
          <a:xfrm>
            <a:off x="2012230" y="2724622"/>
            <a:ext cx="13209363" cy="1308050"/>
          </a:xfrm>
          <a:prstGeom prst="rect">
            <a:avLst/>
          </a:prstGeom>
        </p:spPr>
        <p:txBody>
          <a:bodyPr wrap="square">
            <a:spAutoFit/>
          </a:bodyPr>
          <a:lstStyle/>
          <a:p>
            <a:r>
              <a:rPr lang="en-PH" sz="2500" dirty="0" err="1"/>
              <a:t>Ghalebi</a:t>
            </a:r>
            <a:r>
              <a:rPr lang="en-PH" sz="2500" dirty="0"/>
              <a:t>, R., </a:t>
            </a:r>
            <a:r>
              <a:rPr lang="en-PH" sz="2500" dirty="0" err="1"/>
              <a:t>Sadighi</a:t>
            </a:r>
            <a:r>
              <a:rPr lang="en-PH" sz="2500" dirty="0"/>
              <a:t>, F., and </a:t>
            </a:r>
            <a:r>
              <a:rPr lang="en-PH" sz="2500" dirty="0" err="1"/>
              <a:t>Bagheri</a:t>
            </a:r>
            <a:r>
              <a:rPr lang="en-PH" sz="2500" dirty="0"/>
              <a:t>, M.S. (2020). </a:t>
            </a:r>
            <a:r>
              <a:rPr lang="en-PH" sz="2500" i="1" dirty="0"/>
              <a:t>Vocabulary learning strategies: A comparative study of EFL learners. </a:t>
            </a:r>
            <a:r>
              <a:rPr lang="en-PH" sz="2500" dirty="0">
                <a:hlinkClick r:id="rId3"/>
              </a:rPr>
              <a:t>https://www.tandfonline.com/doi/full/10.1080/23311908.2020.1824306</a:t>
            </a:r>
            <a:endParaRPr lang="en-PH" sz="2500" dirty="0"/>
          </a:p>
          <a:p>
            <a:endParaRPr lang="en-PH" dirty="0"/>
          </a:p>
        </p:txBody>
      </p:sp>
      <p:sp>
        <p:nvSpPr>
          <p:cNvPr id="10" name="TextBox 9"/>
          <p:cNvSpPr txBox="1"/>
          <p:nvPr/>
        </p:nvSpPr>
        <p:spPr>
          <a:xfrm>
            <a:off x="2042389" y="2125911"/>
            <a:ext cx="11747255" cy="538609"/>
          </a:xfrm>
          <a:prstGeom prst="rect">
            <a:avLst/>
          </a:prstGeom>
          <a:noFill/>
        </p:spPr>
        <p:txBody>
          <a:bodyPr wrap="none" rtlCol="0">
            <a:spAutoFit/>
          </a:bodyPr>
          <a:lstStyle/>
          <a:p>
            <a:r>
              <a:rPr lang="en-PH" sz="2500" dirty="0" smtClean="0"/>
              <a:t>Ellis, R. (2011). Language teaching research and language pedagogy. USA: Willy-Blackwe</a:t>
            </a:r>
            <a:r>
              <a:rPr lang="en-PH" dirty="0" smtClean="0"/>
              <a:t>ll</a:t>
            </a:r>
            <a:endParaRPr lang="en-PH" dirty="0"/>
          </a:p>
        </p:txBody>
      </p:sp>
      <p:sp>
        <p:nvSpPr>
          <p:cNvPr id="11" name="TextBox 10"/>
          <p:cNvSpPr txBox="1"/>
          <p:nvPr/>
        </p:nvSpPr>
        <p:spPr>
          <a:xfrm>
            <a:off x="2063345" y="1611402"/>
            <a:ext cx="13598507" cy="477054"/>
          </a:xfrm>
          <a:prstGeom prst="rect">
            <a:avLst/>
          </a:prstGeom>
          <a:noFill/>
        </p:spPr>
        <p:txBody>
          <a:bodyPr wrap="square" rtlCol="0">
            <a:spAutoFit/>
          </a:bodyPr>
          <a:lstStyle/>
          <a:p>
            <a:r>
              <a:rPr lang="en-PH" sz="2500" dirty="0" smtClean="0"/>
              <a:t>Brown, J. &amp; Rodgers, T. (2009). Doing second language research. New York: Oxford University Press</a:t>
            </a:r>
            <a:endParaRPr lang="en-PH" sz="2500" dirty="0"/>
          </a:p>
        </p:txBody>
      </p:sp>
      <p:sp>
        <p:nvSpPr>
          <p:cNvPr id="12" name="TextBox 11"/>
          <p:cNvSpPr txBox="1"/>
          <p:nvPr/>
        </p:nvSpPr>
        <p:spPr>
          <a:xfrm>
            <a:off x="2023049" y="4635738"/>
            <a:ext cx="11701601" cy="477054"/>
          </a:xfrm>
          <a:prstGeom prst="rect">
            <a:avLst/>
          </a:prstGeom>
          <a:noFill/>
        </p:spPr>
        <p:txBody>
          <a:bodyPr wrap="none" rtlCol="0">
            <a:spAutoFit/>
          </a:bodyPr>
          <a:lstStyle/>
          <a:p>
            <a:r>
              <a:rPr lang="en-PH" sz="2500" dirty="0" smtClean="0"/>
              <a:t>Nunan, D. ed. (2004). Practical English language teaching. China: higher Education Press. </a:t>
            </a:r>
            <a:endParaRPr lang="en-PH" sz="2500" dirty="0"/>
          </a:p>
        </p:txBody>
      </p:sp>
      <p:sp>
        <p:nvSpPr>
          <p:cNvPr id="13" name="Rectangle 12"/>
          <p:cNvSpPr/>
          <p:nvPr/>
        </p:nvSpPr>
        <p:spPr>
          <a:xfrm>
            <a:off x="4572620" y="1115477"/>
            <a:ext cx="10708083" cy="45719"/>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91472296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Free Background Ppt, Download Free Background Ppt png images, Free ClipArts  on Clipart Librar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dirty="0"/>
          </a:p>
        </p:txBody>
      </p:sp>
      <p:pic>
        <p:nvPicPr>
          <p:cNvPr id="77829" name="Picture 5" descr="My Journal Powerpoint Templates - Education, Orange, Silver, White - Free  PPT Back… | Cool powerpoint backgrounds, Powerpoint background free,  Background powe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24" y="160338"/>
            <a:ext cx="9001000" cy="91161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268364" y="3521065"/>
            <a:ext cx="13353336" cy="1015663"/>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r>
              <a:rPr lang="en-PH" sz="6000" b="1" dirty="0" smtClean="0">
                <a:latin typeface="Century Gothic" pitchFamily="34" charset="0"/>
              </a:rPr>
              <a:t>TRANSLATION AND EDITING TO TEXT </a:t>
            </a:r>
            <a:endParaRPr lang="en-PH" sz="6000" b="1" dirty="0">
              <a:latin typeface="Century Gothic" pitchFamily="34" charset="0"/>
            </a:endParaRPr>
          </a:p>
        </p:txBody>
      </p:sp>
    </p:spTree>
    <p:extLst>
      <p:ext uri="{BB962C8B-B14F-4D97-AF65-F5344CB8AC3E}">
        <p14:creationId xmlns:p14="http://schemas.microsoft.com/office/powerpoint/2010/main" val="48488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7" name="Rectangle 6"/>
          <p:cNvSpPr/>
          <p:nvPr/>
        </p:nvSpPr>
        <p:spPr>
          <a:xfrm>
            <a:off x="1044228" y="1893912"/>
            <a:ext cx="14113568" cy="4154984"/>
          </a:xfrm>
          <a:prstGeom prst="rect">
            <a:avLst/>
          </a:prstGeom>
        </p:spPr>
        <p:txBody>
          <a:bodyPr wrap="square">
            <a:spAutoFit/>
          </a:bodyPr>
          <a:lstStyle/>
          <a:p>
            <a:pPr algn="just"/>
            <a:r>
              <a:rPr lang="en-PH" sz="4400" b="1" dirty="0" smtClean="0">
                <a:latin typeface="Times New Roman" pitchFamily="18" charset="0"/>
                <a:cs typeface="Times New Roman" pitchFamily="18" charset="0"/>
              </a:rPr>
              <a:t>TRANSLATION</a:t>
            </a:r>
            <a:r>
              <a:rPr lang="en-PH" sz="4400" dirty="0" smtClean="0">
                <a:latin typeface="Times New Roman" pitchFamily="18" charset="0"/>
                <a:cs typeface="Times New Roman" pitchFamily="18" charset="0"/>
              </a:rPr>
              <a:t> </a:t>
            </a:r>
            <a:r>
              <a:rPr lang="en-PH" sz="4400" dirty="0">
                <a:latin typeface="Times New Roman" pitchFamily="18" charset="0"/>
                <a:cs typeface="Times New Roman" pitchFamily="18" charset="0"/>
              </a:rPr>
              <a:t>is a complicated task, during which the meaning of the </a:t>
            </a:r>
            <a:r>
              <a:rPr lang="en-PH" sz="4400" i="1" dirty="0">
                <a:latin typeface="Times New Roman" pitchFamily="18" charset="0"/>
                <a:cs typeface="Times New Roman" pitchFamily="18" charset="0"/>
              </a:rPr>
              <a:t>source-language text </a:t>
            </a:r>
            <a:r>
              <a:rPr lang="en-PH" sz="4400" dirty="0">
                <a:latin typeface="Times New Roman" pitchFamily="18" charset="0"/>
                <a:cs typeface="Times New Roman" pitchFamily="18" charset="0"/>
              </a:rPr>
              <a:t>should be conveyed to the </a:t>
            </a:r>
            <a:r>
              <a:rPr lang="en-PH" sz="4400" i="1" dirty="0">
                <a:latin typeface="Times New Roman" pitchFamily="18" charset="0"/>
                <a:cs typeface="Times New Roman" pitchFamily="18" charset="0"/>
              </a:rPr>
              <a:t>target-language readers</a:t>
            </a:r>
            <a:r>
              <a:rPr lang="en-PH" sz="4400" dirty="0">
                <a:latin typeface="Times New Roman" pitchFamily="18" charset="0"/>
                <a:cs typeface="Times New Roman" pitchFamily="18" charset="0"/>
              </a:rPr>
              <a:t>. In other words, translation can be defined as </a:t>
            </a:r>
            <a:r>
              <a:rPr lang="en-PH" sz="4400" i="1" dirty="0">
                <a:latin typeface="Times New Roman" pitchFamily="18" charset="0"/>
                <a:cs typeface="Times New Roman" pitchFamily="18" charset="0"/>
              </a:rPr>
              <a:t>encoding the meaning </a:t>
            </a:r>
            <a:r>
              <a:rPr lang="en-PH" sz="4400" dirty="0">
                <a:latin typeface="Times New Roman" pitchFamily="18" charset="0"/>
                <a:cs typeface="Times New Roman" pitchFamily="18" charset="0"/>
              </a:rPr>
              <a:t>and form in the target language by means of the </a:t>
            </a:r>
            <a:r>
              <a:rPr lang="en-PH" sz="4400" i="1" dirty="0">
                <a:latin typeface="Times New Roman" pitchFamily="18" charset="0"/>
                <a:cs typeface="Times New Roman" pitchFamily="18" charset="0"/>
              </a:rPr>
              <a:t>decoded meaning </a:t>
            </a:r>
            <a:r>
              <a:rPr lang="en-PH" sz="4400" dirty="0">
                <a:latin typeface="Times New Roman" pitchFamily="18" charset="0"/>
                <a:cs typeface="Times New Roman" pitchFamily="18" charset="0"/>
              </a:rPr>
              <a:t>and form of the source </a:t>
            </a:r>
            <a:r>
              <a:rPr lang="en-PH" sz="4400" dirty="0" smtClean="0">
                <a:latin typeface="Times New Roman" pitchFamily="18" charset="0"/>
                <a:cs typeface="Times New Roman" pitchFamily="18" charset="0"/>
              </a:rPr>
              <a:t>language (</a:t>
            </a:r>
            <a:r>
              <a:rPr lang="en-PH" sz="4400" dirty="0" err="1" smtClean="0">
                <a:latin typeface="Times New Roman" pitchFamily="18" charset="0"/>
                <a:cs typeface="Times New Roman" pitchFamily="18" charset="0"/>
              </a:rPr>
              <a:t>Owjiy</a:t>
            </a:r>
            <a:r>
              <a:rPr lang="en-PH" sz="4400" dirty="0" smtClean="0">
                <a:latin typeface="Times New Roman" pitchFamily="18" charset="0"/>
                <a:cs typeface="Times New Roman" pitchFamily="18" charset="0"/>
              </a:rPr>
              <a:t>, 2013).</a:t>
            </a:r>
            <a:endParaRPr lang="en-PH" sz="4400" dirty="0">
              <a:latin typeface="Times New Roman" pitchFamily="18" charset="0"/>
              <a:cs typeface="Times New Roman" pitchFamily="18" charset="0"/>
            </a:endParaRPr>
          </a:p>
        </p:txBody>
      </p:sp>
    </p:spTree>
    <p:extLst>
      <p:ext uri="{BB962C8B-B14F-4D97-AF65-F5344CB8AC3E}">
        <p14:creationId xmlns:p14="http://schemas.microsoft.com/office/powerpoint/2010/main" val="126471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3" name="TextBox 2"/>
          <p:cNvSpPr txBox="1"/>
          <p:nvPr/>
        </p:nvSpPr>
        <p:spPr>
          <a:xfrm>
            <a:off x="359951" y="506021"/>
            <a:ext cx="5724837" cy="646331"/>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PH" sz="3600" b="1" dirty="0" smtClean="0">
                <a:latin typeface="Arial" pitchFamily="34" charset="0"/>
                <a:cs typeface="Arial" pitchFamily="34" charset="0"/>
              </a:rPr>
              <a:t>Definitions of Translation</a:t>
            </a:r>
            <a:endParaRPr lang="en-PH" sz="3600" b="1" dirty="0">
              <a:latin typeface="Arial" pitchFamily="34" charset="0"/>
              <a:cs typeface="Arial" pitchFamily="34" charset="0"/>
            </a:endParaRPr>
          </a:p>
        </p:txBody>
      </p:sp>
      <p:sp>
        <p:nvSpPr>
          <p:cNvPr id="4" name="TextBox 3"/>
          <p:cNvSpPr txBox="1"/>
          <p:nvPr/>
        </p:nvSpPr>
        <p:spPr>
          <a:xfrm>
            <a:off x="612180" y="1440384"/>
            <a:ext cx="14761639" cy="984885"/>
          </a:xfrm>
          <a:prstGeom prst="rect">
            <a:avLst/>
          </a:prstGeom>
          <a:noFill/>
        </p:spPr>
        <p:txBody>
          <a:bodyPr wrap="square" rtlCol="0">
            <a:spAutoFit/>
          </a:bodyPr>
          <a:lstStyle/>
          <a:p>
            <a:r>
              <a:rPr lang="en-PH" dirty="0" smtClean="0">
                <a:latin typeface="Arial" pitchFamily="34" charset="0"/>
                <a:cs typeface="Arial" pitchFamily="34" charset="0"/>
              </a:rPr>
              <a:t>I. It is producing the receptor language the closest, natural equivalent message of the source language to the target langue (</a:t>
            </a:r>
            <a:r>
              <a:rPr lang="en-PH" dirty="0" err="1" smtClean="0">
                <a:latin typeface="Arial" pitchFamily="34" charset="0"/>
                <a:cs typeface="Arial" pitchFamily="34" charset="0"/>
              </a:rPr>
              <a:t>Nida</a:t>
            </a:r>
            <a:r>
              <a:rPr lang="en-PH" dirty="0" smtClean="0">
                <a:latin typeface="Arial" pitchFamily="34" charset="0"/>
                <a:cs typeface="Arial" pitchFamily="34" charset="0"/>
              </a:rPr>
              <a:t>, 1964). </a:t>
            </a:r>
            <a:endParaRPr lang="en-PH" dirty="0">
              <a:latin typeface="Arial" pitchFamily="34" charset="0"/>
              <a:cs typeface="Arial" pitchFamily="34" charset="0"/>
            </a:endParaRPr>
          </a:p>
        </p:txBody>
      </p:sp>
      <p:sp>
        <p:nvSpPr>
          <p:cNvPr id="6" name="TextBox 5"/>
          <p:cNvSpPr txBox="1"/>
          <p:nvPr/>
        </p:nvSpPr>
        <p:spPr>
          <a:xfrm>
            <a:off x="1332260" y="2520504"/>
            <a:ext cx="1837362" cy="538609"/>
          </a:xfrm>
          <a:prstGeom prst="rect">
            <a:avLst/>
          </a:prstGeom>
          <a:noFill/>
        </p:spPr>
        <p:txBody>
          <a:bodyPr wrap="none" rtlCol="0">
            <a:spAutoFit/>
          </a:bodyPr>
          <a:lstStyle/>
          <a:p>
            <a:r>
              <a:rPr lang="en-PH" sz="2800" i="1" dirty="0" smtClean="0">
                <a:latin typeface="Arial" pitchFamily="34" charset="0"/>
                <a:cs typeface="Arial" pitchFamily="34" charset="0"/>
              </a:rPr>
              <a:t>Example: </a:t>
            </a:r>
            <a:endParaRPr lang="en-PH" sz="2800" i="1" dirty="0">
              <a:latin typeface="Arial" pitchFamily="34" charset="0"/>
              <a:cs typeface="Arial" pitchFamily="34" charset="0"/>
            </a:endParaRPr>
          </a:p>
        </p:txBody>
      </p:sp>
      <p:sp>
        <p:nvSpPr>
          <p:cNvPr id="7" name="TextBox 6"/>
          <p:cNvSpPr txBox="1"/>
          <p:nvPr/>
        </p:nvSpPr>
        <p:spPr>
          <a:xfrm>
            <a:off x="3348484" y="2520504"/>
            <a:ext cx="2088649" cy="58477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3200" b="1" dirty="0"/>
              <a:t>e</a:t>
            </a:r>
            <a:r>
              <a:rPr lang="en-PH" sz="3200" b="1" dirty="0" smtClean="0"/>
              <a:t>xempt (v.)</a:t>
            </a:r>
            <a:endParaRPr lang="en-PH" sz="3200" b="1" dirty="0"/>
          </a:p>
        </p:txBody>
      </p:sp>
      <p:sp>
        <p:nvSpPr>
          <p:cNvPr id="8" name="TextBox 7"/>
          <p:cNvSpPr txBox="1"/>
          <p:nvPr/>
        </p:nvSpPr>
        <p:spPr>
          <a:xfrm>
            <a:off x="2135173" y="3312592"/>
            <a:ext cx="8403262" cy="538609"/>
          </a:xfrm>
          <a:prstGeom prst="rect">
            <a:avLst/>
          </a:prstGeom>
          <a:noFill/>
        </p:spPr>
        <p:txBody>
          <a:bodyPr wrap="none" rtlCol="0">
            <a:spAutoFit/>
          </a:bodyPr>
          <a:lstStyle/>
          <a:p>
            <a:r>
              <a:rPr lang="en-PH" dirty="0" smtClean="0">
                <a:latin typeface="Arial" pitchFamily="34" charset="0"/>
                <a:cs typeface="Arial" pitchFamily="34" charset="0"/>
              </a:rPr>
              <a:t>He was </a:t>
            </a:r>
            <a:r>
              <a:rPr lang="en-PH" dirty="0" smtClean="0">
                <a:solidFill>
                  <a:srgbClr val="FF0000"/>
                </a:solidFill>
                <a:latin typeface="Arial" pitchFamily="34" charset="0"/>
                <a:cs typeface="Arial" pitchFamily="34" charset="0"/>
              </a:rPr>
              <a:t>exempted</a:t>
            </a:r>
            <a:r>
              <a:rPr lang="en-PH" dirty="0" smtClean="0">
                <a:latin typeface="Arial" pitchFamily="34" charset="0"/>
                <a:cs typeface="Arial" pitchFamily="34" charset="0"/>
              </a:rPr>
              <a:t> from duty because of ill health. </a:t>
            </a:r>
            <a:endParaRPr lang="en-PH" dirty="0">
              <a:latin typeface="Arial" pitchFamily="34" charset="0"/>
              <a:cs typeface="Arial" pitchFamily="34" charset="0"/>
            </a:endParaRPr>
          </a:p>
        </p:txBody>
      </p:sp>
      <p:sp>
        <p:nvSpPr>
          <p:cNvPr id="9" name="TextBox 8"/>
          <p:cNvSpPr txBox="1"/>
          <p:nvPr/>
        </p:nvSpPr>
        <p:spPr>
          <a:xfrm>
            <a:off x="5436716" y="2520504"/>
            <a:ext cx="3543534" cy="584775"/>
          </a:xfrm>
          <a:prstGeom prst="rect">
            <a:avLst/>
          </a:prstGeom>
          <a:noFill/>
        </p:spPr>
        <p:txBody>
          <a:bodyPr wrap="none" rtlCol="0">
            <a:spAutoFit/>
          </a:bodyPr>
          <a:lstStyle/>
          <a:p>
            <a:r>
              <a:rPr lang="en-PH" dirty="0" smtClean="0"/>
              <a:t>-  </a:t>
            </a:r>
            <a:r>
              <a:rPr lang="en-PH" sz="3200" i="1" dirty="0" smtClean="0"/>
              <a:t>to make free from </a:t>
            </a:r>
            <a:endParaRPr lang="en-PH" sz="3200" i="1" dirty="0"/>
          </a:p>
        </p:txBody>
      </p:sp>
      <p:sp>
        <p:nvSpPr>
          <p:cNvPr id="11" name="TextBox 10"/>
          <p:cNvSpPr txBox="1"/>
          <p:nvPr/>
        </p:nvSpPr>
        <p:spPr>
          <a:xfrm>
            <a:off x="3451898" y="3851201"/>
            <a:ext cx="2449517" cy="58477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3200" b="1" dirty="0"/>
              <a:t>e</a:t>
            </a:r>
            <a:r>
              <a:rPr lang="en-PH" sz="3200" b="1" dirty="0" smtClean="0"/>
              <a:t>xempt (adj.)</a:t>
            </a:r>
            <a:endParaRPr lang="en-PH" sz="3200" b="1" dirty="0"/>
          </a:p>
        </p:txBody>
      </p:sp>
      <p:sp>
        <p:nvSpPr>
          <p:cNvPr id="12" name="TextBox 11"/>
          <p:cNvSpPr txBox="1"/>
          <p:nvPr/>
        </p:nvSpPr>
        <p:spPr>
          <a:xfrm>
            <a:off x="2196356" y="4574183"/>
            <a:ext cx="6997428" cy="538609"/>
          </a:xfrm>
          <a:prstGeom prst="rect">
            <a:avLst/>
          </a:prstGeom>
          <a:noFill/>
        </p:spPr>
        <p:txBody>
          <a:bodyPr wrap="none" rtlCol="0">
            <a:spAutoFit/>
          </a:bodyPr>
          <a:lstStyle/>
          <a:p>
            <a:r>
              <a:rPr lang="en-PH" dirty="0" smtClean="0">
                <a:latin typeface="Arial" pitchFamily="34" charset="0"/>
                <a:cs typeface="Arial" pitchFamily="34" charset="0"/>
              </a:rPr>
              <a:t>School property is </a:t>
            </a:r>
            <a:r>
              <a:rPr lang="en-PH" dirty="0" smtClean="0">
                <a:solidFill>
                  <a:srgbClr val="FF0000"/>
                </a:solidFill>
                <a:latin typeface="Arial" pitchFamily="34" charset="0"/>
                <a:cs typeface="Arial" pitchFamily="34" charset="0"/>
              </a:rPr>
              <a:t>exempt</a:t>
            </a:r>
            <a:r>
              <a:rPr lang="en-PH" dirty="0" smtClean="0">
                <a:latin typeface="Arial" pitchFamily="34" charset="0"/>
                <a:cs typeface="Arial" pitchFamily="34" charset="0"/>
              </a:rPr>
              <a:t> from all taxes.</a:t>
            </a:r>
            <a:endParaRPr lang="en-PH" dirty="0">
              <a:latin typeface="Arial" pitchFamily="34" charset="0"/>
              <a:cs typeface="Arial" pitchFamily="34" charset="0"/>
            </a:endParaRPr>
          </a:p>
        </p:txBody>
      </p:sp>
      <p:sp>
        <p:nvSpPr>
          <p:cNvPr id="13" name="TextBox 12"/>
          <p:cNvSpPr txBox="1"/>
          <p:nvPr/>
        </p:nvSpPr>
        <p:spPr>
          <a:xfrm>
            <a:off x="756197" y="5472832"/>
            <a:ext cx="14761639" cy="984885"/>
          </a:xfrm>
          <a:prstGeom prst="rect">
            <a:avLst/>
          </a:prstGeom>
          <a:noFill/>
        </p:spPr>
        <p:txBody>
          <a:bodyPr wrap="square" rtlCol="0">
            <a:spAutoFit/>
          </a:bodyPr>
          <a:lstStyle/>
          <a:p>
            <a:r>
              <a:rPr lang="en-PH" dirty="0" smtClean="0">
                <a:latin typeface="Arial" pitchFamily="34" charset="0"/>
                <a:cs typeface="Arial" pitchFamily="34" charset="0"/>
              </a:rPr>
              <a:t>II. It is made possible by an equivalence of thought that lies behind its verbal expression (Savory, 1968). </a:t>
            </a:r>
            <a:endParaRPr lang="en-PH" dirty="0">
              <a:latin typeface="Arial" pitchFamily="34" charset="0"/>
              <a:cs typeface="Arial" pitchFamily="34" charset="0"/>
            </a:endParaRPr>
          </a:p>
        </p:txBody>
      </p:sp>
      <p:sp>
        <p:nvSpPr>
          <p:cNvPr id="14" name="TextBox 13"/>
          <p:cNvSpPr txBox="1"/>
          <p:nvPr/>
        </p:nvSpPr>
        <p:spPr>
          <a:xfrm>
            <a:off x="1520498" y="6498827"/>
            <a:ext cx="1837362" cy="538609"/>
          </a:xfrm>
          <a:prstGeom prst="rect">
            <a:avLst/>
          </a:prstGeom>
          <a:noFill/>
        </p:spPr>
        <p:txBody>
          <a:bodyPr wrap="none" rtlCol="0">
            <a:spAutoFit/>
          </a:bodyPr>
          <a:lstStyle/>
          <a:p>
            <a:r>
              <a:rPr lang="en-PH" sz="2800" i="1" dirty="0" smtClean="0">
                <a:latin typeface="Arial" pitchFamily="34" charset="0"/>
                <a:cs typeface="Arial" pitchFamily="34" charset="0"/>
              </a:rPr>
              <a:t>Example: </a:t>
            </a:r>
            <a:endParaRPr lang="en-PH" sz="2800" i="1" dirty="0">
              <a:latin typeface="Arial" pitchFamily="34" charset="0"/>
              <a:cs typeface="Arial" pitchFamily="34" charset="0"/>
            </a:endParaRPr>
          </a:p>
        </p:txBody>
      </p:sp>
      <p:sp>
        <p:nvSpPr>
          <p:cNvPr id="15" name="TextBox 14"/>
          <p:cNvSpPr txBox="1"/>
          <p:nvPr/>
        </p:nvSpPr>
        <p:spPr>
          <a:xfrm>
            <a:off x="3276477" y="6480944"/>
            <a:ext cx="1743426" cy="58477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3200" b="1" dirty="0" smtClean="0"/>
              <a:t>watch(v.)</a:t>
            </a:r>
            <a:endParaRPr lang="en-PH" sz="3200" b="1" dirty="0"/>
          </a:p>
        </p:txBody>
      </p:sp>
      <p:sp>
        <p:nvSpPr>
          <p:cNvPr id="16" name="TextBox 15"/>
          <p:cNvSpPr txBox="1"/>
          <p:nvPr/>
        </p:nvSpPr>
        <p:spPr>
          <a:xfrm>
            <a:off x="6003104" y="3851200"/>
            <a:ext cx="4971104" cy="584775"/>
          </a:xfrm>
          <a:prstGeom prst="rect">
            <a:avLst/>
          </a:prstGeom>
          <a:noFill/>
        </p:spPr>
        <p:txBody>
          <a:bodyPr wrap="none" rtlCol="0">
            <a:spAutoFit/>
          </a:bodyPr>
          <a:lstStyle/>
          <a:p>
            <a:r>
              <a:rPr lang="en-PH" dirty="0" smtClean="0"/>
              <a:t>-  </a:t>
            </a:r>
            <a:r>
              <a:rPr lang="en-PH" sz="3200" i="1" dirty="0"/>
              <a:t>f</a:t>
            </a:r>
            <a:r>
              <a:rPr lang="en-PH" sz="3200" i="1" dirty="0" smtClean="0"/>
              <a:t>reed </a:t>
            </a:r>
            <a:r>
              <a:rPr lang="en-PH" sz="2800" dirty="0" smtClean="0"/>
              <a:t>(literally not covered by)</a:t>
            </a:r>
            <a:endParaRPr lang="en-PH" sz="2800" dirty="0"/>
          </a:p>
        </p:txBody>
      </p:sp>
      <p:sp>
        <p:nvSpPr>
          <p:cNvPr id="17" name="TextBox 16"/>
          <p:cNvSpPr txBox="1"/>
          <p:nvPr/>
        </p:nvSpPr>
        <p:spPr>
          <a:xfrm>
            <a:off x="5148685" y="6480943"/>
            <a:ext cx="5877186" cy="584775"/>
          </a:xfrm>
          <a:prstGeom prst="rect">
            <a:avLst/>
          </a:prstGeom>
          <a:noFill/>
        </p:spPr>
        <p:txBody>
          <a:bodyPr wrap="none" rtlCol="0">
            <a:spAutoFit/>
          </a:bodyPr>
          <a:lstStyle/>
          <a:p>
            <a:r>
              <a:rPr lang="en-PH" dirty="0" smtClean="0"/>
              <a:t>-  </a:t>
            </a:r>
            <a:r>
              <a:rPr lang="en-PH" sz="3200" i="1" dirty="0"/>
              <a:t>t</a:t>
            </a:r>
            <a:r>
              <a:rPr lang="en-PH" sz="3200" i="1" dirty="0" smtClean="0"/>
              <a:t>o be or stay awake intentionally</a:t>
            </a:r>
            <a:endParaRPr lang="en-PH" sz="3200" i="1" dirty="0"/>
          </a:p>
        </p:txBody>
      </p:sp>
      <p:sp>
        <p:nvSpPr>
          <p:cNvPr id="18" name="TextBox 17"/>
          <p:cNvSpPr txBox="1"/>
          <p:nvPr/>
        </p:nvSpPr>
        <p:spPr>
          <a:xfrm>
            <a:off x="2340373" y="7224251"/>
            <a:ext cx="3785652" cy="984885"/>
          </a:xfrm>
          <a:prstGeom prst="rect">
            <a:avLst/>
          </a:prstGeom>
          <a:noFill/>
        </p:spPr>
        <p:txBody>
          <a:bodyPr wrap="none" rtlCol="0">
            <a:spAutoFit/>
          </a:bodyPr>
          <a:lstStyle/>
          <a:p>
            <a:r>
              <a:rPr lang="en-PH" dirty="0" smtClean="0">
                <a:latin typeface="Arial" pitchFamily="34" charset="0"/>
                <a:cs typeface="Arial" pitchFamily="34" charset="0"/>
              </a:rPr>
              <a:t>Watch your step!</a:t>
            </a:r>
          </a:p>
          <a:p>
            <a:r>
              <a:rPr lang="en-PH" dirty="0" smtClean="0">
                <a:latin typeface="Arial" pitchFamily="34" charset="0"/>
                <a:cs typeface="Arial" pitchFamily="34" charset="0"/>
              </a:rPr>
              <a:t>Watch your language!</a:t>
            </a:r>
            <a:endParaRPr lang="en-PH" dirty="0">
              <a:latin typeface="Arial" pitchFamily="34" charset="0"/>
              <a:cs typeface="Arial" pitchFamily="34" charset="0"/>
            </a:endParaRPr>
          </a:p>
        </p:txBody>
      </p:sp>
    </p:spTree>
    <p:extLst>
      <p:ext uri="{BB962C8B-B14F-4D97-AF65-F5344CB8AC3E}">
        <p14:creationId xmlns:p14="http://schemas.microsoft.com/office/powerpoint/2010/main" val="284173647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648071" y="1008336"/>
            <a:ext cx="14689632" cy="984885"/>
          </a:xfrm>
          <a:prstGeom prst="rect">
            <a:avLst/>
          </a:prstGeom>
          <a:noFill/>
        </p:spPr>
        <p:txBody>
          <a:bodyPr wrap="square" rtlCol="0">
            <a:spAutoFit/>
          </a:bodyPr>
          <a:lstStyle/>
          <a:p>
            <a:r>
              <a:rPr lang="en-PH" dirty="0" smtClean="0">
                <a:latin typeface="Arial" pitchFamily="34" charset="0"/>
                <a:cs typeface="Arial" pitchFamily="34" charset="0"/>
              </a:rPr>
              <a:t>III. It is an exercise which attempts to replace a written message in one language by the same message in another language (</a:t>
            </a:r>
            <a:r>
              <a:rPr lang="en-PH" dirty="0" err="1" smtClean="0">
                <a:latin typeface="Arial" pitchFamily="34" charset="0"/>
                <a:cs typeface="Arial" pitchFamily="34" charset="0"/>
              </a:rPr>
              <a:t>Newmark</a:t>
            </a:r>
            <a:r>
              <a:rPr lang="en-PH" dirty="0" smtClean="0">
                <a:latin typeface="Arial" pitchFamily="34" charset="0"/>
                <a:cs typeface="Arial" pitchFamily="34" charset="0"/>
              </a:rPr>
              <a:t>, 1988). </a:t>
            </a:r>
            <a:endParaRPr lang="en-PH" dirty="0">
              <a:latin typeface="Arial" pitchFamily="34" charset="0"/>
              <a:cs typeface="Arial" pitchFamily="34" charset="0"/>
            </a:endParaRPr>
          </a:p>
        </p:txBody>
      </p:sp>
      <p:sp>
        <p:nvSpPr>
          <p:cNvPr id="5" name="TextBox 4"/>
          <p:cNvSpPr txBox="1"/>
          <p:nvPr/>
        </p:nvSpPr>
        <p:spPr>
          <a:xfrm>
            <a:off x="648071" y="4612799"/>
            <a:ext cx="14761639" cy="984885"/>
          </a:xfrm>
          <a:prstGeom prst="rect">
            <a:avLst/>
          </a:prstGeom>
          <a:noFill/>
        </p:spPr>
        <p:txBody>
          <a:bodyPr wrap="square" rtlCol="0">
            <a:spAutoFit/>
          </a:bodyPr>
          <a:lstStyle/>
          <a:p>
            <a:r>
              <a:rPr lang="en-PH" dirty="0" smtClean="0">
                <a:latin typeface="Arial" pitchFamily="34" charset="0"/>
                <a:cs typeface="Arial" pitchFamily="34" charset="0"/>
              </a:rPr>
              <a:t>IV. It is a communicative process which takes place within a social context (</a:t>
            </a:r>
            <a:r>
              <a:rPr lang="en-PH" dirty="0" err="1" smtClean="0">
                <a:latin typeface="Arial" pitchFamily="34" charset="0"/>
                <a:cs typeface="Arial" pitchFamily="34" charset="0"/>
              </a:rPr>
              <a:t>Hatim</a:t>
            </a:r>
            <a:r>
              <a:rPr lang="en-PH" dirty="0" smtClean="0">
                <a:latin typeface="Arial" pitchFamily="34" charset="0"/>
                <a:cs typeface="Arial" pitchFamily="34" charset="0"/>
              </a:rPr>
              <a:t> &amp; Mason, et al. 2003). </a:t>
            </a:r>
            <a:endParaRPr lang="en-PH" dirty="0">
              <a:latin typeface="Arial" pitchFamily="34" charset="0"/>
              <a:cs typeface="Arial" pitchFamily="34" charset="0"/>
            </a:endParaRPr>
          </a:p>
        </p:txBody>
      </p:sp>
      <p:sp>
        <p:nvSpPr>
          <p:cNvPr id="6" name="TextBox 5"/>
          <p:cNvSpPr txBox="1"/>
          <p:nvPr/>
        </p:nvSpPr>
        <p:spPr>
          <a:xfrm>
            <a:off x="1368151" y="2088456"/>
            <a:ext cx="1837362" cy="538609"/>
          </a:xfrm>
          <a:prstGeom prst="rect">
            <a:avLst/>
          </a:prstGeom>
          <a:noFill/>
        </p:spPr>
        <p:txBody>
          <a:bodyPr wrap="none" rtlCol="0">
            <a:spAutoFit/>
          </a:bodyPr>
          <a:lstStyle/>
          <a:p>
            <a:r>
              <a:rPr lang="en-PH" sz="2800" i="1" dirty="0" smtClean="0">
                <a:latin typeface="Arial" pitchFamily="34" charset="0"/>
                <a:cs typeface="Arial" pitchFamily="34" charset="0"/>
              </a:rPr>
              <a:t>Example: </a:t>
            </a:r>
            <a:endParaRPr lang="en-PH" sz="2800" i="1" dirty="0">
              <a:latin typeface="Arial" pitchFamily="34" charset="0"/>
              <a:cs typeface="Arial" pitchFamily="34" charset="0"/>
            </a:endParaRPr>
          </a:p>
        </p:txBody>
      </p:sp>
      <p:sp>
        <p:nvSpPr>
          <p:cNvPr id="9" name="TextBox 8"/>
          <p:cNvSpPr txBox="1"/>
          <p:nvPr/>
        </p:nvSpPr>
        <p:spPr>
          <a:xfrm>
            <a:off x="3384375" y="2088456"/>
            <a:ext cx="2303003" cy="58477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3200" b="1" dirty="0"/>
              <a:t>c</a:t>
            </a:r>
            <a:r>
              <a:rPr lang="en-PH" sz="3200" b="1" dirty="0" smtClean="0"/>
              <a:t>ritical (adj.)</a:t>
            </a:r>
            <a:endParaRPr lang="en-PH" sz="3200" b="1" dirty="0"/>
          </a:p>
        </p:txBody>
      </p:sp>
      <p:sp>
        <p:nvSpPr>
          <p:cNvPr id="10" name="TextBox 9"/>
          <p:cNvSpPr txBox="1"/>
          <p:nvPr/>
        </p:nvSpPr>
        <p:spPr>
          <a:xfrm>
            <a:off x="2171064" y="3134023"/>
            <a:ext cx="8479885" cy="984885"/>
          </a:xfrm>
          <a:prstGeom prst="rect">
            <a:avLst/>
          </a:prstGeom>
          <a:noFill/>
        </p:spPr>
        <p:txBody>
          <a:bodyPr wrap="none" rtlCol="0">
            <a:spAutoFit/>
          </a:bodyPr>
          <a:lstStyle/>
          <a:p>
            <a:r>
              <a:rPr lang="en-PH" dirty="0" smtClean="0">
                <a:solidFill>
                  <a:srgbClr val="FF0000"/>
                </a:solidFill>
                <a:latin typeface="Arial" pitchFamily="34" charset="0"/>
                <a:cs typeface="Arial" pitchFamily="34" charset="0"/>
              </a:rPr>
              <a:t>Critical</a:t>
            </a:r>
            <a:r>
              <a:rPr lang="en-PH" dirty="0" smtClean="0">
                <a:latin typeface="Arial" pitchFamily="34" charset="0"/>
                <a:cs typeface="Arial" pitchFamily="34" charset="0"/>
              </a:rPr>
              <a:t> reading goes father than effective reading. </a:t>
            </a:r>
          </a:p>
          <a:p>
            <a:r>
              <a:rPr lang="en-PH" dirty="0" smtClean="0">
                <a:latin typeface="Arial" pitchFamily="34" charset="0"/>
                <a:cs typeface="Arial" pitchFamily="34" charset="0"/>
              </a:rPr>
              <a:t>Her mother is in a </a:t>
            </a:r>
            <a:r>
              <a:rPr lang="en-PH" dirty="0" smtClean="0">
                <a:solidFill>
                  <a:srgbClr val="FF0000"/>
                </a:solidFill>
                <a:latin typeface="Arial" pitchFamily="34" charset="0"/>
                <a:cs typeface="Arial" pitchFamily="34" charset="0"/>
              </a:rPr>
              <a:t>critica</a:t>
            </a:r>
            <a:r>
              <a:rPr lang="en-PH" dirty="0" smtClean="0">
                <a:latin typeface="Arial" pitchFamily="34" charset="0"/>
                <a:cs typeface="Arial" pitchFamily="34" charset="0"/>
              </a:rPr>
              <a:t>l condition. </a:t>
            </a:r>
            <a:endParaRPr lang="en-PH" dirty="0">
              <a:latin typeface="Arial" pitchFamily="34" charset="0"/>
              <a:cs typeface="Arial" pitchFamily="34" charset="0"/>
            </a:endParaRPr>
          </a:p>
        </p:txBody>
      </p:sp>
      <p:sp>
        <p:nvSpPr>
          <p:cNvPr id="11" name="TextBox 10"/>
          <p:cNvSpPr txBox="1"/>
          <p:nvPr/>
        </p:nvSpPr>
        <p:spPr>
          <a:xfrm>
            <a:off x="5472607" y="2055064"/>
            <a:ext cx="10765309" cy="969496"/>
          </a:xfrm>
          <a:prstGeom prst="rect">
            <a:avLst/>
          </a:prstGeom>
          <a:noFill/>
        </p:spPr>
        <p:txBody>
          <a:bodyPr wrap="square" rtlCol="0">
            <a:spAutoFit/>
          </a:bodyPr>
          <a:lstStyle/>
          <a:p>
            <a:r>
              <a:rPr lang="en-PH" dirty="0" smtClean="0"/>
              <a:t>   </a:t>
            </a:r>
            <a:r>
              <a:rPr lang="en-PH" sz="2800" dirty="0" smtClean="0"/>
              <a:t>-  </a:t>
            </a:r>
            <a:r>
              <a:rPr lang="en-PH" sz="2800" i="1" dirty="0" smtClean="0"/>
              <a:t>requiring careful judgment; inclined to criticize being or relating to a </a:t>
            </a:r>
          </a:p>
          <a:p>
            <a:r>
              <a:rPr lang="en-PH" sz="2800" i="1" dirty="0"/>
              <a:t> </a:t>
            </a:r>
            <a:r>
              <a:rPr lang="en-PH" sz="2800" i="1" dirty="0" smtClean="0"/>
              <a:t>     condition or disease involving danger of death. </a:t>
            </a:r>
            <a:endParaRPr lang="en-PH" sz="2800" i="1" dirty="0"/>
          </a:p>
        </p:txBody>
      </p:sp>
      <p:sp>
        <p:nvSpPr>
          <p:cNvPr id="12" name="TextBox 11"/>
          <p:cNvSpPr txBox="1"/>
          <p:nvPr/>
        </p:nvSpPr>
        <p:spPr>
          <a:xfrm>
            <a:off x="1404042" y="5713244"/>
            <a:ext cx="1837362" cy="538609"/>
          </a:xfrm>
          <a:prstGeom prst="rect">
            <a:avLst/>
          </a:prstGeom>
          <a:noFill/>
        </p:spPr>
        <p:txBody>
          <a:bodyPr wrap="none" rtlCol="0">
            <a:spAutoFit/>
          </a:bodyPr>
          <a:lstStyle/>
          <a:p>
            <a:r>
              <a:rPr lang="en-PH" sz="2800" i="1" dirty="0" smtClean="0">
                <a:latin typeface="Arial" pitchFamily="34" charset="0"/>
                <a:cs typeface="Arial" pitchFamily="34" charset="0"/>
              </a:rPr>
              <a:t>Example: </a:t>
            </a:r>
            <a:endParaRPr lang="en-PH" sz="2800" i="1" dirty="0">
              <a:latin typeface="Arial" pitchFamily="34" charset="0"/>
              <a:cs typeface="Arial" pitchFamily="34" charset="0"/>
            </a:endParaRPr>
          </a:p>
        </p:txBody>
      </p:sp>
      <p:sp>
        <p:nvSpPr>
          <p:cNvPr id="13" name="TextBox 12"/>
          <p:cNvSpPr txBox="1"/>
          <p:nvPr/>
        </p:nvSpPr>
        <p:spPr>
          <a:xfrm>
            <a:off x="3420266" y="5713244"/>
            <a:ext cx="1646605" cy="58477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3200" b="1" dirty="0" smtClean="0"/>
              <a:t>pork (n.)</a:t>
            </a:r>
            <a:endParaRPr lang="en-PH" sz="3200" b="1" dirty="0"/>
          </a:p>
        </p:txBody>
      </p:sp>
      <p:sp>
        <p:nvSpPr>
          <p:cNvPr id="14" name="TextBox 13"/>
          <p:cNvSpPr txBox="1"/>
          <p:nvPr/>
        </p:nvSpPr>
        <p:spPr>
          <a:xfrm>
            <a:off x="2036297" y="7080235"/>
            <a:ext cx="8445261" cy="984885"/>
          </a:xfrm>
          <a:prstGeom prst="rect">
            <a:avLst/>
          </a:prstGeom>
          <a:noFill/>
        </p:spPr>
        <p:txBody>
          <a:bodyPr wrap="none" rtlCol="0">
            <a:spAutoFit/>
          </a:bodyPr>
          <a:lstStyle/>
          <a:p>
            <a:r>
              <a:rPr lang="en-PH" dirty="0" smtClean="0">
                <a:solidFill>
                  <a:srgbClr val="FF0000"/>
                </a:solidFill>
                <a:latin typeface="Arial" pitchFamily="34" charset="0"/>
                <a:cs typeface="Arial" pitchFamily="34" charset="0"/>
              </a:rPr>
              <a:t>Pork </a:t>
            </a:r>
            <a:r>
              <a:rPr lang="en-PH" dirty="0" smtClean="0">
                <a:latin typeface="Arial" pitchFamily="34" charset="0"/>
                <a:cs typeface="Arial" pitchFamily="34" charset="0"/>
              </a:rPr>
              <a:t>barrel (b) is new minority leader’s top priority.</a:t>
            </a:r>
          </a:p>
          <a:p>
            <a:r>
              <a:rPr lang="en-PH" dirty="0">
                <a:latin typeface="Arial" pitchFamily="34" charset="0"/>
                <a:cs typeface="Arial" pitchFamily="34" charset="0"/>
              </a:rPr>
              <a:t>In some religions, </a:t>
            </a:r>
            <a:r>
              <a:rPr lang="en-PH" dirty="0">
                <a:solidFill>
                  <a:srgbClr val="FF0000"/>
                </a:solidFill>
                <a:latin typeface="Arial" pitchFamily="34" charset="0"/>
                <a:cs typeface="Arial" pitchFamily="34" charset="0"/>
              </a:rPr>
              <a:t>pork</a:t>
            </a:r>
            <a:r>
              <a:rPr lang="en-PH" dirty="0">
                <a:latin typeface="Arial" pitchFamily="34" charset="0"/>
                <a:cs typeface="Arial" pitchFamily="34" charset="0"/>
              </a:rPr>
              <a:t> is considered impure</a:t>
            </a:r>
          </a:p>
        </p:txBody>
      </p:sp>
      <p:sp>
        <p:nvSpPr>
          <p:cNvPr id="15" name="TextBox 14"/>
          <p:cNvSpPr txBox="1"/>
          <p:nvPr/>
        </p:nvSpPr>
        <p:spPr>
          <a:xfrm>
            <a:off x="5040559" y="5679852"/>
            <a:ext cx="11017224" cy="1400383"/>
          </a:xfrm>
          <a:prstGeom prst="rect">
            <a:avLst/>
          </a:prstGeom>
          <a:noFill/>
        </p:spPr>
        <p:txBody>
          <a:bodyPr wrap="square" rtlCol="0">
            <a:spAutoFit/>
          </a:bodyPr>
          <a:lstStyle/>
          <a:p>
            <a:r>
              <a:rPr lang="en-PH" dirty="0" smtClean="0"/>
              <a:t>   </a:t>
            </a:r>
            <a:r>
              <a:rPr lang="en-PH" sz="2800" dirty="0" smtClean="0"/>
              <a:t>- a. </a:t>
            </a:r>
            <a:r>
              <a:rPr lang="en-PH" sz="2800" i="1" dirty="0" smtClean="0"/>
              <a:t>the flesh of swine dressed for used as food</a:t>
            </a:r>
          </a:p>
          <a:p>
            <a:r>
              <a:rPr lang="en-PH" sz="2800" i="1" dirty="0"/>
              <a:t> </a:t>
            </a:r>
            <a:r>
              <a:rPr lang="en-PH" sz="2800" i="1" dirty="0" smtClean="0"/>
              <a:t>    b. government projects or appropriateness yielding rich patronage   </a:t>
            </a:r>
          </a:p>
          <a:p>
            <a:r>
              <a:rPr lang="en-PH" sz="2800" i="1" dirty="0"/>
              <a:t> </a:t>
            </a:r>
            <a:r>
              <a:rPr lang="en-PH" sz="2800" i="1" dirty="0" smtClean="0"/>
              <a:t>         benefits. </a:t>
            </a:r>
            <a:endParaRPr lang="en-PH" sz="2800" i="1" dirty="0"/>
          </a:p>
        </p:txBody>
      </p:sp>
    </p:spTree>
    <p:extLst>
      <p:ext uri="{BB962C8B-B14F-4D97-AF65-F5344CB8AC3E}">
        <p14:creationId xmlns:p14="http://schemas.microsoft.com/office/powerpoint/2010/main" val="2426151738"/>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252140" y="288256"/>
            <a:ext cx="5673541" cy="646331"/>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PH" sz="3600" b="1" dirty="0" smtClean="0">
                <a:solidFill>
                  <a:srgbClr val="002060"/>
                </a:solidFill>
                <a:latin typeface="Arial" pitchFamily="34" charset="0"/>
                <a:cs typeface="Arial" pitchFamily="34" charset="0"/>
              </a:rPr>
              <a:t>Principles of Translation </a:t>
            </a:r>
            <a:endParaRPr lang="en-PH" sz="3600" b="1" dirty="0">
              <a:solidFill>
                <a:srgbClr val="002060"/>
              </a:solidFill>
              <a:latin typeface="Arial" pitchFamily="34" charset="0"/>
              <a:cs typeface="Arial" pitchFamily="34" charset="0"/>
            </a:endParaRPr>
          </a:p>
        </p:txBody>
      </p:sp>
      <p:sp>
        <p:nvSpPr>
          <p:cNvPr id="3" name="TextBox 2"/>
          <p:cNvSpPr txBox="1"/>
          <p:nvPr/>
        </p:nvSpPr>
        <p:spPr>
          <a:xfrm>
            <a:off x="684188" y="1080344"/>
            <a:ext cx="11884985" cy="538609"/>
          </a:xfrm>
          <a:prstGeom prst="rect">
            <a:avLst/>
          </a:prstGeom>
          <a:noFill/>
        </p:spPr>
        <p:txBody>
          <a:bodyPr wrap="none" rtlCol="0">
            <a:spAutoFit/>
          </a:bodyPr>
          <a:lstStyle/>
          <a:p>
            <a:r>
              <a:rPr lang="en-PH" dirty="0" smtClean="0">
                <a:latin typeface="Arial" pitchFamily="34" charset="0"/>
                <a:cs typeface="Arial" pitchFamily="34" charset="0"/>
              </a:rPr>
              <a:t>1. Every language is rooted from the culture of the people who owns it</a:t>
            </a:r>
            <a:r>
              <a:rPr lang="en-PH" sz="2800" dirty="0" smtClean="0">
                <a:latin typeface="Arial" pitchFamily="34" charset="0"/>
                <a:cs typeface="Arial" pitchFamily="34" charset="0"/>
              </a:rPr>
              <a:t>. </a:t>
            </a:r>
            <a:endParaRPr lang="en-PH" sz="2800" dirty="0">
              <a:latin typeface="Arial" pitchFamily="34" charset="0"/>
              <a:cs typeface="Arial" pitchFamily="34" charset="0"/>
            </a:endParaRPr>
          </a:p>
        </p:txBody>
      </p:sp>
      <p:sp>
        <p:nvSpPr>
          <p:cNvPr id="6" name="TextBox 5"/>
          <p:cNvSpPr txBox="1"/>
          <p:nvPr/>
        </p:nvSpPr>
        <p:spPr>
          <a:xfrm>
            <a:off x="1116236" y="1656409"/>
            <a:ext cx="1608133" cy="538609"/>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i="1" dirty="0" smtClean="0">
                <a:latin typeface="Times New Roman" pitchFamily="18" charset="0"/>
                <a:cs typeface="Times New Roman" pitchFamily="18" charset="0"/>
              </a:rPr>
              <a:t>Example:</a:t>
            </a:r>
            <a:endParaRPr lang="en-PH" i="1" dirty="0">
              <a:latin typeface="Times New Roman" pitchFamily="18" charset="0"/>
              <a:cs typeface="Times New Roman" pitchFamily="18" charset="0"/>
            </a:endParaRPr>
          </a:p>
        </p:txBody>
      </p:sp>
      <p:sp>
        <p:nvSpPr>
          <p:cNvPr id="7" name="TextBox 6"/>
          <p:cNvSpPr txBox="1"/>
          <p:nvPr/>
        </p:nvSpPr>
        <p:spPr>
          <a:xfrm>
            <a:off x="2772420" y="1656408"/>
            <a:ext cx="2901628" cy="538609"/>
          </a:xfrm>
          <a:prstGeom prst="rect">
            <a:avLst/>
          </a:prstGeom>
          <a:noFill/>
        </p:spPr>
        <p:txBody>
          <a:bodyPr wrap="none" rtlCol="0">
            <a:spAutoFit/>
          </a:bodyPr>
          <a:lstStyle/>
          <a:p>
            <a:r>
              <a:rPr lang="en-PH" dirty="0" smtClean="0"/>
              <a:t>‘</a:t>
            </a:r>
            <a:r>
              <a:rPr lang="en-PH" dirty="0" smtClean="0">
                <a:solidFill>
                  <a:srgbClr val="FF0000"/>
                </a:solidFill>
              </a:rPr>
              <a:t>as white as snow’</a:t>
            </a:r>
            <a:endParaRPr lang="en-PH" dirty="0">
              <a:solidFill>
                <a:srgbClr val="FF0000"/>
              </a:solidFill>
            </a:endParaRPr>
          </a:p>
        </p:txBody>
      </p:sp>
      <p:sp>
        <p:nvSpPr>
          <p:cNvPr id="8" name="TextBox 7"/>
          <p:cNvSpPr txBox="1"/>
          <p:nvPr/>
        </p:nvSpPr>
        <p:spPr>
          <a:xfrm>
            <a:off x="612180" y="2376488"/>
            <a:ext cx="15193687" cy="984885"/>
          </a:xfrm>
          <a:prstGeom prst="rect">
            <a:avLst/>
          </a:prstGeom>
          <a:noFill/>
        </p:spPr>
        <p:txBody>
          <a:bodyPr wrap="square" rtlCol="0">
            <a:spAutoFit/>
          </a:bodyPr>
          <a:lstStyle/>
          <a:p>
            <a:r>
              <a:rPr lang="en-PH" dirty="0">
                <a:latin typeface="Arial" pitchFamily="34" charset="0"/>
                <a:cs typeface="Arial" pitchFamily="34" charset="0"/>
              </a:rPr>
              <a:t>2</a:t>
            </a:r>
            <a:r>
              <a:rPr lang="en-PH" dirty="0" smtClean="0">
                <a:latin typeface="Arial" pitchFamily="34" charset="0"/>
                <a:cs typeface="Arial" pitchFamily="34" charset="0"/>
              </a:rPr>
              <a:t>. Every language has its own property and characteristics which explains its own language behavior. </a:t>
            </a:r>
            <a:endParaRPr lang="en-PH" sz="2800" dirty="0">
              <a:latin typeface="Arial" pitchFamily="34" charset="0"/>
              <a:cs typeface="Arial" pitchFamily="34" charset="0"/>
            </a:endParaRPr>
          </a:p>
        </p:txBody>
      </p:sp>
      <p:sp>
        <p:nvSpPr>
          <p:cNvPr id="9" name="TextBox 8"/>
          <p:cNvSpPr txBox="1"/>
          <p:nvPr/>
        </p:nvSpPr>
        <p:spPr>
          <a:xfrm>
            <a:off x="1044228" y="3456608"/>
            <a:ext cx="1608133" cy="538609"/>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i="1" dirty="0" smtClean="0">
                <a:latin typeface="Times New Roman" pitchFamily="18" charset="0"/>
                <a:cs typeface="Times New Roman" pitchFamily="18" charset="0"/>
              </a:rPr>
              <a:t>Example:</a:t>
            </a:r>
            <a:endParaRPr lang="en-PH" i="1" dirty="0">
              <a:latin typeface="Times New Roman" pitchFamily="18" charset="0"/>
              <a:cs typeface="Times New Roman" pitchFamily="18" charset="0"/>
            </a:endParaRPr>
          </a:p>
        </p:txBody>
      </p:sp>
      <p:sp>
        <p:nvSpPr>
          <p:cNvPr id="10" name="TextBox 9"/>
          <p:cNvSpPr txBox="1"/>
          <p:nvPr/>
        </p:nvSpPr>
        <p:spPr>
          <a:xfrm>
            <a:off x="2764673" y="3456608"/>
            <a:ext cx="6622006" cy="538609"/>
          </a:xfrm>
          <a:prstGeom prst="rect">
            <a:avLst/>
          </a:prstGeom>
          <a:noFill/>
        </p:spPr>
        <p:txBody>
          <a:bodyPr wrap="none" rtlCol="0">
            <a:spAutoFit/>
          </a:bodyPr>
          <a:lstStyle/>
          <a:p>
            <a:r>
              <a:rPr lang="en-PH" dirty="0" smtClean="0">
                <a:solidFill>
                  <a:srgbClr val="FF0000"/>
                </a:solidFill>
              </a:rPr>
              <a:t>Subject + Predicate / Predicate  + Subject </a:t>
            </a:r>
            <a:endParaRPr lang="en-PH" dirty="0">
              <a:solidFill>
                <a:srgbClr val="FF0000"/>
              </a:solidFill>
            </a:endParaRPr>
          </a:p>
        </p:txBody>
      </p:sp>
      <p:sp>
        <p:nvSpPr>
          <p:cNvPr id="11" name="TextBox 10"/>
          <p:cNvSpPr txBox="1"/>
          <p:nvPr/>
        </p:nvSpPr>
        <p:spPr>
          <a:xfrm>
            <a:off x="612180" y="4608736"/>
            <a:ext cx="15409712" cy="984885"/>
          </a:xfrm>
          <a:prstGeom prst="rect">
            <a:avLst/>
          </a:prstGeom>
          <a:noFill/>
        </p:spPr>
        <p:txBody>
          <a:bodyPr wrap="square" rtlCol="0">
            <a:spAutoFit/>
          </a:bodyPr>
          <a:lstStyle/>
          <a:p>
            <a:r>
              <a:rPr lang="en-PH" dirty="0">
                <a:latin typeface="Arial" pitchFamily="34" charset="0"/>
                <a:cs typeface="Arial" pitchFamily="34" charset="0"/>
              </a:rPr>
              <a:t>3</a:t>
            </a:r>
            <a:r>
              <a:rPr lang="en-PH" dirty="0" smtClean="0">
                <a:latin typeface="Arial" pitchFamily="34" charset="0"/>
                <a:cs typeface="Arial" pitchFamily="34" charset="0"/>
              </a:rPr>
              <a:t>. Translations should be accepted by the target receiver which the translation is appropriate to the level of t he audience. </a:t>
            </a:r>
            <a:endParaRPr lang="en-PH" sz="2800" dirty="0">
              <a:latin typeface="Arial" pitchFamily="34" charset="0"/>
              <a:cs typeface="Arial" pitchFamily="34" charset="0"/>
            </a:endParaRPr>
          </a:p>
        </p:txBody>
      </p:sp>
      <p:sp>
        <p:nvSpPr>
          <p:cNvPr id="12" name="TextBox 11"/>
          <p:cNvSpPr txBox="1"/>
          <p:nvPr/>
        </p:nvSpPr>
        <p:spPr>
          <a:xfrm>
            <a:off x="1166936" y="5718191"/>
            <a:ext cx="1608133" cy="538609"/>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i="1" dirty="0" smtClean="0">
                <a:latin typeface="Times New Roman" pitchFamily="18" charset="0"/>
                <a:cs typeface="Times New Roman" pitchFamily="18" charset="0"/>
              </a:rPr>
              <a:t>Example:</a:t>
            </a:r>
            <a:endParaRPr lang="en-PH" i="1" dirty="0">
              <a:latin typeface="Times New Roman" pitchFamily="18" charset="0"/>
              <a:cs typeface="Times New Roman" pitchFamily="18" charset="0"/>
            </a:endParaRPr>
          </a:p>
        </p:txBody>
      </p:sp>
      <p:sp>
        <p:nvSpPr>
          <p:cNvPr id="13" name="TextBox 12"/>
          <p:cNvSpPr txBox="1"/>
          <p:nvPr/>
        </p:nvSpPr>
        <p:spPr>
          <a:xfrm>
            <a:off x="2967136" y="5718190"/>
            <a:ext cx="6722353" cy="538609"/>
          </a:xfrm>
          <a:prstGeom prst="rect">
            <a:avLst/>
          </a:prstGeom>
          <a:noFill/>
        </p:spPr>
        <p:txBody>
          <a:bodyPr wrap="none" rtlCol="0">
            <a:spAutoFit/>
          </a:bodyPr>
          <a:lstStyle/>
          <a:p>
            <a:r>
              <a:rPr lang="en-PH" dirty="0">
                <a:solidFill>
                  <a:srgbClr val="FF0000"/>
                </a:solidFill>
              </a:rPr>
              <a:t>s</a:t>
            </a:r>
            <a:r>
              <a:rPr lang="en-PH" dirty="0" smtClean="0">
                <a:solidFill>
                  <a:srgbClr val="FF0000"/>
                </a:solidFill>
              </a:rPr>
              <a:t>cience – agham    	 psychology – sikolohiya</a:t>
            </a:r>
            <a:endParaRPr lang="en-PH" dirty="0">
              <a:solidFill>
                <a:srgbClr val="FF0000"/>
              </a:solidFill>
            </a:endParaRPr>
          </a:p>
        </p:txBody>
      </p:sp>
      <p:sp>
        <p:nvSpPr>
          <p:cNvPr id="15" name="TextBox 14"/>
          <p:cNvSpPr txBox="1"/>
          <p:nvPr/>
        </p:nvSpPr>
        <p:spPr>
          <a:xfrm>
            <a:off x="2761943" y="3960664"/>
            <a:ext cx="13470675" cy="477054"/>
          </a:xfrm>
          <a:prstGeom prst="rect">
            <a:avLst/>
          </a:prstGeom>
          <a:noFill/>
        </p:spPr>
        <p:txBody>
          <a:bodyPr wrap="none" rtlCol="0">
            <a:spAutoFit/>
          </a:bodyPr>
          <a:lstStyle/>
          <a:p>
            <a:r>
              <a:rPr lang="en-PH" sz="2500" dirty="0" smtClean="0">
                <a:solidFill>
                  <a:srgbClr val="002060"/>
                </a:solidFill>
              </a:rPr>
              <a:t>The scholars received their money last week.  / </a:t>
            </a:r>
            <a:r>
              <a:rPr lang="en-PH" sz="2500" dirty="0" err="1" smtClean="0">
                <a:solidFill>
                  <a:srgbClr val="002060"/>
                </a:solidFill>
              </a:rPr>
              <a:t>Natanggap</a:t>
            </a:r>
            <a:r>
              <a:rPr lang="en-PH" sz="2500" dirty="0" smtClean="0">
                <a:solidFill>
                  <a:srgbClr val="002060"/>
                </a:solidFill>
              </a:rPr>
              <a:t> ng </a:t>
            </a:r>
            <a:r>
              <a:rPr lang="en-PH" sz="2500" dirty="0" err="1" smtClean="0">
                <a:solidFill>
                  <a:srgbClr val="002060"/>
                </a:solidFill>
              </a:rPr>
              <a:t>mga</a:t>
            </a:r>
            <a:r>
              <a:rPr lang="en-PH" sz="2500" dirty="0" smtClean="0">
                <a:solidFill>
                  <a:srgbClr val="002060"/>
                </a:solidFill>
              </a:rPr>
              <a:t> </a:t>
            </a:r>
            <a:r>
              <a:rPr lang="en-PH" sz="2500" dirty="0" err="1" smtClean="0">
                <a:solidFill>
                  <a:srgbClr val="002060"/>
                </a:solidFill>
              </a:rPr>
              <a:t>iskolar</a:t>
            </a:r>
            <a:r>
              <a:rPr lang="en-PH" sz="2500" dirty="0" smtClean="0">
                <a:solidFill>
                  <a:srgbClr val="002060"/>
                </a:solidFill>
              </a:rPr>
              <a:t> ang </a:t>
            </a:r>
            <a:r>
              <a:rPr lang="en-PH" sz="2500" dirty="0" err="1" smtClean="0">
                <a:solidFill>
                  <a:srgbClr val="002060"/>
                </a:solidFill>
              </a:rPr>
              <a:t>kanilang</a:t>
            </a:r>
            <a:r>
              <a:rPr lang="en-PH" sz="2500" dirty="0" smtClean="0">
                <a:solidFill>
                  <a:srgbClr val="002060"/>
                </a:solidFill>
              </a:rPr>
              <a:t>  pera </a:t>
            </a:r>
            <a:r>
              <a:rPr lang="en-PH" sz="2500" dirty="0" err="1" smtClean="0">
                <a:solidFill>
                  <a:srgbClr val="002060"/>
                </a:solidFill>
              </a:rPr>
              <a:t>kahapon</a:t>
            </a:r>
            <a:r>
              <a:rPr lang="en-PH" sz="2500" dirty="0" smtClean="0">
                <a:solidFill>
                  <a:srgbClr val="002060"/>
                </a:solidFill>
              </a:rPr>
              <a:t>. </a:t>
            </a:r>
            <a:endParaRPr lang="en-PH" sz="2500" dirty="0">
              <a:solidFill>
                <a:srgbClr val="002060"/>
              </a:solidFill>
            </a:endParaRPr>
          </a:p>
        </p:txBody>
      </p:sp>
      <p:sp>
        <p:nvSpPr>
          <p:cNvPr id="16" name="TextBox 15"/>
          <p:cNvSpPr txBox="1"/>
          <p:nvPr/>
        </p:nvSpPr>
        <p:spPr>
          <a:xfrm>
            <a:off x="612180" y="6480944"/>
            <a:ext cx="15409712" cy="984885"/>
          </a:xfrm>
          <a:prstGeom prst="rect">
            <a:avLst/>
          </a:prstGeom>
          <a:noFill/>
        </p:spPr>
        <p:txBody>
          <a:bodyPr wrap="square" rtlCol="0">
            <a:spAutoFit/>
          </a:bodyPr>
          <a:lstStyle/>
          <a:p>
            <a:r>
              <a:rPr lang="en-PH" dirty="0" smtClean="0">
                <a:latin typeface="Arial" pitchFamily="34" charset="0"/>
                <a:cs typeface="Arial" pitchFamily="34" charset="0"/>
              </a:rPr>
              <a:t>4. Abbreviations and acronyms including formulas that are considered established or universal in use need not be changed to conform with spelling and equivalence. </a:t>
            </a:r>
            <a:endParaRPr lang="en-PH" sz="2800" dirty="0">
              <a:latin typeface="Arial" pitchFamily="34" charset="0"/>
              <a:cs typeface="Arial" pitchFamily="34" charset="0"/>
            </a:endParaRPr>
          </a:p>
        </p:txBody>
      </p:sp>
      <p:sp>
        <p:nvSpPr>
          <p:cNvPr id="17" name="TextBox 16"/>
          <p:cNvSpPr txBox="1"/>
          <p:nvPr/>
        </p:nvSpPr>
        <p:spPr>
          <a:xfrm>
            <a:off x="1162635" y="7598519"/>
            <a:ext cx="1608133" cy="538609"/>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i="1" dirty="0" smtClean="0">
                <a:latin typeface="Times New Roman" pitchFamily="18" charset="0"/>
                <a:cs typeface="Times New Roman" pitchFamily="18" charset="0"/>
              </a:rPr>
              <a:t>Example:</a:t>
            </a:r>
            <a:endParaRPr lang="en-PH" i="1" dirty="0">
              <a:latin typeface="Times New Roman" pitchFamily="18" charset="0"/>
              <a:cs typeface="Times New Roman" pitchFamily="18" charset="0"/>
            </a:endParaRPr>
          </a:p>
        </p:txBody>
      </p:sp>
      <p:sp>
        <p:nvSpPr>
          <p:cNvPr id="18" name="TextBox 17"/>
          <p:cNvSpPr txBox="1"/>
          <p:nvPr/>
        </p:nvSpPr>
        <p:spPr>
          <a:xfrm>
            <a:off x="2962835" y="7598518"/>
            <a:ext cx="9223551" cy="984885"/>
          </a:xfrm>
          <a:prstGeom prst="rect">
            <a:avLst/>
          </a:prstGeom>
          <a:noFill/>
        </p:spPr>
        <p:txBody>
          <a:bodyPr wrap="none" rtlCol="0">
            <a:spAutoFit/>
          </a:bodyPr>
          <a:lstStyle/>
          <a:p>
            <a:r>
              <a:rPr lang="en-PH" b="1" dirty="0" smtClean="0">
                <a:solidFill>
                  <a:srgbClr val="FF0000"/>
                </a:solidFill>
              </a:rPr>
              <a:t>DENR</a:t>
            </a:r>
            <a:r>
              <a:rPr lang="en-PH" dirty="0" smtClean="0">
                <a:solidFill>
                  <a:srgbClr val="FF0000"/>
                </a:solidFill>
              </a:rPr>
              <a:t> - Department of Environment and Natural Resources </a:t>
            </a:r>
          </a:p>
          <a:p>
            <a:r>
              <a:rPr lang="en-PH" b="1" dirty="0" smtClean="0">
                <a:solidFill>
                  <a:srgbClr val="FF0000"/>
                </a:solidFill>
              </a:rPr>
              <a:t>PTA</a:t>
            </a:r>
            <a:r>
              <a:rPr lang="en-PH" dirty="0" smtClean="0">
                <a:solidFill>
                  <a:srgbClr val="FF0000"/>
                </a:solidFill>
              </a:rPr>
              <a:t> – Parents – Teachers Association </a:t>
            </a:r>
            <a:endParaRPr lang="en-PH" dirty="0">
              <a:solidFill>
                <a:srgbClr val="FF0000"/>
              </a:solidFill>
            </a:endParaRPr>
          </a:p>
        </p:txBody>
      </p:sp>
    </p:spTree>
    <p:extLst>
      <p:ext uri="{BB962C8B-B14F-4D97-AF65-F5344CB8AC3E}">
        <p14:creationId xmlns:p14="http://schemas.microsoft.com/office/powerpoint/2010/main" val="32190235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9" name="TextBox 8"/>
          <p:cNvSpPr txBox="1"/>
          <p:nvPr/>
        </p:nvSpPr>
        <p:spPr>
          <a:xfrm>
            <a:off x="684188" y="1008336"/>
            <a:ext cx="15193687" cy="984885"/>
          </a:xfrm>
          <a:prstGeom prst="rect">
            <a:avLst/>
          </a:prstGeom>
          <a:noFill/>
        </p:spPr>
        <p:txBody>
          <a:bodyPr wrap="square" rtlCol="0">
            <a:spAutoFit/>
          </a:bodyPr>
          <a:lstStyle/>
          <a:p>
            <a:r>
              <a:rPr lang="en-PH" dirty="0">
                <a:latin typeface="Arial" pitchFamily="34" charset="0"/>
                <a:cs typeface="Arial" pitchFamily="34" charset="0"/>
              </a:rPr>
              <a:t>5</a:t>
            </a:r>
            <a:r>
              <a:rPr lang="en-PH" dirty="0" smtClean="0">
                <a:latin typeface="Arial" pitchFamily="34" charset="0"/>
                <a:cs typeface="Arial" pitchFamily="34" charset="0"/>
              </a:rPr>
              <a:t>. In instances when more than one equivalence are acceptable, use only one of the equivalences, but provide a footnote for the rest of the meaning. </a:t>
            </a:r>
            <a:endParaRPr lang="en-PH" sz="2800" dirty="0">
              <a:latin typeface="Arial" pitchFamily="34" charset="0"/>
              <a:cs typeface="Arial" pitchFamily="34" charset="0"/>
            </a:endParaRPr>
          </a:p>
        </p:txBody>
      </p:sp>
      <p:sp>
        <p:nvSpPr>
          <p:cNvPr id="10" name="TextBox 9"/>
          <p:cNvSpPr txBox="1"/>
          <p:nvPr/>
        </p:nvSpPr>
        <p:spPr>
          <a:xfrm>
            <a:off x="1238944" y="2053903"/>
            <a:ext cx="1608133" cy="538609"/>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i="1" dirty="0" smtClean="0">
                <a:latin typeface="Times New Roman" pitchFamily="18" charset="0"/>
                <a:cs typeface="Times New Roman" pitchFamily="18" charset="0"/>
              </a:rPr>
              <a:t>Example:</a:t>
            </a:r>
            <a:endParaRPr lang="en-PH" i="1" dirty="0">
              <a:latin typeface="Times New Roman" pitchFamily="18" charset="0"/>
              <a:cs typeface="Times New Roman" pitchFamily="18" charset="0"/>
            </a:endParaRPr>
          </a:p>
        </p:txBody>
      </p:sp>
      <p:sp>
        <p:nvSpPr>
          <p:cNvPr id="11" name="TextBox 10"/>
          <p:cNvSpPr txBox="1"/>
          <p:nvPr/>
        </p:nvSpPr>
        <p:spPr>
          <a:xfrm>
            <a:off x="3039144" y="2053902"/>
            <a:ext cx="7127272" cy="1431161"/>
          </a:xfrm>
          <a:prstGeom prst="rect">
            <a:avLst/>
          </a:prstGeom>
          <a:noFill/>
        </p:spPr>
        <p:txBody>
          <a:bodyPr wrap="none" rtlCol="0">
            <a:spAutoFit/>
          </a:bodyPr>
          <a:lstStyle/>
          <a:p>
            <a:r>
              <a:rPr lang="en-PH" dirty="0" smtClean="0">
                <a:solidFill>
                  <a:srgbClr val="FF0000"/>
                </a:solidFill>
              </a:rPr>
              <a:t> </a:t>
            </a:r>
            <a:r>
              <a:rPr lang="en-PH" sz="2800" dirty="0" smtClean="0">
                <a:solidFill>
                  <a:srgbClr val="FF0000"/>
                </a:solidFill>
                <a:latin typeface="Arial" pitchFamily="34" charset="0"/>
                <a:cs typeface="Arial" pitchFamily="34" charset="0"/>
              </a:rPr>
              <a:t>terminology – terminolohiya, katatawagan</a:t>
            </a:r>
          </a:p>
          <a:p>
            <a:r>
              <a:rPr lang="en-PH" sz="2800" dirty="0" smtClean="0">
                <a:solidFill>
                  <a:srgbClr val="FF0000"/>
                </a:solidFill>
                <a:latin typeface="Arial" pitchFamily="34" charset="0"/>
                <a:cs typeface="Arial" pitchFamily="34" charset="0"/>
              </a:rPr>
              <a:t> testimony – patotoo, patibay, salaysay </a:t>
            </a:r>
          </a:p>
          <a:p>
            <a:r>
              <a:rPr lang="en-PH" sz="2800" dirty="0" smtClean="0">
                <a:solidFill>
                  <a:srgbClr val="FF0000"/>
                </a:solidFill>
                <a:latin typeface="Arial" pitchFamily="34" charset="0"/>
                <a:cs typeface="Arial" pitchFamily="34" charset="0"/>
              </a:rPr>
              <a:t> framework – balangkas </a:t>
            </a:r>
            <a:endParaRPr lang="en-PH" sz="2800" dirty="0">
              <a:solidFill>
                <a:srgbClr val="FF0000"/>
              </a:solidFill>
              <a:latin typeface="Arial" pitchFamily="34" charset="0"/>
              <a:cs typeface="Arial" pitchFamily="34" charset="0"/>
            </a:endParaRPr>
          </a:p>
        </p:txBody>
      </p:sp>
      <p:sp>
        <p:nvSpPr>
          <p:cNvPr id="12" name="TextBox 11"/>
          <p:cNvSpPr txBox="1"/>
          <p:nvPr/>
        </p:nvSpPr>
        <p:spPr>
          <a:xfrm>
            <a:off x="756197" y="3528616"/>
            <a:ext cx="15193687" cy="1431161"/>
          </a:xfrm>
          <a:prstGeom prst="rect">
            <a:avLst/>
          </a:prstGeom>
          <a:noFill/>
        </p:spPr>
        <p:txBody>
          <a:bodyPr wrap="square" rtlCol="0">
            <a:spAutoFit/>
          </a:bodyPr>
          <a:lstStyle/>
          <a:p>
            <a:r>
              <a:rPr lang="en-PH" dirty="0" smtClean="0">
                <a:latin typeface="Arial" pitchFamily="34" charset="0"/>
                <a:cs typeface="Arial" pitchFamily="34" charset="0"/>
              </a:rPr>
              <a:t>6. Brief, concise, condensed expressions should always be observed in translation process. In instances when more than one equivalence are acceptable, use only one of the equivalences, but provide a footnote for the rest of the meaning. </a:t>
            </a:r>
            <a:endParaRPr lang="en-PH" sz="2800" dirty="0">
              <a:latin typeface="Arial" pitchFamily="34" charset="0"/>
              <a:cs typeface="Arial" pitchFamily="34" charset="0"/>
            </a:endParaRPr>
          </a:p>
        </p:txBody>
      </p:sp>
      <p:sp>
        <p:nvSpPr>
          <p:cNvPr id="13" name="TextBox 12"/>
          <p:cNvSpPr txBox="1"/>
          <p:nvPr/>
        </p:nvSpPr>
        <p:spPr>
          <a:xfrm>
            <a:off x="1260252" y="4968776"/>
            <a:ext cx="1608133" cy="538609"/>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i="1" dirty="0" smtClean="0">
                <a:latin typeface="Times New Roman" pitchFamily="18" charset="0"/>
                <a:cs typeface="Times New Roman" pitchFamily="18" charset="0"/>
              </a:rPr>
              <a:t>Example:</a:t>
            </a:r>
            <a:endParaRPr lang="en-PH" i="1" dirty="0">
              <a:latin typeface="Times New Roman" pitchFamily="18" charset="0"/>
              <a:cs typeface="Times New Roman" pitchFamily="18" charset="0"/>
            </a:endParaRPr>
          </a:p>
        </p:txBody>
      </p:sp>
      <p:sp>
        <p:nvSpPr>
          <p:cNvPr id="14" name="TextBox 13"/>
          <p:cNvSpPr txBox="1"/>
          <p:nvPr/>
        </p:nvSpPr>
        <p:spPr>
          <a:xfrm>
            <a:off x="3060452" y="4896768"/>
            <a:ext cx="6811480" cy="984885"/>
          </a:xfrm>
          <a:prstGeom prst="rect">
            <a:avLst/>
          </a:prstGeom>
          <a:noFill/>
        </p:spPr>
        <p:txBody>
          <a:bodyPr wrap="none" rtlCol="0">
            <a:spAutoFit/>
          </a:bodyPr>
          <a:lstStyle/>
          <a:p>
            <a:r>
              <a:rPr lang="en-PH" dirty="0" smtClean="0">
                <a:solidFill>
                  <a:srgbClr val="FF0000"/>
                </a:solidFill>
              </a:rPr>
              <a:t> </a:t>
            </a:r>
            <a:r>
              <a:rPr lang="en-PH" sz="2800" dirty="0" smtClean="0">
                <a:solidFill>
                  <a:srgbClr val="FF0000"/>
                </a:solidFill>
                <a:latin typeface="Arial" pitchFamily="34" charset="0"/>
                <a:cs typeface="Arial" pitchFamily="34" charset="0"/>
              </a:rPr>
              <a:t>It its right to give him thanks and praise.</a:t>
            </a:r>
          </a:p>
          <a:p>
            <a:r>
              <a:rPr lang="en-PH" sz="2800" dirty="0">
                <a:solidFill>
                  <a:srgbClr val="FF0000"/>
                </a:solidFill>
                <a:latin typeface="Arial" pitchFamily="34" charset="0"/>
                <a:cs typeface="Arial" pitchFamily="34" charset="0"/>
              </a:rPr>
              <a:t> </a:t>
            </a:r>
            <a:r>
              <a:rPr lang="en-PH" sz="2800" dirty="0" smtClean="0">
                <a:solidFill>
                  <a:srgbClr val="FF0000"/>
                </a:solidFill>
                <a:latin typeface="Arial" pitchFamily="34" charset="0"/>
                <a:cs typeface="Arial" pitchFamily="34" charset="0"/>
              </a:rPr>
              <a:t>Marapat na siya’y pasalamatan. </a:t>
            </a:r>
            <a:endParaRPr lang="en-PH" sz="2800" dirty="0">
              <a:solidFill>
                <a:srgbClr val="FF0000"/>
              </a:solidFill>
              <a:latin typeface="Arial" pitchFamily="34" charset="0"/>
              <a:cs typeface="Arial" pitchFamily="34" charset="0"/>
            </a:endParaRPr>
          </a:p>
        </p:txBody>
      </p:sp>
      <p:sp>
        <p:nvSpPr>
          <p:cNvPr id="15" name="TextBox 14"/>
          <p:cNvSpPr txBox="1"/>
          <p:nvPr/>
        </p:nvSpPr>
        <p:spPr>
          <a:xfrm>
            <a:off x="756196" y="6048896"/>
            <a:ext cx="15193687" cy="984885"/>
          </a:xfrm>
          <a:prstGeom prst="rect">
            <a:avLst/>
          </a:prstGeom>
          <a:noFill/>
        </p:spPr>
        <p:txBody>
          <a:bodyPr wrap="square" rtlCol="0">
            <a:spAutoFit/>
          </a:bodyPr>
          <a:lstStyle/>
          <a:p>
            <a:r>
              <a:rPr lang="en-PH" dirty="0" smtClean="0">
                <a:latin typeface="Arial" pitchFamily="34" charset="0"/>
                <a:cs typeface="Arial" pitchFamily="34" charset="0"/>
              </a:rPr>
              <a:t>7. Consider differences in written expression from spoken expression. It requires formality of words in translation. </a:t>
            </a:r>
            <a:endParaRPr lang="en-PH" sz="2800" dirty="0">
              <a:latin typeface="Arial" pitchFamily="34" charset="0"/>
              <a:cs typeface="Arial" pitchFamily="34" charset="0"/>
            </a:endParaRPr>
          </a:p>
        </p:txBody>
      </p:sp>
      <p:sp>
        <p:nvSpPr>
          <p:cNvPr id="16" name="TextBox 15"/>
          <p:cNvSpPr txBox="1"/>
          <p:nvPr/>
        </p:nvSpPr>
        <p:spPr>
          <a:xfrm>
            <a:off x="1260252" y="7057008"/>
            <a:ext cx="1608133" cy="538609"/>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i="1" dirty="0" smtClean="0">
                <a:latin typeface="Times New Roman" pitchFamily="18" charset="0"/>
                <a:cs typeface="Times New Roman" pitchFamily="18" charset="0"/>
              </a:rPr>
              <a:t>Example:</a:t>
            </a:r>
            <a:endParaRPr lang="en-PH" i="1" dirty="0">
              <a:latin typeface="Times New Roman" pitchFamily="18" charset="0"/>
              <a:cs typeface="Times New Roman" pitchFamily="18" charset="0"/>
            </a:endParaRPr>
          </a:p>
        </p:txBody>
      </p:sp>
      <p:sp>
        <p:nvSpPr>
          <p:cNvPr id="17" name="TextBox 16"/>
          <p:cNvSpPr txBox="1"/>
          <p:nvPr/>
        </p:nvSpPr>
        <p:spPr>
          <a:xfrm>
            <a:off x="3060452" y="6985000"/>
            <a:ext cx="3179075" cy="984885"/>
          </a:xfrm>
          <a:prstGeom prst="rect">
            <a:avLst/>
          </a:prstGeom>
          <a:noFill/>
        </p:spPr>
        <p:txBody>
          <a:bodyPr wrap="none" rtlCol="0">
            <a:spAutoFit/>
          </a:bodyPr>
          <a:lstStyle/>
          <a:p>
            <a:r>
              <a:rPr lang="en-PH" dirty="0" smtClean="0">
                <a:solidFill>
                  <a:srgbClr val="FF0000"/>
                </a:solidFill>
              </a:rPr>
              <a:t> </a:t>
            </a:r>
            <a:r>
              <a:rPr lang="en-PH" sz="2800" dirty="0" smtClean="0">
                <a:solidFill>
                  <a:srgbClr val="FF0000"/>
                </a:solidFill>
                <a:latin typeface="Arial" pitchFamily="34" charset="0"/>
                <a:cs typeface="Arial" pitchFamily="34" charset="0"/>
              </a:rPr>
              <a:t>mayroon – </a:t>
            </a:r>
            <a:r>
              <a:rPr lang="en-PH" sz="2800" dirty="0" err="1" smtClean="0">
                <a:solidFill>
                  <a:srgbClr val="FF0000"/>
                </a:solidFill>
                <a:latin typeface="Arial" pitchFamily="34" charset="0"/>
                <a:cs typeface="Arial" pitchFamily="34" charset="0"/>
              </a:rPr>
              <a:t>meron</a:t>
            </a:r>
            <a:endParaRPr lang="en-PH" sz="2800" dirty="0" smtClean="0">
              <a:solidFill>
                <a:srgbClr val="FF0000"/>
              </a:solidFill>
              <a:latin typeface="Arial" pitchFamily="34" charset="0"/>
              <a:cs typeface="Arial" pitchFamily="34" charset="0"/>
            </a:endParaRPr>
          </a:p>
          <a:p>
            <a:r>
              <a:rPr lang="en-PH" sz="2800" dirty="0">
                <a:solidFill>
                  <a:srgbClr val="FF0000"/>
                </a:solidFill>
                <a:latin typeface="Arial" pitchFamily="34" charset="0"/>
                <a:cs typeface="Arial" pitchFamily="34" charset="0"/>
              </a:rPr>
              <a:t> </a:t>
            </a:r>
            <a:r>
              <a:rPr lang="en-PH" sz="2800" dirty="0" err="1" smtClean="0">
                <a:solidFill>
                  <a:srgbClr val="FF0000"/>
                </a:solidFill>
                <a:latin typeface="Arial" pitchFamily="34" charset="0"/>
                <a:cs typeface="Arial" pitchFamily="34" charset="0"/>
              </a:rPr>
              <a:t>huwag</a:t>
            </a:r>
            <a:r>
              <a:rPr lang="en-PH" sz="2800" dirty="0" smtClean="0">
                <a:solidFill>
                  <a:srgbClr val="FF0000"/>
                </a:solidFill>
                <a:latin typeface="Arial" pitchFamily="34" charset="0"/>
                <a:cs typeface="Arial" pitchFamily="34" charset="0"/>
              </a:rPr>
              <a:t> - wag</a:t>
            </a:r>
            <a:endParaRPr lang="en-PH" sz="2800"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4269751734"/>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TextBox 5"/>
          <p:cNvSpPr txBox="1"/>
          <p:nvPr/>
        </p:nvSpPr>
        <p:spPr>
          <a:xfrm>
            <a:off x="551715" y="1080344"/>
            <a:ext cx="15193687" cy="984885"/>
          </a:xfrm>
          <a:prstGeom prst="rect">
            <a:avLst/>
          </a:prstGeom>
          <a:noFill/>
        </p:spPr>
        <p:txBody>
          <a:bodyPr wrap="square" rtlCol="0">
            <a:spAutoFit/>
          </a:bodyPr>
          <a:lstStyle/>
          <a:p>
            <a:r>
              <a:rPr lang="en-PH" dirty="0" smtClean="0">
                <a:latin typeface="Arial" pitchFamily="34" charset="0"/>
                <a:cs typeface="Arial" pitchFamily="34" charset="0"/>
              </a:rPr>
              <a:t>8.  The property or characteristics of a certain language should not be transferred to the receptor language. </a:t>
            </a:r>
            <a:endParaRPr lang="en-PH" sz="2800" dirty="0">
              <a:latin typeface="Arial" pitchFamily="34" charset="0"/>
              <a:cs typeface="Arial" pitchFamily="34" charset="0"/>
            </a:endParaRPr>
          </a:p>
        </p:txBody>
      </p:sp>
      <p:sp>
        <p:nvSpPr>
          <p:cNvPr id="7" name="TextBox 6"/>
          <p:cNvSpPr txBox="1"/>
          <p:nvPr/>
        </p:nvSpPr>
        <p:spPr>
          <a:xfrm>
            <a:off x="1116236" y="2160464"/>
            <a:ext cx="1608133" cy="538609"/>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i="1" dirty="0" smtClean="0">
                <a:latin typeface="Times New Roman" pitchFamily="18" charset="0"/>
                <a:cs typeface="Times New Roman" pitchFamily="18" charset="0"/>
              </a:rPr>
              <a:t>Example:</a:t>
            </a:r>
            <a:endParaRPr lang="en-PH" i="1" dirty="0">
              <a:latin typeface="Times New Roman" pitchFamily="18" charset="0"/>
              <a:cs typeface="Times New Roman" pitchFamily="18" charset="0"/>
            </a:endParaRPr>
          </a:p>
        </p:txBody>
      </p:sp>
      <p:sp>
        <p:nvSpPr>
          <p:cNvPr id="8" name="TextBox 7"/>
          <p:cNvSpPr txBox="1"/>
          <p:nvPr/>
        </p:nvSpPr>
        <p:spPr>
          <a:xfrm>
            <a:off x="2967136" y="2169463"/>
            <a:ext cx="6673622" cy="969496"/>
          </a:xfrm>
          <a:prstGeom prst="rect">
            <a:avLst/>
          </a:prstGeom>
          <a:noFill/>
        </p:spPr>
        <p:txBody>
          <a:bodyPr wrap="none" rtlCol="0">
            <a:spAutoFit/>
          </a:bodyPr>
          <a:lstStyle/>
          <a:p>
            <a:r>
              <a:rPr lang="en-PH" dirty="0" smtClean="0">
                <a:solidFill>
                  <a:srgbClr val="FF0000"/>
                </a:solidFill>
              </a:rPr>
              <a:t> </a:t>
            </a:r>
            <a:r>
              <a:rPr lang="en-PH" sz="2800" dirty="0" smtClean="0">
                <a:solidFill>
                  <a:srgbClr val="FF0000"/>
                </a:solidFill>
                <a:latin typeface="Arial" pitchFamily="34" charset="0"/>
                <a:cs typeface="Arial" pitchFamily="34" charset="0"/>
              </a:rPr>
              <a:t>magandang babae / babaeng maganda </a:t>
            </a:r>
          </a:p>
          <a:p>
            <a:r>
              <a:rPr lang="en-PH" sz="2800" dirty="0">
                <a:solidFill>
                  <a:srgbClr val="FF0000"/>
                </a:solidFill>
                <a:latin typeface="Arial" pitchFamily="34" charset="0"/>
                <a:cs typeface="Arial" pitchFamily="34" charset="0"/>
              </a:rPr>
              <a:t> </a:t>
            </a:r>
            <a:r>
              <a:rPr lang="en-PH" sz="2800" dirty="0" smtClean="0">
                <a:solidFill>
                  <a:srgbClr val="FF0000"/>
                </a:solidFill>
                <a:latin typeface="Arial" pitchFamily="34" charset="0"/>
                <a:cs typeface="Arial" pitchFamily="34" charset="0"/>
              </a:rPr>
              <a:t>beautiful girl</a:t>
            </a:r>
            <a:endParaRPr lang="en-PH" sz="2800" dirty="0">
              <a:solidFill>
                <a:srgbClr val="FF0000"/>
              </a:solidFill>
              <a:latin typeface="Arial" pitchFamily="34" charset="0"/>
              <a:cs typeface="Arial" pitchFamily="34" charset="0"/>
            </a:endParaRPr>
          </a:p>
        </p:txBody>
      </p:sp>
      <p:sp>
        <p:nvSpPr>
          <p:cNvPr id="9" name="TextBox 8"/>
          <p:cNvSpPr txBox="1"/>
          <p:nvPr/>
        </p:nvSpPr>
        <p:spPr>
          <a:xfrm>
            <a:off x="540172" y="3874428"/>
            <a:ext cx="15193687" cy="1431161"/>
          </a:xfrm>
          <a:prstGeom prst="rect">
            <a:avLst/>
          </a:prstGeom>
          <a:noFill/>
        </p:spPr>
        <p:txBody>
          <a:bodyPr wrap="square" rtlCol="0">
            <a:spAutoFit/>
          </a:bodyPr>
          <a:lstStyle/>
          <a:p>
            <a:r>
              <a:rPr lang="en-PH" dirty="0">
                <a:latin typeface="Arial" pitchFamily="34" charset="0"/>
                <a:cs typeface="Arial" pitchFamily="34" charset="0"/>
              </a:rPr>
              <a:t>9</a:t>
            </a:r>
            <a:r>
              <a:rPr lang="en-PH" dirty="0" smtClean="0">
                <a:latin typeface="Arial" pitchFamily="34" charset="0"/>
                <a:cs typeface="Arial" pitchFamily="34" charset="0"/>
              </a:rPr>
              <a:t>.  Dictionary is an auxiliary tool in translation. A translator should not be totally dependent to dictionaries. Not all words cold be defined by the dictionary, especially when the word is used in a different context. </a:t>
            </a:r>
            <a:endParaRPr lang="en-PH" sz="2800" dirty="0">
              <a:latin typeface="Arial" pitchFamily="34" charset="0"/>
              <a:cs typeface="Arial" pitchFamily="34" charset="0"/>
            </a:endParaRPr>
          </a:p>
        </p:txBody>
      </p:sp>
      <p:sp>
        <p:nvSpPr>
          <p:cNvPr id="10" name="TextBox 9"/>
          <p:cNvSpPr txBox="1"/>
          <p:nvPr/>
        </p:nvSpPr>
        <p:spPr>
          <a:xfrm>
            <a:off x="1104693" y="5386596"/>
            <a:ext cx="1608133" cy="538609"/>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i="1" dirty="0" smtClean="0">
                <a:latin typeface="Times New Roman" pitchFamily="18" charset="0"/>
                <a:cs typeface="Times New Roman" pitchFamily="18" charset="0"/>
              </a:rPr>
              <a:t>Example:</a:t>
            </a:r>
            <a:endParaRPr lang="en-PH" i="1" dirty="0">
              <a:latin typeface="Times New Roman" pitchFamily="18" charset="0"/>
              <a:cs typeface="Times New Roman" pitchFamily="18" charset="0"/>
            </a:endParaRPr>
          </a:p>
        </p:txBody>
      </p:sp>
      <p:sp>
        <p:nvSpPr>
          <p:cNvPr id="11" name="TextBox 10"/>
          <p:cNvSpPr txBox="1"/>
          <p:nvPr/>
        </p:nvSpPr>
        <p:spPr>
          <a:xfrm>
            <a:off x="2955593" y="5395595"/>
            <a:ext cx="8343951" cy="1815882"/>
          </a:xfrm>
          <a:prstGeom prst="rect">
            <a:avLst/>
          </a:prstGeom>
          <a:noFill/>
        </p:spPr>
        <p:txBody>
          <a:bodyPr wrap="none" rtlCol="0">
            <a:spAutoFit/>
          </a:bodyPr>
          <a:lstStyle/>
          <a:p>
            <a:r>
              <a:rPr lang="en-PH" sz="2800" dirty="0" smtClean="0">
                <a:solidFill>
                  <a:srgbClr val="FF0000"/>
                </a:solidFill>
                <a:latin typeface="Arial" pitchFamily="34" charset="0"/>
                <a:cs typeface="Arial" pitchFamily="34" charset="0"/>
              </a:rPr>
              <a:t> comedia – moro-moro</a:t>
            </a:r>
          </a:p>
          <a:p>
            <a:r>
              <a:rPr lang="en-PH" sz="2800" dirty="0" smtClean="0">
                <a:solidFill>
                  <a:srgbClr val="FF0000"/>
                </a:solidFill>
                <a:latin typeface="Arial" pitchFamily="34" charset="0"/>
                <a:cs typeface="Arial" pitchFamily="34" charset="0"/>
              </a:rPr>
              <a:t> comedy – a type of drama </a:t>
            </a:r>
          </a:p>
          <a:p>
            <a:r>
              <a:rPr lang="en-PH" sz="2800" dirty="0">
                <a:solidFill>
                  <a:srgbClr val="FF0000"/>
                </a:solidFill>
                <a:latin typeface="Arial" pitchFamily="34" charset="0"/>
                <a:cs typeface="Arial" pitchFamily="34" charset="0"/>
              </a:rPr>
              <a:t> </a:t>
            </a:r>
            <a:r>
              <a:rPr lang="en-PH" sz="2800" dirty="0" smtClean="0">
                <a:solidFill>
                  <a:srgbClr val="FF0000"/>
                </a:solidFill>
                <a:latin typeface="Arial" pitchFamily="34" charset="0"/>
                <a:cs typeface="Arial" pitchFamily="34" charset="0"/>
              </a:rPr>
              <a:t>upload – mag-input ng data sa web / computer </a:t>
            </a:r>
          </a:p>
          <a:p>
            <a:r>
              <a:rPr lang="en-PH" sz="2800" dirty="0">
                <a:solidFill>
                  <a:srgbClr val="FF0000"/>
                </a:solidFill>
                <a:latin typeface="Arial" pitchFamily="34" charset="0"/>
                <a:cs typeface="Arial" pitchFamily="34" charset="0"/>
              </a:rPr>
              <a:t> </a:t>
            </a:r>
            <a:r>
              <a:rPr lang="en-PH" sz="2800" dirty="0" smtClean="0">
                <a:solidFill>
                  <a:srgbClr val="FF0000"/>
                </a:solidFill>
                <a:latin typeface="Arial" pitchFamily="34" charset="0"/>
                <a:cs typeface="Arial" pitchFamily="34" charset="0"/>
              </a:rPr>
              <a:t>download – </a:t>
            </a:r>
            <a:r>
              <a:rPr lang="en-PH" sz="2800" dirty="0" err="1" smtClean="0">
                <a:solidFill>
                  <a:srgbClr val="FF0000"/>
                </a:solidFill>
                <a:latin typeface="Arial" pitchFamily="34" charset="0"/>
                <a:cs typeface="Arial" pitchFamily="34" charset="0"/>
              </a:rPr>
              <a:t>manguha</a:t>
            </a:r>
            <a:r>
              <a:rPr lang="en-PH" sz="2800" dirty="0" smtClean="0">
                <a:solidFill>
                  <a:srgbClr val="FF0000"/>
                </a:solidFill>
                <a:latin typeface="Arial" pitchFamily="34" charset="0"/>
                <a:cs typeface="Arial" pitchFamily="34" charset="0"/>
              </a:rPr>
              <a:t> ng </a:t>
            </a:r>
            <a:r>
              <a:rPr lang="en-PH" sz="2800" dirty="0" err="1" smtClean="0">
                <a:solidFill>
                  <a:srgbClr val="FF0000"/>
                </a:solidFill>
                <a:latin typeface="Arial" pitchFamily="34" charset="0"/>
                <a:cs typeface="Arial" pitchFamily="34" charset="0"/>
              </a:rPr>
              <a:t>datos</a:t>
            </a:r>
            <a:r>
              <a:rPr lang="en-PH" sz="2800" dirty="0" smtClean="0">
                <a:solidFill>
                  <a:srgbClr val="FF0000"/>
                </a:solidFill>
                <a:latin typeface="Arial" pitchFamily="34" charset="0"/>
                <a:cs typeface="Arial" pitchFamily="34" charset="0"/>
              </a:rPr>
              <a:t> sa web / computer </a:t>
            </a:r>
            <a:endParaRPr lang="en-PH" sz="2800"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1867846261"/>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6388" y="5112792"/>
            <a:ext cx="4161487" cy="40324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252140" y="504280"/>
            <a:ext cx="10392781" cy="646331"/>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PH" sz="3600" b="1" dirty="0" smtClean="0">
                <a:latin typeface="Arial" pitchFamily="34" charset="0"/>
                <a:cs typeface="Arial" pitchFamily="34" charset="0"/>
              </a:rPr>
              <a:t>Qualifications / Characteristics of a Translator </a:t>
            </a:r>
            <a:endParaRPr lang="en-PH" sz="3600" b="1" dirty="0">
              <a:latin typeface="Arial" pitchFamily="34" charset="0"/>
              <a:cs typeface="Arial" pitchFamily="34" charset="0"/>
            </a:endParaRPr>
          </a:p>
        </p:txBody>
      </p:sp>
      <p:sp>
        <p:nvSpPr>
          <p:cNvPr id="3" name="TextBox 2"/>
          <p:cNvSpPr txBox="1"/>
          <p:nvPr/>
        </p:nvSpPr>
        <p:spPr>
          <a:xfrm>
            <a:off x="828204" y="1477839"/>
            <a:ext cx="11416587" cy="538609"/>
          </a:xfrm>
          <a:prstGeom prst="rect">
            <a:avLst/>
          </a:prstGeom>
          <a:noFill/>
        </p:spPr>
        <p:txBody>
          <a:bodyPr wrap="none" rtlCol="0">
            <a:spAutoFit/>
          </a:bodyPr>
          <a:lstStyle/>
          <a:p>
            <a:r>
              <a:rPr lang="en-PH" dirty="0" smtClean="0">
                <a:latin typeface="Arial" pitchFamily="34" charset="0"/>
                <a:cs typeface="Arial" pitchFamily="34" charset="0"/>
              </a:rPr>
              <a:t>1. Sufficient knowledge of the two languages involved in translation. </a:t>
            </a:r>
            <a:endParaRPr lang="en-PH" dirty="0">
              <a:latin typeface="Arial" pitchFamily="34" charset="0"/>
              <a:cs typeface="Arial" pitchFamily="34" charset="0"/>
            </a:endParaRPr>
          </a:p>
        </p:txBody>
      </p:sp>
      <p:sp>
        <p:nvSpPr>
          <p:cNvPr id="6" name="TextBox 5"/>
          <p:cNvSpPr txBox="1"/>
          <p:nvPr/>
        </p:nvSpPr>
        <p:spPr>
          <a:xfrm>
            <a:off x="828204" y="1981895"/>
            <a:ext cx="7696018" cy="538609"/>
          </a:xfrm>
          <a:prstGeom prst="rect">
            <a:avLst/>
          </a:prstGeom>
          <a:noFill/>
        </p:spPr>
        <p:txBody>
          <a:bodyPr wrap="none" rtlCol="0">
            <a:spAutoFit/>
          </a:bodyPr>
          <a:lstStyle/>
          <a:p>
            <a:r>
              <a:rPr lang="en-PH" dirty="0" smtClean="0">
                <a:latin typeface="Arial" pitchFamily="34" charset="0"/>
                <a:cs typeface="Arial" pitchFamily="34" charset="0"/>
              </a:rPr>
              <a:t>2. Sufficient knowledge of the topic involved. </a:t>
            </a:r>
            <a:endParaRPr lang="en-PH" dirty="0">
              <a:latin typeface="Arial" pitchFamily="34" charset="0"/>
              <a:cs typeface="Arial" pitchFamily="34" charset="0"/>
            </a:endParaRPr>
          </a:p>
        </p:txBody>
      </p:sp>
      <p:sp>
        <p:nvSpPr>
          <p:cNvPr id="7" name="TextBox 6"/>
          <p:cNvSpPr txBox="1"/>
          <p:nvPr/>
        </p:nvSpPr>
        <p:spPr>
          <a:xfrm>
            <a:off x="828204" y="2485951"/>
            <a:ext cx="13462019" cy="538609"/>
          </a:xfrm>
          <a:prstGeom prst="rect">
            <a:avLst/>
          </a:prstGeom>
          <a:noFill/>
        </p:spPr>
        <p:txBody>
          <a:bodyPr wrap="none" rtlCol="0">
            <a:spAutoFit/>
          </a:bodyPr>
          <a:lstStyle/>
          <a:p>
            <a:r>
              <a:rPr lang="en-PH" dirty="0" smtClean="0">
                <a:latin typeface="Arial" pitchFamily="34" charset="0"/>
                <a:cs typeface="Arial" pitchFamily="34" charset="0"/>
              </a:rPr>
              <a:t>3. Sufficient knowledge about the culture of two languages involved in translation.</a:t>
            </a:r>
            <a:endParaRPr lang="en-PH" dirty="0">
              <a:latin typeface="Arial" pitchFamily="34" charset="0"/>
              <a:cs typeface="Arial" pitchFamily="34" charset="0"/>
            </a:endParaRPr>
          </a:p>
        </p:txBody>
      </p:sp>
      <p:sp>
        <p:nvSpPr>
          <p:cNvPr id="8" name="TextBox 7"/>
          <p:cNvSpPr txBox="1"/>
          <p:nvPr/>
        </p:nvSpPr>
        <p:spPr>
          <a:xfrm>
            <a:off x="301707" y="3559394"/>
            <a:ext cx="5716245" cy="646331"/>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PH" sz="3600" b="1" dirty="0" smtClean="0">
                <a:latin typeface="Arial" pitchFamily="34" charset="0"/>
                <a:cs typeface="Arial" pitchFamily="34" charset="0"/>
              </a:rPr>
              <a:t>Technique in Translation </a:t>
            </a:r>
            <a:endParaRPr lang="en-PH" sz="3600" b="1" dirty="0">
              <a:latin typeface="Arial" pitchFamily="34" charset="0"/>
              <a:cs typeface="Arial" pitchFamily="34" charset="0"/>
            </a:endParaRPr>
          </a:p>
        </p:txBody>
      </p:sp>
      <p:sp>
        <p:nvSpPr>
          <p:cNvPr id="9" name="TextBox 8"/>
          <p:cNvSpPr txBox="1"/>
          <p:nvPr/>
        </p:nvSpPr>
        <p:spPr>
          <a:xfrm>
            <a:off x="757384" y="4351482"/>
            <a:ext cx="11622092" cy="538609"/>
          </a:xfrm>
          <a:prstGeom prst="rect">
            <a:avLst/>
          </a:prstGeom>
          <a:noFill/>
        </p:spPr>
        <p:txBody>
          <a:bodyPr wrap="none" rtlCol="0">
            <a:spAutoFit/>
          </a:bodyPr>
          <a:lstStyle/>
          <a:p>
            <a:r>
              <a:rPr lang="en-PH" dirty="0" smtClean="0">
                <a:latin typeface="Arial" pitchFamily="34" charset="0"/>
                <a:cs typeface="Arial" pitchFamily="34" charset="0"/>
              </a:rPr>
              <a:t>1. </a:t>
            </a:r>
            <a:r>
              <a:rPr lang="en-PH" b="1" dirty="0" smtClean="0">
                <a:latin typeface="Arial" pitchFamily="34" charset="0"/>
                <a:cs typeface="Arial" pitchFamily="34" charset="0"/>
              </a:rPr>
              <a:t>Transposition Source Language  (SL) to Target Language (TL)</a:t>
            </a:r>
            <a:r>
              <a:rPr lang="en-PH" dirty="0" smtClean="0">
                <a:latin typeface="Arial" pitchFamily="34" charset="0"/>
                <a:cs typeface="Arial" pitchFamily="34" charset="0"/>
              </a:rPr>
              <a:t> </a:t>
            </a:r>
            <a:endParaRPr lang="en-PH" dirty="0">
              <a:latin typeface="Arial" pitchFamily="34" charset="0"/>
              <a:cs typeface="Arial" pitchFamily="34" charset="0"/>
            </a:endParaRPr>
          </a:p>
        </p:txBody>
      </p:sp>
      <p:sp>
        <p:nvSpPr>
          <p:cNvPr id="10" name="TextBox 9"/>
          <p:cNvSpPr txBox="1"/>
          <p:nvPr/>
        </p:nvSpPr>
        <p:spPr>
          <a:xfrm>
            <a:off x="1395947" y="4890091"/>
            <a:ext cx="5105628" cy="538609"/>
          </a:xfrm>
          <a:prstGeom prst="rect">
            <a:avLst/>
          </a:prstGeom>
          <a:noFill/>
        </p:spPr>
        <p:txBody>
          <a:bodyPr wrap="none" rtlCol="0">
            <a:spAutoFit/>
          </a:bodyPr>
          <a:lstStyle/>
          <a:p>
            <a:r>
              <a:rPr lang="en-PH" sz="2800" dirty="0" smtClean="0"/>
              <a:t>a. Shift in sentence construction </a:t>
            </a:r>
            <a:endParaRPr lang="en-PH" sz="2800" dirty="0"/>
          </a:p>
        </p:txBody>
      </p:sp>
      <p:sp>
        <p:nvSpPr>
          <p:cNvPr id="11" name="TextBox 10"/>
          <p:cNvSpPr txBox="1"/>
          <p:nvPr/>
        </p:nvSpPr>
        <p:spPr>
          <a:xfrm>
            <a:off x="1813547" y="5431602"/>
            <a:ext cx="1699504" cy="52322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2800" i="1" dirty="0" smtClean="0">
                <a:latin typeface="Times New Roman" pitchFamily="18" charset="0"/>
                <a:cs typeface="Times New Roman" pitchFamily="18" charset="0"/>
              </a:rPr>
              <a:t>Examples:</a:t>
            </a:r>
            <a:endParaRPr lang="en-PH" sz="2800" i="1" dirty="0">
              <a:latin typeface="Times New Roman" pitchFamily="18" charset="0"/>
              <a:cs typeface="Times New Roman" pitchFamily="18" charset="0"/>
            </a:endParaRPr>
          </a:p>
        </p:txBody>
      </p:sp>
      <p:sp>
        <p:nvSpPr>
          <p:cNvPr id="12" name="TextBox 11"/>
          <p:cNvSpPr txBox="1"/>
          <p:nvPr/>
        </p:nvSpPr>
        <p:spPr>
          <a:xfrm>
            <a:off x="3493688" y="5359594"/>
            <a:ext cx="5678286" cy="984885"/>
          </a:xfrm>
          <a:prstGeom prst="rect">
            <a:avLst/>
          </a:prstGeom>
          <a:noFill/>
        </p:spPr>
        <p:txBody>
          <a:bodyPr wrap="none" rtlCol="0">
            <a:spAutoFit/>
          </a:bodyPr>
          <a:lstStyle/>
          <a:p>
            <a:pPr marL="457200" indent="-457200">
              <a:buFontTx/>
              <a:buChar char="-"/>
            </a:pPr>
            <a:r>
              <a:rPr lang="en-PH" sz="2800" dirty="0" smtClean="0"/>
              <a:t>I will visit my friend.</a:t>
            </a:r>
          </a:p>
          <a:p>
            <a:pPr marL="457200" indent="-457200">
              <a:buFontTx/>
              <a:buChar char="-"/>
            </a:pPr>
            <a:r>
              <a:rPr lang="en-PH" sz="2800" dirty="0" err="1" smtClean="0"/>
              <a:t>Bibisitahin</a:t>
            </a:r>
            <a:r>
              <a:rPr lang="en-PH" sz="2800" dirty="0" smtClean="0"/>
              <a:t> </a:t>
            </a:r>
            <a:r>
              <a:rPr lang="en-PH" sz="2800" dirty="0" err="1" smtClean="0"/>
              <a:t>ko</a:t>
            </a:r>
            <a:r>
              <a:rPr lang="en-PH" sz="2800" dirty="0" smtClean="0"/>
              <a:t> ang </a:t>
            </a:r>
            <a:r>
              <a:rPr lang="en-PH" sz="2800" dirty="0" err="1" smtClean="0"/>
              <a:t>aking</a:t>
            </a:r>
            <a:r>
              <a:rPr lang="en-PH" sz="2800" dirty="0" smtClean="0"/>
              <a:t> </a:t>
            </a:r>
            <a:r>
              <a:rPr lang="en-PH" sz="2800" dirty="0" err="1" smtClean="0"/>
              <a:t>kaibigan</a:t>
            </a:r>
            <a:r>
              <a:rPr lang="en-PH" sz="2800" dirty="0" smtClean="0"/>
              <a:t>. </a:t>
            </a:r>
            <a:endParaRPr lang="en-PH" sz="2800" dirty="0"/>
          </a:p>
        </p:txBody>
      </p:sp>
      <p:sp>
        <p:nvSpPr>
          <p:cNvPr id="13" name="TextBox 12"/>
          <p:cNvSpPr txBox="1"/>
          <p:nvPr/>
        </p:nvSpPr>
        <p:spPr>
          <a:xfrm>
            <a:off x="1412396" y="6405161"/>
            <a:ext cx="3965766" cy="523220"/>
          </a:xfrm>
          <a:prstGeom prst="rect">
            <a:avLst/>
          </a:prstGeom>
          <a:noFill/>
        </p:spPr>
        <p:txBody>
          <a:bodyPr wrap="none" rtlCol="0">
            <a:spAutoFit/>
          </a:bodyPr>
          <a:lstStyle/>
          <a:p>
            <a:r>
              <a:rPr lang="en-PH" sz="2800" dirty="0" smtClean="0"/>
              <a:t>b. Shift in order of words </a:t>
            </a:r>
            <a:endParaRPr lang="en-PH" sz="2800" dirty="0"/>
          </a:p>
        </p:txBody>
      </p:sp>
      <p:sp>
        <p:nvSpPr>
          <p:cNvPr id="14" name="TextBox 13"/>
          <p:cNvSpPr txBox="1"/>
          <p:nvPr/>
        </p:nvSpPr>
        <p:spPr>
          <a:xfrm>
            <a:off x="1823893" y="6966997"/>
            <a:ext cx="1699504" cy="52322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2800" i="1" dirty="0" smtClean="0">
                <a:latin typeface="Times New Roman" pitchFamily="18" charset="0"/>
                <a:cs typeface="Times New Roman" pitchFamily="18" charset="0"/>
              </a:rPr>
              <a:t>Examples:</a:t>
            </a:r>
            <a:endParaRPr lang="en-PH" sz="2800" i="1" dirty="0">
              <a:latin typeface="Times New Roman" pitchFamily="18" charset="0"/>
              <a:cs typeface="Times New Roman" pitchFamily="18" charset="0"/>
            </a:endParaRPr>
          </a:p>
        </p:txBody>
      </p:sp>
      <p:sp>
        <p:nvSpPr>
          <p:cNvPr id="15" name="TextBox 14"/>
          <p:cNvSpPr txBox="1"/>
          <p:nvPr/>
        </p:nvSpPr>
        <p:spPr>
          <a:xfrm>
            <a:off x="3504034" y="6894989"/>
            <a:ext cx="12013802" cy="954107"/>
          </a:xfrm>
          <a:prstGeom prst="rect">
            <a:avLst/>
          </a:prstGeom>
          <a:noFill/>
        </p:spPr>
        <p:txBody>
          <a:bodyPr wrap="none" rtlCol="0">
            <a:spAutoFit/>
          </a:bodyPr>
          <a:lstStyle/>
          <a:p>
            <a:pPr marL="457200" indent="-457200">
              <a:buFontTx/>
              <a:buChar char="-"/>
            </a:pPr>
            <a:r>
              <a:rPr lang="en-PH" sz="2800" dirty="0" smtClean="0"/>
              <a:t>The President decreed that Quezon’s  birthday would be a holiday.</a:t>
            </a:r>
          </a:p>
          <a:p>
            <a:pPr marL="457200" indent="-457200">
              <a:buFontTx/>
              <a:buChar char="-"/>
            </a:pPr>
            <a:r>
              <a:rPr lang="en-PH" sz="2800" dirty="0"/>
              <a:t> </a:t>
            </a:r>
            <a:r>
              <a:rPr lang="en-PH" sz="2800" dirty="0" smtClean="0"/>
              <a:t>Ipinag-utos ng </a:t>
            </a:r>
            <a:r>
              <a:rPr lang="en-PH" sz="2800" dirty="0" err="1" smtClean="0"/>
              <a:t>Pangulo</a:t>
            </a:r>
            <a:r>
              <a:rPr lang="en-PH" sz="2800" dirty="0" smtClean="0"/>
              <a:t> na </a:t>
            </a:r>
            <a:r>
              <a:rPr lang="en-PH" sz="2800" dirty="0" err="1" smtClean="0"/>
              <a:t>maging</a:t>
            </a:r>
            <a:r>
              <a:rPr lang="en-PH" sz="2800" dirty="0" smtClean="0"/>
              <a:t> </a:t>
            </a:r>
            <a:r>
              <a:rPr lang="en-PH" sz="2800" dirty="0" err="1" smtClean="0"/>
              <a:t>pista</a:t>
            </a:r>
            <a:r>
              <a:rPr lang="en-PH" sz="2800" dirty="0" smtClean="0"/>
              <a:t> opisyal ang </a:t>
            </a:r>
            <a:r>
              <a:rPr lang="en-PH" sz="2800" dirty="0" err="1" smtClean="0"/>
              <a:t>kapanganakan</a:t>
            </a:r>
            <a:r>
              <a:rPr lang="en-PH" sz="2800" dirty="0" smtClean="0"/>
              <a:t> </a:t>
            </a:r>
            <a:r>
              <a:rPr lang="en-PH" sz="2800" dirty="0" err="1" smtClean="0"/>
              <a:t>ni</a:t>
            </a:r>
            <a:r>
              <a:rPr lang="en-PH" sz="2800" dirty="0" smtClean="0"/>
              <a:t> Quezon. </a:t>
            </a:r>
            <a:endParaRPr lang="en-PH" sz="2800" dirty="0"/>
          </a:p>
        </p:txBody>
      </p:sp>
    </p:spTree>
    <p:extLst>
      <p:ext uri="{BB962C8B-B14F-4D97-AF65-F5344CB8AC3E}">
        <p14:creationId xmlns:p14="http://schemas.microsoft.com/office/powerpoint/2010/main" val="4069305975"/>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6388" y="5112792"/>
            <a:ext cx="4161487" cy="40324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TextBox 4"/>
          <p:cNvSpPr txBox="1"/>
          <p:nvPr/>
        </p:nvSpPr>
        <p:spPr>
          <a:xfrm>
            <a:off x="829392" y="253703"/>
            <a:ext cx="14904468" cy="984885"/>
          </a:xfrm>
          <a:prstGeom prst="rect">
            <a:avLst/>
          </a:prstGeom>
          <a:noFill/>
        </p:spPr>
        <p:txBody>
          <a:bodyPr wrap="square" rtlCol="0">
            <a:spAutoFit/>
          </a:bodyPr>
          <a:lstStyle/>
          <a:p>
            <a:r>
              <a:rPr lang="en-PH" dirty="0" smtClean="0">
                <a:latin typeface="Arial" pitchFamily="34" charset="0"/>
                <a:cs typeface="Arial" pitchFamily="34" charset="0"/>
              </a:rPr>
              <a:t>2. </a:t>
            </a:r>
            <a:r>
              <a:rPr lang="en-PH" b="1" dirty="0" smtClean="0">
                <a:latin typeface="Arial" pitchFamily="34" charset="0"/>
                <a:cs typeface="Arial" pitchFamily="34" charset="0"/>
              </a:rPr>
              <a:t>Cultural Equivalence </a:t>
            </a:r>
            <a:r>
              <a:rPr lang="en-PH" dirty="0" smtClean="0">
                <a:latin typeface="Arial" pitchFamily="34" charset="0"/>
                <a:cs typeface="Arial" pitchFamily="34" charset="0"/>
              </a:rPr>
              <a:t>– It is the use of vocabulary words, expressions that had specific</a:t>
            </a:r>
          </a:p>
          <a:p>
            <a:r>
              <a:rPr lang="en-PH" dirty="0">
                <a:latin typeface="Arial" pitchFamily="34" charset="0"/>
                <a:cs typeface="Arial" pitchFamily="34" charset="0"/>
              </a:rPr>
              <a:t>	</a:t>
            </a:r>
            <a:r>
              <a:rPr lang="en-PH" dirty="0" smtClean="0">
                <a:latin typeface="Arial" pitchFamily="34" charset="0"/>
                <a:cs typeface="Arial" pitchFamily="34" charset="0"/>
              </a:rPr>
              <a:t>		cultural meaning. </a:t>
            </a:r>
            <a:endParaRPr lang="en-PH" dirty="0">
              <a:latin typeface="Arial" pitchFamily="34" charset="0"/>
              <a:cs typeface="Arial" pitchFamily="34" charset="0"/>
            </a:endParaRPr>
          </a:p>
        </p:txBody>
      </p:sp>
      <p:sp>
        <p:nvSpPr>
          <p:cNvPr id="6" name="TextBox 5"/>
          <p:cNvSpPr txBox="1"/>
          <p:nvPr/>
        </p:nvSpPr>
        <p:spPr>
          <a:xfrm>
            <a:off x="1504964" y="1080344"/>
            <a:ext cx="1699504" cy="52322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2800" i="1" dirty="0" smtClean="0">
                <a:latin typeface="Times New Roman" pitchFamily="18" charset="0"/>
                <a:cs typeface="Times New Roman" pitchFamily="18" charset="0"/>
              </a:rPr>
              <a:t>Examples:</a:t>
            </a:r>
            <a:endParaRPr lang="en-PH" sz="2800" i="1" dirty="0">
              <a:latin typeface="Times New Roman" pitchFamily="18" charset="0"/>
              <a:cs typeface="Times New Roman" pitchFamily="18" charset="0"/>
            </a:endParaRPr>
          </a:p>
        </p:txBody>
      </p:sp>
      <p:sp>
        <p:nvSpPr>
          <p:cNvPr id="2" name="TextBox 1"/>
          <p:cNvSpPr txBox="1"/>
          <p:nvPr/>
        </p:nvSpPr>
        <p:spPr>
          <a:xfrm>
            <a:off x="1930753" y="1627366"/>
            <a:ext cx="8964313" cy="4493538"/>
          </a:xfrm>
          <a:prstGeom prst="rect">
            <a:avLst/>
          </a:prstGeom>
          <a:noFill/>
        </p:spPr>
        <p:txBody>
          <a:bodyPr wrap="none" rtlCol="0">
            <a:spAutoFit/>
          </a:bodyPr>
          <a:lstStyle/>
          <a:p>
            <a:pPr marL="514350" indent="-514350">
              <a:buAutoNum type="alphaLcPeriod"/>
            </a:pPr>
            <a:r>
              <a:rPr lang="en-PH" b="1" dirty="0" smtClean="0"/>
              <a:t>vocabulary</a:t>
            </a:r>
          </a:p>
          <a:p>
            <a:r>
              <a:rPr lang="en-PH" dirty="0" smtClean="0"/>
              <a:t>	</a:t>
            </a:r>
            <a:r>
              <a:rPr lang="en-PH" sz="2600" dirty="0" err="1" smtClean="0"/>
              <a:t>Inday</a:t>
            </a:r>
            <a:r>
              <a:rPr lang="en-PH" sz="2600" dirty="0" smtClean="0"/>
              <a:t> 		Nene 		(Cebuano)</a:t>
            </a:r>
          </a:p>
          <a:p>
            <a:r>
              <a:rPr lang="en-PH" sz="2600" dirty="0"/>
              <a:t>	</a:t>
            </a:r>
            <a:r>
              <a:rPr lang="en-PH" sz="2600" dirty="0" smtClean="0"/>
              <a:t>Dodong		</a:t>
            </a:r>
            <a:r>
              <a:rPr lang="en-PH" sz="2600" dirty="0" err="1" smtClean="0"/>
              <a:t>Totoy</a:t>
            </a:r>
            <a:r>
              <a:rPr lang="en-PH" sz="2600" dirty="0" smtClean="0"/>
              <a:t>		(Cebuano)</a:t>
            </a:r>
          </a:p>
          <a:p>
            <a:r>
              <a:rPr lang="en-PH" sz="2600" dirty="0"/>
              <a:t>	</a:t>
            </a:r>
            <a:r>
              <a:rPr lang="en-PH" sz="2600" dirty="0" err="1" smtClean="0"/>
              <a:t>babakhang</a:t>
            </a:r>
            <a:r>
              <a:rPr lang="en-PH" sz="2600" dirty="0" smtClean="0"/>
              <a:t> 	mayayaman</a:t>
            </a:r>
            <a:r>
              <a:rPr lang="en-PH" sz="2600" dirty="0"/>
              <a:t>	</a:t>
            </a:r>
            <a:r>
              <a:rPr lang="en-PH" sz="2600" dirty="0" smtClean="0"/>
              <a:t>(</a:t>
            </a:r>
            <a:r>
              <a:rPr lang="en-PH" sz="2600" dirty="0" err="1" smtClean="0"/>
              <a:t>Ilokano</a:t>
            </a:r>
            <a:r>
              <a:rPr lang="en-PH" sz="2600" dirty="0" smtClean="0"/>
              <a:t>)</a:t>
            </a:r>
          </a:p>
          <a:p>
            <a:endParaRPr lang="en-PH" sz="900" dirty="0"/>
          </a:p>
          <a:p>
            <a:r>
              <a:rPr lang="en-PH" b="1" dirty="0" smtClean="0"/>
              <a:t>b. expressions </a:t>
            </a:r>
          </a:p>
          <a:p>
            <a:r>
              <a:rPr lang="en-PH" b="1" dirty="0" smtClean="0"/>
              <a:t>	</a:t>
            </a:r>
            <a:r>
              <a:rPr lang="en-PH" sz="2600" dirty="0" err="1" smtClean="0"/>
              <a:t>bitaw</a:t>
            </a:r>
            <a:r>
              <a:rPr lang="en-PH" sz="2600" dirty="0" smtClean="0"/>
              <a:t> </a:t>
            </a:r>
            <a:r>
              <a:rPr lang="en-PH" sz="2600" dirty="0" err="1" smtClean="0"/>
              <a:t>uy</a:t>
            </a:r>
            <a:r>
              <a:rPr lang="en-PH" sz="2600" dirty="0" smtClean="0"/>
              <a:t>! 		</a:t>
            </a:r>
            <a:r>
              <a:rPr lang="en-PH" sz="2600" dirty="0" err="1" smtClean="0"/>
              <a:t>Oo</a:t>
            </a:r>
            <a:r>
              <a:rPr lang="en-PH" sz="2600" dirty="0" smtClean="0"/>
              <a:t> </a:t>
            </a:r>
            <a:r>
              <a:rPr lang="en-PH" sz="2600" dirty="0" err="1" smtClean="0"/>
              <a:t>nga</a:t>
            </a:r>
            <a:r>
              <a:rPr lang="en-PH" sz="2600" dirty="0" smtClean="0"/>
              <a:t> eh!</a:t>
            </a:r>
          </a:p>
          <a:p>
            <a:r>
              <a:rPr lang="en-PH" sz="2600" dirty="0"/>
              <a:t>	</a:t>
            </a:r>
            <a:r>
              <a:rPr lang="en-PH" sz="2600" dirty="0" smtClean="0"/>
              <a:t>aw </a:t>
            </a:r>
            <a:r>
              <a:rPr lang="en-PH" sz="2600" dirty="0" err="1" smtClean="0"/>
              <a:t>lagi</a:t>
            </a:r>
            <a:r>
              <a:rPr lang="en-PH" sz="2600" dirty="0" smtClean="0"/>
              <a:t>!		</a:t>
            </a:r>
            <a:r>
              <a:rPr lang="en-PH" sz="2600" dirty="0" err="1" smtClean="0"/>
              <a:t>Iyon</a:t>
            </a:r>
            <a:r>
              <a:rPr lang="en-PH" sz="2600" dirty="0" smtClean="0"/>
              <a:t> </a:t>
            </a:r>
            <a:r>
              <a:rPr lang="en-PH" sz="2600" dirty="0" err="1" smtClean="0"/>
              <a:t>naman</a:t>
            </a:r>
            <a:r>
              <a:rPr lang="en-PH" sz="2600" dirty="0" smtClean="0"/>
              <a:t> </a:t>
            </a:r>
            <a:r>
              <a:rPr lang="en-PH" sz="2600" dirty="0" err="1" smtClean="0"/>
              <a:t>pala</a:t>
            </a:r>
            <a:r>
              <a:rPr lang="en-PH" sz="2600" dirty="0" smtClean="0"/>
              <a:t> </a:t>
            </a:r>
          </a:p>
          <a:p>
            <a:r>
              <a:rPr lang="en-PH" sz="2600" dirty="0"/>
              <a:t>	</a:t>
            </a:r>
            <a:r>
              <a:rPr lang="en-PH" sz="2600" dirty="0" smtClean="0"/>
              <a:t>Really!		</a:t>
            </a:r>
            <a:r>
              <a:rPr lang="en-PH" sz="2600" dirty="0" err="1" smtClean="0"/>
              <a:t>Talaga</a:t>
            </a:r>
            <a:r>
              <a:rPr lang="en-PH" sz="2600" dirty="0" smtClean="0"/>
              <a:t>!</a:t>
            </a:r>
          </a:p>
          <a:p>
            <a:r>
              <a:rPr lang="en-PH" sz="2600" dirty="0"/>
              <a:t>	</a:t>
            </a:r>
            <a:r>
              <a:rPr lang="en-PH" sz="2600" dirty="0" smtClean="0"/>
              <a:t>Ok		</a:t>
            </a:r>
            <a:r>
              <a:rPr lang="en-PH" sz="2600" dirty="0" err="1" smtClean="0"/>
              <a:t>Ayos</a:t>
            </a:r>
            <a:r>
              <a:rPr lang="en-PH" sz="2600" dirty="0" smtClean="0"/>
              <a:t>! </a:t>
            </a:r>
            <a:r>
              <a:rPr lang="en-PH" sz="2600" dirty="0" err="1" smtClean="0"/>
              <a:t>Mabuti</a:t>
            </a:r>
            <a:r>
              <a:rPr lang="en-PH" sz="2600" dirty="0" smtClean="0"/>
              <a:t>!</a:t>
            </a:r>
          </a:p>
          <a:p>
            <a:r>
              <a:rPr lang="en-PH" sz="2600" dirty="0"/>
              <a:t>	</a:t>
            </a:r>
            <a:r>
              <a:rPr lang="en-PH" sz="2600" dirty="0" err="1" smtClean="0"/>
              <a:t>Bueno</a:t>
            </a:r>
            <a:r>
              <a:rPr lang="en-PH" sz="2600" dirty="0" smtClean="0"/>
              <a:t>!		Good </a:t>
            </a:r>
            <a:endParaRPr lang="en-PH" sz="2600" dirty="0"/>
          </a:p>
        </p:txBody>
      </p:sp>
      <p:sp>
        <p:nvSpPr>
          <p:cNvPr id="7" name="TextBox 6"/>
          <p:cNvSpPr txBox="1"/>
          <p:nvPr/>
        </p:nvSpPr>
        <p:spPr>
          <a:xfrm>
            <a:off x="973408" y="5976888"/>
            <a:ext cx="14904468" cy="984885"/>
          </a:xfrm>
          <a:prstGeom prst="rect">
            <a:avLst/>
          </a:prstGeom>
          <a:noFill/>
        </p:spPr>
        <p:txBody>
          <a:bodyPr wrap="square" rtlCol="0">
            <a:spAutoFit/>
          </a:bodyPr>
          <a:lstStyle/>
          <a:p>
            <a:r>
              <a:rPr lang="en-PH" dirty="0">
                <a:latin typeface="Arial" pitchFamily="34" charset="0"/>
                <a:cs typeface="Arial" pitchFamily="34" charset="0"/>
              </a:rPr>
              <a:t>3</a:t>
            </a:r>
            <a:r>
              <a:rPr lang="en-PH" dirty="0" smtClean="0">
                <a:latin typeface="Arial" pitchFamily="34" charset="0"/>
                <a:cs typeface="Arial" pitchFamily="34" charset="0"/>
              </a:rPr>
              <a:t>. </a:t>
            </a:r>
            <a:r>
              <a:rPr lang="en-PH" b="1" dirty="0" smtClean="0">
                <a:latin typeface="Arial" pitchFamily="34" charset="0"/>
                <a:cs typeface="Arial" pitchFamily="34" charset="0"/>
              </a:rPr>
              <a:t>Functional Equivalence </a:t>
            </a:r>
            <a:r>
              <a:rPr lang="en-PH" dirty="0" smtClean="0">
                <a:latin typeface="Arial" pitchFamily="34" charset="0"/>
                <a:cs typeface="Arial" pitchFamily="34" charset="0"/>
              </a:rPr>
              <a:t>– It is an idiom or figurative language in translation based on function and meaning depending on the context. </a:t>
            </a:r>
            <a:endParaRPr lang="en-PH" dirty="0">
              <a:latin typeface="Arial" pitchFamily="34" charset="0"/>
              <a:cs typeface="Arial" pitchFamily="34" charset="0"/>
            </a:endParaRPr>
          </a:p>
        </p:txBody>
      </p:sp>
      <p:sp>
        <p:nvSpPr>
          <p:cNvPr id="8" name="TextBox 7"/>
          <p:cNvSpPr txBox="1"/>
          <p:nvPr/>
        </p:nvSpPr>
        <p:spPr>
          <a:xfrm>
            <a:off x="1620292" y="6985000"/>
            <a:ext cx="1699504" cy="52322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2800" i="1" dirty="0" smtClean="0">
                <a:latin typeface="Times New Roman" pitchFamily="18" charset="0"/>
                <a:cs typeface="Times New Roman" pitchFamily="18" charset="0"/>
              </a:rPr>
              <a:t>Examples:</a:t>
            </a:r>
            <a:endParaRPr lang="en-PH" sz="2800" i="1" dirty="0">
              <a:latin typeface="Times New Roman" pitchFamily="18" charset="0"/>
              <a:cs typeface="Times New Roman" pitchFamily="18" charset="0"/>
            </a:endParaRPr>
          </a:p>
        </p:txBody>
      </p:sp>
      <p:sp>
        <p:nvSpPr>
          <p:cNvPr id="9" name="TextBox 8"/>
          <p:cNvSpPr txBox="1"/>
          <p:nvPr/>
        </p:nvSpPr>
        <p:spPr>
          <a:xfrm>
            <a:off x="3420492" y="6985000"/>
            <a:ext cx="7447552" cy="2539157"/>
          </a:xfrm>
          <a:prstGeom prst="rect">
            <a:avLst/>
          </a:prstGeom>
          <a:noFill/>
        </p:spPr>
        <p:txBody>
          <a:bodyPr wrap="none" rtlCol="0">
            <a:spAutoFit/>
          </a:bodyPr>
          <a:lstStyle/>
          <a:p>
            <a:r>
              <a:rPr lang="en-PH" sz="2600" dirty="0" err="1" smtClean="0"/>
              <a:t>Kami’y</a:t>
            </a:r>
            <a:r>
              <a:rPr lang="en-PH" sz="2600" dirty="0" smtClean="0"/>
              <a:t> </a:t>
            </a:r>
            <a:r>
              <a:rPr lang="en-PH" sz="2600" dirty="0" err="1" smtClean="0"/>
              <a:t>yayao</a:t>
            </a:r>
            <a:r>
              <a:rPr lang="en-PH" sz="2600" dirty="0" smtClean="0"/>
              <a:t> na!		We will go now!</a:t>
            </a:r>
          </a:p>
          <a:p>
            <a:r>
              <a:rPr lang="en-PH" sz="2600" dirty="0"/>
              <a:t>	</a:t>
            </a:r>
            <a:r>
              <a:rPr lang="en-PH" sz="2600" dirty="0" smtClean="0"/>
              <a:t>		We’ll go ahead! </a:t>
            </a:r>
          </a:p>
          <a:p>
            <a:endParaRPr lang="en-PH" sz="2400" dirty="0" smtClean="0"/>
          </a:p>
          <a:p>
            <a:r>
              <a:rPr lang="en-PH" sz="2600" dirty="0" smtClean="0"/>
              <a:t>The dye is cast.		</a:t>
            </a:r>
            <a:r>
              <a:rPr lang="en-PH" sz="2600" dirty="0" err="1" smtClean="0"/>
              <a:t>Buo</a:t>
            </a:r>
            <a:r>
              <a:rPr lang="en-PH" sz="2600" dirty="0" smtClean="0"/>
              <a:t> na ang </a:t>
            </a:r>
            <a:r>
              <a:rPr lang="en-PH" sz="2600" dirty="0" err="1" smtClean="0"/>
              <a:t>desisyon</a:t>
            </a:r>
            <a:r>
              <a:rPr lang="en-PH" sz="2600" dirty="0" smtClean="0"/>
              <a:t>.</a:t>
            </a:r>
          </a:p>
          <a:p>
            <a:r>
              <a:rPr lang="en-PH" sz="2600" dirty="0"/>
              <a:t>	</a:t>
            </a:r>
            <a:r>
              <a:rPr lang="en-PH" sz="2600" dirty="0" smtClean="0"/>
              <a:t>		</a:t>
            </a:r>
            <a:r>
              <a:rPr lang="en-PH" sz="2600" dirty="0" err="1" smtClean="0"/>
              <a:t>Napadisiyunan</a:t>
            </a:r>
            <a:r>
              <a:rPr lang="en-PH" sz="2600" dirty="0" smtClean="0"/>
              <a:t> </a:t>
            </a:r>
            <a:r>
              <a:rPr lang="en-PH" sz="2600" dirty="0" err="1" smtClean="0"/>
              <a:t>na.</a:t>
            </a:r>
            <a:r>
              <a:rPr lang="en-PH" sz="2600" dirty="0" smtClean="0"/>
              <a:t> </a:t>
            </a:r>
          </a:p>
          <a:p>
            <a:endParaRPr lang="en-PH" dirty="0"/>
          </a:p>
        </p:txBody>
      </p:sp>
    </p:spTree>
    <p:extLst>
      <p:ext uri="{BB962C8B-B14F-4D97-AF65-F5344CB8AC3E}">
        <p14:creationId xmlns:p14="http://schemas.microsoft.com/office/powerpoint/2010/main" val="1848063996"/>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TextBox 5"/>
          <p:cNvSpPr txBox="1"/>
          <p:nvPr/>
        </p:nvSpPr>
        <p:spPr>
          <a:xfrm>
            <a:off x="468164" y="199798"/>
            <a:ext cx="14904468" cy="984885"/>
          </a:xfrm>
          <a:prstGeom prst="rect">
            <a:avLst/>
          </a:prstGeom>
          <a:noFill/>
        </p:spPr>
        <p:txBody>
          <a:bodyPr wrap="square" rtlCol="0">
            <a:spAutoFit/>
          </a:bodyPr>
          <a:lstStyle/>
          <a:p>
            <a:r>
              <a:rPr lang="en-PH" dirty="0" smtClean="0">
                <a:latin typeface="Arial" pitchFamily="34" charset="0"/>
                <a:cs typeface="Arial" pitchFamily="34" charset="0"/>
              </a:rPr>
              <a:t>4. </a:t>
            </a:r>
            <a:r>
              <a:rPr lang="en-PH" b="1" dirty="0" smtClean="0">
                <a:latin typeface="Arial" pitchFamily="34" charset="0"/>
                <a:cs typeface="Arial" pitchFamily="34" charset="0"/>
              </a:rPr>
              <a:t>Reduction or contraction </a:t>
            </a:r>
            <a:r>
              <a:rPr lang="en-PH" dirty="0" smtClean="0">
                <a:latin typeface="Arial" pitchFamily="34" charset="0"/>
                <a:cs typeface="Arial" pitchFamily="34" charset="0"/>
              </a:rPr>
              <a:t>– It is a way of shortening of form but ensuring the same context. </a:t>
            </a:r>
            <a:endParaRPr lang="en-PH" dirty="0">
              <a:latin typeface="Arial" pitchFamily="34" charset="0"/>
              <a:cs typeface="Arial" pitchFamily="34" charset="0"/>
            </a:endParaRPr>
          </a:p>
        </p:txBody>
      </p:sp>
      <p:sp>
        <p:nvSpPr>
          <p:cNvPr id="7" name="TextBox 6"/>
          <p:cNvSpPr txBox="1"/>
          <p:nvPr/>
        </p:nvSpPr>
        <p:spPr>
          <a:xfrm>
            <a:off x="1115048" y="1207910"/>
            <a:ext cx="1699504" cy="52322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2800" i="1" dirty="0" smtClean="0">
                <a:latin typeface="Times New Roman" pitchFamily="18" charset="0"/>
                <a:cs typeface="Times New Roman" pitchFamily="18" charset="0"/>
              </a:rPr>
              <a:t>Examples:</a:t>
            </a:r>
            <a:endParaRPr lang="en-PH" sz="2800" i="1" dirty="0">
              <a:latin typeface="Times New Roman" pitchFamily="18" charset="0"/>
              <a:cs typeface="Times New Roman" pitchFamily="18" charset="0"/>
            </a:endParaRPr>
          </a:p>
        </p:txBody>
      </p:sp>
      <p:sp>
        <p:nvSpPr>
          <p:cNvPr id="8" name="TextBox 7"/>
          <p:cNvSpPr txBox="1"/>
          <p:nvPr/>
        </p:nvSpPr>
        <p:spPr>
          <a:xfrm>
            <a:off x="2915248" y="1135902"/>
            <a:ext cx="8604471" cy="1692771"/>
          </a:xfrm>
          <a:prstGeom prst="rect">
            <a:avLst/>
          </a:prstGeom>
          <a:noFill/>
        </p:spPr>
        <p:txBody>
          <a:bodyPr wrap="none" rtlCol="0">
            <a:spAutoFit/>
          </a:bodyPr>
          <a:lstStyle/>
          <a:p>
            <a:pPr algn="just"/>
            <a:r>
              <a:rPr lang="en-PH" sz="2600" dirty="0" smtClean="0"/>
              <a:t>To make a delicious turkey requires the following simple steps.</a:t>
            </a:r>
          </a:p>
          <a:p>
            <a:pPr algn="just"/>
            <a:r>
              <a:rPr lang="en-PH" sz="2600" dirty="0" smtClean="0"/>
              <a:t> Mga simpleng hakbang kailangan para sa masarap na pabo.</a:t>
            </a:r>
          </a:p>
          <a:p>
            <a:pPr algn="just"/>
            <a:r>
              <a:rPr lang="en-PH" sz="2600" dirty="0"/>
              <a:t> </a:t>
            </a:r>
            <a:r>
              <a:rPr lang="en-PH" sz="2600" dirty="0" smtClean="0"/>
              <a:t>The left side of the outfit is light blue and the right side is red.</a:t>
            </a:r>
          </a:p>
          <a:p>
            <a:pPr algn="just"/>
            <a:r>
              <a:rPr lang="en-PH" sz="2600" dirty="0" smtClean="0"/>
              <a:t> Ang kaliwa ng suot ay mapusyaw na asul at pula ang kanan. </a:t>
            </a:r>
            <a:endParaRPr lang="en-PH" sz="2600" dirty="0"/>
          </a:p>
        </p:txBody>
      </p:sp>
      <p:sp>
        <p:nvSpPr>
          <p:cNvPr id="9" name="TextBox 8"/>
          <p:cNvSpPr txBox="1"/>
          <p:nvPr/>
        </p:nvSpPr>
        <p:spPr>
          <a:xfrm>
            <a:off x="469351" y="2864094"/>
            <a:ext cx="15408523" cy="984885"/>
          </a:xfrm>
          <a:prstGeom prst="rect">
            <a:avLst/>
          </a:prstGeom>
          <a:noFill/>
        </p:spPr>
        <p:txBody>
          <a:bodyPr wrap="square" rtlCol="0">
            <a:spAutoFit/>
          </a:bodyPr>
          <a:lstStyle/>
          <a:p>
            <a:r>
              <a:rPr lang="en-PH" dirty="0">
                <a:latin typeface="Arial" pitchFamily="34" charset="0"/>
                <a:cs typeface="Arial" pitchFamily="34" charset="0"/>
              </a:rPr>
              <a:t>5</a:t>
            </a:r>
            <a:r>
              <a:rPr lang="en-PH" dirty="0" smtClean="0">
                <a:latin typeface="Arial" pitchFamily="34" charset="0"/>
                <a:cs typeface="Arial" pitchFamily="34" charset="0"/>
              </a:rPr>
              <a:t>.</a:t>
            </a:r>
            <a:r>
              <a:rPr lang="en-PH" b="1" dirty="0" smtClean="0">
                <a:latin typeface="Arial" pitchFamily="34" charset="0"/>
                <a:cs typeface="Arial" pitchFamily="34" charset="0"/>
              </a:rPr>
              <a:t> Modulation. </a:t>
            </a:r>
            <a:r>
              <a:rPr lang="en-PH" dirty="0" smtClean="0">
                <a:latin typeface="Arial" pitchFamily="34" charset="0"/>
                <a:cs typeface="Arial" pitchFamily="34" charset="0"/>
              </a:rPr>
              <a:t>It is changing from some word from SL to TL depending on the meaning or context. </a:t>
            </a:r>
            <a:endParaRPr lang="en-PH" dirty="0">
              <a:latin typeface="Arial" pitchFamily="34" charset="0"/>
              <a:cs typeface="Arial" pitchFamily="34" charset="0"/>
            </a:endParaRPr>
          </a:p>
        </p:txBody>
      </p:sp>
      <p:sp>
        <p:nvSpPr>
          <p:cNvPr id="10" name="TextBox 9"/>
          <p:cNvSpPr txBox="1"/>
          <p:nvPr/>
        </p:nvSpPr>
        <p:spPr>
          <a:xfrm>
            <a:off x="1116236" y="3872206"/>
            <a:ext cx="1699504" cy="52322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2800" i="1" dirty="0" smtClean="0">
                <a:latin typeface="Times New Roman" pitchFamily="18" charset="0"/>
                <a:cs typeface="Times New Roman" pitchFamily="18" charset="0"/>
              </a:rPr>
              <a:t>Examples:</a:t>
            </a:r>
            <a:endParaRPr lang="en-PH" sz="2800" i="1" dirty="0">
              <a:latin typeface="Times New Roman" pitchFamily="18" charset="0"/>
              <a:cs typeface="Times New Roman" pitchFamily="18" charset="0"/>
            </a:endParaRPr>
          </a:p>
        </p:txBody>
      </p:sp>
      <p:sp>
        <p:nvSpPr>
          <p:cNvPr id="11" name="TextBox 10"/>
          <p:cNvSpPr txBox="1"/>
          <p:nvPr/>
        </p:nvSpPr>
        <p:spPr>
          <a:xfrm>
            <a:off x="2984890" y="3924077"/>
            <a:ext cx="11982768" cy="892552"/>
          </a:xfrm>
          <a:prstGeom prst="rect">
            <a:avLst/>
          </a:prstGeom>
          <a:noFill/>
        </p:spPr>
        <p:txBody>
          <a:bodyPr wrap="none" rtlCol="0">
            <a:spAutoFit/>
          </a:bodyPr>
          <a:lstStyle/>
          <a:p>
            <a:r>
              <a:rPr lang="en-PH" sz="2600" dirty="0" smtClean="0"/>
              <a:t>His father is greedy of money.		Ang kanyang ama ay matakaw sa pera.</a:t>
            </a:r>
          </a:p>
          <a:p>
            <a:r>
              <a:rPr lang="en-PH" sz="2600" dirty="0" smtClean="0"/>
              <a:t>graft and corruption practices 		pangunguwalta at korupsyon na gawain	</a:t>
            </a:r>
            <a:endParaRPr lang="en-PH" sz="2600" dirty="0"/>
          </a:p>
        </p:txBody>
      </p:sp>
      <p:sp>
        <p:nvSpPr>
          <p:cNvPr id="12" name="TextBox 11"/>
          <p:cNvSpPr txBox="1"/>
          <p:nvPr/>
        </p:nvSpPr>
        <p:spPr>
          <a:xfrm>
            <a:off x="541361" y="5016015"/>
            <a:ext cx="15408523" cy="538609"/>
          </a:xfrm>
          <a:prstGeom prst="rect">
            <a:avLst/>
          </a:prstGeom>
          <a:noFill/>
        </p:spPr>
        <p:txBody>
          <a:bodyPr wrap="square" rtlCol="0">
            <a:spAutoFit/>
          </a:bodyPr>
          <a:lstStyle/>
          <a:p>
            <a:r>
              <a:rPr lang="en-PH" dirty="0" smtClean="0">
                <a:latin typeface="Arial" pitchFamily="34" charset="0"/>
                <a:cs typeface="Arial" pitchFamily="34" charset="0"/>
              </a:rPr>
              <a:t>6. </a:t>
            </a:r>
            <a:r>
              <a:rPr lang="en-PH" b="1" dirty="0" smtClean="0">
                <a:latin typeface="Arial" pitchFamily="34" charset="0"/>
                <a:cs typeface="Arial" pitchFamily="34" charset="0"/>
              </a:rPr>
              <a:t>Lexical synonym. </a:t>
            </a:r>
            <a:r>
              <a:rPr lang="en-PH" dirty="0" smtClean="0">
                <a:latin typeface="Arial" pitchFamily="34" charset="0"/>
                <a:cs typeface="Arial" pitchFamily="34" charset="0"/>
              </a:rPr>
              <a:t>It is translating the lexicon in terms of meaning and context.  </a:t>
            </a:r>
            <a:endParaRPr lang="en-PH" dirty="0">
              <a:latin typeface="Arial" pitchFamily="34" charset="0"/>
              <a:cs typeface="Arial" pitchFamily="34" charset="0"/>
            </a:endParaRPr>
          </a:p>
        </p:txBody>
      </p:sp>
      <p:sp>
        <p:nvSpPr>
          <p:cNvPr id="13" name="TextBox 12"/>
          <p:cNvSpPr txBox="1"/>
          <p:nvPr/>
        </p:nvSpPr>
        <p:spPr>
          <a:xfrm>
            <a:off x="1044228" y="5672406"/>
            <a:ext cx="1699504" cy="52322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2800" i="1" dirty="0" smtClean="0">
                <a:latin typeface="Times New Roman" pitchFamily="18" charset="0"/>
                <a:cs typeface="Times New Roman" pitchFamily="18" charset="0"/>
              </a:rPr>
              <a:t>Examples:</a:t>
            </a:r>
            <a:endParaRPr lang="en-PH" sz="2800" i="1" dirty="0">
              <a:latin typeface="Times New Roman" pitchFamily="18" charset="0"/>
              <a:cs typeface="Times New Roman" pitchFamily="18" charset="0"/>
            </a:endParaRPr>
          </a:p>
        </p:txBody>
      </p:sp>
      <p:sp>
        <p:nvSpPr>
          <p:cNvPr id="14" name="TextBox 13"/>
          <p:cNvSpPr txBox="1"/>
          <p:nvPr/>
        </p:nvSpPr>
        <p:spPr>
          <a:xfrm>
            <a:off x="2912882" y="5724277"/>
            <a:ext cx="10508005" cy="892552"/>
          </a:xfrm>
          <a:prstGeom prst="rect">
            <a:avLst/>
          </a:prstGeom>
          <a:noFill/>
        </p:spPr>
        <p:txBody>
          <a:bodyPr wrap="none" rtlCol="0">
            <a:spAutoFit/>
          </a:bodyPr>
          <a:lstStyle/>
          <a:p>
            <a:r>
              <a:rPr lang="en-PH" sz="2600" dirty="0" smtClean="0"/>
              <a:t>grapple 	-     </a:t>
            </a:r>
            <a:r>
              <a:rPr lang="en-PH" sz="2600" dirty="0" err="1" smtClean="0"/>
              <a:t>magbuno</a:t>
            </a:r>
            <a:r>
              <a:rPr lang="en-PH" sz="2600" dirty="0" smtClean="0"/>
              <a:t>, </a:t>
            </a:r>
            <a:r>
              <a:rPr lang="en-PH" sz="2600" dirty="0" err="1" smtClean="0"/>
              <a:t>suungin</a:t>
            </a:r>
            <a:endParaRPr lang="en-PH" sz="2600" dirty="0" smtClean="0"/>
          </a:p>
          <a:p>
            <a:r>
              <a:rPr lang="en-PH" sz="2600" dirty="0"/>
              <a:t>l</a:t>
            </a:r>
            <a:r>
              <a:rPr lang="en-PH" sz="2600" dirty="0" smtClean="0"/>
              <a:t>ight 	-     </a:t>
            </a:r>
            <a:r>
              <a:rPr lang="en-PH" sz="2600" dirty="0" err="1" smtClean="0"/>
              <a:t>magaan</a:t>
            </a:r>
            <a:r>
              <a:rPr lang="en-PH" sz="2600" dirty="0" smtClean="0"/>
              <a:t>, </a:t>
            </a:r>
            <a:r>
              <a:rPr lang="en-PH" sz="2600" dirty="0" err="1" smtClean="0"/>
              <a:t>maalwan</a:t>
            </a:r>
            <a:r>
              <a:rPr lang="en-PH" sz="2600" dirty="0" smtClean="0"/>
              <a:t>;  </a:t>
            </a:r>
            <a:r>
              <a:rPr lang="en-PH" sz="2600" dirty="0" err="1" smtClean="0"/>
              <a:t>liwanag</a:t>
            </a:r>
            <a:r>
              <a:rPr lang="en-PH" sz="2600" dirty="0" smtClean="0"/>
              <a:t>, </a:t>
            </a:r>
            <a:r>
              <a:rPr lang="en-PH" sz="2600" dirty="0" err="1" smtClean="0"/>
              <a:t>tanglaw</a:t>
            </a:r>
            <a:r>
              <a:rPr lang="en-PH" sz="2600" dirty="0" smtClean="0"/>
              <a:t>;  </a:t>
            </a:r>
            <a:r>
              <a:rPr lang="en-PH" sz="2600" dirty="0" err="1" smtClean="0"/>
              <a:t>binunyag</a:t>
            </a:r>
            <a:r>
              <a:rPr lang="en-PH" sz="2600" dirty="0" smtClean="0"/>
              <a:t>, </a:t>
            </a:r>
            <a:r>
              <a:rPr lang="en-PH" sz="2600" dirty="0" err="1" smtClean="0"/>
              <a:t>isiniwalat</a:t>
            </a:r>
            <a:r>
              <a:rPr lang="en-PH" sz="2600" dirty="0" smtClean="0"/>
              <a:t>	</a:t>
            </a:r>
            <a:endParaRPr lang="en-PH" sz="2600" dirty="0"/>
          </a:p>
        </p:txBody>
      </p:sp>
      <p:sp>
        <p:nvSpPr>
          <p:cNvPr id="15" name="TextBox 14"/>
          <p:cNvSpPr txBox="1"/>
          <p:nvPr/>
        </p:nvSpPr>
        <p:spPr>
          <a:xfrm>
            <a:off x="541361" y="6752338"/>
            <a:ext cx="15408523" cy="538609"/>
          </a:xfrm>
          <a:prstGeom prst="rect">
            <a:avLst/>
          </a:prstGeom>
          <a:noFill/>
        </p:spPr>
        <p:txBody>
          <a:bodyPr wrap="square" rtlCol="0">
            <a:spAutoFit/>
          </a:bodyPr>
          <a:lstStyle/>
          <a:p>
            <a:r>
              <a:rPr lang="en-PH" dirty="0">
                <a:latin typeface="Arial" pitchFamily="34" charset="0"/>
                <a:cs typeface="Arial" pitchFamily="34" charset="0"/>
              </a:rPr>
              <a:t>7</a:t>
            </a:r>
            <a:r>
              <a:rPr lang="en-PH" dirty="0" smtClean="0">
                <a:latin typeface="Arial" pitchFamily="34" charset="0"/>
                <a:cs typeface="Arial" pitchFamily="34" charset="0"/>
              </a:rPr>
              <a:t>. </a:t>
            </a:r>
            <a:r>
              <a:rPr lang="en-PH" b="1" dirty="0" smtClean="0">
                <a:latin typeface="Arial" pitchFamily="34" charset="0"/>
                <a:cs typeface="Arial" pitchFamily="34" charset="0"/>
              </a:rPr>
              <a:t>Borrowing with spelling alteration </a:t>
            </a:r>
            <a:r>
              <a:rPr lang="en-PH" dirty="0" smtClean="0">
                <a:latin typeface="Arial" pitchFamily="34" charset="0"/>
                <a:cs typeface="Arial" pitchFamily="34" charset="0"/>
              </a:rPr>
              <a:t>to conform to ABAKADA. </a:t>
            </a:r>
            <a:endParaRPr lang="en-PH" dirty="0">
              <a:latin typeface="Arial" pitchFamily="34" charset="0"/>
              <a:cs typeface="Arial" pitchFamily="34" charset="0"/>
            </a:endParaRPr>
          </a:p>
        </p:txBody>
      </p:sp>
      <p:sp>
        <p:nvSpPr>
          <p:cNvPr id="16" name="TextBox 15"/>
          <p:cNvSpPr txBox="1"/>
          <p:nvPr/>
        </p:nvSpPr>
        <p:spPr>
          <a:xfrm>
            <a:off x="1044228" y="7408729"/>
            <a:ext cx="1699504" cy="52322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en-PH" sz="2800" i="1" dirty="0" smtClean="0">
                <a:latin typeface="Times New Roman" pitchFamily="18" charset="0"/>
                <a:cs typeface="Times New Roman" pitchFamily="18" charset="0"/>
              </a:rPr>
              <a:t>Examples:</a:t>
            </a:r>
            <a:endParaRPr lang="en-PH" sz="2800" i="1" dirty="0">
              <a:latin typeface="Times New Roman" pitchFamily="18" charset="0"/>
              <a:cs typeface="Times New Roman" pitchFamily="18" charset="0"/>
            </a:endParaRPr>
          </a:p>
        </p:txBody>
      </p:sp>
      <p:sp>
        <p:nvSpPr>
          <p:cNvPr id="17" name="TextBox 16"/>
          <p:cNvSpPr txBox="1"/>
          <p:nvPr/>
        </p:nvSpPr>
        <p:spPr>
          <a:xfrm>
            <a:off x="2912882" y="7460600"/>
            <a:ext cx="4608954" cy="1292662"/>
          </a:xfrm>
          <a:prstGeom prst="rect">
            <a:avLst/>
          </a:prstGeom>
          <a:noFill/>
        </p:spPr>
        <p:txBody>
          <a:bodyPr wrap="none" rtlCol="0">
            <a:spAutoFit/>
          </a:bodyPr>
          <a:lstStyle/>
          <a:p>
            <a:r>
              <a:rPr lang="en-PH" sz="2600" dirty="0" smtClean="0"/>
              <a:t>education   - </a:t>
            </a:r>
            <a:r>
              <a:rPr lang="en-PH" sz="2600" dirty="0" err="1" smtClean="0"/>
              <a:t>edukasyon</a:t>
            </a:r>
            <a:endParaRPr lang="en-PH" sz="2600" dirty="0" smtClean="0"/>
          </a:p>
          <a:p>
            <a:r>
              <a:rPr lang="en-PH" sz="2600" dirty="0" smtClean="0"/>
              <a:t>theoretical -  </a:t>
            </a:r>
            <a:r>
              <a:rPr lang="en-PH" sz="2600" dirty="0" err="1" smtClean="0"/>
              <a:t>teoretikal</a:t>
            </a:r>
            <a:endParaRPr lang="en-PH" sz="2600" dirty="0" smtClean="0"/>
          </a:p>
          <a:p>
            <a:r>
              <a:rPr lang="en-PH" sz="2600" dirty="0" smtClean="0"/>
              <a:t>conceptual -  </a:t>
            </a:r>
            <a:r>
              <a:rPr lang="en-PH" sz="2600" dirty="0" err="1" smtClean="0"/>
              <a:t>konseptwal</a:t>
            </a:r>
            <a:r>
              <a:rPr lang="en-PH" sz="2600" dirty="0" smtClean="0"/>
              <a:t>	</a:t>
            </a:r>
            <a:endParaRPr lang="en-PH" sz="2600" dirty="0"/>
          </a:p>
        </p:txBody>
      </p:sp>
    </p:spTree>
    <p:extLst>
      <p:ext uri="{BB962C8B-B14F-4D97-AF65-F5344CB8AC3E}">
        <p14:creationId xmlns:p14="http://schemas.microsoft.com/office/powerpoint/2010/main" val="3990304507"/>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6388" y="5112792"/>
            <a:ext cx="4161487" cy="40324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TextBox 4"/>
          <p:cNvSpPr txBox="1"/>
          <p:nvPr/>
        </p:nvSpPr>
        <p:spPr>
          <a:xfrm>
            <a:off x="243895" y="216248"/>
            <a:ext cx="3612912" cy="646331"/>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PH" sz="3600" b="1" dirty="0" smtClean="0">
                <a:latin typeface="Arial" pitchFamily="34" charset="0"/>
                <a:cs typeface="Arial" pitchFamily="34" charset="0"/>
              </a:rPr>
              <a:t>Editing of Texts</a:t>
            </a:r>
            <a:endParaRPr lang="en-PH" sz="3600" b="1" dirty="0">
              <a:latin typeface="Arial" pitchFamily="34" charset="0"/>
              <a:cs typeface="Arial" pitchFamily="34" charset="0"/>
            </a:endParaRPr>
          </a:p>
        </p:txBody>
      </p:sp>
      <p:sp>
        <p:nvSpPr>
          <p:cNvPr id="6" name="TextBox 5"/>
          <p:cNvSpPr txBox="1"/>
          <p:nvPr/>
        </p:nvSpPr>
        <p:spPr>
          <a:xfrm>
            <a:off x="5361909" y="864320"/>
            <a:ext cx="5619423" cy="584775"/>
          </a:xfrm>
          <a:prstGeom prst="rect">
            <a:avLst/>
          </a:prstGeom>
        </p:spPr>
        <p:style>
          <a:lnRef idx="3">
            <a:schemeClr val="lt1"/>
          </a:lnRef>
          <a:fillRef idx="1">
            <a:schemeClr val="dk1"/>
          </a:fillRef>
          <a:effectRef idx="1">
            <a:schemeClr val="dk1"/>
          </a:effectRef>
          <a:fontRef idx="minor">
            <a:schemeClr val="lt1"/>
          </a:fontRef>
        </p:style>
        <p:txBody>
          <a:bodyPr wrap="none" rtlCol="0">
            <a:spAutoFit/>
          </a:bodyPr>
          <a:lstStyle/>
          <a:p>
            <a:r>
              <a:rPr lang="en-PH" sz="3200" b="1" dirty="0" smtClean="0">
                <a:latin typeface="Arial" pitchFamily="34" charset="0"/>
                <a:cs typeface="Arial" pitchFamily="34" charset="0"/>
              </a:rPr>
              <a:t>Principles for Good Writing </a:t>
            </a:r>
            <a:endParaRPr lang="en-PH" sz="3200" b="1" dirty="0">
              <a:latin typeface="Arial" pitchFamily="34" charset="0"/>
              <a:cs typeface="Arial" pitchFamily="34" charset="0"/>
            </a:endParaRPr>
          </a:p>
        </p:txBody>
      </p:sp>
      <p:sp>
        <p:nvSpPr>
          <p:cNvPr id="8" name="TextBox 7"/>
          <p:cNvSpPr txBox="1"/>
          <p:nvPr/>
        </p:nvSpPr>
        <p:spPr>
          <a:xfrm>
            <a:off x="252140" y="1584400"/>
            <a:ext cx="3170227" cy="58477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200" b="1" dirty="0" smtClean="0">
                <a:latin typeface="Times New Roman" pitchFamily="18" charset="0"/>
                <a:cs typeface="Times New Roman" pitchFamily="18" charset="0"/>
              </a:rPr>
              <a:t>1. SIMPLICITY </a:t>
            </a:r>
            <a:endParaRPr lang="en-PH" sz="3200" b="1" dirty="0">
              <a:latin typeface="Times New Roman" pitchFamily="18" charset="0"/>
              <a:cs typeface="Times New Roman" pitchFamily="18" charset="0"/>
            </a:endParaRPr>
          </a:p>
        </p:txBody>
      </p:sp>
      <p:sp>
        <p:nvSpPr>
          <p:cNvPr id="9" name="TextBox 8"/>
          <p:cNvSpPr txBox="1"/>
          <p:nvPr/>
        </p:nvSpPr>
        <p:spPr>
          <a:xfrm>
            <a:off x="252140" y="4392712"/>
            <a:ext cx="2581156" cy="58477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200" b="1" dirty="0">
                <a:latin typeface="Times New Roman" pitchFamily="18" charset="0"/>
                <a:cs typeface="Times New Roman" pitchFamily="18" charset="0"/>
              </a:rPr>
              <a:t>2</a:t>
            </a:r>
            <a:r>
              <a:rPr lang="en-PH" sz="3200" b="1" dirty="0" smtClean="0">
                <a:latin typeface="Times New Roman" pitchFamily="18" charset="0"/>
                <a:cs typeface="Times New Roman" pitchFamily="18" charset="0"/>
              </a:rPr>
              <a:t>. CLUTTER</a:t>
            </a:r>
            <a:endParaRPr lang="en-PH" sz="3200" b="1" dirty="0">
              <a:latin typeface="Times New Roman" pitchFamily="18" charset="0"/>
              <a:cs typeface="Times New Roman" pitchFamily="18" charset="0"/>
            </a:endParaRPr>
          </a:p>
        </p:txBody>
      </p:sp>
      <p:sp>
        <p:nvSpPr>
          <p:cNvPr id="10" name="Rectangle 9"/>
          <p:cNvSpPr/>
          <p:nvPr/>
        </p:nvSpPr>
        <p:spPr>
          <a:xfrm>
            <a:off x="972220" y="2376488"/>
            <a:ext cx="14689632" cy="1938992"/>
          </a:xfrm>
          <a:prstGeom prst="rect">
            <a:avLst/>
          </a:prstGeom>
        </p:spPr>
        <p:txBody>
          <a:bodyPr wrap="square">
            <a:spAutoFit/>
          </a:bodyPr>
          <a:lstStyle/>
          <a:p>
            <a:pPr algn="just" fontAlgn="t"/>
            <a:r>
              <a:rPr lang="en-PH" sz="3000" b="1" dirty="0" smtClean="0">
                <a:latin typeface="Times New Roman" pitchFamily="18" charset="0"/>
                <a:cs typeface="Times New Roman" pitchFamily="18" charset="0"/>
              </a:rPr>
              <a:t>Simple language </a:t>
            </a:r>
            <a:r>
              <a:rPr lang="en-PH" sz="3000" dirty="0" smtClean="0">
                <a:latin typeface="Times New Roman" pitchFamily="18" charset="0"/>
                <a:cs typeface="Times New Roman" pitchFamily="18" charset="0"/>
              </a:rPr>
              <a:t>is clearer for the reader and easier for the writer. </a:t>
            </a:r>
            <a:r>
              <a:rPr lang="en-PH" sz="3000" b="1" dirty="0" smtClean="0">
                <a:latin typeface="Times New Roman" pitchFamily="18" charset="0"/>
                <a:cs typeface="Times New Roman" pitchFamily="18" charset="0"/>
              </a:rPr>
              <a:t>Simple structures </a:t>
            </a:r>
            <a:r>
              <a:rPr lang="en-PH" sz="3000" dirty="0" smtClean="0">
                <a:latin typeface="Times New Roman" pitchFamily="18" charset="0"/>
                <a:cs typeface="Times New Roman" pitchFamily="18" charset="0"/>
              </a:rPr>
              <a:t>avoid confusion and complications. When it seems difficult to start a piece of writing, or to continue, using the simplest approach available makes it easier.</a:t>
            </a:r>
          </a:p>
          <a:p>
            <a:pPr algn="just" fontAlgn="t"/>
            <a:r>
              <a:rPr lang="en-PH" sz="3000" dirty="0" smtClean="0">
                <a:latin typeface="Times New Roman" pitchFamily="18" charset="0"/>
                <a:cs typeface="Times New Roman" pitchFamily="18" charset="0"/>
              </a:rPr>
              <a:t>The secret of good writing is to strip every sentence to its cleanest components. </a:t>
            </a:r>
            <a:endParaRPr lang="en-PH" sz="3000" dirty="0">
              <a:latin typeface="Times New Roman" pitchFamily="18" charset="0"/>
              <a:cs typeface="Times New Roman" pitchFamily="18" charset="0"/>
            </a:endParaRPr>
          </a:p>
        </p:txBody>
      </p:sp>
      <p:sp>
        <p:nvSpPr>
          <p:cNvPr id="11" name="Rectangle 10"/>
          <p:cNvSpPr/>
          <p:nvPr/>
        </p:nvSpPr>
        <p:spPr>
          <a:xfrm>
            <a:off x="972220" y="5177249"/>
            <a:ext cx="14617624" cy="1015663"/>
          </a:xfrm>
          <a:prstGeom prst="rect">
            <a:avLst/>
          </a:prstGeom>
        </p:spPr>
        <p:txBody>
          <a:bodyPr wrap="square">
            <a:spAutoFit/>
          </a:bodyPr>
          <a:lstStyle/>
          <a:p>
            <a:pPr algn="just"/>
            <a:r>
              <a:rPr lang="en-PH" sz="3000" dirty="0">
                <a:latin typeface="Times New Roman" pitchFamily="18" charset="0"/>
                <a:cs typeface="Times New Roman" pitchFamily="18" charset="0"/>
              </a:rPr>
              <a:t>Clutter refers to the use of unnecessary words or phrases that do not add value or meaning to a </a:t>
            </a:r>
            <a:r>
              <a:rPr lang="en-PH" sz="3000" dirty="0" smtClean="0">
                <a:latin typeface="Times New Roman" pitchFamily="18" charset="0"/>
                <a:cs typeface="Times New Roman" pitchFamily="18" charset="0"/>
              </a:rPr>
              <a:t>sentence. Clutter </a:t>
            </a:r>
            <a:r>
              <a:rPr lang="en-PH" sz="3000" dirty="0">
                <a:latin typeface="Times New Roman" pitchFamily="18" charset="0"/>
                <a:cs typeface="Times New Roman" pitchFamily="18" charset="0"/>
              </a:rPr>
              <a:t>bores your readers and makes you sound </a:t>
            </a:r>
            <a:r>
              <a:rPr lang="en-PH" sz="3000" dirty="0" smtClean="0">
                <a:latin typeface="Times New Roman" pitchFamily="18" charset="0"/>
                <a:cs typeface="Times New Roman" pitchFamily="18" charset="0"/>
              </a:rPr>
              <a:t>boring, </a:t>
            </a:r>
            <a:r>
              <a:rPr lang="en-PH" sz="3000" dirty="0">
                <a:latin typeface="Times New Roman" pitchFamily="18" charset="0"/>
                <a:cs typeface="Times New Roman" pitchFamily="18" charset="0"/>
              </a:rPr>
              <a:t>too.</a:t>
            </a:r>
          </a:p>
        </p:txBody>
      </p:sp>
      <p:sp>
        <p:nvSpPr>
          <p:cNvPr id="12" name="TextBox 11"/>
          <p:cNvSpPr txBox="1"/>
          <p:nvPr/>
        </p:nvSpPr>
        <p:spPr>
          <a:xfrm>
            <a:off x="1107886" y="6588417"/>
            <a:ext cx="1639167" cy="538609"/>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n-PH" b="1" i="1" dirty="0" smtClean="0"/>
              <a:t>Examples</a:t>
            </a:r>
            <a:endParaRPr lang="en-PH" b="1" i="1" dirty="0"/>
          </a:p>
        </p:txBody>
      </p:sp>
      <p:sp>
        <p:nvSpPr>
          <p:cNvPr id="13" name="TextBox 12"/>
          <p:cNvSpPr txBox="1"/>
          <p:nvPr/>
        </p:nvSpPr>
        <p:spPr>
          <a:xfrm>
            <a:off x="2844429" y="6408936"/>
            <a:ext cx="12745415" cy="984885"/>
          </a:xfrm>
          <a:prstGeom prst="rect">
            <a:avLst/>
          </a:prstGeom>
          <a:noFill/>
        </p:spPr>
        <p:txBody>
          <a:bodyPr wrap="square" rtlCol="0">
            <a:spAutoFit/>
          </a:bodyPr>
          <a:lstStyle/>
          <a:p>
            <a:r>
              <a:rPr lang="en-PH" sz="2800" dirty="0" smtClean="0">
                <a:latin typeface="Times New Roman" pitchFamily="18" charset="0"/>
                <a:cs typeface="Times New Roman" pitchFamily="18" charset="0"/>
              </a:rPr>
              <a:t>“</a:t>
            </a:r>
            <a:r>
              <a:rPr lang="en-PH" sz="2800" i="1" dirty="0" smtClean="0">
                <a:latin typeface="Times New Roman" pitchFamily="18" charset="0"/>
                <a:cs typeface="Times New Roman" pitchFamily="18" charset="0"/>
              </a:rPr>
              <a:t>at this point in time</a:t>
            </a:r>
            <a:r>
              <a:rPr lang="en-PH" sz="2800" dirty="0" smtClean="0">
                <a:latin typeface="Times New Roman" pitchFamily="18" charset="0"/>
                <a:cs typeface="Times New Roman" pitchFamily="18" charset="0"/>
              </a:rPr>
              <a:t>” instead of “</a:t>
            </a:r>
            <a:r>
              <a:rPr lang="en-PH" sz="2800" i="1" dirty="0" smtClean="0">
                <a:latin typeface="Times New Roman" pitchFamily="18" charset="0"/>
                <a:cs typeface="Times New Roman" pitchFamily="18" charset="0"/>
              </a:rPr>
              <a:t>now</a:t>
            </a:r>
            <a:r>
              <a:rPr lang="en-PH" sz="2800" dirty="0" smtClean="0">
                <a:latin typeface="Times New Roman" pitchFamily="18" charset="0"/>
                <a:cs typeface="Times New Roman" pitchFamily="18" charset="0"/>
              </a:rPr>
              <a:t>”, all prepositions that are drapped onto verbs that don’t need any help. </a:t>
            </a:r>
            <a:endParaRPr lang="en-PH" sz="2800" dirty="0">
              <a:latin typeface="Times New Roman" pitchFamily="18" charset="0"/>
              <a:cs typeface="Times New Roman" pitchFamily="18" charset="0"/>
            </a:endParaRPr>
          </a:p>
        </p:txBody>
      </p:sp>
      <p:sp>
        <p:nvSpPr>
          <p:cNvPr id="14" name="TextBox 13"/>
          <p:cNvSpPr txBox="1"/>
          <p:nvPr/>
        </p:nvSpPr>
        <p:spPr>
          <a:xfrm>
            <a:off x="1116236" y="7561064"/>
            <a:ext cx="11506676" cy="553998"/>
          </a:xfrm>
          <a:prstGeom prst="rect">
            <a:avLst/>
          </a:prstGeom>
          <a:noFill/>
        </p:spPr>
        <p:txBody>
          <a:bodyPr wrap="none" rtlCol="0">
            <a:spAutoFit/>
          </a:bodyPr>
          <a:lstStyle/>
          <a:p>
            <a:r>
              <a:rPr lang="en-PH" sz="3000" dirty="0" smtClean="0">
                <a:latin typeface="Times New Roman" pitchFamily="18" charset="0"/>
                <a:cs typeface="Times New Roman" pitchFamily="18" charset="0"/>
              </a:rPr>
              <a:t>To write clean English, you must examine every word your put on paper. </a:t>
            </a:r>
            <a:endParaRPr lang="en-PH" sz="3000" dirty="0">
              <a:latin typeface="Times New Roman" pitchFamily="18" charset="0"/>
              <a:cs typeface="Times New Roman" pitchFamily="18" charset="0"/>
            </a:endParaRPr>
          </a:p>
        </p:txBody>
      </p:sp>
    </p:spTree>
    <p:extLst>
      <p:ext uri="{BB962C8B-B14F-4D97-AF65-F5344CB8AC3E}">
        <p14:creationId xmlns:p14="http://schemas.microsoft.com/office/powerpoint/2010/main" val="184806399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6388" y="5112792"/>
            <a:ext cx="4161487" cy="40324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TextBox 4"/>
          <p:cNvSpPr txBox="1"/>
          <p:nvPr/>
        </p:nvSpPr>
        <p:spPr>
          <a:xfrm>
            <a:off x="540172" y="949973"/>
            <a:ext cx="1941557" cy="58477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200" b="1" dirty="0" smtClean="0">
                <a:latin typeface="Times New Roman" pitchFamily="18" charset="0"/>
                <a:cs typeface="Times New Roman" pitchFamily="18" charset="0"/>
              </a:rPr>
              <a:t>3. STYLE</a:t>
            </a:r>
            <a:endParaRPr lang="en-PH" sz="3200" b="1" dirty="0">
              <a:latin typeface="Times New Roman" pitchFamily="18" charset="0"/>
              <a:cs typeface="Times New Roman" pitchFamily="18" charset="0"/>
            </a:endParaRPr>
          </a:p>
        </p:txBody>
      </p:sp>
      <p:sp>
        <p:nvSpPr>
          <p:cNvPr id="6" name="TextBox 5"/>
          <p:cNvSpPr txBox="1"/>
          <p:nvPr/>
        </p:nvSpPr>
        <p:spPr>
          <a:xfrm>
            <a:off x="569343" y="5248097"/>
            <a:ext cx="3931269" cy="58477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200" b="1" dirty="0" smtClean="0">
                <a:latin typeface="Times New Roman" pitchFamily="18" charset="0"/>
                <a:cs typeface="Times New Roman" pitchFamily="18" charset="0"/>
              </a:rPr>
              <a:t>4. THE AUDIENCE </a:t>
            </a:r>
            <a:endParaRPr lang="en-PH" sz="3200" b="1" dirty="0">
              <a:latin typeface="Times New Roman" pitchFamily="18" charset="0"/>
              <a:cs typeface="Times New Roman" pitchFamily="18" charset="0"/>
            </a:endParaRPr>
          </a:p>
        </p:txBody>
      </p:sp>
      <p:sp>
        <p:nvSpPr>
          <p:cNvPr id="7" name="Rectangle 6"/>
          <p:cNvSpPr/>
          <p:nvPr/>
        </p:nvSpPr>
        <p:spPr>
          <a:xfrm>
            <a:off x="1044228" y="1886077"/>
            <a:ext cx="14689632" cy="1477328"/>
          </a:xfrm>
          <a:prstGeom prst="rect">
            <a:avLst/>
          </a:prstGeom>
        </p:spPr>
        <p:txBody>
          <a:bodyPr wrap="square">
            <a:spAutoFit/>
          </a:bodyPr>
          <a:lstStyle/>
          <a:p>
            <a:pPr algn="just"/>
            <a:r>
              <a:rPr lang="en-PH" sz="3000" b="1" dirty="0" smtClean="0">
                <a:latin typeface="Times New Roman" pitchFamily="18" charset="0"/>
                <a:cs typeface="Times New Roman" pitchFamily="18" charset="0"/>
              </a:rPr>
              <a:t>Writing </a:t>
            </a:r>
            <a:r>
              <a:rPr lang="en-PH" sz="3000" b="1" dirty="0">
                <a:latin typeface="Times New Roman" pitchFamily="18" charset="0"/>
                <a:cs typeface="Times New Roman" pitchFamily="18" charset="0"/>
              </a:rPr>
              <a:t>style </a:t>
            </a:r>
            <a:r>
              <a:rPr lang="en-PH" sz="3000" dirty="0">
                <a:latin typeface="Times New Roman" pitchFamily="18" charset="0"/>
                <a:cs typeface="Times New Roman" pitchFamily="18" charset="0"/>
              </a:rPr>
              <a:t>is the way it is written to fit the context, purpose, or audience it serves. </a:t>
            </a:r>
            <a:r>
              <a:rPr lang="en-PH" sz="3000" b="1" dirty="0">
                <a:latin typeface="Times New Roman" pitchFamily="18" charset="0"/>
                <a:cs typeface="Times New Roman" pitchFamily="18" charset="0"/>
              </a:rPr>
              <a:t>Writing styles</a:t>
            </a:r>
            <a:r>
              <a:rPr lang="en-PH" sz="3000" dirty="0">
                <a:latin typeface="Times New Roman" pitchFamily="18" charset="0"/>
                <a:cs typeface="Times New Roman" pitchFamily="18" charset="0"/>
              </a:rPr>
              <a:t> are influenced by a number of factors, including the choice of words, the fluency of sentences, and the voice of the writer.</a:t>
            </a:r>
          </a:p>
        </p:txBody>
      </p:sp>
      <p:sp>
        <p:nvSpPr>
          <p:cNvPr id="8" name="Rectangle 7"/>
          <p:cNvSpPr/>
          <p:nvPr/>
        </p:nvSpPr>
        <p:spPr>
          <a:xfrm>
            <a:off x="1044228" y="3393188"/>
            <a:ext cx="14545616" cy="1477328"/>
          </a:xfrm>
          <a:prstGeom prst="rect">
            <a:avLst/>
          </a:prstGeom>
        </p:spPr>
        <p:txBody>
          <a:bodyPr wrap="square">
            <a:spAutoFit/>
          </a:bodyPr>
          <a:lstStyle/>
          <a:p>
            <a:pPr algn="just"/>
            <a:r>
              <a:rPr lang="en-PH" sz="3000" dirty="0">
                <a:latin typeface="Times New Roman" pitchFamily="18" charset="0"/>
                <a:cs typeface="Times New Roman" pitchFamily="18" charset="0"/>
              </a:rPr>
              <a:t>In any language, different styles of expression are appropriate in different situations. We can go from the formal to the </a:t>
            </a:r>
            <a:r>
              <a:rPr lang="en-PH" sz="3000" dirty="0" smtClean="0">
                <a:latin typeface="Times New Roman" pitchFamily="18" charset="0"/>
                <a:cs typeface="Times New Roman" pitchFamily="18" charset="0"/>
              </a:rPr>
              <a:t>informal, </a:t>
            </a:r>
            <a:r>
              <a:rPr lang="en-PH" sz="3000" dirty="0">
                <a:latin typeface="Times New Roman" pitchFamily="18" charset="0"/>
                <a:cs typeface="Times New Roman" pitchFamily="18" charset="0"/>
              </a:rPr>
              <a:t>the written to the spoken, from technical language (or jargon) to slang . </a:t>
            </a:r>
          </a:p>
        </p:txBody>
      </p:sp>
      <p:sp>
        <p:nvSpPr>
          <p:cNvPr id="9" name="TextBox 8"/>
          <p:cNvSpPr txBox="1"/>
          <p:nvPr/>
        </p:nvSpPr>
        <p:spPr>
          <a:xfrm>
            <a:off x="1044228" y="6155744"/>
            <a:ext cx="14545616" cy="1477328"/>
          </a:xfrm>
          <a:prstGeom prst="rect">
            <a:avLst/>
          </a:prstGeom>
          <a:noFill/>
        </p:spPr>
        <p:txBody>
          <a:bodyPr wrap="square" rtlCol="0">
            <a:spAutoFit/>
          </a:bodyPr>
          <a:lstStyle/>
          <a:p>
            <a:pPr algn="just"/>
            <a:r>
              <a:rPr lang="en-PH" sz="3000" dirty="0" smtClean="0">
                <a:latin typeface="Times New Roman" pitchFamily="18" charset="0"/>
                <a:cs typeface="Times New Roman" pitchFamily="18" charset="0"/>
              </a:rPr>
              <a:t>After confronting with the matter of preserving the identity, another question will be asked: Who am I writing for? It’s a fundamental questions, and it has a fundamental answer: You are writing  yourself. Don’t try to visualize the great mass </a:t>
            </a:r>
            <a:r>
              <a:rPr lang="en-PH" sz="3000" b="1" dirty="0" smtClean="0">
                <a:latin typeface="Times New Roman" pitchFamily="18" charset="0"/>
                <a:cs typeface="Times New Roman" pitchFamily="18" charset="0"/>
              </a:rPr>
              <a:t>audience</a:t>
            </a:r>
            <a:r>
              <a:rPr lang="en-PH" sz="3000" dirty="0" smtClean="0">
                <a:latin typeface="Times New Roman" pitchFamily="18" charset="0"/>
                <a:cs typeface="Times New Roman" pitchFamily="18" charset="0"/>
              </a:rPr>
              <a:t>. </a:t>
            </a:r>
            <a:endParaRPr lang="en-PH" sz="3000" dirty="0">
              <a:latin typeface="Times New Roman" pitchFamily="18" charset="0"/>
              <a:cs typeface="Times New Roman" pitchFamily="18" charset="0"/>
            </a:endParaRPr>
          </a:p>
        </p:txBody>
      </p:sp>
    </p:spTree>
    <p:extLst>
      <p:ext uri="{BB962C8B-B14F-4D97-AF65-F5344CB8AC3E}">
        <p14:creationId xmlns:p14="http://schemas.microsoft.com/office/powerpoint/2010/main" val="1848063996"/>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TextBox 5"/>
          <p:cNvSpPr txBox="1"/>
          <p:nvPr/>
        </p:nvSpPr>
        <p:spPr>
          <a:xfrm>
            <a:off x="335045" y="288256"/>
            <a:ext cx="2137701" cy="58477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200" b="1" dirty="0" smtClean="0">
                <a:latin typeface="Times New Roman" pitchFamily="18" charset="0"/>
                <a:cs typeface="Times New Roman" pitchFamily="18" charset="0"/>
              </a:rPr>
              <a:t>5. WORDS</a:t>
            </a:r>
            <a:endParaRPr lang="en-PH" sz="3200" b="1" dirty="0">
              <a:latin typeface="Times New Roman" pitchFamily="18" charset="0"/>
              <a:cs typeface="Times New Roman" pitchFamily="18" charset="0"/>
            </a:endParaRPr>
          </a:p>
        </p:txBody>
      </p:sp>
      <p:sp>
        <p:nvSpPr>
          <p:cNvPr id="7" name="TextBox 6"/>
          <p:cNvSpPr txBox="1"/>
          <p:nvPr/>
        </p:nvSpPr>
        <p:spPr>
          <a:xfrm>
            <a:off x="355948" y="2943841"/>
            <a:ext cx="2008883" cy="58477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200" b="1" dirty="0">
                <a:latin typeface="Times New Roman" pitchFamily="18" charset="0"/>
                <a:cs typeface="Times New Roman" pitchFamily="18" charset="0"/>
              </a:rPr>
              <a:t>6</a:t>
            </a:r>
            <a:r>
              <a:rPr lang="en-PH" sz="3200" b="1" dirty="0" smtClean="0">
                <a:latin typeface="Times New Roman" pitchFamily="18" charset="0"/>
                <a:cs typeface="Times New Roman" pitchFamily="18" charset="0"/>
              </a:rPr>
              <a:t>. USAGE</a:t>
            </a:r>
            <a:endParaRPr lang="en-PH" sz="3200" b="1" dirty="0">
              <a:latin typeface="Times New Roman" pitchFamily="18" charset="0"/>
              <a:cs typeface="Times New Roman" pitchFamily="18" charset="0"/>
            </a:endParaRPr>
          </a:p>
        </p:txBody>
      </p:sp>
      <p:sp>
        <p:nvSpPr>
          <p:cNvPr id="2" name="TextBox 1"/>
          <p:cNvSpPr txBox="1"/>
          <p:nvPr/>
        </p:nvSpPr>
        <p:spPr>
          <a:xfrm>
            <a:off x="805904" y="1080344"/>
            <a:ext cx="14783940" cy="1477328"/>
          </a:xfrm>
          <a:prstGeom prst="rect">
            <a:avLst/>
          </a:prstGeom>
          <a:noFill/>
        </p:spPr>
        <p:txBody>
          <a:bodyPr wrap="square" rtlCol="0">
            <a:spAutoFit/>
          </a:bodyPr>
          <a:lstStyle/>
          <a:p>
            <a:pPr algn="just"/>
            <a:r>
              <a:rPr lang="en-PH" sz="3000" dirty="0" smtClean="0">
                <a:latin typeface="Times New Roman" pitchFamily="18" charset="0"/>
                <a:cs typeface="Times New Roman" pitchFamily="18" charset="0"/>
              </a:rPr>
              <a:t>You will never make your mark as a writer unless you develop a respect for </a:t>
            </a:r>
            <a:r>
              <a:rPr lang="en-PH" sz="3000" b="1" dirty="0" smtClean="0">
                <a:latin typeface="Times New Roman" pitchFamily="18" charset="0"/>
                <a:cs typeface="Times New Roman" pitchFamily="18" charset="0"/>
              </a:rPr>
              <a:t>word</a:t>
            </a:r>
            <a:r>
              <a:rPr lang="en-PH" sz="3000" dirty="0" smtClean="0">
                <a:latin typeface="Times New Roman" pitchFamily="18" charset="0"/>
                <a:cs typeface="Times New Roman" pitchFamily="18" charset="0"/>
              </a:rPr>
              <a:t>s and a curiosity about their shades of meaning that is almost obsessive. The English language is rich in strong words.</a:t>
            </a:r>
            <a:endParaRPr lang="en-PH" sz="3000" dirty="0">
              <a:latin typeface="Times New Roman" pitchFamily="18" charset="0"/>
              <a:cs typeface="Times New Roman" pitchFamily="18" charset="0"/>
            </a:endParaRPr>
          </a:p>
        </p:txBody>
      </p:sp>
      <p:sp>
        <p:nvSpPr>
          <p:cNvPr id="9" name="Rectangle 8"/>
          <p:cNvSpPr/>
          <p:nvPr/>
        </p:nvSpPr>
        <p:spPr>
          <a:xfrm>
            <a:off x="900212" y="3779480"/>
            <a:ext cx="14617624" cy="1477328"/>
          </a:xfrm>
          <a:prstGeom prst="rect">
            <a:avLst/>
          </a:prstGeom>
        </p:spPr>
        <p:txBody>
          <a:bodyPr wrap="square">
            <a:spAutoFit/>
          </a:bodyPr>
          <a:lstStyle/>
          <a:p>
            <a:pPr algn="just"/>
            <a:r>
              <a:rPr lang="en-PH" sz="3000" b="1" dirty="0" smtClean="0">
                <a:latin typeface="Times New Roman" pitchFamily="18" charset="0"/>
                <a:cs typeface="Times New Roman" pitchFamily="18" charset="0"/>
              </a:rPr>
              <a:t>Usage</a:t>
            </a:r>
            <a:r>
              <a:rPr lang="en-PH" sz="3000" dirty="0" smtClean="0">
                <a:latin typeface="Times New Roman" pitchFamily="18" charset="0"/>
                <a:cs typeface="Times New Roman" pitchFamily="18" charset="0"/>
              </a:rPr>
              <a:t> </a:t>
            </a:r>
            <a:r>
              <a:rPr lang="en-PH" sz="3000" dirty="0">
                <a:latin typeface="Times New Roman" pitchFamily="18" charset="0"/>
                <a:cs typeface="Times New Roman" pitchFamily="18" charset="0"/>
              </a:rPr>
              <a:t>refers to using specific words in a manner that will be thought of as either acceptable or unacceptable. The question of whether or not to split an infinitive is a consideration of grammar; the question of whether one should use literally in a nonliteral sense is one of usage</a:t>
            </a:r>
            <a:r>
              <a:rPr lang="en-PH" sz="3000" dirty="0" smtClean="0">
                <a:latin typeface="Times New Roman" pitchFamily="18" charset="0"/>
                <a:cs typeface="Times New Roman" pitchFamily="18" charset="0"/>
              </a:rPr>
              <a:t>.</a:t>
            </a:r>
            <a:endParaRPr lang="en-PH" sz="3000" dirty="0">
              <a:latin typeface="Times New Roman" pitchFamily="18" charset="0"/>
              <a:cs typeface="Times New Roman" pitchFamily="18" charset="0"/>
            </a:endParaRPr>
          </a:p>
        </p:txBody>
      </p:sp>
      <p:sp>
        <p:nvSpPr>
          <p:cNvPr id="10" name="TextBox 9"/>
          <p:cNvSpPr txBox="1"/>
          <p:nvPr/>
        </p:nvSpPr>
        <p:spPr>
          <a:xfrm>
            <a:off x="408179" y="5608137"/>
            <a:ext cx="2076209" cy="58477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200" b="1" dirty="0">
                <a:latin typeface="Times New Roman" pitchFamily="18" charset="0"/>
                <a:cs typeface="Times New Roman" pitchFamily="18" charset="0"/>
              </a:rPr>
              <a:t>7</a:t>
            </a:r>
            <a:r>
              <a:rPr lang="en-PH" sz="3200" b="1" dirty="0" smtClean="0">
                <a:latin typeface="Times New Roman" pitchFamily="18" charset="0"/>
                <a:cs typeface="Times New Roman" pitchFamily="18" charset="0"/>
              </a:rPr>
              <a:t>. FORMS</a:t>
            </a:r>
            <a:endParaRPr lang="en-PH" sz="3200" b="1" dirty="0">
              <a:latin typeface="Times New Roman" pitchFamily="18" charset="0"/>
              <a:cs typeface="Times New Roman" pitchFamily="18" charset="0"/>
            </a:endParaRPr>
          </a:p>
        </p:txBody>
      </p:sp>
      <p:sp>
        <p:nvSpPr>
          <p:cNvPr id="11" name="Rectangle 10"/>
          <p:cNvSpPr/>
          <p:nvPr/>
        </p:nvSpPr>
        <p:spPr>
          <a:xfrm>
            <a:off x="972220" y="6443776"/>
            <a:ext cx="14473608" cy="1477328"/>
          </a:xfrm>
          <a:prstGeom prst="rect">
            <a:avLst/>
          </a:prstGeom>
        </p:spPr>
        <p:txBody>
          <a:bodyPr wrap="square">
            <a:spAutoFit/>
          </a:bodyPr>
          <a:lstStyle/>
          <a:p>
            <a:pPr algn="just"/>
            <a:r>
              <a:rPr lang="en-PH" sz="3000" b="1" dirty="0" smtClean="0">
                <a:latin typeface="Times New Roman" pitchFamily="18" charset="0"/>
                <a:cs typeface="Times New Roman" pitchFamily="18" charset="0"/>
              </a:rPr>
              <a:t>Form </a:t>
            </a:r>
            <a:r>
              <a:rPr lang="en-PH" sz="3000" dirty="0" smtClean="0">
                <a:latin typeface="Times New Roman" pitchFamily="18" charset="0"/>
                <a:cs typeface="Times New Roman" pitchFamily="18" charset="0"/>
              </a:rPr>
              <a:t>refers to a </a:t>
            </a:r>
            <a:r>
              <a:rPr lang="en-PH" sz="3000" dirty="0">
                <a:latin typeface="Times New Roman" pitchFamily="18" charset="0"/>
                <a:cs typeface="Times New Roman" pitchFamily="18" charset="0"/>
              </a:rPr>
              <a:t>word, part of a word, or group of words forming a construction that recurs in various contexts in a language with relatively constant meaning. </a:t>
            </a:r>
            <a:r>
              <a:rPr lang="en-PH" sz="3000" dirty="0" smtClean="0">
                <a:latin typeface="Times New Roman" pitchFamily="18" charset="0"/>
                <a:cs typeface="Times New Roman" pitchFamily="18" charset="0"/>
              </a:rPr>
              <a:t>In </a:t>
            </a:r>
            <a:r>
              <a:rPr lang="en-PH" sz="3000" dirty="0">
                <a:latin typeface="Times New Roman" pitchFamily="18" charset="0"/>
                <a:cs typeface="Times New Roman" pitchFamily="18" charset="0"/>
              </a:rPr>
              <a:t>a given context, certain forms are required in English to be considered accurate.</a:t>
            </a:r>
          </a:p>
        </p:txBody>
      </p:sp>
    </p:spTree>
    <p:extLst>
      <p:ext uri="{BB962C8B-B14F-4D97-AF65-F5344CB8AC3E}">
        <p14:creationId xmlns:p14="http://schemas.microsoft.com/office/powerpoint/2010/main" val="236303320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7" name="TextBox 6"/>
          <p:cNvSpPr txBox="1"/>
          <p:nvPr/>
        </p:nvSpPr>
        <p:spPr>
          <a:xfrm>
            <a:off x="324148" y="936328"/>
            <a:ext cx="1919115" cy="58477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200" b="1" dirty="0">
                <a:latin typeface="Times New Roman" pitchFamily="18" charset="0"/>
                <a:cs typeface="Times New Roman" pitchFamily="18" charset="0"/>
              </a:rPr>
              <a:t>8</a:t>
            </a:r>
            <a:r>
              <a:rPr lang="en-PH" sz="3200" b="1" dirty="0" smtClean="0">
                <a:latin typeface="Times New Roman" pitchFamily="18" charset="0"/>
                <a:cs typeface="Times New Roman" pitchFamily="18" charset="0"/>
              </a:rPr>
              <a:t>. UNITY</a:t>
            </a:r>
            <a:endParaRPr lang="en-PH" sz="3200" b="1" dirty="0">
              <a:latin typeface="Times New Roman" pitchFamily="18" charset="0"/>
              <a:cs typeface="Times New Roman" pitchFamily="18" charset="0"/>
            </a:endParaRPr>
          </a:p>
        </p:txBody>
      </p:sp>
      <p:sp>
        <p:nvSpPr>
          <p:cNvPr id="8" name="TextBox 7"/>
          <p:cNvSpPr txBox="1"/>
          <p:nvPr/>
        </p:nvSpPr>
        <p:spPr>
          <a:xfrm>
            <a:off x="403124" y="4536728"/>
            <a:ext cx="2801344" cy="584775"/>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PH" sz="3200" b="1" dirty="0" smtClean="0">
                <a:latin typeface="Times New Roman" pitchFamily="18" charset="0"/>
                <a:cs typeface="Times New Roman" pitchFamily="18" charset="0"/>
              </a:rPr>
              <a:t>9. THE LEAD </a:t>
            </a:r>
            <a:endParaRPr lang="en-PH" sz="3200" b="1" dirty="0">
              <a:latin typeface="Times New Roman" pitchFamily="18" charset="0"/>
              <a:cs typeface="Times New Roman" pitchFamily="18" charset="0"/>
            </a:endParaRPr>
          </a:p>
        </p:txBody>
      </p:sp>
      <p:sp>
        <p:nvSpPr>
          <p:cNvPr id="2" name="TextBox 1"/>
          <p:cNvSpPr txBox="1"/>
          <p:nvPr/>
        </p:nvSpPr>
        <p:spPr>
          <a:xfrm>
            <a:off x="612180" y="1728416"/>
            <a:ext cx="15034005" cy="2400657"/>
          </a:xfrm>
          <a:prstGeom prst="rect">
            <a:avLst/>
          </a:prstGeom>
          <a:noFill/>
        </p:spPr>
        <p:txBody>
          <a:bodyPr wrap="square" rtlCol="0">
            <a:spAutoFit/>
          </a:bodyPr>
          <a:lstStyle/>
          <a:p>
            <a:pPr algn="just"/>
            <a:r>
              <a:rPr lang="en-PH" sz="3000" dirty="0" smtClean="0">
                <a:latin typeface="Times New Roman" pitchFamily="18" charset="0"/>
                <a:cs typeface="Times New Roman" pitchFamily="18" charset="0"/>
              </a:rPr>
              <a:t>It is the anchor of good writing. It only keeps the readers from straggling off  in all directions. It also satisfies the reader’s subconscious need for order and gives reassurance that all is well at the helm. Therefore, choose from among the many variable and stick to your choice. </a:t>
            </a:r>
            <a:r>
              <a:rPr lang="en-PH" sz="3000" b="1" dirty="0">
                <a:latin typeface="Times New Roman" pitchFamily="18" charset="0"/>
                <a:cs typeface="Times New Roman" pitchFamily="18" charset="0"/>
              </a:rPr>
              <a:t>Unity </a:t>
            </a:r>
            <a:r>
              <a:rPr lang="en-PH" sz="3000" dirty="0">
                <a:latin typeface="Times New Roman" pitchFamily="18" charset="0"/>
                <a:cs typeface="Times New Roman" pitchFamily="18" charset="0"/>
              </a:rPr>
              <a:t>is also the quality of having the ideas and examples in a piece of writing clearly related to the topic and to each other</a:t>
            </a:r>
            <a:r>
              <a:rPr lang="en-PH" sz="3000" dirty="0" smtClean="0">
                <a:latin typeface="Times New Roman" pitchFamily="18" charset="0"/>
                <a:cs typeface="Times New Roman" pitchFamily="18" charset="0"/>
              </a:rPr>
              <a:t>.</a:t>
            </a:r>
            <a:endParaRPr lang="en-PH" sz="3000" dirty="0">
              <a:latin typeface="Times New Roman" pitchFamily="18" charset="0"/>
              <a:cs typeface="Times New Roman" pitchFamily="18" charset="0"/>
            </a:endParaRPr>
          </a:p>
        </p:txBody>
      </p:sp>
      <p:sp>
        <p:nvSpPr>
          <p:cNvPr id="9" name="TextBox 8"/>
          <p:cNvSpPr txBox="1"/>
          <p:nvPr/>
        </p:nvSpPr>
        <p:spPr>
          <a:xfrm>
            <a:off x="699856" y="5550064"/>
            <a:ext cx="15034004" cy="1938992"/>
          </a:xfrm>
          <a:prstGeom prst="rect">
            <a:avLst/>
          </a:prstGeom>
          <a:noFill/>
        </p:spPr>
        <p:txBody>
          <a:bodyPr wrap="square" rtlCol="0">
            <a:spAutoFit/>
          </a:bodyPr>
          <a:lstStyle/>
          <a:p>
            <a:pPr algn="just"/>
            <a:r>
              <a:rPr lang="en-PH" sz="3000" dirty="0" smtClean="0">
                <a:latin typeface="Times New Roman" pitchFamily="18" charset="0"/>
                <a:cs typeface="Times New Roman" pitchFamily="18" charset="0"/>
              </a:rPr>
              <a:t>It is the most important sentence in any article is the lead. If it doesn’t induce the reader to proceed to the second sentence, your article is dead. And if  the second sentence doesn’t induce him to continue to the third sentence, each tugging the reader forward until he is safely hooked, a writer constructs that fateful unit, the </a:t>
            </a:r>
            <a:r>
              <a:rPr lang="en-PH" sz="3000" b="1" dirty="0" smtClean="0">
                <a:latin typeface="Times New Roman" pitchFamily="18" charset="0"/>
                <a:cs typeface="Times New Roman" pitchFamily="18" charset="0"/>
              </a:rPr>
              <a:t>“LEAD</a:t>
            </a:r>
            <a:r>
              <a:rPr lang="en-PH" sz="3000" dirty="0" smtClean="0">
                <a:latin typeface="Times New Roman" pitchFamily="18" charset="0"/>
                <a:cs typeface="Times New Roman" pitchFamily="18" charset="0"/>
              </a:rPr>
              <a:t>”.</a:t>
            </a:r>
            <a:endParaRPr lang="en-PH" sz="3000" dirty="0">
              <a:latin typeface="Times New Roman" pitchFamily="18" charset="0"/>
              <a:cs typeface="Times New Roman" pitchFamily="18" charset="0"/>
            </a:endParaRPr>
          </a:p>
        </p:txBody>
      </p:sp>
    </p:spTree>
    <p:extLst>
      <p:ext uri="{BB962C8B-B14F-4D97-AF65-F5344CB8AC3E}">
        <p14:creationId xmlns:p14="http://schemas.microsoft.com/office/powerpoint/2010/main" val="3990364114"/>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Literature PowerPoint Template | Free Powerpoint Templates | Plantillas de  fondo de powerpoint, Fondos de pantalla de power point, Fondos para power  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396" y="4958730"/>
            <a:ext cx="4320479" cy="41865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08124"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6" name="TextBox 5"/>
          <p:cNvSpPr txBox="1"/>
          <p:nvPr/>
        </p:nvSpPr>
        <p:spPr>
          <a:xfrm>
            <a:off x="540172" y="432272"/>
            <a:ext cx="3228769" cy="769441"/>
          </a:xfrm>
          <a:prstGeom prst="rect">
            <a:avLst/>
          </a:prstGeom>
          <a:noFill/>
        </p:spPr>
        <p:txBody>
          <a:bodyPr wrap="none" rtlCol="0">
            <a:spAutoFit/>
          </a:bodyPr>
          <a:lstStyle/>
          <a:p>
            <a:r>
              <a:rPr lang="en-PH" sz="4400" b="1" dirty="0" smtClean="0">
                <a:latin typeface="Arial" pitchFamily="34" charset="0"/>
                <a:cs typeface="Arial" pitchFamily="34" charset="0"/>
              </a:rPr>
              <a:t>References</a:t>
            </a:r>
            <a:endParaRPr lang="en-PH" sz="4400" b="1" dirty="0">
              <a:latin typeface="Arial" pitchFamily="34" charset="0"/>
              <a:cs typeface="Arial" pitchFamily="34" charset="0"/>
            </a:endParaRPr>
          </a:p>
        </p:txBody>
      </p:sp>
      <p:sp>
        <p:nvSpPr>
          <p:cNvPr id="7" name="Rectangle 6"/>
          <p:cNvSpPr/>
          <p:nvPr/>
        </p:nvSpPr>
        <p:spPr>
          <a:xfrm>
            <a:off x="3768941" y="890609"/>
            <a:ext cx="10956807" cy="45719"/>
          </a:xfrm>
          <a:prstGeom prst="rect">
            <a:avLst/>
          </a:prstGeom>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7"/>
          <p:cNvSpPr/>
          <p:nvPr/>
        </p:nvSpPr>
        <p:spPr>
          <a:xfrm>
            <a:off x="1116236" y="2736528"/>
            <a:ext cx="13889649" cy="492443"/>
          </a:xfrm>
          <a:prstGeom prst="rect">
            <a:avLst/>
          </a:prstGeom>
        </p:spPr>
        <p:txBody>
          <a:bodyPr wrap="square">
            <a:spAutoFit/>
          </a:bodyPr>
          <a:lstStyle/>
          <a:p>
            <a:r>
              <a:rPr lang="en-PH" sz="2600" dirty="0" err="1"/>
              <a:t>Nida</a:t>
            </a:r>
            <a:r>
              <a:rPr lang="en-PH" sz="2600" dirty="0"/>
              <a:t>, E. (1964). Toward a science of translation</a:t>
            </a:r>
            <a:r>
              <a:rPr lang="en-PH" sz="2600" dirty="0" smtClean="0"/>
              <a:t>. Leiden</a:t>
            </a:r>
            <a:r>
              <a:rPr lang="en-PH" sz="2600" dirty="0"/>
              <a:t>: Brill.</a:t>
            </a:r>
          </a:p>
        </p:txBody>
      </p:sp>
      <p:sp>
        <p:nvSpPr>
          <p:cNvPr id="9" name="Rectangle 8"/>
          <p:cNvSpPr/>
          <p:nvPr/>
        </p:nvSpPr>
        <p:spPr>
          <a:xfrm>
            <a:off x="1147919" y="3372987"/>
            <a:ext cx="14297909" cy="892552"/>
          </a:xfrm>
          <a:prstGeom prst="rect">
            <a:avLst/>
          </a:prstGeom>
        </p:spPr>
        <p:txBody>
          <a:bodyPr wrap="square">
            <a:spAutoFit/>
          </a:bodyPr>
          <a:lstStyle/>
          <a:p>
            <a:r>
              <a:rPr lang="en-PH" sz="2600" dirty="0" err="1" smtClean="0"/>
              <a:t>Owji</a:t>
            </a:r>
            <a:r>
              <a:rPr lang="en-PH" sz="2600" dirty="0" smtClean="0"/>
              <a:t>, Z. (2013). Translation </a:t>
            </a:r>
            <a:r>
              <a:rPr lang="en-PH" sz="2600" dirty="0"/>
              <a:t>Strategies</a:t>
            </a:r>
            <a:r>
              <a:rPr lang="en-PH" sz="2600" dirty="0" smtClean="0"/>
              <a:t>: A </a:t>
            </a:r>
            <a:r>
              <a:rPr lang="en-PH" sz="2600" dirty="0"/>
              <a:t>Review and Comparison of </a:t>
            </a:r>
            <a:r>
              <a:rPr lang="en-PH" sz="2600" dirty="0" smtClean="0"/>
              <a:t>Theories. Vol. 17, No. </a:t>
            </a:r>
            <a:r>
              <a:rPr lang="en-PH" sz="2600" dirty="0"/>
              <a:t>1. </a:t>
            </a:r>
            <a:r>
              <a:rPr lang="en-PH" sz="2600" dirty="0">
                <a:hlinkClick r:id="rId3"/>
              </a:rPr>
              <a:t>https://</a:t>
            </a:r>
            <a:r>
              <a:rPr lang="en-PH" sz="2600" dirty="0" smtClean="0">
                <a:hlinkClick r:id="rId3"/>
              </a:rPr>
              <a:t>translationjournal.net/journal/63theory.htm</a:t>
            </a:r>
            <a:endParaRPr lang="en-PH" sz="2600" dirty="0"/>
          </a:p>
        </p:txBody>
      </p:sp>
      <p:sp>
        <p:nvSpPr>
          <p:cNvPr id="10" name="Rectangle 9"/>
          <p:cNvSpPr/>
          <p:nvPr/>
        </p:nvSpPr>
        <p:spPr>
          <a:xfrm>
            <a:off x="1116236" y="2088456"/>
            <a:ext cx="13433813" cy="492443"/>
          </a:xfrm>
          <a:prstGeom prst="rect">
            <a:avLst/>
          </a:prstGeom>
        </p:spPr>
        <p:txBody>
          <a:bodyPr wrap="square">
            <a:spAutoFit/>
          </a:bodyPr>
          <a:lstStyle/>
          <a:p>
            <a:r>
              <a:rPr lang="en-PH" sz="2600" dirty="0" err="1"/>
              <a:t>Newmark</a:t>
            </a:r>
            <a:r>
              <a:rPr lang="en-PH" sz="2600" dirty="0"/>
              <a:t>, P. (1988). A Textbook of Translation. New York: Prentice Hall.</a:t>
            </a:r>
          </a:p>
        </p:txBody>
      </p:sp>
      <p:sp>
        <p:nvSpPr>
          <p:cNvPr id="12" name="Rectangle 11"/>
          <p:cNvSpPr/>
          <p:nvPr/>
        </p:nvSpPr>
        <p:spPr>
          <a:xfrm>
            <a:off x="1147918" y="1499031"/>
            <a:ext cx="14585941" cy="492443"/>
          </a:xfrm>
          <a:prstGeom prst="rect">
            <a:avLst/>
          </a:prstGeom>
        </p:spPr>
        <p:txBody>
          <a:bodyPr wrap="square">
            <a:spAutoFit/>
          </a:bodyPr>
          <a:lstStyle/>
          <a:p>
            <a:r>
              <a:rPr lang="en-PH" sz="2600" dirty="0" err="1"/>
              <a:t>Hatim</a:t>
            </a:r>
            <a:r>
              <a:rPr lang="en-PH" sz="2600" dirty="0"/>
              <a:t>, B. and I. Mason (1997). The Translator as Communicator. London and New York</a:t>
            </a:r>
            <a:r>
              <a:rPr lang="en-PH" sz="2600" dirty="0" smtClean="0"/>
              <a:t>: </a:t>
            </a:r>
            <a:r>
              <a:rPr lang="en-PH" sz="2600" dirty="0" err="1" smtClean="0"/>
              <a:t>Routledge</a:t>
            </a:r>
            <a:endParaRPr lang="en-PH" sz="2600" dirty="0"/>
          </a:p>
        </p:txBody>
      </p:sp>
    </p:spTree>
    <p:extLst>
      <p:ext uri="{BB962C8B-B14F-4D97-AF65-F5344CB8AC3E}">
        <p14:creationId xmlns:p14="http://schemas.microsoft.com/office/powerpoint/2010/main" val="2980354413"/>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Green School Board Powerpoint Templates - Education, School - Free PPT  Backgrounds and Templat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5" name="AutoShape 5" descr="Sweet Blackboard for Education Backgrounds | Beige, Black, Educational,  Green, White Templates | Free PPT Grounds and PowerPoi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9728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75" y="576288"/>
            <a:ext cx="14905061" cy="832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3222505" y="3573329"/>
            <a:ext cx="10495131" cy="1323439"/>
          </a:xfrm>
          <a:prstGeom prst="rect">
            <a:avLst/>
          </a:prstGeom>
          <a:scene3d>
            <a:camera prst="isometricOffAxis2Left"/>
            <a:lightRig rig="threePt" dir="t"/>
          </a:scene3d>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en-PH" sz="8000" b="1" dirty="0" smtClean="0">
                <a:latin typeface="Century Gothic" pitchFamily="34" charset="0"/>
              </a:rPr>
              <a:t>CREATIVE WRITING </a:t>
            </a:r>
            <a:endParaRPr lang="en-PH" sz="8000" b="1" dirty="0">
              <a:latin typeface="Century Gothic" pitchFamily="34" charset="0"/>
            </a:endParaRPr>
          </a:p>
        </p:txBody>
      </p:sp>
    </p:spTree>
    <p:extLst>
      <p:ext uri="{BB962C8B-B14F-4D97-AF65-F5344CB8AC3E}">
        <p14:creationId xmlns:p14="http://schemas.microsoft.com/office/powerpoint/2010/main" val="2718500239"/>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descr="Free English PowerPoint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51" y="6624960"/>
            <a:ext cx="3120143" cy="24986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684188" y="792312"/>
            <a:ext cx="6283002" cy="1015663"/>
          </a:xfrm>
          <a:prstGeom prst="rect">
            <a:avLst/>
          </a:prstGeom>
          <a:noFill/>
        </p:spPr>
        <p:txBody>
          <a:bodyPr wrap="none" rtlCol="0">
            <a:spAutoFit/>
          </a:bodyPr>
          <a:lstStyle/>
          <a:p>
            <a:r>
              <a:rPr lang="en-PH" sz="6000" b="1" dirty="0" smtClean="0">
                <a:latin typeface="Arial" pitchFamily="34" charset="0"/>
                <a:cs typeface="Arial" pitchFamily="34" charset="0"/>
              </a:rPr>
              <a:t>Creative Writing </a:t>
            </a:r>
            <a:endParaRPr lang="en-PH" sz="6000" b="1" dirty="0">
              <a:latin typeface="Arial" pitchFamily="34" charset="0"/>
              <a:cs typeface="Arial" pitchFamily="34" charset="0"/>
            </a:endParaRPr>
          </a:p>
        </p:txBody>
      </p:sp>
      <p:sp>
        <p:nvSpPr>
          <p:cNvPr id="3" name="TextBox 2"/>
          <p:cNvSpPr txBox="1"/>
          <p:nvPr/>
        </p:nvSpPr>
        <p:spPr>
          <a:xfrm>
            <a:off x="1404268" y="2520504"/>
            <a:ext cx="13703736" cy="2862322"/>
          </a:xfrm>
          <a:prstGeom prst="rect">
            <a:avLst/>
          </a:prstGeom>
          <a:noFill/>
        </p:spPr>
        <p:txBody>
          <a:bodyPr wrap="square" rtlCol="0">
            <a:spAutoFit/>
          </a:bodyPr>
          <a:lstStyle/>
          <a:p>
            <a:pPr marL="457200" indent="-457200" algn="just">
              <a:buFont typeface="Wingdings" pitchFamily="2" charset="2"/>
              <a:buChar char="q"/>
            </a:pPr>
            <a:r>
              <a:rPr lang="en-PH" dirty="0" smtClean="0"/>
              <a:t> </a:t>
            </a:r>
            <a:r>
              <a:rPr lang="en-PH" sz="3600" dirty="0" smtClean="0">
                <a:latin typeface="Times New Roman" pitchFamily="18" charset="0"/>
                <a:cs typeface="Times New Roman" pitchFamily="18" charset="0"/>
              </a:rPr>
              <a:t>It is any writing </a:t>
            </a:r>
            <a:r>
              <a:rPr lang="en-PH" sz="3600" i="1" dirty="0" smtClean="0">
                <a:latin typeface="Times New Roman" pitchFamily="18" charset="0"/>
                <a:cs typeface="Times New Roman" pitchFamily="18" charset="0"/>
              </a:rPr>
              <a:t>(fiction or non-fiction</a:t>
            </a:r>
            <a:r>
              <a:rPr lang="en-PH" sz="3600" dirty="0" smtClean="0">
                <a:latin typeface="Times New Roman" pitchFamily="18" charset="0"/>
                <a:cs typeface="Times New Roman" pitchFamily="18" charset="0"/>
              </a:rPr>
              <a:t>) that goes outside the bounds of normal professional, journalistic, academic and technical forms of literature. </a:t>
            </a:r>
          </a:p>
          <a:p>
            <a:pPr marL="457200" indent="-457200" algn="just">
              <a:buFont typeface="Wingdings" pitchFamily="2" charset="2"/>
              <a:buChar char="q"/>
            </a:pPr>
            <a:r>
              <a:rPr lang="en-PH" sz="3600" dirty="0" smtClean="0">
                <a:latin typeface="Times New Roman" pitchFamily="18" charset="0"/>
                <a:cs typeface="Times New Roman" pitchFamily="18" charset="0"/>
              </a:rPr>
              <a:t>It is a form of artistic expression which draws on the </a:t>
            </a:r>
            <a:r>
              <a:rPr lang="en-PH" sz="3600" u="sng" dirty="0" smtClean="0">
                <a:latin typeface="Times New Roman" pitchFamily="18" charset="0"/>
                <a:cs typeface="Times New Roman" pitchFamily="18" charset="0"/>
              </a:rPr>
              <a:t>imagination</a:t>
            </a:r>
            <a:r>
              <a:rPr lang="en-PH" sz="3600" dirty="0" smtClean="0">
                <a:latin typeface="Times New Roman" pitchFamily="18" charset="0"/>
                <a:cs typeface="Times New Roman" pitchFamily="18" charset="0"/>
              </a:rPr>
              <a:t> to convey meaning through the use of imagery, narrative, and drama. </a:t>
            </a:r>
            <a:endParaRPr lang="en-PH" sz="3600" dirty="0">
              <a:latin typeface="Times New Roman" pitchFamily="18" charset="0"/>
              <a:cs typeface="Times New Roman" pitchFamily="18" charset="0"/>
            </a:endParaRPr>
          </a:p>
        </p:txBody>
      </p:sp>
      <p:sp>
        <p:nvSpPr>
          <p:cNvPr id="4" name="Arc 3"/>
          <p:cNvSpPr/>
          <p:nvPr/>
        </p:nvSpPr>
        <p:spPr>
          <a:xfrm>
            <a:off x="10693300" y="1807975"/>
            <a:ext cx="5112568" cy="4168913"/>
          </a:xfrm>
          <a:prstGeom prst="arc">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7" name="Arc 6"/>
          <p:cNvSpPr/>
          <p:nvPr/>
        </p:nvSpPr>
        <p:spPr>
          <a:xfrm flipH="1" flipV="1">
            <a:off x="612180" y="2088456"/>
            <a:ext cx="3960440" cy="3600400"/>
          </a:xfrm>
          <a:prstGeom prst="arc">
            <a:avLst>
              <a:gd name="adj1" fmla="val 16200000"/>
              <a:gd name="adj2" fmla="val 405739"/>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6" name="Rectangle 5"/>
          <p:cNvSpPr/>
          <p:nvPr/>
        </p:nvSpPr>
        <p:spPr>
          <a:xfrm>
            <a:off x="4284588" y="5760864"/>
            <a:ext cx="8099425" cy="2092881"/>
          </a:xfrm>
          <a:prstGeom prst="rect">
            <a:avLst/>
          </a:prstGeom>
        </p:spPr>
        <p:txBody>
          <a:bodyPr>
            <a:spAutoFit/>
          </a:bodyPr>
          <a:lstStyle/>
          <a:p>
            <a:r>
              <a:rPr lang="en-PH" b="1" i="1" u="sng" dirty="0" smtClean="0"/>
              <a:t>Main goal: </a:t>
            </a:r>
          </a:p>
          <a:p>
            <a:pPr algn="just"/>
            <a:endParaRPr lang="en-PH" sz="1400" b="1" i="1" u="sng" dirty="0" smtClean="0">
              <a:latin typeface="Arial" pitchFamily="34" charset="0"/>
              <a:cs typeface="Arial" pitchFamily="34" charset="0"/>
            </a:endParaRPr>
          </a:p>
          <a:p>
            <a:pPr marL="457200" indent="-457200" algn="just">
              <a:buFont typeface="Wingdings" pitchFamily="2" charset="2"/>
              <a:buChar char="ü"/>
            </a:pPr>
            <a:r>
              <a:rPr lang="en-PH" dirty="0" smtClean="0">
                <a:latin typeface="Arial" pitchFamily="34" charset="0"/>
                <a:cs typeface="Arial" pitchFamily="34" charset="0"/>
              </a:rPr>
              <a:t>to </a:t>
            </a:r>
            <a:r>
              <a:rPr lang="en-PH" dirty="0">
                <a:latin typeface="Arial" pitchFamily="34" charset="0"/>
                <a:cs typeface="Arial" pitchFamily="34" charset="0"/>
              </a:rPr>
              <a:t>express an individual’s thoughts and feelings in a way that is understandable to readers.</a:t>
            </a:r>
          </a:p>
        </p:txBody>
      </p:sp>
      <p:sp>
        <p:nvSpPr>
          <p:cNvPr id="9" name="Arc 8"/>
          <p:cNvSpPr/>
          <p:nvPr/>
        </p:nvSpPr>
        <p:spPr>
          <a:xfrm rot="1612704">
            <a:off x="9454427" y="5703956"/>
            <a:ext cx="3271133" cy="2627764"/>
          </a:xfrm>
          <a:prstGeom prst="arc">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10" name="Arc 9"/>
          <p:cNvSpPr/>
          <p:nvPr/>
        </p:nvSpPr>
        <p:spPr>
          <a:xfrm flipH="1" flipV="1">
            <a:off x="3825689" y="5007104"/>
            <a:ext cx="3411227" cy="3418056"/>
          </a:xfrm>
          <a:prstGeom prst="arc">
            <a:avLst>
              <a:gd name="adj1" fmla="val 16200000"/>
              <a:gd name="adj2" fmla="val 405739"/>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Tree>
    <p:extLst>
      <p:ext uri="{BB962C8B-B14F-4D97-AF65-F5344CB8AC3E}">
        <p14:creationId xmlns:p14="http://schemas.microsoft.com/office/powerpoint/2010/main" val="1765368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324148" y="144240"/>
            <a:ext cx="4201791" cy="707886"/>
          </a:xfrm>
          <a:prstGeom prst="rect">
            <a:avLst/>
          </a:prstGeom>
          <a:noFill/>
        </p:spPr>
        <p:txBody>
          <a:bodyPr wrap="none" rtlCol="0">
            <a:spAutoFit/>
          </a:bodyPr>
          <a:lstStyle/>
          <a:p>
            <a:r>
              <a:rPr lang="en-PH" sz="4000" b="1" dirty="0" smtClean="0">
                <a:solidFill>
                  <a:srgbClr val="FF0000"/>
                </a:solidFill>
                <a:latin typeface="Arial" pitchFamily="34" charset="0"/>
                <a:cs typeface="Arial" pitchFamily="34" charset="0"/>
              </a:rPr>
              <a:t>Forms of Fiction</a:t>
            </a:r>
            <a:endParaRPr lang="en-PH" sz="4000" b="1" dirty="0">
              <a:solidFill>
                <a:srgbClr val="FF0000"/>
              </a:solidFill>
              <a:latin typeface="Arial" pitchFamily="34" charset="0"/>
              <a:cs typeface="Arial" pitchFamily="34" charset="0"/>
            </a:endParaRPr>
          </a:p>
        </p:txBody>
      </p:sp>
      <p:sp>
        <p:nvSpPr>
          <p:cNvPr id="3" name="Oval 2"/>
          <p:cNvSpPr/>
          <p:nvPr/>
        </p:nvSpPr>
        <p:spPr>
          <a:xfrm>
            <a:off x="468164" y="936328"/>
            <a:ext cx="3564397" cy="26642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PH" sz="3600" b="1" dirty="0" smtClean="0">
                <a:latin typeface="Times New Roman" pitchFamily="18" charset="0"/>
                <a:cs typeface="Times New Roman" pitchFamily="18" charset="0"/>
              </a:rPr>
              <a:t>Short Story </a:t>
            </a:r>
            <a:endParaRPr lang="en-PH" sz="3600" b="1" dirty="0">
              <a:latin typeface="Times New Roman" pitchFamily="18" charset="0"/>
              <a:cs typeface="Times New Roman" pitchFamily="18" charset="0"/>
            </a:endParaRPr>
          </a:p>
        </p:txBody>
      </p:sp>
      <p:sp>
        <p:nvSpPr>
          <p:cNvPr id="7" name="Oval 6"/>
          <p:cNvSpPr/>
          <p:nvPr/>
        </p:nvSpPr>
        <p:spPr>
          <a:xfrm>
            <a:off x="5292700" y="5121176"/>
            <a:ext cx="3564397" cy="266429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PH" sz="3600" b="1" dirty="0" smtClean="0">
                <a:latin typeface="Times New Roman" pitchFamily="18" charset="0"/>
                <a:cs typeface="Times New Roman" pitchFamily="18" charset="0"/>
              </a:rPr>
              <a:t>Novella</a:t>
            </a:r>
            <a:endParaRPr lang="en-PH" sz="3600" b="1" dirty="0">
              <a:latin typeface="Times New Roman" pitchFamily="18" charset="0"/>
              <a:cs typeface="Times New Roman" pitchFamily="18" charset="0"/>
            </a:endParaRPr>
          </a:p>
        </p:txBody>
      </p:sp>
      <p:sp>
        <p:nvSpPr>
          <p:cNvPr id="8" name="Oval 7"/>
          <p:cNvSpPr/>
          <p:nvPr/>
        </p:nvSpPr>
        <p:spPr>
          <a:xfrm>
            <a:off x="11341372" y="792312"/>
            <a:ext cx="3564397" cy="266429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PH" sz="3600" b="1" dirty="0" smtClean="0">
                <a:latin typeface="Times New Roman" pitchFamily="18" charset="0"/>
                <a:cs typeface="Times New Roman" pitchFamily="18" charset="0"/>
              </a:rPr>
              <a:t>Novel</a:t>
            </a:r>
            <a:endParaRPr lang="en-PH" sz="3600" b="1" dirty="0">
              <a:latin typeface="Times New Roman" pitchFamily="18" charset="0"/>
              <a:cs typeface="Times New Roman" pitchFamily="18" charset="0"/>
            </a:endParaRPr>
          </a:p>
        </p:txBody>
      </p:sp>
      <p:sp>
        <p:nvSpPr>
          <p:cNvPr id="10" name="Down Arrow 9"/>
          <p:cNvSpPr/>
          <p:nvPr/>
        </p:nvSpPr>
        <p:spPr>
          <a:xfrm>
            <a:off x="2010146" y="3672632"/>
            <a:ext cx="258218" cy="86409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Down Arrow 10"/>
          <p:cNvSpPr/>
          <p:nvPr/>
        </p:nvSpPr>
        <p:spPr>
          <a:xfrm flipV="1">
            <a:off x="6922593" y="3960664"/>
            <a:ext cx="314323" cy="115139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rgbClr val="FF0000"/>
              </a:solidFill>
            </a:endParaRPr>
          </a:p>
        </p:txBody>
      </p:sp>
      <p:sp>
        <p:nvSpPr>
          <p:cNvPr id="12" name="Down Arrow 11"/>
          <p:cNvSpPr/>
          <p:nvPr/>
        </p:nvSpPr>
        <p:spPr>
          <a:xfrm>
            <a:off x="12994461" y="3528616"/>
            <a:ext cx="258218" cy="864096"/>
          </a:xfrm>
          <a:prstGeom prst="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3" name="TextBox 12"/>
          <p:cNvSpPr txBox="1"/>
          <p:nvPr/>
        </p:nvSpPr>
        <p:spPr>
          <a:xfrm>
            <a:off x="159352" y="4392712"/>
            <a:ext cx="4773308" cy="3416320"/>
          </a:xfrm>
          <a:prstGeom prst="rect">
            <a:avLst/>
          </a:prstGeom>
          <a:noFill/>
        </p:spPr>
        <p:txBody>
          <a:bodyPr wrap="square" rtlCol="0">
            <a:spAutoFit/>
          </a:bodyPr>
          <a:lstStyle/>
          <a:p>
            <a:pPr marL="457200" indent="-457200">
              <a:buFont typeface="Wingdings" pitchFamily="2" charset="2"/>
              <a:buChar char="q"/>
            </a:pPr>
            <a:r>
              <a:rPr lang="en-PH" sz="2700" dirty="0" smtClean="0">
                <a:latin typeface="Times New Roman" pitchFamily="18" charset="0"/>
                <a:cs typeface="Times New Roman" pitchFamily="18" charset="0"/>
              </a:rPr>
              <a:t>It is usually refers to work that is from 2000 to 6000 words – from eight to 24 pages. </a:t>
            </a:r>
          </a:p>
          <a:p>
            <a:pPr marL="457200" indent="-457200">
              <a:buFont typeface="Wingdings" pitchFamily="2" charset="2"/>
              <a:buChar char="q"/>
            </a:pPr>
            <a:r>
              <a:rPr lang="en-PH" sz="2700" dirty="0" smtClean="0">
                <a:latin typeface="Times New Roman" pitchFamily="18" charset="0"/>
                <a:cs typeface="Times New Roman" pitchFamily="18" charset="0"/>
              </a:rPr>
              <a:t>It limits the author’s ability to develop character, interrelationships between characters, settings, and plot.</a:t>
            </a:r>
            <a:endParaRPr lang="en-PH" sz="2700" dirty="0">
              <a:latin typeface="Times New Roman" pitchFamily="18" charset="0"/>
              <a:cs typeface="Times New Roman" pitchFamily="18" charset="0"/>
            </a:endParaRPr>
          </a:p>
        </p:txBody>
      </p:sp>
      <p:sp>
        <p:nvSpPr>
          <p:cNvPr id="14" name="TextBox 13"/>
          <p:cNvSpPr txBox="1"/>
          <p:nvPr/>
        </p:nvSpPr>
        <p:spPr>
          <a:xfrm>
            <a:off x="5292700" y="2006863"/>
            <a:ext cx="4824536" cy="2169825"/>
          </a:xfrm>
          <a:prstGeom prst="rect">
            <a:avLst/>
          </a:prstGeom>
          <a:noFill/>
        </p:spPr>
        <p:txBody>
          <a:bodyPr wrap="square" rtlCol="0">
            <a:spAutoFit/>
          </a:bodyPr>
          <a:lstStyle/>
          <a:p>
            <a:pPr marL="457200" indent="-457200">
              <a:buFont typeface="Wingdings" pitchFamily="2" charset="2"/>
              <a:buChar char="q"/>
            </a:pPr>
            <a:r>
              <a:rPr lang="en-PH" sz="2700" dirty="0" smtClean="0">
                <a:latin typeface="Times New Roman" pitchFamily="18" charset="0"/>
                <a:cs typeface="Times New Roman" pitchFamily="18" charset="0"/>
              </a:rPr>
              <a:t>It is halfway between a story and a novel. </a:t>
            </a:r>
          </a:p>
          <a:p>
            <a:pPr marL="457200" indent="-457200">
              <a:buFont typeface="Wingdings" pitchFamily="2" charset="2"/>
              <a:buChar char="q"/>
            </a:pPr>
            <a:r>
              <a:rPr lang="en-PH" sz="2700" dirty="0" smtClean="0">
                <a:latin typeface="Times New Roman" pitchFamily="18" charset="0"/>
                <a:cs typeface="Times New Roman" pitchFamily="18" charset="0"/>
              </a:rPr>
              <a:t>It is often thought of as between 50 to 150 manuscript pages. </a:t>
            </a:r>
            <a:endParaRPr lang="en-PH" sz="2700" dirty="0">
              <a:latin typeface="Times New Roman" pitchFamily="18" charset="0"/>
              <a:cs typeface="Times New Roman" pitchFamily="18" charset="0"/>
            </a:endParaRPr>
          </a:p>
        </p:txBody>
      </p:sp>
      <p:sp>
        <p:nvSpPr>
          <p:cNvPr id="15" name="TextBox 14"/>
          <p:cNvSpPr txBox="1"/>
          <p:nvPr/>
        </p:nvSpPr>
        <p:spPr>
          <a:xfrm>
            <a:off x="10333260" y="4248696"/>
            <a:ext cx="5472608" cy="3416320"/>
          </a:xfrm>
          <a:prstGeom prst="rect">
            <a:avLst/>
          </a:prstGeom>
          <a:noFill/>
        </p:spPr>
        <p:txBody>
          <a:bodyPr wrap="square" rtlCol="0">
            <a:spAutoFit/>
          </a:bodyPr>
          <a:lstStyle/>
          <a:p>
            <a:pPr marL="457200" indent="-457200" algn="just">
              <a:buFont typeface="Wingdings" pitchFamily="2" charset="2"/>
              <a:buChar char="q"/>
            </a:pPr>
            <a:r>
              <a:rPr lang="en-PH" sz="2700" dirty="0" smtClean="0">
                <a:latin typeface="Times New Roman" pitchFamily="18" charset="0"/>
                <a:cs typeface="Times New Roman" pitchFamily="18" charset="0"/>
              </a:rPr>
              <a:t>It is really more than just a story that has been expanded beyond 250 pages – or it should be. </a:t>
            </a:r>
          </a:p>
          <a:p>
            <a:pPr marL="457200" indent="-457200" algn="just">
              <a:buFont typeface="Wingdings" pitchFamily="2" charset="2"/>
              <a:buChar char="q"/>
            </a:pPr>
            <a:r>
              <a:rPr lang="en-PH" sz="2700" dirty="0" smtClean="0">
                <a:latin typeface="Times New Roman" pitchFamily="18" charset="0"/>
                <a:cs typeface="Times New Roman" pitchFamily="18" charset="0"/>
              </a:rPr>
              <a:t>The writer can introduce many more characters that in the story or novella and some of them can change and develop over the course of time.</a:t>
            </a:r>
            <a:endParaRPr lang="en-PH" sz="2700" dirty="0">
              <a:latin typeface="Times New Roman" pitchFamily="18" charset="0"/>
              <a:cs typeface="Times New Roman" pitchFamily="18" charset="0"/>
            </a:endParaRPr>
          </a:p>
        </p:txBody>
      </p:sp>
    </p:spTree>
    <p:extLst>
      <p:ext uri="{BB962C8B-B14F-4D97-AF65-F5344CB8AC3E}">
        <p14:creationId xmlns:p14="http://schemas.microsoft.com/office/powerpoint/2010/main" val="391153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barn(inVertical)">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barn(inVertical)">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down)">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barn(inVertical)">
                                      <p:cBhvr>
                                        <p:cTn id="6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7" grpId="0" animBg="1"/>
      <p:bldP spid="8" grpId="0" animBg="1"/>
      <p:bldP spid="10" grpId="0" animBg="1"/>
      <p:bldP spid="11" grpId="0" animBg="1"/>
      <p:bldP spid="12" grpId="0" animBg="1"/>
      <p:bldP spid="13" grpId="0"/>
      <p:bldP spid="14" grpId="0"/>
      <p:bldP spid="15"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252140" y="216248"/>
            <a:ext cx="8614538" cy="646331"/>
          </a:xfrm>
          <a:prstGeom prst="rect">
            <a:avLst/>
          </a:prstGeom>
          <a:noFill/>
        </p:spPr>
        <p:txBody>
          <a:bodyPr wrap="none" rtlCol="0">
            <a:spAutoFit/>
          </a:bodyPr>
          <a:lstStyle/>
          <a:p>
            <a:r>
              <a:rPr lang="en-PH" sz="3600" b="1" dirty="0" smtClean="0">
                <a:latin typeface="Arial" pitchFamily="34" charset="0"/>
                <a:cs typeface="Arial" pitchFamily="34" charset="0"/>
              </a:rPr>
              <a:t>Elements of Fiction / Creative Writing  </a:t>
            </a:r>
            <a:endParaRPr lang="en-PH" sz="3600" b="1" dirty="0">
              <a:latin typeface="Arial" pitchFamily="34" charset="0"/>
              <a:cs typeface="Arial" pitchFamily="34" charset="0"/>
            </a:endParaRPr>
          </a:p>
        </p:txBody>
      </p:sp>
      <p:sp>
        <p:nvSpPr>
          <p:cNvPr id="6" name="TextBox 5"/>
          <p:cNvSpPr txBox="1"/>
          <p:nvPr/>
        </p:nvSpPr>
        <p:spPr>
          <a:xfrm>
            <a:off x="828204" y="864320"/>
            <a:ext cx="2069797" cy="646331"/>
          </a:xfrm>
          <a:prstGeom prst="rect">
            <a:avLst/>
          </a:prstGeom>
          <a:noFill/>
        </p:spPr>
        <p:txBody>
          <a:bodyPr wrap="none" rtlCol="0">
            <a:spAutoFit/>
          </a:bodyPr>
          <a:lstStyle/>
          <a:p>
            <a:r>
              <a:rPr lang="en-PH" sz="3600" dirty="0" smtClean="0">
                <a:solidFill>
                  <a:srgbClr val="FF0000"/>
                </a:solidFill>
                <a:latin typeface="Times New Roman" pitchFamily="18" charset="0"/>
                <a:cs typeface="Times New Roman" pitchFamily="18" charset="0"/>
              </a:rPr>
              <a:t>1. Setting </a:t>
            </a:r>
            <a:endParaRPr lang="en-PH" sz="3600" dirty="0">
              <a:solidFill>
                <a:srgbClr val="FF0000"/>
              </a:solidFill>
              <a:latin typeface="Times New Roman" pitchFamily="18" charset="0"/>
              <a:cs typeface="Times New Roman" pitchFamily="18" charset="0"/>
            </a:endParaRPr>
          </a:p>
        </p:txBody>
      </p:sp>
      <p:sp>
        <p:nvSpPr>
          <p:cNvPr id="7" name="TextBox 6"/>
          <p:cNvSpPr txBox="1"/>
          <p:nvPr/>
        </p:nvSpPr>
        <p:spPr>
          <a:xfrm>
            <a:off x="2700412" y="1008336"/>
            <a:ext cx="13681520" cy="1815882"/>
          </a:xfrm>
          <a:prstGeom prst="rect">
            <a:avLst/>
          </a:prstGeom>
          <a:noFill/>
        </p:spPr>
        <p:txBody>
          <a:bodyPr wrap="square" rtlCol="0">
            <a:spAutoFit/>
          </a:bodyPr>
          <a:lstStyle/>
          <a:p>
            <a:pPr marL="457200" indent="-457200">
              <a:buFont typeface="Wingdings" pitchFamily="2" charset="2"/>
              <a:buChar char="v"/>
            </a:pPr>
            <a:r>
              <a:rPr lang="en-PH" sz="2800" dirty="0" smtClean="0">
                <a:latin typeface="Arial" pitchFamily="34" charset="0"/>
                <a:cs typeface="Arial" pitchFamily="34" charset="0"/>
              </a:rPr>
              <a:t>Discovering your place – the place is character</a:t>
            </a:r>
          </a:p>
          <a:p>
            <a:pPr marL="457200" indent="-457200">
              <a:buFont typeface="Wingdings" pitchFamily="2" charset="2"/>
              <a:buChar char="v"/>
            </a:pPr>
            <a:r>
              <a:rPr lang="en-PH" sz="2800" dirty="0" smtClean="0">
                <a:latin typeface="Arial" pitchFamily="34" charset="0"/>
                <a:cs typeface="Arial" pitchFamily="34" charset="0"/>
              </a:rPr>
              <a:t>Interior place – interior setting has come to mean, basically, an indoor place.</a:t>
            </a:r>
          </a:p>
          <a:p>
            <a:pPr marL="457200" indent="-457200">
              <a:buFont typeface="Wingdings" pitchFamily="2" charset="2"/>
              <a:buChar char="v"/>
            </a:pPr>
            <a:r>
              <a:rPr lang="en-PH" sz="2800" dirty="0" smtClean="0">
                <a:latin typeface="Arial" pitchFamily="34" charset="0"/>
                <a:cs typeface="Arial" pitchFamily="34" charset="0"/>
              </a:rPr>
              <a:t>Exterior place – the relationship between character and exterior setting is more mysterious. </a:t>
            </a:r>
            <a:endParaRPr lang="en-PH" sz="3000" dirty="0">
              <a:latin typeface="Arial" pitchFamily="34" charset="0"/>
              <a:cs typeface="Arial" pitchFamily="34" charset="0"/>
            </a:endParaRPr>
          </a:p>
        </p:txBody>
      </p:sp>
      <p:sp>
        <p:nvSpPr>
          <p:cNvPr id="8" name="TextBox 7"/>
          <p:cNvSpPr txBox="1"/>
          <p:nvPr/>
        </p:nvSpPr>
        <p:spPr>
          <a:xfrm>
            <a:off x="756196" y="2736528"/>
            <a:ext cx="6571030" cy="646331"/>
          </a:xfrm>
          <a:prstGeom prst="rect">
            <a:avLst/>
          </a:prstGeom>
          <a:noFill/>
        </p:spPr>
        <p:txBody>
          <a:bodyPr wrap="none" rtlCol="0">
            <a:spAutoFit/>
          </a:bodyPr>
          <a:lstStyle/>
          <a:p>
            <a:r>
              <a:rPr lang="en-PH" sz="3600" dirty="0" smtClean="0">
                <a:solidFill>
                  <a:srgbClr val="FF0000"/>
                </a:solidFill>
                <a:latin typeface="Times New Roman" pitchFamily="18" charset="0"/>
                <a:cs typeface="Times New Roman" pitchFamily="18" charset="0"/>
              </a:rPr>
              <a:t>2. Characters and Characterization</a:t>
            </a:r>
            <a:endParaRPr lang="en-PH" sz="3600" dirty="0">
              <a:solidFill>
                <a:srgbClr val="FF0000"/>
              </a:solidFill>
              <a:latin typeface="Times New Roman" pitchFamily="18" charset="0"/>
              <a:cs typeface="Times New Roman" pitchFamily="18" charset="0"/>
            </a:endParaRPr>
          </a:p>
        </p:txBody>
      </p:sp>
      <p:sp>
        <p:nvSpPr>
          <p:cNvPr id="10" name="Rectangle 9"/>
          <p:cNvSpPr/>
          <p:nvPr/>
        </p:nvSpPr>
        <p:spPr>
          <a:xfrm>
            <a:off x="1260252" y="3413338"/>
            <a:ext cx="14185576" cy="4939814"/>
          </a:xfrm>
          <a:prstGeom prst="rect">
            <a:avLst/>
          </a:prstGeom>
        </p:spPr>
        <p:txBody>
          <a:bodyPr wrap="square">
            <a:spAutoFit/>
          </a:bodyPr>
          <a:lstStyle/>
          <a:p>
            <a:pPr algn="just"/>
            <a:r>
              <a:rPr lang="en-PH" sz="2800" dirty="0">
                <a:latin typeface="Arial" pitchFamily="34" charset="0"/>
                <a:cs typeface="Arial" pitchFamily="34" charset="0"/>
              </a:rPr>
              <a:t>Characterization is the process by which the writer reveals the personality of a </a:t>
            </a:r>
            <a:r>
              <a:rPr lang="en-PH" sz="2800" dirty="0" smtClean="0">
                <a:latin typeface="Arial" pitchFamily="34" charset="0"/>
                <a:cs typeface="Arial" pitchFamily="34" charset="0"/>
              </a:rPr>
              <a:t>character which the </a:t>
            </a:r>
            <a:r>
              <a:rPr lang="en-PH" sz="2800" dirty="0">
                <a:latin typeface="Arial" pitchFamily="34" charset="0"/>
                <a:cs typeface="Arial" pitchFamily="34" charset="0"/>
              </a:rPr>
              <a:t>initial stage in which the writer introduces the character with noticeable </a:t>
            </a:r>
            <a:r>
              <a:rPr lang="en-PH" sz="2800" dirty="0" smtClean="0">
                <a:latin typeface="Arial" pitchFamily="34" charset="0"/>
                <a:cs typeface="Arial" pitchFamily="34" charset="0"/>
              </a:rPr>
              <a:t>emergence. It is </a:t>
            </a:r>
            <a:r>
              <a:rPr lang="en-PH" sz="2800" dirty="0">
                <a:latin typeface="Arial" pitchFamily="34" charset="0"/>
                <a:cs typeface="Arial" pitchFamily="34" charset="0"/>
              </a:rPr>
              <a:t>revealed through direct characterization and indirect characterization</a:t>
            </a:r>
            <a:r>
              <a:rPr lang="en-PH" sz="2800" dirty="0" smtClean="0">
                <a:latin typeface="Arial" pitchFamily="34" charset="0"/>
                <a:cs typeface="Arial" pitchFamily="34" charset="0"/>
              </a:rPr>
              <a:t>.</a:t>
            </a:r>
          </a:p>
          <a:p>
            <a:pPr algn="just"/>
            <a:endParaRPr lang="en-PH" sz="2800" dirty="0" smtClean="0">
              <a:latin typeface="Arial" pitchFamily="34" charset="0"/>
              <a:cs typeface="Arial" pitchFamily="34" charset="0"/>
            </a:endParaRPr>
          </a:p>
          <a:p>
            <a:pPr algn="just"/>
            <a:r>
              <a:rPr lang="en-PH" sz="2800" dirty="0" smtClean="0">
                <a:latin typeface="Arial" pitchFamily="34" charset="0"/>
                <a:cs typeface="Arial" pitchFamily="34" charset="0"/>
              </a:rPr>
              <a:t> </a:t>
            </a:r>
            <a:r>
              <a:rPr lang="en-PH" sz="2500" b="1" dirty="0" smtClean="0">
                <a:latin typeface="Arial" pitchFamily="34" charset="0"/>
                <a:cs typeface="Arial" pitchFamily="34" charset="0"/>
              </a:rPr>
              <a:t>Direct </a:t>
            </a:r>
            <a:r>
              <a:rPr lang="en-PH" sz="2500" b="1" dirty="0">
                <a:latin typeface="Arial" pitchFamily="34" charset="0"/>
                <a:cs typeface="Arial" pitchFamily="34" charset="0"/>
              </a:rPr>
              <a:t>Characterization </a:t>
            </a:r>
            <a:r>
              <a:rPr lang="en-PH" sz="2500" dirty="0">
                <a:latin typeface="Arial" pitchFamily="34" charset="0"/>
                <a:cs typeface="Arial" pitchFamily="34" charset="0"/>
              </a:rPr>
              <a:t>tells the audience what the personality of the character is. </a:t>
            </a:r>
            <a:endParaRPr lang="en-PH" sz="2500" dirty="0" smtClean="0">
              <a:latin typeface="Arial" pitchFamily="34" charset="0"/>
              <a:cs typeface="Arial" pitchFamily="34" charset="0"/>
            </a:endParaRPr>
          </a:p>
          <a:p>
            <a:pPr lvl="1" algn="just"/>
            <a:r>
              <a:rPr lang="en-PH" sz="2500" dirty="0" smtClean="0">
                <a:latin typeface="Arial" pitchFamily="34" charset="0"/>
                <a:cs typeface="Arial" pitchFamily="34" charset="0"/>
              </a:rPr>
              <a:t>Example</a:t>
            </a:r>
            <a:r>
              <a:rPr lang="en-PH" sz="2500" dirty="0">
                <a:latin typeface="Arial" pitchFamily="34" charset="0"/>
                <a:cs typeface="Arial" pitchFamily="34" charset="0"/>
              </a:rPr>
              <a:t>: “The patient boy and quiet girl were both well-mannered and did not disobey their mother.” </a:t>
            </a:r>
            <a:r>
              <a:rPr lang="en-PH" sz="2500" dirty="0" smtClean="0">
                <a:latin typeface="Arial" pitchFamily="34" charset="0"/>
                <a:cs typeface="Arial" pitchFamily="34" charset="0"/>
              </a:rPr>
              <a:t>Explanation</a:t>
            </a:r>
            <a:r>
              <a:rPr lang="en-PH" sz="2500" dirty="0">
                <a:latin typeface="Arial" pitchFamily="34" charset="0"/>
                <a:cs typeface="Arial" pitchFamily="34" charset="0"/>
              </a:rPr>
              <a:t>: The author is directly telling the audience the personality of these two children. The boy is “patient” and the girl is “quiet.” </a:t>
            </a:r>
            <a:endParaRPr lang="en-PH" sz="2500" dirty="0" smtClean="0">
              <a:latin typeface="Arial" pitchFamily="34" charset="0"/>
              <a:cs typeface="Arial" pitchFamily="34" charset="0"/>
            </a:endParaRPr>
          </a:p>
          <a:p>
            <a:pPr algn="just"/>
            <a:endParaRPr lang="en-PH" sz="2500" dirty="0" smtClean="0">
              <a:latin typeface="Arial" pitchFamily="34" charset="0"/>
              <a:cs typeface="Arial" pitchFamily="34" charset="0"/>
            </a:endParaRPr>
          </a:p>
          <a:p>
            <a:pPr marL="342900" indent="-342900" algn="just">
              <a:buFont typeface="Arial" pitchFamily="34" charset="0"/>
              <a:buChar char="•"/>
            </a:pPr>
            <a:r>
              <a:rPr lang="en-PH" sz="2500" b="1" dirty="0" smtClean="0">
                <a:latin typeface="Arial" pitchFamily="34" charset="0"/>
                <a:cs typeface="Arial" pitchFamily="34" charset="0"/>
              </a:rPr>
              <a:t>Indirect </a:t>
            </a:r>
            <a:r>
              <a:rPr lang="en-PH" sz="2500" b="1" dirty="0">
                <a:latin typeface="Arial" pitchFamily="34" charset="0"/>
                <a:cs typeface="Arial" pitchFamily="34" charset="0"/>
              </a:rPr>
              <a:t>Characterization </a:t>
            </a:r>
            <a:r>
              <a:rPr lang="en-PH" sz="2500" dirty="0">
                <a:latin typeface="Arial" pitchFamily="34" charset="0"/>
                <a:cs typeface="Arial" pitchFamily="34" charset="0"/>
              </a:rPr>
              <a:t>shows things that reveal the personality of a character. There are five different methods of indirect characterization, “STEAL”: </a:t>
            </a:r>
            <a:endParaRPr lang="en-PH" sz="2500" dirty="0" smtClean="0">
              <a:latin typeface="Arial" pitchFamily="34" charset="0"/>
              <a:cs typeface="Arial" pitchFamily="34" charset="0"/>
            </a:endParaRPr>
          </a:p>
          <a:p>
            <a:pPr algn="just"/>
            <a:r>
              <a:rPr lang="en-PH" sz="2500" dirty="0">
                <a:latin typeface="Arial" pitchFamily="34" charset="0"/>
                <a:cs typeface="Arial" pitchFamily="34" charset="0"/>
              </a:rPr>
              <a:t>	</a:t>
            </a:r>
            <a:r>
              <a:rPr lang="en-PH" sz="2500" dirty="0" smtClean="0">
                <a:latin typeface="Arial" pitchFamily="34" charset="0"/>
                <a:cs typeface="Arial" pitchFamily="34" charset="0"/>
              </a:rPr>
              <a:t>	• </a:t>
            </a:r>
            <a:r>
              <a:rPr lang="en-PH" sz="2500" dirty="0">
                <a:latin typeface="Arial" pitchFamily="34" charset="0"/>
                <a:cs typeface="Arial" pitchFamily="34" charset="0"/>
              </a:rPr>
              <a:t>Speech • Thoughts • Effect on others • Actions • Looks</a:t>
            </a:r>
          </a:p>
        </p:txBody>
      </p:sp>
    </p:spTree>
    <p:extLst>
      <p:ext uri="{BB962C8B-B14F-4D97-AF65-F5344CB8AC3E}">
        <p14:creationId xmlns:p14="http://schemas.microsoft.com/office/powerpoint/2010/main" val="2117073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ppt_x"/>
                                          </p:val>
                                        </p:tav>
                                        <p:tav tm="100000">
                                          <p:val>
                                            <p:strVal val="#ppt_x"/>
                                          </p:val>
                                        </p:tav>
                                      </p:tavLst>
                                    </p:anim>
                                    <p:anim calcmode="lin" valueType="num">
                                      <p:cBhvr additive="base">
                                        <p:cTn id="3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P spid="10"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1548284" y="4536728"/>
            <a:ext cx="13609512" cy="4385816"/>
          </a:xfrm>
          <a:prstGeom prst="rect">
            <a:avLst/>
          </a:prstGeom>
        </p:spPr>
        <p:txBody>
          <a:bodyPr wrap="square">
            <a:spAutoFit/>
          </a:bodyPr>
          <a:lstStyle/>
          <a:p>
            <a:pPr algn="just"/>
            <a:r>
              <a:rPr lang="en-PH" sz="3100" b="1" dirty="0" smtClean="0">
                <a:latin typeface="Times New Roman" pitchFamily="18" charset="0"/>
                <a:cs typeface="Times New Roman" pitchFamily="18" charset="0"/>
              </a:rPr>
              <a:t>Dynamic. </a:t>
            </a:r>
            <a:r>
              <a:rPr lang="en-PH" sz="3100" dirty="0" smtClean="0">
                <a:latin typeface="Times New Roman" pitchFamily="18" charset="0"/>
                <a:cs typeface="Times New Roman" pitchFamily="18" charset="0"/>
              </a:rPr>
              <a:t>This refers to characters who change or transform throughout a story and a described at great length. </a:t>
            </a:r>
          </a:p>
          <a:p>
            <a:pPr algn="just"/>
            <a:r>
              <a:rPr lang="en-PH" sz="3100" b="1" dirty="0" smtClean="0">
                <a:latin typeface="Times New Roman" pitchFamily="18" charset="0"/>
                <a:cs typeface="Times New Roman" pitchFamily="18" charset="0"/>
              </a:rPr>
              <a:t>Round</a:t>
            </a:r>
            <a:r>
              <a:rPr lang="en-PH" sz="3100" dirty="0" smtClean="0">
                <a:latin typeface="Times New Roman" pitchFamily="18" charset="0"/>
                <a:cs typeface="Times New Roman" pitchFamily="18" charset="0"/>
              </a:rPr>
              <a:t>. This refers to a character that is convincing</a:t>
            </a:r>
            <a:r>
              <a:rPr lang="en-PH" sz="3100" dirty="0">
                <a:latin typeface="Times New Roman" pitchFamily="18" charset="0"/>
                <a:cs typeface="Times New Roman" pitchFamily="18" charset="0"/>
              </a:rPr>
              <a:t>, true to </a:t>
            </a:r>
            <a:r>
              <a:rPr lang="en-PH" sz="3100" dirty="0" smtClean="0">
                <a:latin typeface="Times New Roman" pitchFamily="18" charset="0"/>
                <a:cs typeface="Times New Roman" pitchFamily="18" charset="0"/>
              </a:rPr>
              <a:t>life which has </a:t>
            </a:r>
            <a:r>
              <a:rPr lang="en-PH" sz="3100" dirty="0">
                <a:latin typeface="Times New Roman" pitchFamily="18" charset="0"/>
                <a:cs typeface="Times New Roman" pitchFamily="18" charset="0"/>
              </a:rPr>
              <a:t>many different and sometimes even contradictory personality traits. A character that undergoes some type of change or development in story, often because of something that happens to him. </a:t>
            </a:r>
          </a:p>
          <a:p>
            <a:pPr algn="just"/>
            <a:r>
              <a:rPr lang="en-PH" sz="3100" b="1" dirty="0" smtClean="0">
                <a:latin typeface="Times New Roman" pitchFamily="18" charset="0"/>
                <a:cs typeface="Times New Roman" pitchFamily="18" charset="0"/>
              </a:rPr>
              <a:t>Flat/Static</a:t>
            </a:r>
            <a:r>
              <a:rPr lang="en-PH" sz="3100" b="1" dirty="0">
                <a:latin typeface="Times New Roman" pitchFamily="18" charset="0"/>
                <a:cs typeface="Times New Roman" pitchFamily="18" charset="0"/>
              </a:rPr>
              <a:t>: </a:t>
            </a:r>
            <a:r>
              <a:rPr lang="en-PH" sz="3100" dirty="0" smtClean="0">
                <a:latin typeface="Times New Roman" pitchFamily="18" charset="0"/>
                <a:cs typeface="Times New Roman" pitchFamily="18" charset="0"/>
              </a:rPr>
              <a:t>This refers to a character </a:t>
            </a:r>
            <a:r>
              <a:rPr lang="en-PH" sz="3100" dirty="0">
                <a:latin typeface="Times New Roman" pitchFamily="18" charset="0"/>
                <a:cs typeface="Times New Roman" pitchFamily="18" charset="0"/>
              </a:rPr>
              <a:t>that does not change in the course of the story. A character that is stereotyped, shallow, and often symbolic. A character that has only one or two personality traits. </a:t>
            </a:r>
          </a:p>
        </p:txBody>
      </p:sp>
      <p:sp>
        <p:nvSpPr>
          <p:cNvPr id="3" name="Rectangle 2"/>
          <p:cNvSpPr/>
          <p:nvPr/>
        </p:nvSpPr>
        <p:spPr>
          <a:xfrm>
            <a:off x="5595590" y="1800424"/>
            <a:ext cx="4587538" cy="646331"/>
          </a:xfrm>
          <a:prstGeom prst="rect">
            <a:avLst/>
          </a:prstGeom>
        </p:spPr>
        <p:txBody>
          <a:bodyPr wrap="none">
            <a:spAutoFit/>
          </a:bodyPr>
          <a:lstStyle/>
          <a:p>
            <a:pPr algn="ctr"/>
            <a:r>
              <a:rPr lang="en-PH" sz="3600" b="1" dirty="0">
                <a:latin typeface="Arial" pitchFamily="34" charset="0"/>
                <a:cs typeface="Arial" pitchFamily="34" charset="0"/>
              </a:rPr>
              <a:t>Types of Characters</a:t>
            </a:r>
          </a:p>
        </p:txBody>
      </p:sp>
      <p:sp>
        <p:nvSpPr>
          <p:cNvPr id="6" name="Rectangle 5"/>
          <p:cNvSpPr/>
          <p:nvPr/>
        </p:nvSpPr>
        <p:spPr>
          <a:xfrm>
            <a:off x="396156" y="2448496"/>
            <a:ext cx="15193688" cy="2046714"/>
          </a:xfrm>
          <a:prstGeom prst="rect">
            <a:avLst/>
          </a:prstGeom>
        </p:spPr>
        <p:txBody>
          <a:bodyPr wrap="square">
            <a:spAutoFit/>
          </a:bodyPr>
          <a:lstStyle/>
          <a:p>
            <a:pPr marL="457200" indent="-457200" algn="just">
              <a:buFont typeface="Wingdings" pitchFamily="2" charset="2"/>
              <a:buChar char="Ø"/>
            </a:pPr>
            <a:r>
              <a:rPr lang="en-PH" sz="3200" b="1" dirty="0">
                <a:latin typeface="Arial" pitchFamily="34" charset="0"/>
                <a:cs typeface="Arial" pitchFamily="34" charset="0"/>
              </a:rPr>
              <a:t>Protagonist: </a:t>
            </a:r>
            <a:r>
              <a:rPr lang="en-PH" dirty="0">
                <a:latin typeface="Arial" pitchFamily="34" charset="0"/>
                <a:cs typeface="Arial" pitchFamily="34" charset="0"/>
              </a:rPr>
              <a:t>The main character of a narrative; its central character who engages the reader’s interest and empathy </a:t>
            </a:r>
            <a:endParaRPr lang="en-PH" dirty="0" smtClean="0">
              <a:latin typeface="Arial" pitchFamily="34" charset="0"/>
              <a:cs typeface="Arial" pitchFamily="34" charset="0"/>
            </a:endParaRPr>
          </a:p>
          <a:p>
            <a:pPr algn="just"/>
            <a:endParaRPr lang="en-PH" sz="300" dirty="0">
              <a:latin typeface="Arial" pitchFamily="34" charset="0"/>
              <a:cs typeface="Arial" pitchFamily="34" charset="0"/>
            </a:endParaRPr>
          </a:p>
          <a:p>
            <a:pPr marL="457200" indent="-457200" algn="just">
              <a:buFont typeface="Wingdings" pitchFamily="2" charset="2"/>
              <a:buChar char="Ø"/>
            </a:pPr>
            <a:r>
              <a:rPr lang="en-PH" sz="3200" b="1" dirty="0">
                <a:latin typeface="Arial" pitchFamily="34" charset="0"/>
                <a:cs typeface="Arial" pitchFamily="34" charset="0"/>
              </a:rPr>
              <a:t>Antagonist</a:t>
            </a:r>
            <a:r>
              <a:rPr lang="en-PH" dirty="0">
                <a:latin typeface="Arial" pitchFamily="34" charset="0"/>
                <a:cs typeface="Arial" pitchFamily="34" charset="0"/>
              </a:rPr>
              <a:t>: The character, force, or collection of forces in fiction or drama that opposes the protagonist and gives rise to the conflict of the story; an opponent of the protagonist </a:t>
            </a:r>
          </a:p>
        </p:txBody>
      </p:sp>
      <p:sp>
        <p:nvSpPr>
          <p:cNvPr id="7" name="TextBox 6"/>
          <p:cNvSpPr txBox="1"/>
          <p:nvPr/>
        </p:nvSpPr>
        <p:spPr>
          <a:xfrm>
            <a:off x="3780532" y="144240"/>
            <a:ext cx="11881320" cy="1569660"/>
          </a:xfrm>
          <a:prstGeom prst="rect">
            <a:avLst/>
          </a:prstGeom>
          <a:noFill/>
        </p:spPr>
        <p:txBody>
          <a:bodyPr wrap="square" rtlCol="0">
            <a:spAutoFit/>
          </a:bodyPr>
          <a:lstStyle/>
          <a:p>
            <a:pPr algn="just"/>
            <a:r>
              <a:rPr lang="en-PH" sz="3200" dirty="0" smtClean="0">
                <a:latin typeface="Times New Roman" pitchFamily="18" charset="0"/>
                <a:cs typeface="Times New Roman" pitchFamily="18" charset="0"/>
              </a:rPr>
              <a:t>This refers to the individuals that /who are depicted in each story. Without characters, there can be no story. Usually, there is only one central figure around whom the events of the story revolve</a:t>
            </a:r>
            <a:r>
              <a:rPr lang="en-PH" sz="3200" dirty="0" smtClean="0"/>
              <a:t>. </a:t>
            </a:r>
            <a:endParaRPr lang="en-PH" sz="3200" dirty="0"/>
          </a:p>
        </p:txBody>
      </p:sp>
      <p:sp>
        <p:nvSpPr>
          <p:cNvPr id="8" name="Rectangle 7"/>
          <p:cNvSpPr/>
          <p:nvPr/>
        </p:nvSpPr>
        <p:spPr>
          <a:xfrm>
            <a:off x="148061" y="444466"/>
            <a:ext cx="3488455" cy="707886"/>
          </a:xfrm>
          <a:prstGeom prst="rect">
            <a:avLst/>
          </a:prstGeom>
        </p:spPr>
        <p:txBody>
          <a:bodyPr wrap="none">
            <a:spAutoFit/>
          </a:bodyPr>
          <a:lstStyle/>
          <a:p>
            <a:r>
              <a:rPr lang="en-PH" sz="4000" b="1" dirty="0">
                <a:solidFill>
                  <a:schemeClr val="accent6">
                    <a:lumMod val="75000"/>
                  </a:schemeClr>
                </a:solidFill>
                <a:latin typeface="Times New Roman" pitchFamily="18" charset="0"/>
                <a:cs typeface="Times New Roman" pitchFamily="18" charset="0"/>
              </a:rPr>
              <a:t>CHARACTER</a:t>
            </a:r>
            <a:endParaRPr lang="en-PH" sz="3600" dirty="0"/>
          </a:p>
        </p:txBody>
      </p:sp>
    </p:spTree>
    <p:extLst>
      <p:ext uri="{BB962C8B-B14F-4D97-AF65-F5344CB8AC3E}">
        <p14:creationId xmlns:p14="http://schemas.microsoft.com/office/powerpoint/2010/main" val="2445390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8"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TextBox 4"/>
          <p:cNvSpPr txBox="1"/>
          <p:nvPr/>
        </p:nvSpPr>
        <p:spPr>
          <a:xfrm>
            <a:off x="252140" y="576288"/>
            <a:ext cx="2339102" cy="646331"/>
          </a:xfrm>
          <a:prstGeom prst="rect">
            <a:avLst/>
          </a:prstGeom>
          <a:noFill/>
        </p:spPr>
        <p:txBody>
          <a:bodyPr wrap="none" rtlCol="0">
            <a:spAutoFit/>
          </a:bodyPr>
          <a:lstStyle/>
          <a:p>
            <a:r>
              <a:rPr lang="en-PH" sz="3600" dirty="0" smtClean="0">
                <a:solidFill>
                  <a:srgbClr val="FF0000"/>
                </a:solidFill>
                <a:latin typeface="Times New Roman" pitchFamily="18" charset="0"/>
                <a:cs typeface="Times New Roman" pitchFamily="18" charset="0"/>
              </a:rPr>
              <a:t>4. Dialogue</a:t>
            </a:r>
            <a:endParaRPr lang="en-PH" sz="3600" dirty="0">
              <a:solidFill>
                <a:srgbClr val="FF0000"/>
              </a:solidFill>
              <a:latin typeface="Times New Roman" pitchFamily="18" charset="0"/>
              <a:cs typeface="Times New Roman" pitchFamily="18" charset="0"/>
            </a:endParaRPr>
          </a:p>
        </p:txBody>
      </p:sp>
      <p:sp>
        <p:nvSpPr>
          <p:cNvPr id="6" name="TextBox 5"/>
          <p:cNvSpPr txBox="1"/>
          <p:nvPr/>
        </p:nvSpPr>
        <p:spPr>
          <a:xfrm>
            <a:off x="396156" y="1512392"/>
            <a:ext cx="10801200" cy="4939814"/>
          </a:xfrm>
          <a:prstGeom prst="rect">
            <a:avLst/>
          </a:prstGeom>
          <a:noFill/>
        </p:spPr>
        <p:txBody>
          <a:bodyPr wrap="square" rtlCol="0">
            <a:spAutoFit/>
          </a:bodyPr>
          <a:lstStyle/>
          <a:p>
            <a:pPr marL="457200" indent="-457200" algn="just">
              <a:buFont typeface="Arial" pitchFamily="34" charset="0"/>
              <a:buChar char="•"/>
            </a:pPr>
            <a:r>
              <a:rPr lang="en-PH" sz="3500" dirty="0" smtClean="0">
                <a:latin typeface="Times New Roman" pitchFamily="18" charset="0"/>
                <a:cs typeface="Times New Roman" pitchFamily="18" charset="0"/>
              </a:rPr>
              <a:t>It is essential a fiction story which the conversation of the characters comes in. </a:t>
            </a:r>
          </a:p>
          <a:p>
            <a:pPr marL="457200" indent="-457200" algn="just">
              <a:buFont typeface="Arial" pitchFamily="34" charset="0"/>
              <a:buChar char="•"/>
            </a:pPr>
            <a:r>
              <a:rPr lang="en-PH" sz="3500" dirty="0" smtClean="0">
                <a:latin typeface="Times New Roman" pitchFamily="18" charset="0"/>
                <a:cs typeface="Times New Roman" pitchFamily="18" charset="0"/>
              </a:rPr>
              <a:t>Dialogue tags are used to help the reader know who is talking. (he said / she said).</a:t>
            </a:r>
          </a:p>
          <a:p>
            <a:pPr marL="457200" indent="-457200" algn="just">
              <a:buFont typeface="Arial" pitchFamily="34" charset="0"/>
              <a:buChar char="•"/>
            </a:pPr>
            <a:r>
              <a:rPr lang="en-PH" sz="3500" dirty="0" smtClean="0">
                <a:latin typeface="Times New Roman" pitchFamily="18" charset="0"/>
                <a:cs typeface="Times New Roman" pitchFamily="18" charset="0"/>
              </a:rPr>
              <a:t>Descriptive dialogue tags help the reader know who is talking and add description, </a:t>
            </a:r>
          </a:p>
          <a:p>
            <a:pPr marL="457200" indent="-457200" algn="just">
              <a:buFont typeface="Arial" pitchFamily="34" charset="0"/>
              <a:buChar char="•"/>
            </a:pPr>
            <a:r>
              <a:rPr lang="en-PH" sz="3500" dirty="0" smtClean="0">
                <a:latin typeface="Times New Roman" pitchFamily="18" charset="0"/>
                <a:cs typeface="Times New Roman" pitchFamily="18" charset="0"/>
              </a:rPr>
              <a:t>It is also important to vary your dialogue. Try to use combination of tag less dialogue, descriptive tags or simple tags. </a:t>
            </a:r>
            <a:endParaRPr lang="en-PH" sz="3500" dirty="0">
              <a:latin typeface="Times New Roman" pitchFamily="18" charset="0"/>
              <a:cs typeface="Times New Roman" pitchFamily="18" charset="0"/>
            </a:endParaRPr>
          </a:p>
        </p:txBody>
      </p:sp>
      <p:pic>
        <p:nvPicPr>
          <p:cNvPr id="5122" name="Picture 2" descr="How To Write Dialogue (Make your characters' conversations more compelling)"/>
          <p:cNvPicPr>
            <a:picLocks noChangeAspect="1" noChangeArrowheads="1"/>
          </p:cNvPicPr>
          <p:nvPr/>
        </p:nvPicPr>
        <p:blipFill rotWithShape="1">
          <a:blip r:embed="rId2">
            <a:extLst>
              <a:ext uri="{28A0092B-C50C-407E-A947-70E740481C1C}">
                <a14:useLocalDpi xmlns:a14="http://schemas.microsoft.com/office/drawing/2010/main" val="0"/>
              </a:ext>
            </a:extLst>
          </a:blip>
          <a:srcRect l="1355" t="6541" r="50000" b="6501"/>
          <a:stretch/>
        </p:blipFill>
        <p:spPr bwMode="auto">
          <a:xfrm rot="21215927">
            <a:off x="11782451" y="899452"/>
            <a:ext cx="1684455" cy="169131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The Novel Unit - Brave New World | OER Commons"/>
          <p:cNvPicPr>
            <a:picLocks noChangeAspect="1" noChangeArrowheads="1"/>
          </p:cNvPicPr>
          <p:nvPr/>
        </p:nvPicPr>
        <p:blipFill rotWithShape="1">
          <a:blip r:embed="rId3">
            <a:extLst>
              <a:ext uri="{28A0092B-C50C-407E-A947-70E740481C1C}">
                <a14:useLocalDpi xmlns:a14="http://schemas.microsoft.com/office/drawing/2010/main" val="0"/>
              </a:ext>
            </a:extLst>
          </a:blip>
          <a:srcRect l="3340" t="17962" r="3666" b="10690"/>
          <a:stretch/>
        </p:blipFill>
        <p:spPr bwMode="auto">
          <a:xfrm rot="21266869">
            <a:off x="12270191" y="2808536"/>
            <a:ext cx="3312368" cy="136815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Dialogue comic strip stock vector. Illustration of dialogue - 1067755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410300">
            <a:off x="11753685" y="4968776"/>
            <a:ext cx="3000334"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27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5" name="TextBox 4"/>
          <p:cNvSpPr txBox="1"/>
          <p:nvPr/>
        </p:nvSpPr>
        <p:spPr>
          <a:xfrm>
            <a:off x="324148" y="650037"/>
            <a:ext cx="3316164" cy="646331"/>
          </a:xfrm>
          <a:prstGeom prst="rect">
            <a:avLst/>
          </a:prstGeom>
          <a:noFill/>
        </p:spPr>
        <p:txBody>
          <a:bodyPr wrap="none" rtlCol="0">
            <a:spAutoFit/>
          </a:bodyPr>
          <a:lstStyle/>
          <a:p>
            <a:r>
              <a:rPr lang="en-PH" sz="3600" dirty="0" smtClean="0">
                <a:solidFill>
                  <a:srgbClr val="FF0000"/>
                </a:solidFill>
                <a:latin typeface="Times New Roman" pitchFamily="18" charset="0"/>
                <a:cs typeface="Times New Roman" pitchFamily="18" charset="0"/>
              </a:rPr>
              <a:t>3. Point of View </a:t>
            </a:r>
            <a:endParaRPr lang="en-PH" sz="3600" dirty="0">
              <a:solidFill>
                <a:srgbClr val="FF0000"/>
              </a:solidFill>
              <a:latin typeface="Times New Roman" pitchFamily="18" charset="0"/>
              <a:cs typeface="Times New Roman" pitchFamily="18" charset="0"/>
            </a:endParaRPr>
          </a:p>
        </p:txBody>
      </p:sp>
      <p:sp>
        <p:nvSpPr>
          <p:cNvPr id="2" name="Rectangle 1"/>
          <p:cNvSpPr/>
          <p:nvPr/>
        </p:nvSpPr>
        <p:spPr>
          <a:xfrm>
            <a:off x="3492500" y="456079"/>
            <a:ext cx="11377264" cy="1200329"/>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PH" sz="3600" dirty="0">
                <a:latin typeface="Times New Roman" pitchFamily="18" charset="0"/>
                <a:cs typeface="Times New Roman" pitchFamily="18" charset="0"/>
              </a:rPr>
              <a:t>The point of view of a story determines who is telling it and the narrator's relationship to the characters in the story</a:t>
            </a:r>
          </a:p>
        </p:txBody>
      </p:sp>
      <p:sp>
        <p:nvSpPr>
          <p:cNvPr id="8" name="Rectangle 7"/>
          <p:cNvSpPr/>
          <p:nvPr/>
        </p:nvSpPr>
        <p:spPr>
          <a:xfrm>
            <a:off x="1188244" y="2448496"/>
            <a:ext cx="14329592" cy="2893100"/>
          </a:xfrm>
          <a:prstGeom prst="rect">
            <a:avLst/>
          </a:prstGeom>
        </p:spPr>
        <p:txBody>
          <a:bodyPr wrap="square">
            <a:spAutoFit/>
          </a:bodyPr>
          <a:lstStyle/>
          <a:p>
            <a:pPr marL="457200" indent="-457200" algn="just" fontAlgn="base">
              <a:buFont typeface="Wingdings" pitchFamily="2" charset="2"/>
              <a:buChar char="q"/>
            </a:pPr>
            <a:r>
              <a:rPr lang="en-PH" b="1" u="sng" dirty="0">
                <a:solidFill>
                  <a:srgbClr val="002060"/>
                </a:solidFill>
                <a:latin typeface="Arial" pitchFamily="34" charset="0"/>
                <a:cs typeface="Arial" pitchFamily="34" charset="0"/>
              </a:rPr>
              <a:t>First Person Point of </a:t>
            </a:r>
            <a:r>
              <a:rPr lang="en-PH" b="1" u="sng" dirty="0" smtClean="0">
                <a:solidFill>
                  <a:srgbClr val="002060"/>
                </a:solidFill>
                <a:latin typeface="Arial" pitchFamily="34" charset="0"/>
                <a:cs typeface="Arial" pitchFamily="34" charset="0"/>
              </a:rPr>
              <a:t>View</a:t>
            </a:r>
          </a:p>
          <a:p>
            <a:pPr algn="just" fontAlgn="base"/>
            <a:endParaRPr lang="en-PH" sz="1200" b="1" u="sng" dirty="0" smtClean="0">
              <a:solidFill>
                <a:srgbClr val="002060"/>
              </a:solidFill>
              <a:latin typeface="Arial" pitchFamily="34" charset="0"/>
              <a:cs typeface="Arial" pitchFamily="34" charset="0"/>
            </a:endParaRPr>
          </a:p>
          <a:p>
            <a:pPr algn="just" fontAlgn="base"/>
            <a:r>
              <a:rPr lang="en-PH" dirty="0" smtClean="0">
                <a:latin typeface="Arial" pitchFamily="34" charset="0"/>
                <a:cs typeface="Arial" pitchFamily="34" charset="0"/>
              </a:rPr>
              <a:t>	</a:t>
            </a:r>
            <a:r>
              <a:rPr lang="en-PH" sz="2800" dirty="0" smtClean="0">
                <a:latin typeface="Arial" pitchFamily="34" charset="0"/>
                <a:cs typeface="Arial" pitchFamily="34" charset="0"/>
              </a:rPr>
              <a:t>T</a:t>
            </a:r>
            <a:r>
              <a:rPr lang="en-PH" sz="2800" dirty="0" smtClean="0">
                <a:latin typeface="Times New Roman" pitchFamily="18" charset="0"/>
                <a:cs typeface="Times New Roman" pitchFamily="18" charset="0"/>
              </a:rPr>
              <a:t>he </a:t>
            </a:r>
            <a:r>
              <a:rPr lang="en-PH" sz="2800" dirty="0">
                <a:latin typeface="Times New Roman" pitchFamily="18" charset="0"/>
                <a:cs typeface="Times New Roman" pitchFamily="18" charset="0"/>
              </a:rPr>
              <a:t>narrator is a person in the story, telling the story from their own point of view. The narration usually utilizes the pronoun </a:t>
            </a:r>
            <a:r>
              <a:rPr lang="en-PH" sz="2800" i="1" dirty="0">
                <a:latin typeface="Times New Roman" pitchFamily="18" charset="0"/>
                <a:cs typeface="Times New Roman" pitchFamily="18" charset="0"/>
              </a:rPr>
              <a:t>I</a:t>
            </a:r>
            <a:r>
              <a:rPr lang="en-PH" sz="2800" dirty="0">
                <a:latin typeface="Times New Roman" pitchFamily="18" charset="0"/>
                <a:cs typeface="Times New Roman" pitchFamily="18" charset="0"/>
              </a:rPr>
              <a:t> (or </a:t>
            </a:r>
            <a:r>
              <a:rPr lang="en-PH" sz="2800" i="1" dirty="0">
                <a:latin typeface="Times New Roman" pitchFamily="18" charset="0"/>
                <a:cs typeface="Times New Roman" pitchFamily="18" charset="0"/>
              </a:rPr>
              <a:t>we</a:t>
            </a:r>
            <a:r>
              <a:rPr lang="en-PH" sz="2800" dirty="0">
                <a:latin typeface="Times New Roman" pitchFamily="18" charset="0"/>
                <a:cs typeface="Times New Roman" pitchFamily="18" charset="0"/>
              </a:rPr>
              <a:t>, if the narrator is speaking as part of a group). The character who tells the story might be in the middle of the action or more of a character who observes the action from the outer limits, but in either case you are getting that character’s recounting of what happens.</a:t>
            </a:r>
          </a:p>
        </p:txBody>
      </p:sp>
      <p:sp>
        <p:nvSpPr>
          <p:cNvPr id="9" name="Rectangle 8"/>
          <p:cNvSpPr/>
          <p:nvPr/>
        </p:nvSpPr>
        <p:spPr>
          <a:xfrm>
            <a:off x="2412380" y="5472832"/>
            <a:ext cx="12961440" cy="2446824"/>
          </a:xfrm>
          <a:prstGeom prst="rect">
            <a:avLst/>
          </a:prstGeom>
        </p:spPr>
        <p:txBody>
          <a:bodyPr wrap="square">
            <a:spAutoFit/>
          </a:bodyPr>
          <a:lstStyle/>
          <a:p>
            <a:pPr marL="457200" indent="-457200" fontAlgn="base">
              <a:buFont typeface="Wingdings" pitchFamily="2" charset="2"/>
              <a:buChar char="v"/>
            </a:pPr>
            <a:r>
              <a:rPr lang="en-PH" b="1" u="sng" dirty="0">
                <a:solidFill>
                  <a:srgbClr val="002060"/>
                </a:solidFill>
                <a:latin typeface="Arial" pitchFamily="34" charset="0"/>
                <a:cs typeface="Arial" pitchFamily="34" charset="0"/>
              </a:rPr>
              <a:t>Second </a:t>
            </a:r>
            <a:r>
              <a:rPr lang="en-PH" b="1" u="sng" dirty="0" smtClean="0">
                <a:solidFill>
                  <a:srgbClr val="002060"/>
                </a:solidFill>
                <a:latin typeface="Arial" pitchFamily="34" charset="0"/>
                <a:cs typeface="Arial" pitchFamily="34" charset="0"/>
              </a:rPr>
              <a:t>Person Point of View </a:t>
            </a:r>
          </a:p>
          <a:p>
            <a:pPr fontAlgn="base"/>
            <a:endParaRPr lang="en-PH" sz="1100" b="1" u="sng" dirty="0">
              <a:solidFill>
                <a:srgbClr val="002060"/>
              </a:solidFill>
              <a:latin typeface="Arial" pitchFamily="34" charset="0"/>
              <a:cs typeface="Arial" pitchFamily="34" charset="0"/>
            </a:endParaRPr>
          </a:p>
          <a:p>
            <a:pPr algn="just" fontAlgn="base"/>
            <a:r>
              <a:rPr lang="en-PH" sz="2800" dirty="0" smtClean="0">
                <a:latin typeface="Times New Roman" pitchFamily="18" charset="0"/>
                <a:cs typeface="Times New Roman" pitchFamily="18" charset="0"/>
              </a:rPr>
              <a:t>	Second-person narration, </a:t>
            </a:r>
            <a:r>
              <a:rPr lang="en-PH" sz="2800" dirty="0">
                <a:latin typeface="Times New Roman" pitchFamily="18" charset="0"/>
                <a:cs typeface="Times New Roman" pitchFamily="18" charset="0"/>
              </a:rPr>
              <a:t>a little-used technique of narrative in which the action is driven by a </a:t>
            </a:r>
            <a:r>
              <a:rPr lang="en-PH" sz="2800" dirty="0" smtClean="0">
                <a:latin typeface="Times New Roman" pitchFamily="18" charset="0"/>
                <a:cs typeface="Times New Roman" pitchFamily="18" charset="0"/>
              </a:rPr>
              <a:t>character, </a:t>
            </a:r>
            <a:r>
              <a:rPr lang="en-PH" sz="2800" dirty="0">
                <a:latin typeface="Times New Roman" pitchFamily="18" charset="0"/>
                <a:cs typeface="Times New Roman" pitchFamily="18" charset="0"/>
              </a:rPr>
              <a:t>ascribed to the reader, one known as </a:t>
            </a:r>
            <a:r>
              <a:rPr lang="en-PH" sz="2800" i="1" dirty="0">
                <a:latin typeface="Times New Roman" pitchFamily="18" charset="0"/>
                <a:cs typeface="Times New Roman" pitchFamily="18" charset="0"/>
              </a:rPr>
              <a:t>you</a:t>
            </a:r>
            <a:r>
              <a:rPr lang="en-PH" sz="2800" dirty="0">
                <a:latin typeface="Times New Roman" pitchFamily="18" charset="0"/>
                <a:cs typeface="Times New Roman" pitchFamily="18" charset="0"/>
              </a:rPr>
              <a:t>. The reader is immersed into the narrative as a character involved in the story. The narrator describes what "you" do and lets you into your own thoughts and background. </a:t>
            </a:r>
          </a:p>
        </p:txBody>
      </p:sp>
    </p:spTree>
    <p:extLst>
      <p:ext uri="{BB962C8B-B14F-4D97-AF65-F5344CB8AC3E}">
        <p14:creationId xmlns:p14="http://schemas.microsoft.com/office/powerpoint/2010/main" val="4306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8" grpId="0"/>
      <p:bldP spid="9"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a:spLocks noChangeArrowheads="1"/>
          </p:cNvSpPr>
          <p:nvPr/>
        </p:nvSpPr>
        <p:spPr bwMode="auto">
          <a:xfrm>
            <a:off x="324148" y="360264"/>
            <a:ext cx="15265696" cy="18469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2199" numCol="1" anchor="ctr" anchorCtr="0" compatLnSpc="1">
            <a:prstTxWarp prst="textNoShape">
              <a:avLst/>
            </a:prstTxWarp>
            <a:spAutoFit/>
          </a:bodyPr>
          <a:lstStyle/>
          <a:p>
            <a:pPr marL="342900" marR="0" lvl="0" indent="-342900" algn="l" defTabSz="914400" rtl="0" eaLnBrk="1" fontAlgn="base" latinLnBrk="0" hangingPunct="1">
              <a:lnSpc>
                <a:spcPct val="100000"/>
              </a:lnSpc>
              <a:spcBef>
                <a:spcPct val="0"/>
              </a:spcBef>
              <a:spcAft>
                <a:spcPct val="0"/>
              </a:spcAft>
              <a:buClrTx/>
              <a:buSzTx/>
              <a:buFont typeface="Wingdings" pitchFamily="2" charset="2"/>
              <a:buChar char="Ø"/>
              <a:tabLst/>
            </a:pPr>
            <a:r>
              <a:rPr kumimoji="0" lang="en-US" sz="2800" b="1" i="0" u="none" strike="noStrike" cap="none" normalizeH="0" baseline="0" dirty="0" smtClean="0">
                <a:ln>
                  <a:noFill/>
                </a:ln>
                <a:solidFill>
                  <a:srgbClr val="002060"/>
                </a:solidFill>
                <a:effectLst/>
                <a:latin typeface="Arial" pitchFamily="34" charset="0"/>
                <a:cs typeface="Arial" pitchFamily="34" charset="0"/>
              </a:rPr>
              <a:t>Third Person Point of View</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3B3E41"/>
                </a:solidFill>
                <a:effectLst/>
                <a:latin typeface="Arial" pitchFamily="34" charset="0"/>
                <a:cs typeface="Arial" pitchFamily="34" charset="0"/>
              </a:rPr>
              <a:t>	</a:t>
            </a:r>
            <a:r>
              <a:rPr kumimoji="0" lang="en-US" sz="2800" b="0" i="0" u="none" strike="noStrike" cap="none" normalizeH="0" baseline="0" dirty="0" smtClean="0">
                <a:ln>
                  <a:noFill/>
                </a:ln>
                <a:solidFill>
                  <a:srgbClr val="3B3E41"/>
                </a:solidFill>
                <a:effectLst/>
                <a:latin typeface="Times New Roman" pitchFamily="18" charset="0"/>
                <a:cs typeface="Times New Roman" pitchFamily="18" charset="0"/>
              </a:rPr>
              <a:t>The narrator exists outside the events of the story, and relates the actions of the characters by referring to their names or by the third-person pronouns he, she, or they. Third-person narration can be further classified into several types: omniscient, limited, and objective.</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Rectangle 2"/>
          <p:cNvSpPr/>
          <p:nvPr/>
        </p:nvSpPr>
        <p:spPr>
          <a:xfrm>
            <a:off x="468164" y="2616894"/>
            <a:ext cx="4680520" cy="523220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514350" indent="-514350" fontAlgn="base">
              <a:buAutoNum type="alphaUcPeriod"/>
            </a:pPr>
            <a:r>
              <a:rPr lang="en-PH" sz="2600" b="1" dirty="0" smtClean="0">
                <a:latin typeface="Arial" pitchFamily="34" charset="0"/>
                <a:cs typeface="Arial" pitchFamily="34" charset="0"/>
              </a:rPr>
              <a:t>Third </a:t>
            </a:r>
            <a:r>
              <a:rPr lang="en-PH" sz="2600" b="1" dirty="0">
                <a:latin typeface="Arial" pitchFamily="34" charset="0"/>
                <a:cs typeface="Arial" pitchFamily="34" charset="0"/>
              </a:rPr>
              <a:t>Person </a:t>
            </a:r>
            <a:r>
              <a:rPr lang="en-PH" sz="2600" b="1" dirty="0" smtClean="0">
                <a:latin typeface="Arial" pitchFamily="34" charset="0"/>
                <a:cs typeface="Arial" pitchFamily="34" charset="0"/>
              </a:rPr>
              <a:t>Omniscient</a:t>
            </a:r>
          </a:p>
          <a:p>
            <a:pPr algn="just" fontAlgn="base"/>
            <a:r>
              <a:rPr lang="en-PH" sz="2800" i="1" dirty="0" smtClean="0">
                <a:latin typeface="Times New Roman" pitchFamily="18" charset="0"/>
                <a:cs typeface="Times New Roman" pitchFamily="18" charset="0"/>
                <a:hlinkClick r:id="rId2"/>
              </a:rPr>
              <a:t>Omniscient</a:t>
            </a:r>
            <a:r>
              <a:rPr lang="en-PH" sz="2800" dirty="0">
                <a:latin typeface="Times New Roman" pitchFamily="18" charset="0"/>
                <a:cs typeface="Times New Roman" pitchFamily="18" charset="0"/>
              </a:rPr>
              <a:t> means "all-knowing," and likewise an omniscient narrator knows every character’s thoughts, feelings, and motivations even if that character doesn’t reveal any of those things to the other </a:t>
            </a:r>
            <a:r>
              <a:rPr lang="en-PH" sz="2800" dirty="0" smtClean="0">
                <a:latin typeface="Times New Roman" pitchFamily="18" charset="0"/>
                <a:cs typeface="Times New Roman" pitchFamily="18" charset="0"/>
              </a:rPr>
              <a:t>characters. </a:t>
            </a:r>
            <a:r>
              <a:rPr lang="en-PH" sz="2800" i="1" dirty="0" smtClean="0">
                <a:latin typeface="Times New Roman" pitchFamily="18" charset="0"/>
                <a:cs typeface="Times New Roman" pitchFamily="18" charset="0"/>
              </a:rPr>
              <a:t>Little </a:t>
            </a:r>
            <a:r>
              <a:rPr lang="en-PH" sz="2800" i="1" dirty="0">
                <a:latin typeface="Times New Roman" pitchFamily="18" charset="0"/>
                <a:cs typeface="Times New Roman" pitchFamily="18" charset="0"/>
              </a:rPr>
              <a:t>Women</a:t>
            </a:r>
            <a:r>
              <a:rPr lang="en-PH" sz="2800" dirty="0">
                <a:latin typeface="Times New Roman" pitchFamily="18" charset="0"/>
                <a:cs typeface="Times New Roman" pitchFamily="18" charset="0"/>
              </a:rPr>
              <a:t> by Louisa May Alcott serves as a good example of third-person omniscient narration</a:t>
            </a:r>
          </a:p>
        </p:txBody>
      </p:sp>
      <p:sp>
        <p:nvSpPr>
          <p:cNvPr id="7" name="Rectangle 6"/>
          <p:cNvSpPr/>
          <p:nvPr/>
        </p:nvSpPr>
        <p:spPr>
          <a:xfrm>
            <a:off x="5580732" y="2616894"/>
            <a:ext cx="4032448" cy="52322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fontAlgn="base"/>
            <a:r>
              <a:rPr lang="en-PH" sz="2600" b="1" dirty="0" smtClean="0">
                <a:latin typeface="Arial" pitchFamily="34" charset="0"/>
                <a:cs typeface="Arial" pitchFamily="34" charset="0"/>
              </a:rPr>
              <a:t>B. Third </a:t>
            </a:r>
            <a:r>
              <a:rPr lang="en-PH" sz="2600" b="1" dirty="0">
                <a:latin typeface="Arial" pitchFamily="34" charset="0"/>
                <a:cs typeface="Arial" pitchFamily="34" charset="0"/>
              </a:rPr>
              <a:t>Person Limited</a:t>
            </a:r>
          </a:p>
          <a:p>
            <a:pPr algn="just" fontAlgn="base"/>
            <a:r>
              <a:rPr lang="en-PH" sz="2800" dirty="0" smtClean="0">
                <a:latin typeface="Times New Roman" pitchFamily="18" charset="0"/>
                <a:cs typeface="Times New Roman" pitchFamily="18" charset="0"/>
              </a:rPr>
              <a:t>The </a:t>
            </a:r>
            <a:r>
              <a:rPr lang="en-PH" sz="2800" dirty="0">
                <a:latin typeface="Times New Roman" pitchFamily="18" charset="0"/>
                <a:cs typeface="Times New Roman" pitchFamily="18" charset="0"/>
              </a:rPr>
              <a:t>narrator still exists outside the events of the story, but does not know the motivations or thoughts of all the characters. Rather, one character is the driver of the story, and the reader is given a closer peek into that character’s psyche than the others.</a:t>
            </a:r>
          </a:p>
        </p:txBody>
      </p:sp>
      <p:sp>
        <p:nvSpPr>
          <p:cNvPr id="8" name="Rectangle 7"/>
          <p:cNvSpPr/>
          <p:nvPr/>
        </p:nvSpPr>
        <p:spPr>
          <a:xfrm>
            <a:off x="10117237" y="2592512"/>
            <a:ext cx="5112567" cy="523220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fontAlgn="base"/>
            <a:r>
              <a:rPr lang="en-PH" sz="2600" b="1" dirty="0">
                <a:latin typeface="Arial" pitchFamily="34" charset="0"/>
                <a:cs typeface="Arial" pitchFamily="34" charset="0"/>
              </a:rPr>
              <a:t>Third-Person Objective</a:t>
            </a:r>
          </a:p>
          <a:p>
            <a:pPr algn="just" fontAlgn="base"/>
            <a:r>
              <a:rPr lang="en-PH" sz="2800" dirty="0" smtClean="0">
                <a:latin typeface="Times New Roman" pitchFamily="18" charset="0"/>
                <a:cs typeface="Times New Roman" pitchFamily="18" charset="0"/>
              </a:rPr>
              <a:t>The </a:t>
            </a:r>
            <a:r>
              <a:rPr lang="en-PH" sz="2800" dirty="0">
                <a:latin typeface="Times New Roman" pitchFamily="18" charset="0"/>
                <a:cs typeface="Times New Roman" pitchFamily="18" charset="0"/>
              </a:rPr>
              <a:t>narrator reports the events that take place without knowing the motivations or thoughts of any of the characters. We know little about what drives them until we hear them speak or observe their actions. The resulting tone is often matter-of-fact, not </a:t>
            </a:r>
            <a:r>
              <a:rPr lang="en-PH" sz="2800" dirty="0" err="1">
                <a:latin typeface="Times New Roman" pitchFamily="18" charset="0"/>
                <a:cs typeface="Times New Roman" pitchFamily="18" charset="0"/>
              </a:rPr>
              <a:t>colored</a:t>
            </a:r>
            <a:r>
              <a:rPr lang="en-PH" sz="2800" dirty="0">
                <a:latin typeface="Times New Roman" pitchFamily="18" charset="0"/>
                <a:cs typeface="Times New Roman" pitchFamily="18" charset="0"/>
              </a:rPr>
              <a:t> by any opinions or commentary, nor of knowledge of what takes place outside the scene</a:t>
            </a:r>
            <a:r>
              <a:rPr lang="en-PH" sz="2800" dirty="0" smtClean="0">
                <a:latin typeface="Times New Roman" pitchFamily="18" charset="0"/>
                <a:cs typeface="Times New Roman" pitchFamily="18" charset="0"/>
              </a:rPr>
              <a:t>.</a:t>
            </a:r>
            <a:endParaRPr lang="en-PH" dirty="0"/>
          </a:p>
        </p:txBody>
      </p:sp>
    </p:spTree>
    <p:extLst>
      <p:ext uri="{BB962C8B-B14F-4D97-AF65-F5344CB8AC3E}">
        <p14:creationId xmlns:p14="http://schemas.microsoft.com/office/powerpoint/2010/main" val="3554909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7" name="TextBox 6"/>
          <p:cNvSpPr txBox="1"/>
          <p:nvPr/>
        </p:nvSpPr>
        <p:spPr>
          <a:xfrm>
            <a:off x="374184" y="360264"/>
            <a:ext cx="4160113" cy="646331"/>
          </a:xfrm>
          <a:prstGeom prst="rect">
            <a:avLst/>
          </a:prstGeom>
          <a:noFill/>
        </p:spPr>
        <p:txBody>
          <a:bodyPr wrap="none" rtlCol="0">
            <a:spAutoFit/>
          </a:bodyPr>
          <a:lstStyle/>
          <a:p>
            <a:r>
              <a:rPr lang="en-PH" sz="3600" dirty="0" smtClean="0">
                <a:solidFill>
                  <a:srgbClr val="FF0000"/>
                </a:solidFill>
                <a:latin typeface="Times New Roman" pitchFamily="18" charset="0"/>
                <a:cs typeface="Times New Roman" pitchFamily="18" charset="0"/>
              </a:rPr>
              <a:t>5. Plot and Structures</a:t>
            </a:r>
            <a:endParaRPr lang="en-PH" sz="3600" dirty="0">
              <a:solidFill>
                <a:srgbClr val="FF0000"/>
              </a:solidFill>
              <a:latin typeface="Times New Roman" pitchFamily="18" charset="0"/>
              <a:cs typeface="Times New Roman" pitchFamily="18" charset="0"/>
            </a:endParaRPr>
          </a:p>
        </p:txBody>
      </p:sp>
      <p:sp>
        <p:nvSpPr>
          <p:cNvPr id="2" name="Rectangle 1"/>
          <p:cNvSpPr/>
          <p:nvPr/>
        </p:nvSpPr>
        <p:spPr>
          <a:xfrm>
            <a:off x="1116236" y="1080344"/>
            <a:ext cx="14185576" cy="2062103"/>
          </a:xfrm>
          <a:prstGeom prst="rect">
            <a:avLst/>
          </a:prstGeom>
        </p:spPr>
        <p:txBody>
          <a:bodyPr wrap="square">
            <a:spAutoFit/>
          </a:bodyPr>
          <a:lstStyle/>
          <a:p>
            <a:pPr algn="just" fontAlgn="base"/>
            <a:r>
              <a:rPr lang="en-PH" sz="3200" b="1" dirty="0" smtClean="0">
                <a:latin typeface="Arial" pitchFamily="34" charset="0"/>
                <a:cs typeface="Arial" pitchFamily="34" charset="0"/>
              </a:rPr>
              <a:t>Plot</a:t>
            </a:r>
            <a:r>
              <a:rPr lang="en-PH" sz="3200" dirty="0">
                <a:latin typeface="Arial" pitchFamily="34" charset="0"/>
                <a:cs typeface="Arial" pitchFamily="34" charset="0"/>
              </a:rPr>
              <a:t> is the series of events that make up your story, including the order in which they occur and how they relate to each other.</a:t>
            </a:r>
          </a:p>
          <a:p>
            <a:pPr algn="just" fontAlgn="base"/>
            <a:r>
              <a:rPr lang="en-PH" sz="3200" b="1" dirty="0">
                <a:latin typeface="Arial" pitchFamily="34" charset="0"/>
                <a:cs typeface="Arial" pitchFamily="34" charset="0"/>
              </a:rPr>
              <a:t>Structure</a:t>
            </a:r>
            <a:r>
              <a:rPr lang="en-PH" sz="3200" dirty="0">
                <a:latin typeface="Arial" pitchFamily="34" charset="0"/>
                <a:cs typeface="Arial" pitchFamily="34" charset="0"/>
              </a:rPr>
              <a:t> (also known as narrative structure), is the overall design or layout of your story </a:t>
            </a:r>
            <a:r>
              <a:rPr lang="en-PH" sz="2400" dirty="0">
                <a:latin typeface="Arial" pitchFamily="34" charset="0"/>
                <a:cs typeface="Arial" pitchFamily="34" charset="0"/>
              </a:rPr>
              <a:t>(</a:t>
            </a:r>
            <a:r>
              <a:rPr lang="en-PH" sz="2400" dirty="0">
                <a:latin typeface="Arial" pitchFamily="34" charset="0"/>
                <a:cs typeface="Arial" pitchFamily="34" charset="0"/>
                <a:hlinkClick r:id="rId2"/>
              </a:rPr>
              <a:t>https://thewritepractice.com/plot-structure</a:t>
            </a:r>
            <a:r>
              <a:rPr lang="en-PH" sz="2400" dirty="0" smtClean="0">
                <a:latin typeface="Arial" pitchFamily="34" charset="0"/>
                <a:cs typeface="Arial" pitchFamily="34" charset="0"/>
                <a:hlinkClick r:id="rId2"/>
              </a:rPr>
              <a:t>/</a:t>
            </a:r>
            <a:r>
              <a:rPr lang="en-PH" sz="2400" dirty="0" smtClean="0">
                <a:latin typeface="Arial" pitchFamily="34" charset="0"/>
                <a:cs typeface="Arial" pitchFamily="34" charset="0"/>
              </a:rPr>
              <a:t>).</a:t>
            </a:r>
            <a:endParaRPr lang="en-PH" sz="2400" dirty="0">
              <a:latin typeface="Arial" pitchFamily="34" charset="0"/>
              <a:cs typeface="Arial" pitchFamily="34" charset="0"/>
            </a:endParaRPr>
          </a:p>
        </p:txBody>
      </p:sp>
      <p:sp>
        <p:nvSpPr>
          <p:cNvPr id="3" name="Rectangle 2"/>
          <p:cNvSpPr/>
          <p:nvPr/>
        </p:nvSpPr>
        <p:spPr>
          <a:xfrm>
            <a:off x="3060452" y="3312592"/>
            <a:ext cx="10477548" cy="954107"/>
          </a:xfrm>
          <a:prstGeom prst="rect">
            <a:avLst/>
          </a:prstGeom>
        </p:spPr>
        <p:txBody>
          <a:bodyPr wrap="none">
            <a:spAutoFit/>
          </a:bodyPr>
          <a:lstStyle/>
          <a:p>
            <a:pPr fontAlgn="base"/>
            <a:r>
              <a:rPr lang="en-PH" sz="3200" b="1" dirty="0">
                <a:latin typeface="Arial" pitchFamily="34" charset="0"/>
                <a:cs typeface="Arial" pitchFamily="34" charset="0"/>
              </a:rPr>
              <a:t>Six Elements of Plot That Strengthen Story </a:t>
            </a:r>
            <a:r>
              <a:rPr lang="en-PH" sz="3200" b="1" dirty="0" smtClean="0">
                <a:latin typeface="Arial" pitchFamily="34" charset="0"/>
                <a:cs typeface="Arial" pitchFamily="34" charset="0"/>
              </a:rPr>
              <a:t>Structure</a:t>
            </a:r>
          </a:p>
          <a:p>
            <a:pPr fontAlgn="base"/>
            <a:r>
              <a:rPr lang="en-PH" sz="2200" i="1" dirty="0" smtClean="0">
                <a:latin typeface="Times New Roman" pitchFamily="18" charset="0"/>
                <a:cs typeface="Times New Roman" pitchFamily="18" charset="0"/>
              </a:rPr>
              <a:t>by </a:t>
            </a:r>
            <a:r>
              <a:rPr lang="en-PH" sz="2200" i="1" dirty="0" err="1" smtClean="0">
                <a:latin typeface="Times New Roman" pitchFamily="18" charset="0"/>
                <a:cs typeface="Times New Roman" pitchFamily="18" charset="0"/>
              </a:rPr>
              <a:t>Josyln</a:t>
            </a:r>
            <a:r>
              <a:rPr lang="en-PH" sz="2200" i="1" dirty="0" smtClean="0">
                <a:latin typeface="Times New Roman" pitchFamily="18" charset="0"/>
                <a:cs typeface="Times New Roman" pitchFamily="18" charset="0"/>
              </a:rPr>
              <a:t> Chase of Plot </a:t>
            </a:r>
            <a:r>
              <a:rPr lang="en-PH" sz="2200" i="1" dirty="0">
                <a:latin typeface="Times New Roman" pitchFamily="18" charset="0"/>
                <a:cs typeface="Times New Roman" pitchFamily="18" charset="0"/>
              </a:rPr>
              <a:t>and Structure: How to Use Structure and Subplot to Add </a:t>
            </a:r>
            <a:r>
              <a:rPr lang="en-PH" sz="2200" i="1" dirty="0" smtClean="0">
                <a:latin typeface="Times New Roman" pitchFamily="18" charset="0"/>
                <a:cs typeface="Times New Roman" pitchFamily="18" charset="0"/>
              </a:rPr>
              <a:t>Suspense</a:t>
            </a:r>
            <a:endParaRPr lang="en-PH" sz="2200" i="1" dirty="0">
              <a:latin typeface="Arial" pitchFamily="34" charset="0"/>
              <a:cs typeface="Arial" pitchFamily="34" charset="0"/>
            </a:endParaRPr>
          </a:p>
        </p:txBody>
      </p:sp>
      <p:sp>
        <p:nvSpPr>
          <p:cNvPr id="8" name="Rectangle 7"/>
          <p:cNvSpPr/>
          <p:nvPr/>
        </p:nvSpPr>
        <p:spPr>
          <a:xfrm>
            <a:off x="396156" y="4536728"/>
            <a:ext cx="15503692" cy="1384995"/>
          </a:xfrm>
          <a:prstGeom prst="rect">
            <a:avLst/>
          </a:prstGeom>
        </p:spPr>
        <p:txBody>
          <a:bodyPr wrap="square">
            <a:spAutoFit/>
          </a:bodyPr>
          <a:lstStyle/>
          <a:p>
            <a:pPr algn="just"/>
            <a:r>
              <a:rPr lang="en-PH" sz="2800" dirty="0" smtClean="0">
                <a:latin typeface="Arial" pitchFamily="34" charset="0"/>
                <a:cs typeface="Arial" pitchFamily="34" charset="0"/>
              </a:rPr>
              <a:t>I. The</a:t>
            </a:r>
            <a:r>
              <a:rPr lang="en-PH" sz="2800" dirty="0">
                <a:latin typeface="Arial" pitchFamily="34" charset="0"/>
                <a:cs typeface="Arial" pitchFamily="34" charset="0"/>
              </a:rPr>
              <a:t> </a:t>
            </a:r>
            <a:r>
              <a:rPr lang="en-PH" sz="2800" dirty="0">
                <a:latin typeface="Arial" pitchFamily="34" charset="0"/>
                <a:cs typeface="Arial" pitchFamily="34" charset="0"/>
                <a:hlinkClick r:id="rId3"/>
              </a:rPr>
              <a:t>Exposition </a:t>
            </a:r>
            <a:r>
              <a:rPr lang="en-PH" sz="2800" dirty="0">
                <a:latin typeface="Arial" pitchFamily="34" charset="0"/>
                <a:cs typeface="Arial" pitchFamily="34" charset="0"/>
              </a:rPr>
              <a:t>is where you introduce your hero and establish the story setting, your hero’s world. </a:t>
            </a:r>
            <a:r>
              <a:rPr lang="en-PH" sz="2800" dirty="0" smtClean="0">
                <a:latin typeface="Arial" pitchFamily="34" charset="0"/>
                <a:cs typeface="Arial" pitchFamily="34" charset="0"/>
              </a:rPr>
              <a:t> It also introduces dramatic </a:t>
            </a:r>
            <a:r>
              <a:rPr lang="en-PH" sz="2800" dirty="0">
                <a:latin typeface="Arial" pitchFamily="34" charset="0"/>
                <a:cs typeface="Arial" pitchFamily="34" charset="0"/>
              </a:rPr>
              <a:t>tension by setting up conflict and forcing your character to act on a choice.</a:t>
            </a:r>
          </a:p>
        </p:txBody>
      </p:sp>
      <p:sp>
        <p:nvSpPr>
          <p:cNvPr id="9" name="Rectangle 8"/>
          <p:cNvSpPr/>
          <p:nvPr/>
        </p:nvSpPr>
        <p:spPr>
          <a:xfrm>
            <a:off x="396156" y="6102901"/>
            <a:ext cx="15503692" cy="954107"/>
          </a:xfrm>
          <a:prstGeom prst="rect">
            <a:avLst/>
          </a:prstGeom>
        </p:spPr>
        <p:txBody>
          <a:bodyPr wrap="square">
            <a:spAutoFit/>
          </a:bodyPr>
          <a:lstStyle/>
          <a:p>
            <a:pPr algn="just"/>
            <a:r>
              <a:rPr lang="en-PH" sz="2800" dirty="0" smtClean="0">
                <a:latin typeface="Arial" pitchFamily="34" charset="0"/>
                <a:cs typeface="Arial" pitchFamily="34" charset="0"/>
              </a:rPr>
              <a:t>II. An</a:t>
            </a:r>
            <a:r>
              <a:rPr lang="en-PH" sz="2800" dirty="0">
                <a:latin typeface="Arial" pitchFamily="34" charset="0"/>
                <a:cs typeface="Arial" pitchFamily="34" charset="0"/>
              </a:rPr>
              <a:t> </a:t>
            </a:r>
            <a:r>
              <a:rPr lang="en-PH" sz="2800" dirty="0">
                <a:latin typeface="Arial" pitchFamily="34" charset="0"/>
                <a:cs typeface="Arial" pitchFamily="34" charset="0"/>
                <a:hlinkClick r:id="rId4"/>
              </a:rPr>
              <a:t>Inciting Incident</a:t>
            </a:r>
            <a:r>
              <a:rPr lang="en-PH" sz="2800" dirty="0">
                <a:latin typeface="Arial" pitchFamily="34" charset="0"/>
                <a:cs typeface="Arial" pitchFamily="34" charset="0"/>
              </a:rPr>
              <a:t> begins the story arc that will eventually culminate in the climactic scene and ending resolution of your story.</a:t>
            </a:r>
          </a:p>
        </p:txBody>
      </p:sp>
      <p:sp>
        <p:nvSpPr>
          <p:cNvPr id="14" name="Rectangle 13"/>
          <p:cNvSpPr/>
          <p:nvPr/>
        </p:nvSpPr>
        <p:spPr>
          <a:xfrm>
            <a:off x="396156" y="7273032"/>
            <a:ext cx="15312354" cy="1384995"/>
          </a:xfrm>
          <a:prstGeom prst="rect">
            <a:avLst/>
          </a:prstGeom>
        </p:spPr>
        <p:txBody>
          <a:bodyPr wrap="square">
            <a:spAutoFit/>
          </a:bodyPr>
          <a:lstStyle/>
          <a:p>
            <a:pPr algn="just"/>
            <a:r>
              <a:rPr lang="en-PH" sz="2800" dirty="0" smtClean="0">
                <a:latin typeface="Arial" pitchFamily="34" charset="0"/>
                <a:cs typeface="Arial" pitchFamily="34" charset="0"/>
              </a:rPr>
              <a:t>III. A </a:t>
            </a:r>
            <a:r>
              <a:rPr lang="en-PH" sz="2800" u="sng" dirty="0" smtClean="0">
                <a:solidFill>
                  <a:srgbClr val="0070C0"/>
                </a:solidFill>
                <a:latin typeface="Arial" pitchFamily="34" charset="0"/>
                <a:cs typeface="Arial" pitchFamily="34" charset="0"/>
              </a:rPr>
              <a:t>Rising Action </a:t>
            </a:r>
            <a:r>
              <a:rPr lang="en-PH" sz="2800" dirty="0" smtClean="0">
                <a:latin typeface="Arial" pitchFamily="34" charset="0"/>
                <a:cs typeface="Arial" pitchFamily="34" charset="0"/>
              </a:rPr>
              <a:t>is </a:t>
            </a:r>
            <a:r>
              <a:rPr lang="en-PH" sz="2800" dirty="0">
                <a:latin typeface="Arial" pitchFamily="34" charset="0"/>
                <a:cs typeface="Arial" pitchFamily="34" charset="0"/>
              </a:rPr>
              <a:t>where you </a:t>
            </a:r>
            <a:r>
              <a:rPr lang="en-PH" sz="2800" u="sng" dirty="0">
                <a:latin typeface="Arial" pitchFamily="34" charset="0"/>
                <a:cs typeface="Arial" pitchFamily="34" charset="0"/>
                <a:hlinkClick r:id="rId5"/>
              </a:rPr>
              <a:t>raise the stakes</a:t>
            </a:r>
            <a:r>
              <a:rPr lang="en-PH" sz="2800" dirty="0">
                <a:latin typeface="Arial" pitchFamily="34" charset="0"/>
                <a:cs typeface="Arial" pitchFamily="34" charset="0"/>
              </a:rPr>
              <a:t> and ratchet up the tension in a </a:t>
            </a:r>
            <a:r>
              <a:rPr lang="en-PH" sz="2800" dirty="0" smtClean="0">
                <a:latin typeface="Arial" pitchFamily="34" charset="0"/>
                <a:cs typeface="Arial" pitchFamily="34" charset="0"/>
              </a:rPr>
              <a:t>build up </a:t>
            </a:r>
            <a:r>
              <a:rPr lang="en-PH" sz="2800" dirty="0">
                <a:latin typeface="Arial" pitchFamily="34" charset="0"/>
                <a:cs typeface="Arial" pitchFamily="34" charset="0"/>
              </a:rPr>
              <a:t>toward the dilemma. These are the try/fail cycles, the struggle to understand the antagonistic force and find a way to defeat it through trial and </a:t>
            </a:r>
            <a:r>
              <a:rPr lang="en-PH" sz="2800" dirty="0" smtClean="0">
                <a:latin typeface="Arial" pitchFamily="34" charset="0"/>
                <a:cs typeface="Arial" pitchFamily="34" charset="0"/>
              </a:rPr>
              <a:t>error.</a:t>
            </a:r>
            <a:endParaRPr lang="en-PH" sz="2800" dirty="0">
              <a:latin typeface="Arial" pitchFamily="34" charset="0"/>
              <a:cs typeface="Arial" pitchFamily="34" charset="0"/>
            </a:endParaRPr>
          </a:p>
        </p:txBody>
      </p:sp>
    </p:spTree>
    <p:extLst>
      <p:ext uri="{BB962C8B-B14F-4D97-AF65-F5344CB8AC3E}">
        <p14:creationId xmlns:p14="http://schemas.microsoft.com/office/powerpoint/2010/main" val="219834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8" grpId="0"/>
      <p:bldP spid="9" grpId="0"/>
      <p:bldP spid="14"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Rectangle 1"/>
          <p:cNvSpPr/>
          <p:nvPr/>
        </p:nvSpPr>
        <p:spPr>
          <a:xfrm>
            <a:off x="612180" y="558285"/>
            <a:ext cx="14833648" cy="954107"/>
          </a:xfrm>
          <a:prstGeom prst="rect">
            <a:avLst/>
          </a:prstGeom>
        </p:spPr>
        <p:txBody>
          <a:bodyPr wrap="square">
            <a:spAutoFit/>
          </a:bodyPr>
          <a:lstStyle/>
          <a:p>
            <a:pPr algn="just"/>
            <a:r>
              <a:rPr lang="en-PH" sz="2800" dirty="0" smtClean="0">
                <a:latin typeface="Arial" pitchFamily="34" charset="0"/>
                <a:cs typeface="Arial" pitchFamily="34" charset="0"/>
              </a:rPr>
              <a:t>IV. The</a:t>
            </a:r>
            <a:r>
              <a:rPr lang="en-PH" sz="2800" dirty="0">
                <a:latin typeface="Arial" pitchFamily="34" charset="0"/>
                <a:cs typeface="Arial" pitchFamily="34" charset="0"/>
              </a:rPr>
              <a:t> </a:t>
            </a:r>
            <a:r>
              <a:rPr lang="en-PH" sz="2800" dirty="0">
                <a:latin typeface="Arial" pitchFamily="34" charset="0"/>
                <a:cs typeface="Arial" pitchFamily="34" charset="0"/>
                <a:hlinkClick r:id="rId2"/>
              </a:rPr>
              <a:t>Dilemma</a:t>
            </a:r>
            <a:r>
              <a:rPr lang="en-PH" sz="2800" dirty="0">
                <a:latin typeface="Arial" pitchFamily="34" charset="0"/>
                <a:cs typeface="Arial" pitchFamily="34" charset="0"/>
              </a:rPr>
              <a:t> boils down to a choice your protagonist must make—a difficult and crucial choice.</a:t>
            </a:r>
          </a:p>
        </p:txBody>
      </p:sp>
      <p:sp>
        <p:nvSpPr>
          <p:cNvPr id="3" name="Rectangle 2"/>
          <p:cNvSpPr/>
          <p:nvPr/>
        </p:nvSpPr>
        <p:spPr>
          <a:xfrm>
            <a:off x="684188" y="1872432"/>
            <a:ext cx="14545616" cy="1400383"/>
          </a:xfrm>
          <a:prstGeom prst="rect">
            <a:avLst/>
          </a:prstGeom>
        </p:spPr>
        <p:txBody>
          <a:bodyPr wrap="square">
            <a:spAutoFit/>
          </a:bodyPr>
          <a:lstStyle/>
          <a:p>
            <a:pPr algn="just"/>
            <a:r>
              <a:rPr lang="en-PH" sz="2800" dirty="0" smtClean="0">
                <a:latin typeface="Arial" pitchFamily="34" charset="0"/>
                <a:cs typeface="Arial" pitchFamily="34" charset="0"/>
              </a:rPr>
              <a:t>V. </a:t>
            </a:r>
            <a:r>
              <a:rPr lang="en-PH" sz="2800" dirty="0" smtClean="0">
                <a:latin typeface="Arial" pitchFamily="34" charset="0"/>
                <a:cs typeface="Arial" pitchFamily="34" charset="0"/>
                <a:hlinkClick r:id="rId3"/>
              </a:rPr>
              <a:t>Climax</a:t>
            </a:r>
            <a:r>
              <a:rPr lang="en-PH" sz="2800" dirty="0">
                <a:latin typeface="Arial" pitchFamily="34" charset="0"/>
                <a:cs typeface="Arial" pitchFamily="34" charset="0"/>
              </a:rPr>
              <a:t> is where she acts on that choice and reaps the consequences of that action. This is the payoff you’ve been building toward since the beginning. This is the summit readers want to reach when they open a </a:t>
            </a:r>
            <a:r>
              <a:rPr lang="en-PH" sz="2800" dirty="0" smtClean="0">
                <a:latin typeface="Arial" pitchFamily="34" charset="0"/>
                <a:cs typeface="Arial" pitchFamily="34" charset="0"/>
              </a:rPr>
              <a:t>book</a:t>
            </a:r>
            <a:endParaRPr lang="en-PH" sz="2800" dirty="0">
              <a:latin typeface="Arial" pitchFamily="34" charset="0"/>
              <a:cs typeface="Arial" pitchFamily="34" charset="0"/>
            </a:endParaRPr>
          </a:p>
        </p:txBody>
      </p:sp>
      <p:sp>
        <p:nvSpPr>
          <p:cNvPr id="8" name="Rectangle 7"/>
          <p:cNvSpPr/>
          <p:nvPr/>
        </p:nvSpPr>
        <p:spPr>
          <a:xfrm>
            <a:off x="701576" y="3475479"/>
            <a:ext cx="14744252" cy="1277273"/>
          </a:xfrm>
          <a:prstGeom prst="rect">
            <a:avLst/>
          </a:prstGeom>
        </p:spPr>
        <p:txBody>
          <a:bodyPr wrap="square">
            <a:spAutoFit/>
          </a:bodyPr>
          <a:lstStyle/>
          <a:p>
            <a:pPr algn="just"/>
            <a:r>
              <a:rPr lang="en-PH" sz="2800" dirty="0" smtClean="0">
                <a:latin typeface="Arial" pitchFamily="34" charset="0"/>
                <a:cs typeface="Arial" pitchFamily="34" charset="0"/>
              </a:rPr>
              <a:t>VI. A</a:t>
            </a:r>
            <a:r>
              <a:rPr lang="en-PH" sz="2800" dirty="0">
                <a:latin typeface="Arial" pitchFamily="34" charset="0"/>
                <a:cs typeface="Arial" pitchFamily="34" charset="0"/>
              </a:rPr>
              <a:t> </a:t>
            </a:r>
            <a:r>
              <a:rPr lang="en-PH" sz="2800" u="sng" dirty="0" smtClean="0">
                <a:solidFill>
                  <a:srgbClr val="0070C0"/>
                </a:solidFill>
                <a:latin typeface="Arial" pitchFamily="34" charset="0"/>
                <a:cs typeface="Arial" pitchFamily="34" charset="0"/>
              </a:rPr>
              <a:t>Dénouement</a:t>
            </a:r>
            <a:r>
              <a:rPr lang="en-PH" sz="2800" dirty="0">
                <a:latin typeface="Arial" pitchFamily="34" charset="0"/>
                <a:cs typeface="Arial" pitchFamily="34" charset="0"/>
              </a:rPr>
              <a:t> is the resolution of a plot, consisting of the final moments in a fictional work — the closing sequence after the climax of a </a:t>
            </a:r>
            <a:r>
              <a:rPr lang="en-PH" sz="2800" dirty="0" smtClean="0">
                <a:latin typeface="Arial" pitchFamily="34" charset="0"/>
                <a:cs typeface="Arial" pitchFamily="34" charset="0"/>
              </a:rPr>
              <a:t>story</a:t>
            </a:r>
            <a:r>
              <a:rPr lang="en-PH" sz="2800" dirty="0">
                <a:latin typeface="Arial" pitchFamily="34" charset="0"/>
                <a:cs typeface="Arial" pitchFamily="34" charset="0"/>
              </a:rPr>
              <a:t> </a:t>
            </a:r>
            <a:r>
              <a:rPr lang="en-PH" sz="2100" dirty="0">
                <a:latin typeface="Arial" pitchFamily="34" charset="0"/>
                <a:cs typeface="Arial" pitchFamily="34" charset="0"/>
              </a:rPr>
              <a:t>(</a:t>
            </a:r>
            <a:r>
              <a:rPr lang="en-PH" sz="2100" dirty="0">
                <a:latin typeface="Arial" pitchFamily="34" charset="0"/>
                <a:cs typeface="Arial" pitchFamily="34" charset="0"/>
                <a:hlinkClick r:id="rId4"/>
              </a:rPr>
              <a:t>https://blog.reedsy.com/what-is-a-denouement</a:t>
            </a:r>
            <a:r>
              <a:rPr lang="en-PH" sz="2100" dirty="0" smtClean="0">
                <a:latin typeface="Arial" pitchFamily="34" charset="0"/>
                <a:cs typeface="Arial" pitchFamily="34" charset="0"/>
                <a:hlinkClick r:id="rId4"/>
              </a:rPr>
              <a:t>/</a:t>
            </a:r>
            <a:r>
              <a:rPr lang="en-PH" sz="2100" dirty="0" smtClean="0">
                <a:latin typeface="Arial" pitchFamily="34" charset="0"/>
                <a:cs typeface="Arial" pitchFamily="34" charset="0"/>
              </a:rPr>
              <a:t>)</a:t>
            </a:r>
          </a:p>
          <a:p>
            <a:pPr algn="just"/>
            <a:endParaRPr lang="en-PH" sz="2100" dirty="0">
              <a:latin typeface="Arial" pitchFamily="34" charset="0"/>
              <a:cs typeface="Arial" pitchFamily="34" charset="0"/>
            </a:endParaRPr>
          </a:p>
        </p:txBody>
      </p:sp>
      <p:sp>
        <p:nvSpPr>
          <p:cNvPr id="9" name="Rectangle 8"/>
          <p:cNvSpPr/>
          <p:nvPr/>
        </p:nvSpPr>
        <p:spPr>
          <a:xfrm>
            <a:off x="1260252" y="5472832"/>
            <a:ext cx="14185576" cy="2308324"/>
          </a:xfrm>
          <a:prstGeom prst="rect">
            <a:avLst/>
          </a:prstGeom>
        </p:spPr>
        <p:txBody>
          <a:bodyPr wrap="square">
            <a:spAutoFit/>
          </a:bodyPr>
          <a:lstStyle/>
          <a:p>
            <a:pPr algn="just"/>
            <a:r>
              <a:rPr lang="en-PH" sz="3500" dirty="0" smtClean="0">
                <a:latin typeface="Times New Roman" pitchFamily="18" charset="0"/>
                <a:cs typeface="Times New Roman" pitchFamily="18" charset="0"/>
              </a:rPr>
              <a:t>Voice </a:t>
            </a:r>
            <a:r>
              <a:rPr lang="en-PH" sz="3500" dirty="0">
                <a:latin typeface="Times New Roman" pitchFamily="18" charset="0"/>
                <a:cs typeface="Times New Roman" pitchFamily="18" charset="0"/>
              </a:rPr>
              <a:t>refers to whether a character is unique and unique in what they express, how they express it, and what this expression represents in their uniqueness</a:t>
            </a:r>
            <a:r>
              <a:rPr lang="en-PH" sz="3500" dirty="0" smtClean="0">
                <a:latin typeface="Times New Roman" pitchFamily="18" charset="0"/>
                <a:cs typeface="Times New Roman" pitchFamily="18" charset="0"/>
              </a:rPr>
              <a:t>. It is a </a:t>
            </a:r>
            <a:r>
              <a:rPr lang="en-PH" sz="3500" dirty="0">
                <a:latin typeface="Times New Roman" pitchFamily="18" charset="0"/>
                <a:cs typeface="Times New Roman" pitchFamily="18" charset="0"/>
              </a:rPr>
              <a:t>key element when creating a creative writing work because it makes the work different from other ones.</a:t>
            </a:r>
          </a:p>
        </p:txBody>
      </p:sp>
      <p:sp>
        <p:nvSpPr>
          <p:cNvPr id="10" name="TextBox 9"/>
          <p:cNvSpPr txBox="1"/>
          <p:nvPr/>
        </p:nvSpPr>
        <p:spPr>
          <a:xfrm>
            <a:off x="684188" y="4752752"/>
            <a:ext cx="1796774" cy="646331"/>
          </a:xfrm>
          <a:prstGeom prst="rect">
            <a:avLst/>
          </a:prstGeom>
          <a:noFill/>
        </p:spPr>
        <p:txBody>
          <a:bodyPr wrap="none" rtlCol="0">
            <a:spAutoFit/>
          </a:bodyPr>
          <a:lstStyle/>
          <a:p>
            <a:r>
              <a:rPr lang="en-PH" sz="3600" dirty="0" smtClean="0">
                <a:solidFill>
                  <a:srgbClr val="FF0000"/>
                </a:solidFill>
                <a:latin typeface="Times New Roman" pitchFamily="18" charset="0"/>
                <a:cs typeface="Times New Roman" pitchFamily="18" charset="0"/>
              </a:rPr>
              <a:t>6. Voice </a:t>
            </a:r>
            <a:endParaRPr lang="en-PH" sz="36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63001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9" grpId="0"/>
      <p:bldP spid="10"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6" name="Picture 2" descr="Free English PowerPoint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16" y="7273032"/>
            <a:ext cx="2490700" cy="199454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253763" y="1482482"/>
            <a:ext cx="14048049" cy="2185214"/>
          </a:xfrm>
          <a:prstGeom prst="rect">
            <a:avLst/>
          </a:prstGeom>
        </p:spPr>
        <p:txBody>
          <a:bodyPr wrap="square">
            <a:spAutoFit/>
          </a:bodyPr>
          <a:lstStyle/>
          <a:p>
            <a:pPr algn="just"/>
            <a:r>
              <a:rPr lang="en-PH" sz="3400" dirty="0" smtClean="0">
                <a:latin typeface="Arial" pitchFamily="34" charset="0"/>
                <a:cs typeface="Arial" pitchFamily="34" charset="0"/>
              </a:rPr>
              <a:t>Theme is the </a:t>
            </a:r>
            <a:r>
              <a:rPr lang="en-PH" sz="3400" u="sng" dirty="0" smtClean="0">
                <a:latin typeface="Arial" pitchFamily="34" charset="0"/>
                <a:cs typeface="Arial" pitchFamily="34" charset="0"/>
                <a:hlinkClick r:id="rId3"/>
              </a:rPr>
              <a:t>central idea</a:t>
            </a:r>
            <a:r>
              <a:rPr lang="en-PH" sz="3400" dirty="0" smtClean="0">
                <a:latin typeface="Arial" pitchFamily="34" charset="0"/>
                <a:cs typeface="Arial" pitchFamily="34" charset="0"/>
              </a:rPr>
              <a:t> of a work of literature or art. It is an underlying feeling that unites the many parts of the work, and runs throughout it. Simply, it is the overall message the author wants to relate</a:t>
            </a:r>
            <a:r>
              <a:rPr lang="en-PH" sz="3400" dirty="0"/>
              <a:t> </a:t>
            </a:r>
            <a:r>
              <a:rPr lang="en-PH" sz="3400" dirty="0" smtClean="0"/>
              <a:t>(Bellamy, 2022)</a:t>
            </a:r>
            <a:endParaRPr lang="en-PH" sz="3400" dirty="0">
              <a:latin typeface="Arial" pitchFamily="34" charset="0"/>
              <a:cs typeface="Arial" pitchFamily="34" charset="0"/>
            </a:endParaRPr>
          </a:p>
        </p:txBody>
      </p:sp>
      <p:sp>
        <p:nvSpPr>
          <p:cNvPr id="8" name="TextBox 7"/>
          <p:cNvSpPr txBox="1"/>
          <p:nvPr/>
        </p:nvSpPr>
        <p:spPr>
          <a:xfrm>
            <a:off x="540172" y="762402"/>
            <a:ext cx="1920398" cy="646331"/>
          </a:xfrm>
          <a:prstGeom prst="rect">
            <a:avLst/>
          </a:prstGeom>
          <a:noFill/>
        </p:spPr>
        <p:txBody>
          <a:bodyPr wrap="none" rtlCol="0">
            <a:spAutoFit/>
          </a:bodyPr>
          <a:lstStyle/>
          <a:p>
            <a:r>
              <a:rPr lang="en-PH" sz="3600" dirty="0" smtClean="0">
                <a:solidFill>
                  <a:srgbClr val="FF0000"/>
                </a:solidFill>
                <a:latin typeface="Times New Roman" pitchFamily="18" charset="0"/>
                <a:cs typeface="Times New Roman" pitchFamily="18" charset="0"/>
              </a:rPr>
              <a:t>7. Theme</a:t>
            </a:r>
            <a:endParaRPr lang="en-PH" sz="3600" dirty="0">
              <a:solidFill>
                <a:srgbClr val="FF0000"/>
              </a:solidFill>
              <a:latin typeface="Times New Roman" pitchFamily="18" charset="0"/>
              <a:cs typeface="Times New Roman" pitchFamily="18" charset="0"/>
            </a:endParaRPr>
          </a:p>
        </p:txBody>
      </p:sp>
      <p:sp>
        <p:nvSpPr>
          <p:cNvPr id="9" name="Rectangle 8"/>
          <p:cNvSpPr/>
          <p:nvPr/>
        </p:nvSpPr>
        <p:spPr>
          <a:xfrm>
            <a:off x="1404268" y="4968776"/>
            <a:ext cx="13585417" cy="1138773"/>
          </a:xfrm>
          <a:prstGeom prst="rect">
            <a:avLst/>
          </a:prstGeom>
        </p:spPr>
        <p:txBody>
          <a:bodyPr wrap="square">
            <a:spAutoFit/>
          </a:bodyPr>
          <a:lstStyle/>
          <a:p>
            <a:r>
              <a:rPr lang="en-PH" sz="3400" dirty="0" smtClean="0">
                <a:latin typeface="Arial" pitchFamily="34" charset="0"/>
                <a:cs typeface="Arial" pitchFamily="34" charset="0"/>
              </a:rPr>
              <a:t>It is</a:t>
            </a:r>
            <a:r>
              <a:rPr lang="en-PH" sz="3400" dirty="0">
                <a:latin typeface="Arial" pitchFamily="34" charset="0"/>
                <a:cs typeface="Arial" pitchFamily="34" charset="0"/>
              </a:rPr>
              <a:t> the unique effect a writer has on readers. </a:t>
            </a:r>
            <a:r>
              <a:rPr lang="en-PH" sz="3400" u="sng" dirty="0">
                <a:solidFill>
                  <a:srgbClr val="0070C0"/>
                </a:solidFill>
                <a:latin typeface="Arial" pitchFamily="34" charset="0"/>
                <a:cs typeface="Arial" pitchFamily="34" charset="0"/>
              </a:rPr>
              <a:t>Style</a:t>
            </a:r>
            <a:r>
              <a:rPr lang="en-PH" sz="3400" dirty="0">
                <a:latin typeface="Arial" pitchFamily="34" charset="0"/>
                <a:cs typeface="Arial" pitchFamily="34" charset="0"/>
              </a:rPr>
              <a:t> is dictated by factors including word choice, tone, and syntax.</a:t>
            </a:r>
          </a:p>
        </p:txBody>
      </p:sp>
      <p:sp>
        <p:nvSpPr>
          <p:cNvPr id="10" name="TextBox 9"/>
          <p:cNvSpPr txBox="1"/>
          <p:nvPr/>
        </p:nvSpPr>
        <p:spPr>
          <a:xfrm>
            <a:off x="540172" y="4176688"/>
            <a:ext cx="1595309" cy="646331"/>
          </a:xfrm>
          <a:prstGeom prst="rect">
            <a:avLst/>
          </a:prstGeom>
          <a:noFill/>
        </p:spPr>
        <p:txBody>
          <a:bodyPr wrap="none" rtlCol="0">
            <a:spAutoFit/>
          </a:bodyPr>
          <a:lstStyle/>
          <a:p>
            <a:r>
              <a:rPr lang="en-PH" sz="3600" dirty="0" smtClean="0">
                <a:solidFill>
                  <a:srgbClr val="FF0000"/>
                </a:solidFill>
                <a:latin typeface="Times New Roman" pitchFamily="18" charset="0"/>
                <a:cs typeface="Times New Roman" pitchFamily="18" charset="0"/>
              </a:rPr>
              <a:t>8. Style</a:t>
            </a:r>
            <a:endParaRPr lang="en-PH" sz="36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96282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P spid="10"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6" name="Picture 2" descr="Free English PowerPoint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16" y="7273032"/>
            <a:ext cx="2490700" cy="199454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09893" y="588482"/>
            <a:ext cx="7447103" cy="707886"/>
          </a:xfrm>
          <a:prstGeom prst="rect">
            <a:avLst/>
          </a:prstGeom>
          <a:noFill/>
        </p:spPr>
        <p:txBody>
          <a:bodyPr wrap="none" rtlCol="0">
            <a:spAutoFit/>
          </a:bodyPr>
          <a:lstStyle/>
          <a:p>
            <a:pPr algn="ctr"/>
            <a:r>
              <a:rPr lang="en-PH" sz="4000" b="1" dirty="0" smtClean="0"/>
              <a:t>SIX TRAITS OF CREATIVE WRITING </a:t>
            </a:r>
            <a:endParaRPr lang="en-PH" sz="4000" b="1" dirty="0"/>
          </a:p>
        </p:txBody>
      </p:sp>
      <p:sp>
        <p:nvSpPr>
          <p:cNvPr id="3" name="TextBox 2"/>
          <p:cNvSpPr txBox="1"/>
          <p:nvPr/>
        </p:nvSpPr>
        <p:spPr>
          <a:xfrm>
            <a:off x="2844428" y="1656408"/>
            <a:ext cx="11809312" cy="5509200"/>
          </a:xfrm>
          <a:prstGeom prst="rect">
            <a:avLst/>
          </a:prstGeom>
          <a:noFill/>
        </p:spPr>
        <p:txBody>
          <a:bodyPr wrap="square" rtlCol="0">
            <a:spAutoFit/>
          </a:bodyPr>
          <a:lstStyle/>
          <a:p>
            <a:pPr marL="514350" indent="-514350" algn="just">
              <a:buAutoNum type="arabicPeriod"/>
            </a:pPr>
            <a:r>
              <a:rPr lang="en-PH" sz="3200" b="1" dirty="0" smtClean="0">
                <a:solidFill>
                  <a:srgbClr val="002060"/>
                </a:solidFill>
                <a:latin typeface="Arial" pitchFamily="34" charset="0"/>
                <a:cs typeface="Arial" pitchFamily="34" charset="0"/>
              </a:rPr>
              <a:t>Ideas. </a:t>
            </a:r>
            <a:r>
              <a:rPr lang="en-PH" sz="3200" dirty="0" smtClean="0">
                <a:latin typeface="Arial" pitchFamily="34" charset="0"/>
                <a:cs typeface="Arial" pitchFamily="34" charset="0"/>
              </a:rPr>
              <a:t>These refer to what the writer has to say, a message. The ideas should be fresh and original.</a:t>
            </a:r>
          </a:p>
          <a:p>
            <a:pPr marL="514350" indent="-514350" algn="just">
              <a:buAutoNum type="arabicPeriod"/>
            </a:pPr>
            <a:r>
              <a:rPr lang="en-PH" sz="3200" b="1" dirty="0" smtClean="0">
                <a:solidFill>
                  <a:srgbClr val="002060"/>
                </a:solidFill>
                <a:latin typeface="Arial" pitchFamily="34" charset="0"/>
                <a:cs typeface="Arial" pitchFamily="34" charset="0"/>
              </a:rPr>
              <a:t>Organization. </a:t>
            </a:r>
            <a:r>
              <a:rPr lang="en-PH" sz="3200" dirty="0" smtClean="0">
                <a:latin typeface="Arial" pitchFamily="34" charset="0"/>
                <a:cs typeface="Arial" pitchFamily="34" charset="0"/>
              </a:rPr>
              <a:t>This refers as the structure of the paper. </a:t>
            </a:r>
          </a:p>
          <a:p>
            <a:pPr marL="514350" indent="-514350" algn="just">
              <a:buAutoNum type="arabicPeriod"/>
            </a:pPr>
            <a:r>
              <a:rPr lang="en-PH" sz="3200" dirty="0" smtClean="0">
                <a:latin typeface="Arial" pitchFamily="34" charset="0"/>
                <a:cs typeface="Arial" pitchFamily="34" charset="0"/>
              </a:rPr>
              <a:t> </a:t>
            </a:r>
            <a:r>
              <a:rPr lang="en-PH" sz="3200" b="1" dirty="0" smtClean="0">
                <a:solidFill>
                  <a:srgbClr val="002060"/>
                </a:solidFill>
                <a:latin typeface="Arial" pitchFamily="34" charset="0"/>
                <a:cs typeface="Arial" pitchFamily="34" charset="0"/>
              </a:rPr>
              <a:t>Voice. </a:t>
            </a:r>
            <a:r>
              <a:rPr lang="en-PH" sz="3200" dirty="0" smtClean="0">
                <a:latin typeface="Arial" pitchFamily="34" charset="0"/>
                <a:cs typeface="Arial" pitchFamily="34" charset="0"/>
              </a:rPr>
              <a:t>This shows the writer’s personality.</a:t>
            </a:r>
          </a:p>
          <a:p>
            <a:pPr marL="514350" indent="-514350" algn="just">
              <a:buAutoNum type="arabicPeriod"/>
            </a:pPr>
            <a:r>
              <a:rPr lang="en-PH" sz="3200" b="1" dirty="0" smtClean="0">
                <a:solidFill>
                  <a:srgbClr val="002060"/>
                </a:solidFill>
                <a:latin typeface="Arial" pitchFamily="34" charset="0"/>
                <a:cs typeface="Arial" pitchFamily="34" charset="0"/>
              </a:rPr>
              <a:t>Fluency. </a:t>
            </a:r>
            <a:r>
              <a:rPr lang="en-PH" sz="3200" dirty="0" smtClean="0">
                <a:latin typeface="Arial" pitchFamily="34" charset="0"/>
                <a:cs typeface="Arial" pitchFamily="34" charset="0"/>
              </a:rPr>
              <a:t>This refers as a sentence fluency which is the readability of the paper. </a:t>
            </a:r>
          </a:p>
          <a:p>
            <a:pPr marL="514350" indent="-514350" algn="just">
              <a:buAutoNum type="arabicPeriod"/>
            </a:pPr>
            <a:r>
              <a:rPr lang="en-PH" sz="3200" b="1" dirty="0" smtClean="0">
                <a:solidFill>
                  <a:srgbClr val="002060"/>
                </a:solidFill>
                <a:latin typeface="Arial" pitchFamily="34" charset="0"/>
                <a:cs typeface="Arial" pitchFamily="34" charset="0"/>
              </a:rPr>
              <a:t>Word Choice. </a:t>
            </a:r>
            <a:r>
              <a:rPr lang="en-PH" sz="3200" dirty="0" smtClean="0">
                <a:latin typeface="Arial" pitchFamily="34" charset="0"/>
                <a:cs typeface="Arial" pitchFamily="34" charset="0"/>
              </a:rPr>
              <a:t>With good word choice, the writer creates a mental picture for the reader by using words that are specific and accurate. </a:t>
            </a:r>
          </a:p>
          <a:p>
            <a:pPr marL="514350" indent="-514350" algn="just">
              <a:buAutoNum type="arabicPeriod"/>
            </a:pPr>
            <a:r>
              <a:rPr lang="en-PH" sz="3200" b="1" dirty="0" smtClean="0">
                <a:solidFill>
                  <a:srgbClr val="002060"/>
                </a:solidFill>
                <a:latin typeface="Arial" pitchFamily="34" charset="0"/>
                <a:cs typeface="Arial" pitchFamily="34" charset="0"/>
              </a:rPr>
              <a:t>Grammar. </a:t>
            </a:r>
            <a:r>
              <a:rPr lang="en-PH" sz="3200" dirty="0" smtClean="0">
                <a:latin typeface="Arial" pitchFamily="34" charset="0"/>
                <a:cs typeface="Arial" pitchFamily="34" charset="0"/>
              </a:rPr>
              <a:t>This includes spelling, punctuation, capitalization, and paragraph. </a:t>
            </a:r>
            <a:endParaRPr lang="en-PH" sz="3200" dirty="0">
              <a:latin typeface="Arial" pitchFamily="34" charset="0"/>
              <a:cs typeface="Arial" pitchFamily="34" charset="0"/>
            </a:endParaRPr>
          </a:p>
        </p:txBody>
      </p:sp>
    </p:spTree>
    <p:extLst>
      <p:ext uri="{BB962C8B-B14F-4D97-AF65-F5344CB8AC3E}">
        <p14:creationId xmlns:p14="http://schemas.microsoft.com/office/powerpoint/2010/main" val="410703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2" name="TextBox 1"/>
          <p:cNvSpPr txBox="1"/>
          <p:nvPr/>
        </p:nvSpPr>
        <p:spPr>
          <a:xfrm>
            <a:off x="324148" y="216248"/>
            <a:ext cx="4639090" cy="646331"/>
          </a:xfrm>
          <a:prstGeom prst="rect">
            <a:avLst/>
          </a:prstGeom>
          <a:noFill/>
        </p:spPr>
        <p:txBody>
          <a:bodyPr wrap="none" rtlCol="0">
            <a:spAutoFit/>
          </a:bodyPr>
          <a:lstStyle/>
          <a:p>
            <a:r>
              <a:rPr lang="en-PH" sz="3600" b="1" dirty="0" smtClean="0">
                <a:latin typeface="Arial" pitchFamily="34" charset="0"/>
                <a:cs typeface="Arial" pitchFamily="34" charset="0"/>
              </a:rPr>
              <a:t>The Writing Process</a:t>
            </a:r>
            <a:endParaRPr lang="en-PH" sz="3600" b="1" dirty="0">
              <a:latin typeface="Arial" pitchFamily="34" charset="0"/>
              <a:cs typeface="Arial" pitchFamily="34" charset="0"/>
            </a:endParaRPr>
          </a:p>
        </p:txBody>
      </p:sp>
      <p:sp>
        <p:nvSpPr>
          <p:cNvPr id="3" name="TextBox 2"/>
          <p:cNvSpPr txBox="1"/>
          <p:nvPr/>
        </p:nvSpPr>
        <p:spPr>
          <a:xfrm>
            <a:off x="9809167" y="308116"/>
            <a:ext cx="6069995" cy="584775"/>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r>
              <a:rPr lang="en-PH" sz="3200" b="1" dirty="0" smtClean="0">
                <a:solidFill>
                  <a:srgbClr val="002060"/>
                </a:solidFill>
                <a:latin typeface="Times New Roman" pitchFamily="18" charset="0"/>
                <a:cs typeface="Times New Roman" pitchFamily="18" charset="0"/>
              </a:rPr>
              <a:t>Four Steps in the Writing Process</a:t>
            </a:r>
            <a:endParaRPr lang="en-PH" sz="3200" b="1" dirty="0">
              <a:solidFill>
                <a:srgbClr val="002060"/>
              </a:solidFill>
              <a:latin typeface="Times New Roman" pitchFamily="18" charset="0"/>
              <a:cs typeface="Times New Roman" pitchFamily="18" charset="0"/>
            </a:endParaRPr>
          </a:p>
        </p:txBody>
      </p:sp>
      <p:sp>
        <p:nvSpPr>
          <p:cNvPr id="7" name="TextBox 6"/>
          <p:cNvSpPr txBox="1"/>
          <p:nvPr/>
        </p:nvSpPr>
        <p:spPr>
          <a:xfrm>
            <a:off x="324148" y="1224360"/>
            <a:ext cx="15121680" cy="152349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marL="514350" indent="-514350" algn="just">
              <a:buAutoNum type="arabicPeriod"/>
            </a:pPr>
            <a:r>
              <a:rPr lang="en-PH" sz="3000" b="1" dirty="0" smtClean="0">
                <a:solidFill>
                  <a:srgbClr val="FF0000"/>
                </a:solidFill>
                <a:latin typeface="Arial" pitchFamily="34" charset="0"/>
                <a:cs typeface="Arial" pitchFamily="34" charset="0"/>
              </a:rPr>
              <a:t>Prewriting. </a:t>
            </a:r>
            <a:r>
              <a:rPr lang="en-PH" sz="3000" dirty="0" smtClean="0">
                <a:latin typeface="Arial" pitchFamily="34" charset="0"/>
                <a:cs typeface="Arial" pitchFamily="34" charset="0"/>
              </a:rPr>
              <a:t>It is the time when a writer plays with ideas and gathers information to prepare for the actual drafting. During the prewriting, there are four things to be remembered like the </a:t>
            </a:r>
            <a:r>
              <a:rPr lang="en-PH" sz="3000" b="1" dirty="0" smtClean="0">
                <a:latin typeface="Arial" pitchFamily="34" charset="0"/>
                <a:cs typeface="Arial" pitchFamily="34" charset="0"/>
              </a:rPr>
              <a:t>topic, format, audience, and time. </a:t>
            </a:r>
          </a:p>
        </p:txBody>
      </p:sp>
      <p:sp>
        <p:nvSpPr>
          <p:cNvPr id="8" name="Rectangle 7"/>
          <p:cNvSpPr/>
          <p:nvPr/>
        </p:nvSpPr>
        <p:spPr>
          <a:xfrm>
            <a:off x="857002" y="2915384"/>
            <a:ext cx="15092882" cy="147732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r>
              <a:rPr lang="en-PH" sz="3000" b="1" dirty="0" smtClean="0">
                <a:solidFill>
                  <a:srgbClr val="FF0000"/>
                </a:solidFill>
                <a:latin typeface="Arial" pitchFamily="34" charset="0"/>
                <a:cs typeface="Arial" pitchFamily="34" charset="0"/>
              </a:rPr>
              <a:t>2. Drafting</a:t>
            </a:r>
            <a:r>
              <a:rPr lang="en-PH" sz="3000" dirty="0" smtClean="0">
                <a:latin typeface="Arial" pitchFamily="34" charset="0"/>
                <a:cs typeface="Arial" pitchFamily="34" charset="0"/>
              </a:rPr>
              <a:t>. It occurs </a:t>
            </a:r>
            <a:r>
              <a:rPr lang="en-PH" sz="3000" dirty="0">
                <a:latin typeface="Arial" pitchFamily="34" charset="0"/>
                <a:cs typeface="Arial" pitchFamily="34" charset="0"/>
              </a:rPr>
              <a:t>when you put your ideas into sentences and </a:t>
            </a:r>
            <a:r>
              <a:rPr lang="en-PH" sz="3000" dirty="0" smtClean="0">
                <a:latin typeface="Arial" pitchFamily="34" charset="0"/>
                <a:cs typeface="Arial" pitchFamily="34" charset="0"/>
              </a:rPr>
              <a:t>paragraphs which the writer explains and supports his or her ideas </a:t>
            </a:r>
            <a:r>
              <a:rPr lang="en-PH" sz="3000" dirty="0">
                <a:latin typeface="Arial" pitchFamily="34" charset="0"/>
                <a:cs typeface="Arial" pitchFamily="34" charset="0"/>
              </a:rPr>
              <a:t>fully. </a:t>
            </a:r>
            <a:r>
              <a:rPr lang="en-PH" sz="3000" dirty="0" smtClean="0">
                <a:latin typeface="Arial" pitchFamily="34" charset="0"/>
                <a:cs typeface="Arial" pitchFamily="34" charset="0"/>
              </a:rPr>
              <a:t>He or she also begins </a:t>
            </a:r>
            <a:r>
              <a:rPr lang="en-PH" sz="3000" dirty="0">
                <a:latin typeface="Arial" pitchFamily="34" charset="0"/>
                <a:cs typeface="Arial" pitchFamily="34" charset="0"/>
              </a:rPr>
              <a:t>to connect </a:t>
            </a:r>
            <a:r>
              <a:rPr lang="en-PH" sz="3000" dirty="0" smtClean="0">
                <a:latin typeface="Arial" pitchFamily="34" charset="0"/>
                <a:cs typeface="Arial" pitchFamily="34" charset="0"/>
              </a:rPr>
              <a:t>the  </a:t>
            </a:r>
            <a:r>
              <a:rPr lang="en-PH" sz="3000" dirty="0">
                <a:latin typeface="Arial" pitchFamily="34" charset="0"/>
                <a:cs typeface="Arial" pitchFamily="34" charset="0"/>
              </a:rPr>
              <a:t>ideas. </a:t>
            </a:r>
            <a:endParaRPr lang="en-PH" sz="3000" dirty="0"/>
          </a:p>
        </p:txBody>
      </p:sp>
      <p:sp>
        <p:nvSpPr>
          <p:cNvPr id="9" name="Rectangle 8"/>
          <p:cNvSpPr/>
          <p:nvPr/>
        </p:nvSpPr>
        <p:spPr>
          <a:xfrm>
            <a:off x="2513468" y="4594215"/>
            <a:ext cx="13365694" cy="224676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PH" sz="3000" b="1" dirty="0" smtClean="0">
                <a:solidFill>
                  <a:srgbClr val="FF0000"/>
                </a:solidFill>
                <a:latin typeface="Arial" pitchFamily="34" charset="0"/>
                <a:cs typeface="Arial" pitchFamily="34" charset="0"/>
              </a:rPr>
              <a:t>3. Revising. </a:t>
            </a:r>
            <a:r>
              <a:rPr lang="en-PH" sz="3000" dirty="0" smtClean="0">
                <a:latin typeface="Arial" pitchFamily="34" charset="0"/>
                <a:cs typeface="Arial" pitchFamily="34" charset="0"/>
              </a:rPr>
              <a:t>It is </a:t>
            </a:r>
            <a:r>
              <a:rPr lang="en-PH" sz="3000" dirty="0">
                <a:latin typeface="Arial" pitchFamily="34" charset="0"/>
                <a:cs typeface="Arial" pitchFamily="34" charset="0"/>
              </a:rPr>
              <a:t>the key to effective documents. </a:t>
            </a:r>
            <a:r>
              <a:rPr lang="en-PH" sz="3000" dirty="0" smtClean="0">
                <a:latin typeface="Arial" pitchFamily="34" charset="0"/>
                <a:cs typeface="Arial" pitchFamily="34" charset="0"/>
              </a:rPr>
              <a:t>The writer thinks more </a:t>
            </a:r>
            <a:r>
              <a:rPr lang="en-PH" sz="3000" dirty="0">
                <a:latin typeface="Arial" pitchFamily="34" charset="0"/>
                <a:cs typeface="Arial" pitchFamily="34" charset="0"/>
              </a:rPr>
              <a:t>deeply about </a:t>
            </a:r>
            <a:r>
              <a:rPr lang="en-PH" sz="3000" dirty="0" smtClean="0">
                <a:latin typeface="Arial" pitchFamily="34" charset="0"/>
                <a:cs typeface="Arial" pitchFamily="34" charset="0"/>
              </a:rPr>
              <a:t>his or her </a:t>
            </a:r>
            <a:r>
              <a:rPr lang="en-PH" sz="3000" dirty="0">
                <a:latin typeface="Arial" pitchFamily="34" charset="0"/>
                <a:cs typeface="Arial" pitchFamily="34" charset="0"/>
              </a:rPr>
              <a:t>readers’ needs and expectations. </a:t>
            </a:r>
            <a:endParaRPr lang="en-PH" sz="3000" dirty="0" smtClean="0">
              <a:latin typeface="Arial" pitchFamily="34" charset="0"/>
              <a:cs typeface="Arial" pitchFamily="34" charset="0"/>
            </a:endParaRPr>
          </a:p>
          <a:p>
            <a:pPr algn="just"/>
            <a:r>
              <a:rPr lang="en-PH" sz="3000" dirty="0">
                <a:latin typeface="Arial" pitchFamily="34" charset="0"/>
                <a:cs typeface="Arial" pitchFamily="34" charset="0"/>
              </a:rPr>
              <a:t>	</a:t>
            </a:r>
            <a:r>
              <a:rPr lang="en-PH" sz="3000" dirty="0" smtClean="0">
                <a:latin typeface="Arial" pitchFamily="34" charset="0"/>
                <a:cs typeface="Arial" pitchFamily="34" charset="0"/>
              </a:rPr>
              <a:t>Qs: </a:t>
            </a:r>
            <a:r>
              <a:rPr lang="en-PH" sz="2500" dirty="0" smtClean="0">
                <a:latin typeface="Arial" pitchFamily="34" charset="0"/>
                <a:cs typeface="Arial" pitchFamily="34" charset="0"/>
              </a:rPr>
              <a:t>How </a:t>
            </a:r>
            <a:r>
              <a:rPr lang="en-PH" sz="2500" dirty="0">
                <a:latin typeface="Arial" pitchFamily="34" charset="0"/>
                <a:cs typeface="Arial" pitchFamily="34" charset="0"/>
              </a:rPr>
              <a:t>much support will each idea need to convince your readers</a:t>
            </a:r>
            <a:r>
              <a:rPr lang="en-PH" sz="2500" dirty="0" smtClean="0">
                <a:latin typeface="Arial" pitchFamily="34" charset="0"/>
                <a:cs typeface="Arial" pitchFamily="34" charset="0"/>
              </a:rPr>
              <a:t>?</a:t>
            </a:r>
          </a:p>
          <a:p>
            <a:pPr algn="just"/>
            <a:r>
              <a:rPr lang="en-PH" sz="2500" dirty="0">
                <a:latin typeface="Arial" pitchFamily="34" charset="0"/>
                <a:cs typeface="Arial" pitchFamily="34" charset="0"/>
              </a:rPr>
              <a:t>	</a:t>
            </a:r>
            <a:r>
              <a:rPr lang="en-PH" sz="2500" dirty="0" smtClean="0">
                <a:latin typeface="Arial" pitchFamily="34" charset="0"/>
                <a:cs typeface="Arial" pitchFamily="34" charset="0"/>
              </a:rPr>
              <a:t>        </a:t>
            </a:r>
            <a:r>
              <a:rPr lang="en-PH" sz="2500" dirty="0">
                <a:latin typeface="Arial" pitchFamily="34" charset="0"/>
                <a:cs typeface="Arial" pitchFamily="34" charset="0"/>
              </a:rPr>
              <a:t>Which terms should be defined for these particular readers?  </a:t>
            </a:r>
            <a:r>
              <a:rPr lang="en-PH" sz="2500" dirty="0" smtClean="0">
                <a:latin typeface="Arial" pitchFamily="34" charset="0"/>
                <a:cs typeface="Arial" pitchFamily="34" charset="0"/>
              </a:rPr>
              <a:t> </a:t>
            </a:r>
          </a:p>
          <a:p>
            <a:pPr algn="just"/>
            <a:r>
              <a:rPr lang="en-PH" sz="2500" dirty="0">
                <a:latin typeface="Arial" pitchFamily="34" charset="0"/>
                <a:cs typeface="Arial" pitchFamily="34" charset="0"/>
              </a:rPr>
              <a:t> </a:t>
            </a:r>
            <a:r>
              <a:rPr lang="en-PH" sz="2500" dirty="0" smtClean="0">
                <a:latin typeface="Arial" pitchFamily="34" charset="0"/>
                <a:cs typeface="Arial" pitchFamily="34" charset="0"/>
              </a:rPr>
              <a:t>                       Is </a:t>
            </a:r>
            <a:r>
              <a:rPr lang="en-PH" sz="2500" dirty="0">
                <a:latin typeface="Arial" pitchFamily="34" charset="0"/>
                <a:cs typeface="Arial" pitchFamily="34" charset="0"/>
              </a:rPr>
              <a:t>your organization effective</a:t>
            </a:r>
            <a:r>
              <a:rPr lang="en-PH" sz="2500" dirty="0" smtClean="0">
                <a:latin typeface="Arial" pitchFamily="34" charset="0"/>
                <a:cs typeface="Arial" pitchFamily="34" charset="0"/>
              </a:rPr>
              <a:t>?</a:t>
            </a:r>
            <a:endParaRPr lang="en-PH" sz="2500" dirty="0">
              <a:latin typeface="Arial" pitchFamily="34" charset="0"/>
              <a:cs typeface="Arial" pitchFamily="34" charset="0"/>
            </a:endParaRPr>
          </a:p>
        </p:txBody>
      </p:sp>
      <p:sp>
        <p:nvSpPr>
          <p:cNvPr id="10" name="Rectangle 9"/>
          <p:cNvSpPr/>
          <p:nvPr/>
        </p:nvSpPr>
        <p:spPr>
          <a:xfrm>
            <a:off x="900212" y="7121465"/>
            <a:ext cx="14761640"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PH" sz="3000" b="1" dirty="0" smtClean="0">
                <a:solidFill>
                  <a:srgbClr val="FF0000"/>
                </a:solidFill>
                <a:latin typeface="Arial" pitchFamily="34" charset="0"/>
                <a:cs typeface="Arial" pitchFamily="34" charset="0"/>
              </a:rPr>
              <a:t>4. Editing</a:t>
            </a:r>
            <a:r>
              <a:rPr lang="en-PH" sz="3000" dirty="0" smtClean="0">
                <a:latin typeface="Arial" pitchFamily="34" charset="0"/>
                <a:cs typeface="Arial" pitchFamily="34" charset="0"/>
              </a:rPr>
              <a:t>. It is way of checking the grammar</a:t>
            </a:r>
            <a:r>
              <a:rPr lang="en-PH" sz="3000" dirty="0">
                <a:latin typeface="Arial" pitchFamily="34" charset="0"/>
                <a:cs typeface="Arial" pitchFamily="34" charset="0"/>
              </a:rPr>
              <a:t>, mechanics, and spelling</a:t>
            </a:r>
            <a:r>
              <a:rPr lang="en-PH" sz="3000" dirty="0" smtClean="0">
                <a:latin typeface="Arial" pitchFamily="34" charset="0"/>
                <a:cs typeface="Arial" pitchFamily="34" charset="0"/>
              </a:rPr>
              <a:t>. Don’t </a:t>
            </a:r>
            <a:r>
              <a:rPr lang="en-PH" sz="3000" dirty="0">
                <a:latin typeface="Arial" pitchFamily="34" charset="0"/>
                <a:cs typeface="Arial" pitchFamily="34" charset="0"/>
              </a:rPr>
              <a:t>edit your writing until the other steps in the writing process are complete.</a:t>
            </a:r>
          </a:p>
        </p:txBody>
      </p:sp>
    </p:spTree>
    <p:extLst>
      <p:ext uri="{BB962C8B-B14F-4D97-AF65-F5344CB8AC3E}">
        <p14:creationId xmlns:p14="http://schemas.microsoft.com/office/powerpoint/2010/main" val="1008125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7" grpId="0" animBg="1"/>
      <p:bldP spid="8" grpId="0" animBg="1"/>
      <p:bldP spid="9" grpId="0" animBg="1"/>
      <p:bldP spid="10"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pic>
        <p:nvPicPr>
          <p:cNvPr id="6" name="Picture 2" descr="Free English PowerPoint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16" y="7273032"/>
            <a:ext cx="2490700" cy="199454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52140" y="1750919"/>
            <a:ext cx="5972790" cy="646331"/>
          </a:xfrm>
          <a:prstGeom prst="rect">
            <a:avLst/>
          </a:prstGeom>
          <a:noFill/>
        </p:spPr>
        <p:txBody>
          <a:bodyPr wrap="none" rtlCol="0">
            <a:spAutoFit/>
          </a:bodyPr>
          <a:lstStyle/>
          <a:p>
            <a:pPr algn="ctr"/>
            <a:r>
              <a:rPr lang="en-PH" sz="3600" b="1" dirty="0" smtClean="0">
                <a:latin typeface="Arial" pitchFamily="34" charset="0"/>
                <a:cs typeface="Arial" pitchFamily="34" charset="0"/>
              </a:rPr>
              <a:t>Elements of Good Writing </a:t>
            </a:r>
            <a:endParaRPr lang="en-PH" sz="3600" b="1" dirty="0">
              <a:latin typeface="Arial" pitchFamily="34" charset="0"/>
              <a:cs typeface="Arial" pitchFamily="34" charset="0"/>
            </a:endParaRPr>
          </a:p>
        </p:txBody>
      </p:sp>
      <p:sp>
        <p:nvSpPr>
          <p:cNvPr id="3" name="TextBox 2"/>
          <p:cNvSpPr txBox="1"/>
          <p:nvPr/>
        </p:nvSpPr>
        <p:spPr>
          <a:xfrm>
            <a:off x="283940" y="2414811"/>
            <a:ext cx="7457032" cy="2769989"/>
          </a:xfrm>
          <a:prstGeom prst="rect">
            <a:avLst/>
          </a:prstGeom>
          <a:noFill/>
        </p:spPr>
        <p:txBody>
          <a:bodyPr wrap="square" rtlCol="0">
            <a:spAutoFit/>
          </a:bodyPr>
          <a:lstStyle/>
          <a:p>
            <a:pPr marL="514350" indent="-514350">
              <a:buAutoNum type="arabicPeriod"/>
            </a:pPr>
            <a:r>
              <a:rPr lang="en-PH" dirty="0" smtClean="0">
                <a:latin typeface="Arial" pitchFamily="34" charset="0"/>
                <a:cs typeface="Arial" pitchFamily="34" charset="0"/>
              </a:rPr>
              <a:t>Good writing is honest.</a:t>
            </a:r>
          </a:p>
          <a:p>
            <a:pPr marL="514350" indent="-514350">
              <a:buAutoNum type="arabicPeriod"/>
            </a:pPr>
            <a:r>
              <a:rPr lang="en-PH" dirty="0" smtClean="0">
                <a:latin typeface="Arial" pitchFamily="34" charset="0"/>
                <a:cs typeface="Arial" pitchFamily="34" charset="0"/>
              </a:rPr>
              <a:t>Good writing makes the reader see</a:t>
            </a:r>
          </a:p>
          <a:p>
            <a:pPr marL="514350" indent="-514350">
              <a:buAutoNum type="arabicPeriod"/>
            </a:pPr>
            <a:r>
              <a:rPr lang="en-PH" dirty="0" smtClean="0">
                <a:latin typeface="Arial" pitchFamily="34" charset="0"/>
                <a:cs typeface="Arial" pitchFamily="34" charset="0"/>
              </a:rPr>
              <a:t>Good writing experiments with language.</a:t>
            </a:r>
          </a:p>
          <a:p>
            <a:pPr marL="514350" indent="-514350">
              <a:buAutoNum type="arabicPeriod"/>
            </a:pPr>
            <a:r>
              <a:rPr lang="en-PH" dirty="0" smtClean="0">
                <a:latin typeface="Arial" pitchFamily="34" charset="0"/>
                <a:cs typeface="Arial" pitchFamily="34" charset="0"/>
              </a:rPr>
              <a:t>Good writing often uses contrast.</a:t>
            </a:r>
          </a:p>
          <a:p>
            <a:pPr marL="514350" indent="-514350">
              <a:buAutoNum type="arabicPeriod"/>
            </a:pPr>
            <a:r>
              <a:rPr lang="en-PH" dirty="0" smtClean="0">
                <a:latin typeface="Arial" pitchFamily="34" charset="0"/>
                <a:cs typeface="Arial" pitchFamily="34" charset="0"/>
              </a:rPr>
              <a:t>Good writing affects the audience. </a:t>
            </a:r>
          </a:p>
          <a:p>
            <a:pPr marL="514350" indent="-514350">
              <a:buAutoNum type="arabicPeriod"/>
            </a:pPr>
            <a:endParaRPr lang="en-PH" dirty="0" smtClean="0">
              <a:latin typeface="Arial" pitchFamily="34" charset="0"/>
              <a:cs typeface="Arial" pitchFamily="34" charset="0"/>
            </a:endParaRPr>
          </a:p>
        </p:txBody>
      </p:sp>
      <p:sp>
        <p:nvSpPr>
          <p:cNvPr id="7" name="TextBox 6"/>
          <p:cNvSpPr txBox="1"/>
          <p:nvPr/>
        </p:nvSpPr>
        <p:spPr>
          <a:xfrm>
            <a:off x="8605068" y="792312"/>
            <a:ext cx="6853158" cy="646331"/>
          </a:xfrm>
          <a:prstGeom prst="rect">
            <a:avLst/>
          </a:prstGeom>
          <a:noFill/>
        </p:spPr>
        <p:txBody>
          <a:bodyPr wrap="none" rtlCol="0">
            <a:spAutoFit/>
          </a:bodyPr>
          <a:lstStyle/>
          <a:p>
            <a:r>
              <a:rPr lang="en-PH" sz="3600" b="1" dirty="0" smtClean="0">
                <a:latin typeface="Arial" pitchFamily="34" charset="0"/>
                <a:cs typeface="Arial" pitchFamily="34" charset="0"/>
              </a:rPr>
              <a:t>Why do people write fictions? </a:t>
            </a:r>
            <a:endParaRPr lang="en-PH" sz="3600" b="1" dirty="0">
              <a:latin typeface="Arial" pitchFamily="34" charset="0"/>
              <a:cs typeface="Arial" pitchFamily="34" charset="0"/>
            </a:endParaRPr>
          </a:p>
        </p:txBody>
      </p:sp>
      <p:sp>
        <p:nvSpPr>
          <p:cNvPr id="8" name="TextBox 7"/>
          <p:cNvSpPr txBox="1"/>
          <p:nvPr/>
        </p:nvSpPr>
        <p:spPr>
          <a:xfrm>
            <a:off x="8346651" y="1512392"/>
            <a:ext cx="7603233" cy="2323713"/>
          </a:xfrm>
          <a:prstGeom prst="rect">
            <a:avLst/>
          </a:prstGeom>
          <a:noFill/>
        </p:spPr>
        <p:txBody>
          <a:bodyPr wrap="square" rtlCol="0">
            <a:spAutoFit/>
          </a:bodyPr>
          <a:lstStyle/>
          <a:p>
            <a:pPr marL="457200" indent="-457200">
              <a:buFont typeface="Wingdings" pitchFamily="2" charset="2"/>
              <a:buChar char="q"/>
            </a:pPr>
            <a:r>
              <a:rPr lang="en-PH" dirty="0" smtClean="0">
                <a:latin typeface="Arial" pitchFamily="34" charset="0"/>
                <a:cs typeface="Arial" pitchFamily="34" charset="0"/>
              </a:rPr>
              <a:t>They grew up around storytellers. It is part of their family culture (Smith 128).</a:t>
            </a:r>
          </a:p>
          <a:p>
            <a:pPr marL="457200" indent="-457200">
              <a:buFont typeface="Wingdings" pitchFamily="2" charset="2"/>
              <a:buChar char="q"/>
            </a:pPr>
            <a:r>
              <a:rPr lang="en-PH" dirty="0" smtClean="0">
                <a:latin typeface="Arial" pitchFamily="34" charset="0"/>
                <a:cs typeface="Arial" pitchFamily="34" charset="0"/>
              </a:rPr>
              <a:t>Writing haunts them - - - the art of the crafts provokes them (</a:t>
            </a:r>
            <a:r>
              <a:rPr lang="en-PH" dirty="0">
                <a:latin typeface="Arial" pitchFamily="34" charset="0"/>
                <a:cs typeface="Arial" pitchFamily="34" charset="0"/>
              </a:rPr>
              <a:t>W</a:t>
            </a:r>
            <a:r>
              <a:rPr lang="en-PH" dirty="0" smtClean="0">
                <a:latin typeface="Arial" pitchFamily="34" charset="0"/>
                <a:cs typeface="Arial" pitchFamily="34" charset="0"/>
              </a:rPr>
              <a:t>allace 140-141).</a:t>
            </a:r>
          </a:p>
          <a:p>
            <a:pPr marL="457200" indent="-457200">
              <a:buFont typeface="Wingdings" pitchFamily="2" charset="2"/>
              <a:buChar char="q"/>
            </a:pPr>
            <a:r>
              <a:rPr lang="en-PH" dirty="0" smtClean="0">
                <a:latin typeface="Arial" pitchFamily="34" charset="0"/>
                <a:cs typeface="Arial" pitchFamily="34" charset="0"/>
              </a:rPr>
              <a:t>It is fun (Wallace 42). </a:t>
            </a:r>
            <a:endParaRPr lang="en-PH" dirty="0"/>
          </a:p>
        </p:txBody>
      </p:sp>
      <p:sp>
        <p:nvSpPr>
          <p:cNvPr id="9" name="TextBox 8"/>
          <p:cNvSpPr txBox="1"/>
          <p:nvPr/>
        </p:nvSpPr>
        <p:spPr>
          <a:xfrm>
            <a:off x="815806" y="5568067"/>
            <a:ext cx="14918054" cy="98488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just"/>
            <a:r>
              <a:rPr lang="en-PH" b="1" dirty="0" smtClean="0">
                <a:latin typeface="Arial" pitchFamily="34" charset="0"/>
                <a:cs typeface="Arial" pitchFamily="34" charset="0"/>
              </a:rPr>
              <a:t>REMINDERS: To be an effective writer, you need to convince your readers that your fictional characters could exists. A character’s actions must also be believable. </a:t>
            </a:r>
            <a:endParaRPr lang="en-PH" b="1" dirty="0">
              <a:latin typeface="Arial" pitchFamily="34" charset="0"/>
              <a:cs typeface="Arial" pitchFamily="34" charset="0"/>
            </a:endParaRPr>
          </a:p>
        </p:txBody>
      </p:sp>
      <p:cxnSp>
        <p:nvCxnSpPr>
          <p:cNvPr id="11" name="Straight Connector 10"/>
          <p:cNvCxnSpPr/>
          <p:nvPr/>
        </p:nvCxnSpPr>
        <p:spPr>
          <a:xfrm>
            <a:off x="5508724" y="936328"/>
            <a:ext cx="3816424" cy="4248472"/>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000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inVertical)">
                                      <p:cBhvr>
                                        <p:cTn id="21" dur="500"/>
                                        <p:tgtEl>
                                          <p:spTgt spid="11"/>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arn(inVertical)">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9">
                                            <p:txEl>
                                              <p:pRg st="0" end="0"/>
                                            </p:txEl>
                                          </p:spTgt>
                                        </p:tgtEl>
                                        <p:attrNameLst>
                                          <p:attrName>style.visibility</p:attrName>
                                        </p:attrNameLst>
                                      </p:cBhvr>
                                      <p:to>
                                        <p:strVal val="visible"/>
                                      </p:to>
                                    </p:set>
                                    <p:anim calcmode="lin" valueType="num">
                                      <p:cBhvr additive="base">
                                        <p:cTn id="34"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8"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ree English PowerPoint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51" y="6624960"/>
            <a:ext cx="3120143" cy="24986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2844165" y="8827591"/>
            <a:ext cx="3321743" cy="461665"/>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PH" sz="2400" b="1" dirty="0" smtClean="0">
                <a:latin typeface="Agency FB" pitchFamily="34" charset="0"/>
              </a:rPr>
              <a:t>LET REVIEW – ENGLISH MAJOR</a:t>
            </a:r>
            <a:endParaRPr lang="en-PH" sz="2400" b="1" dirty="0">
              <a:latin typeface="Agency FB" pitchFamily="34" charset="0"/>
            </a:endParaRPr>
          </a:p>
        </p:txBody>
      </p:sp>
      <p:sp>
        <p:nvSpPr>
          <p:cNvPr id="3" name="TextBox 2"/>
          <p:cNvSpPr txBox="1"/>
          <p:nvPr/>
        </p:nvSpPr>
        <p:spPr>
          <a:xfrm>
            <a:off x="612180" y="576288"/>
            <a:ext cx="3385863" cy="769441"/>
          </a:xfrm>
          <a:prstGeom prst="rect">
            <a:avLst/>
          </a:prstGeom>
          <a:noFill/>
        </p:spPr>
        <p:txBody>
          <a:bodyPr wrap="none" rtlCol="0">
            <a:spAutoFit/>
          </a:bodyPr>
          <a:lstStyle/>
          <a:p>
            <a:r>
              <a:rPr lang="en-PH" sz="4400" b="1" dirty="0" smtClean="0">
                <a:latin typeface="Arial" pitchFamily="34" charset="0"/>
                <a:cs typeface="Arial" pitchFamily="34" charset="0"/>
              </a:rPr>
              <a:t>References </a:t>
            </a:r>
            <a:endParaRPr lang="en-PH" sz="4400" b="1" dirty="0">
              <a:latin typeface="Arial" pitchFamily="34" charset="0"/>
              <a:cs typeface="Arial" pitchFamily="34" charset="0"/>
            </a:endParaRPr>
          </a:p>
        </p:txBody>
      </p:sp>
      <p:sp>
        <p:nvSpPr>
          <p:cNvPr id="6" name="TextBox 5"/>
          <p:cNvSpPr txBox="1"/>
          <p:nvPr/>
        </p:nvSpPr>
        <p:spPr>
          <a:xfrm>
            <a:off x="1044228" y="1584400"/>
            <a:ext cx="14545616" cy="969496"/>
          </a:xfrm>
          <a:prstGeom prst="rect">
            <a:avLst/>
          </a:prstGeom>
          <a:noFill/>
        </p:spPr>
        <p:txBody>
          <a:bodyPr wrap="square" rtlCol="0">
            <a:spAutoFit/>
          </a:bodyPr>
          <a:lstStyle/>
          <a:p>
            <a:r>
              <a:rPr lang="en-PH" sz="2800" dirty="0" smtClean="0">
                <a:latin typeface="Times New Roman" pitchFamily="18" charset="0"/>
                <a:cs typeface="Times New Roman" pitchFamily="18" charset="0"/>
              </a:rPr>
              <a:t>Bellamy, J. 2022. </a:t>
            </a:r>
            <a:r>
              <a:rPr lang="en-PH" sz="2400" dirty="0">
                <a:latin typeface="Times New Roman" pitchFamily="18" charset="0"/>
                <a:cs typeface="Times New Roman" pitchFamily="18" charset="0"/>
              </a:rPr>
              <a:t>What </a:t>
            </a:r>
            <a:r>
              <a:rPr lang="en-PH" sz="2400" dirty="0" smtClean="0">
                <a:latin typeface="Times New Roman" pitchFamily="18" charset="0"/>
                <a:cs typeface="Times New Roman" pitchFamily="18" charset="0"/>
              </a:rPr>
              <a:t>are the elements of creative writing? Retrieved </a:t>
            </a:r>
            <a:r>
              <a:rPr lang="en-PH" sz="2400" dirty="0">
                <a:latin typeface="Times New Roman" pitchFamily="18" charset="0"/>
                <a:cs typeface="Times New Roman" pitchFamily="18" charset="0"/>
              </a:rPr>
              <a:t>20 August 2022, from </a:t>
            </a:r>
            <a:r>
              <a:rPr lang="en-PH" sz="2400" dirty="0">
                <a:latin typeface="Times New Roman" pitchFamily="18" charset="0"/>
                <a:cs typeface="Times New Roman" pitchFamily="18" charset="0"/>
                <a:hlinkClick r:id="rId3"/>
              </a:rPr>
              <a:t>https://paragraffs.com/what-are-the-elements-of-creative-writing</a:t>
            </a:r>
            <a:r>
              <a:rPr lang="en-PH" sz="2400" dirty="0" smtClean="0">
                <a:latin typeface="Times New Roman" pitchFamily="18" charset="0"/>
                <a:cs typeface="Times New Roman" pitchFamily="18" charset="0"/>
                <a:hlinkClick r:id="rId3"/>
              </a:rPr>
              <a:t>/</a:t>
            </a:r>
            <a:r>
              <a:rPr lang="en-PH" dirty="0" smtClean="0"/>
              <a:t> </a:t>
            </a:r>
            <a:endParaRPr lang="en-PH" dirty="0"/>
          </a:p>
        </p:txBody>
      </p:sp>
    </p:spTree>
    <p:extLst>
      <p:ext uri="{BB962C8B-B14F-4D97-AF65-F5344CB8AC3E}">
        <p14:creationId xmlns:p14="http://schemas.microsoft.com/office/powerpoint/2010/main" val="704684057"/>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descr="1,000+ Best Thank You Images · 100% Free Download · Pexels Stock Phot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180" y="216248"/>
            <a:ext cx="14905656" cy="8856984"/>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195337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3076</TotalTime>
  <Words>11429</Words>
  <Application>Microsoft Office PowerPoint</Application>
  <PresentationFormat>Custom</PresentationFormat>
  <Paragraphs>957</Paragraphs>
  <Slides>146</Slides>
  <Notes>1</Notes>
  <HiddenSlides>0</HiddenSlides>
  <MMClips>0</MMClips>
  <ScaleCrop>false</ScaleCrop>
  <HeadingPairs>
    <vt:vector size="4" baseType="variant">
      <vt:variant>
        <vt:lpstr>Theme</vt:lpstr>
      </vt:variant>
      <vt:variant>
        <vt:i4>1</vt:i4>
      </vt:variant>
      <vt:variant>
        <vt:lpstr>Slide Titles</vt:lpstr>
      </vt:variant>
      <vt:variant>
        <vt:i4>146</vt:i4>
      </vt:variant>
    </vt:vector>
  </HeadingPairs>
  <TitlesOfParts>
    <vt:vector size="14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171</cp:revision>
  <dcterms:created xsi:type="dcterms:W3CDTF">2022-08-25T05:43:50Z</dcterms:created>
  <dcterms:modified xsi:type="dcterms:W3CDTF">2022-09-02T10:37:36Z</dcterms:modified>
</cp:coreProperties>
</file>