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369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70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DED5E-A893-46E8-83A4-3F0742DD8DD7}" type="datetimeFigureOut">
              <a:rPr lang="en-PH" smtClean="0"/>
              <a:pPr/>
              <a:t>7/10/2015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6110E-BCA2-402C-AE6F-56B4E42B9D35}" type="slidenum">
              <a:rPr lang="en-PH" smtClean="0"/>
              <a:pPr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xmlns="" val="376834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86110E-BCA2-402C-AE6F-56B4E42B9D35}" type="slidenum">
              <a:rPr lang="en-PH" smtClean="0"/>
              <a:pPr/>
              <a:t>65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xmlns="" val="281236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996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9026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404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246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734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8173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4318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8880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66962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4070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483435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09561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4090818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0716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3735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3018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2100"/>
            <a:ext cx="8229600" cy="1384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05000"/>
            <a:ext cx="8229600" cy="4114800"/>
          </a:xfrm>
        </p:spPr>
        <p:txBody>
          <a:bodyPr rtlCol="0">
            <a:normAutofit/>
          </a:bodyPr>
          <a:lstStyle/>
          <a:p>
            <a:pPr lvl="0"/>
            <a:endParaRPr lang="en-US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DA3A1-8F93-480A-8002-3A65C2C50D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774034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C2ACD-DBAB-4007-8629-B82CB15A3550}" type="datetimeFigureOut">
              <a:rPr lang="en-US" smtClean="0"/>
              <a:pPr/>
              <a:t>7/10/2015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A4CBDA0-2CAA-4504-9265-7DA6A1829C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1451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2819400"/>
          </a:xfrm>
        </p:spPr>
        <p:txBody>
          <a:bodyPr>
            <a:normAutofit/>
          </a:bodyPr>
          <a:lstStyle/>
          <a:p>
            <a:r>
              <a:rPr lang="en-PH" sz="4800" b="1" dirty="0" smtClean="0"/>
              <a:t/>
            </a:r>
            <a:br>
              <a:rPr lang="en-PH" sz="4800" b="1" dirty="0" smtClean="0"/>
            </a:br>
            <a:r>
              <a:rPr lang="en-PH" sz="4800" b="1" dirty="0" smtClean="0"/>
              <a:t/>
            </a:r>
            <a:br>
              <a:rPr lang="en-PH" sz="4800" b="1" dirty="0" smtClean="0"/>
            </a:br>
            <a:r>
              <a:rPr lang="en-PH" sz="4800" b="1" dirty="0" smtClean="0"/>
              <a:t>Structure of English </a:t>
            </a:r>
            <a:br>
              <a:rPr lang="en-PH" sz="4800" b="1" dirty="0" smtClean="0"/>
            </a:br>
            <a:r>
              <a:rPr lang="en-PH" sz="2800" b="1" dirty="0" smtClean="0"/>
              <a:t>2015 LET Review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400800" cy="16764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PH" sz="36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3600" b="1" dirty="0" smtClean="0"/>
              <a:t>ALICE M. KARAAN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3600" dirty="0" smtClean="0"/>
              <a:t>Former Head, Department of English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3600" dirty="0" smtClean="0"/>
              <a:t>Reviewer</a:t>
            </a:r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PH" sz="800" dirty="0" smtClean="0"/>
          </a:p>
          <a:p>
            <a:pPr eaLnBrk="1" fontAlgn="auto" hangingPunct="1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/>
            </a:pPr>
            <a:endParaRPr lang="en-PH" sz="800" dirty="0" smtClean="0"/>
          </a:p>
        </p:txBody>
      </p:sp>
    </p:spTree>
    <p:extLst>
      <p:ext uri="{BB962C8B-B14F-4D97-AF65-F5344CB8AC3E}">
        <p14:creationId xmlns:p14="http://schemas.microsoft.com/office/powerpoint/2010/main" xmlns="" val="265054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200" b="1" dirty="0" smtClean="0"/>
              <a:t>Part II</a:t>
            </a:r>
          </a:p>
          <a:p>
            <a:pPr algn="ctr">
              <a:buNone/>
            </a:pPr>
            <a:r>
              <a:rPr lang="en-US" sz="3200" b="1" dirty="0" smtClean="0"/>
              <a:t>ANALYZING TEST ITEMS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xmlns="" val="226346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 typeface="Arial" charset="0"/>
              <a:buNone/>
            </a:pPr>
            <a:r>
              <a:rPr lang="en-PH" sz="2800" b="1" dirty="0" smtClean="0"/>
              <a:t>1. </a:t>
            </a:r>
            <a:r>
              <a:rPr lang="en-PH" sz="2800" dirty="0" smtClean="0"/>
              <a:t>The sentence “</a:t>
            </a:r>
            <a:r>
              <a:rPr lang="en-PH" sz="2800" dirty="0" smtClean="0">
                <a:solidFill>
                  <a:srgbClr val="FF0000"/>
                </a:solidFill>
              </a:rPr>
              <a:t>The audience clapped when the musical rendition was over</a:t>
            </a:r>
            <a:r>
              <a:rPr lang="en-PH" sz="2800" dirty="0" smtClean="0"/>
              <a:t>,” illustrates one of these patterns. Which one is it?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N </a:t>
            </a:r>
            <a:r>
              <a:rPr lang="en-PH" sz="2800" dirty="0" err="1" smtClean="0"/>
              <a:t>InV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N LV </a:t>
            </a:r>
            <a:r>
              <a:rPr lang="en-PH" sz="2800" dirty="0" err="1" smtClean="0"/>
              <a:t>Adj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US" sz="2800" dirty="0" smtClean="0"/>
              <a:t>C. </a:t>
            </a:r>
            <a:r>
              <a:rPr lang="en-PH" sz="2800" dirty="0" smtClean="0"/>
              <a:t>N </a:t>
            </a:r>
            <a:r>
              <a:rPr lang="en-PH" sz="2800" dirty="0" err="1" smtClean="0"/>
              <a:t>TrV</a:t>
            </a:r>
            <a:r>
              <a:rPr lang="en-PH" sz="2800" dirty="0" smtClean="0"/>
              <a:t> N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US" sz="2800" dirty="0" smtClean="0"/>
              <a:t>D. </a:t>
            </a:r>
            <a:r>
              <a:rPr lang="en-PH" sz="2800" dirty="0" smtClean="0"/>
              <a:t>N </a:t>
            </a:r>
            <a:r>
              <a:rPr lang="en-PH" sz="2800" dirty="0" err="1" smtClean="0"/>
              <a:t>InV</a:t>
            </a:r>
            <a:r>
              <a:rPr lang="en-PH" sz="2800" dirty="0" smtClean="0"/>
              <a:t> Adv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097615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Basic Sentence Patterns</a:t>
            </a:r>
            <a:endParaRPr lang="en-GB" sz="4000" b="1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endParaRPr lang="en-US" baseline="3000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19200"/>
          <a:ext cx="8153400" cy="5740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/>
                <a:gridCol w="5029200"/>
              </a:tblGrid>
              <a:tr h="528583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Pattern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Symbols</a:t>
                      </a:r>
                      <a:endParaRPr lang="en-US" sz="2400" dirty="0"/>
                    </a:p>
                  </a:txBody>
                  <a:tcPr/>
                </a:tc>
              </a:tr>
              <a:tr h="4881617">
                <a:tc>
                  <a:txBody>
                    <a:bodyPr/>
                    <a:lstStyle/>
                    <a:p>
                      <a:r>
                        <a:rPr lang="en-PH" sz="3600" dirty="0" smtClean="0"/>
                        <a:t>N</a:t>
                      </a:r>
                      <a:r>
                        <a:rPr lang="en-PH" sz="3600" baseline="30000" dirty="0" smtClean="0"/>
                        <a:t>1</a:t>
                      </a:r>
                      <a:r>
                        <a:rPr lang="en-PH" sz="3600" dirty="0" smtClean="0"/>
                        <a:t> be N</a:t>
                      </a:r>
                      <a:r>
                        <a:rPr lang="en-PH" sz="3600" baseline="30000" dirty="0" smtClean="0"/>
                        <a:t>1</a:t>
                      </a:r>
                      <a:r>
                        <a:rPr lang="en-PH" sz="3600" dirty="0" smtClean="0"/>
                        <a:t> </a:t>
                      </a:r>
                    </a:p>
                    <a:p>
                      <a:r>
                        <a:rPr lang="en-PH" sz="3600" dirty="0" smtClean="0"/>
                        <a:t>N be </a:t>
                      </a:r>
                      <a:r>
                        <a:rPr lang="en-PH" sz="3600" dirty="0" err="1" smtClean="0"/>
                        <a:t>Adj</a:t>
                      </a:r>
                      <a:endParaRPr lang="en-PH" sz="3600" dirty="0" smtClean="0"/>
                    </a:p>
                    <a:p>
                      <a:r>
                        <a:rPr lang="en-PH" sz="3600" dirty="0" smtClean="0"/>
                        <a:t>N be UW</a:t>
                      </a:r>
                    </a:p>
                    <a:p>
                      <a:r>
                        <a:rPr lang="en-PH" sz="3600" dirty="0" smtClean="0"/>
                        <a:t>N </a:t>
                      </a:r>
                      <a:r>
                        <a:rPr lang="en-PH" sz="3600" dirty="0" err="1" smtClean="0"/>
                        <a:t>InV</a:t>
                      </a:r>
                      <a:endParaRPr lang="en-PH" sz="3600" dirty="0" smtClean="0"/>
                    </a:p>
                    <a:p>
                      <a:r>
                        <a:rPr lang="en-PH" sz="3600" dirty="0" smtClean="0"/>
                        <a:t>N</a:t>
                      </a:r>
                      <a:r>
                        <a:rPr lang="en-PH" sz="3600" baseline="30000" dirty="0" smtClean="0"/>
                        <a:t>1</a:t>
                      </a:r>
                      <a:r>
                        <a:rPr lang="en-PH" sz="3600" dirty="0" smtClean="0"/>
                        <a:t> </a:t>
                      </a:r>
                      <a:r>
                        <a:rPr lang="en-PH" sz="3600" dirty="0" err="1" smtClean="0"/>
                        <a:t>TrV</a:t>
                      </a:r>
                      <a:r>
                        <a:rPr lang="en-PH" sz="3600" dirty="0" smtClean="0"/>
                        <a:t> N</a:t>
                      </a:r>
                      <a:r>
                        <a:rPr lang="en-PH" sz="3600" baseline="30000" dirty="0" smtClean="0"/>
                        <a:t>2</a:t>
                      </a:r>
                    </a:p>
                    <a:p>
                      <a:r>
                        <a:rPr lang="en-PH" sz="3600" dirty="0" smtClean="0"/>
                        <a:t>N</a:t>
                      </a:r>
                      <a:r>
                        <a:rPr lang="en-PH" sz="3600" baseline="30000" dirty="0" smtClean="0"/>
                        <a:t>1</a:t>
                      </a:r>
                      <a:r>
                        <a:rPr lang="en-PH" sz="3600" dirty="0" smtClean="0"/>
                        <a:t> </a:t>
                      </a:r>
                      <a:r>
                        <a:rPr lang="en-PH" sz="3600" dirty="0" err="1" smtClean="0"/>
                        <a:t>TrV</a:t>
                      </a:r>
                      <a:r>
                        <a:rPr lang="en-PH" sz="3600" dirty="0" smtClean="0"/>
                        <a:t> N</a:t>
                      </a:r>
                      <a:r>
                        <a:rPr lang="en-PH" sz="3600" baseline="30000" dirty="0" smtClean="0"/>
                        <a:t>2</a:t>
                      </a:r>
                      <a:r>
                        <a:rPr lang="en-PH" sz="3600" dirty="0" smtClean="0"/>
                        <a:t> N</a:t>
                      </a:r>
                      <a:r>
                        <a:rPr lang="en-PH" sz="3600" baseline="30000" dirty="0" smtClean="0"/>
                        <a:t>3</a:t>
                      </a:r>
                    </a:p>
                    <a:p>
                      <a:r>
                        <a:rPr lang="en-PH" sz="3600" dirty="0" smtClean="0"/>
                        <a:t>N</a:t>
                      </a:r>
                      <a:r>
                        <a:rPr lang="en-PH" sz="3600" baseline="30000" dirty="0" smtClean="0"/>
                        <a:t>1</a:t>
                      </a:r>
                      <a:r>
                        <a:rPr lang="en-PH" sz="3600" dirty="0" smtClean="0"/>
                        <a:t> </a:t>
                      </a:r>
                      <a:r>
                        <a:rPr lang="en-PH" sz="3600" dirty="0" err="1" smtClean="0"/>
                        <a:t>TrV</a:t>
                      </a:r>
                      <a:r>
                        <a:rPr lang="en-PH" sz="3600" dirty="0" smtClean="0"/>
                        <a:t> N</a:t>
                      </a:r>
                      <a:r>
                        <a:rPr lang="en-PH" sz="3600" baseline="30000" dirty="0" smtClean="0"/>
                        <a:t>2</a:t>
                      </a:r>
                      <a:r>
                        <a:rPr lang="en-PH" sz="3600" dirty="0" smtClean="0"/>
                        <a:t> </a:t>
                      </a:r>
                      <a:r>
                        <a:rPr lang="en-PH" sz="3600" dirty="0" err="1" smtClean="0"/>
                        <a:t>N</a:t>
                      </a:r>
                      <a:r>
                        <a:rPr lang="en-PH" sz="3600" baseline="30000" dirty="0" err="1" smtClean="0"/>
                        <a:t>2</a:t>
                      </a:r>
                      <a:endParaRPr lang="en-GB" sz="3600" baseline="30000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N1 </a:t>
                      </a:r>
                      <a:r>
                        <a:rPr lang="en-US" sz="2800" dirty="0" smtClean="0"/>
                        <a:t>= subject and subject complement</a:t>
                      </a:r>
                      <a:r>
                        <a:rPr lang="en-US" sz="2800" baseline="0" dirty="0" smtClean="0"/>
                        <a:t> (predicate noun)</a:t>
                      </a:r>
                    </a:p>
                    <a:p>
                      <a:r>
                        <a:rPr lang="en-US" sz="2800" b="1" baseline="0" dirty="0" err="1" smtClean="0"/>
                        <a:t>Adj</a:t>
                      </a:r>
                      <a:r>
                        <a:rPr lang="en-US" sz="2800" baseline="0" dirty="0" smtClean="0"/>
                        <a:t> = subject complement (predicate adjective)</a:t>
                      </a:r>
                    </a:p>
                    <a:p>
                      <a:r>
                        <a:rPr lang="en-US" sz="2800" b="1" dirty="0" smtClean="0"/>
                        <a:t>UW </a:t>
                      </a:r>
                      <a:r>
                        <a:rPr lang="en-US" sz="2800" dirty="0" smtClean="0"/>
                        <a:t>= uninflected word (adverb)</a:t>
                      </a:r>
                    </a:p>
                    <a:p>
                      <a:r>
                        <a:rPr lang="en-US" sz="2800" b="1" dirty="0" err="1" smtClean="0"/>
                        <a:t>InV</a:t>
                      </a:r>
                      <a:r>
                        <a:rPr lang="en-US" sz="2800" dirty="0" smtClean="0"/>
                        <a:t> = intransitive verb</a:t>
                      </a:r>
                    </a:p>
                    <a:p>
                      <a:r>
                        <a:rPr lang="en-US" sz="2800" b="1" dirty="0" err="1" smtClean="0"/>
                        <a:t>TrV</a:t>
                      </a:r>
                      <a:r>
                        <a:rPr lang="en-US" sz="2800" b="1" dirty="0" smtClean="0"/>
                        <a:t> </a:t>
                      </a:r>
                      <a:r>
                        <a:rPr lang="en-US" sz="2800" dirty="0" smtClean="0"/>
                        <a:t>= transitive verb</a:t>
                      </a:r>
                    </a:p>
                    <a:p>
                      <a:r>
                        <a:rPr lang="en-US" sz="2800" b="1" dirty="0" smtClean="0"/>
                        <a:t>N2</a:t>
                      </a:r>
                      <a:r>
                        <a:rPr lang="en-US" sz="2800" dirty="0" smtClean="0"/>
                        <a:t> =</a:t>
                      </a:r>
                      <a:r>
                        <a:rPr lang="en-US" sz="2800" baseline="0" dirty="0" smtClean="0"/>
                        <a:t> direct object/object complement</a:t>
                      </a:r>
                    </a:p>
                    <a:p>
                      <a:r>
                        <a:rPr lang="en-US" sz="2800" b="1" baseline="0" dirty="0" smtClean="0"/>
                        <a:t>N3 </a:t>
                      </a:r>
                      <a:r>
                        <a:rPr lang="en-US" sz="2800" baseline="0" dirty="0" smtClean="0"/>
                        <a:t>= indirect object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244722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/>
          <a:lstStyle/>
          <a:p>
            <a:pPr algn="ctr" eaLnBrk="1" hangingPunct="1"/>
            <a:r>
              <a:rPr lang="en-PH" sz="4000" b="1" dirty="0" smtClean="0"/>
              <a:t>Types of Verbs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752600"/>
            <a:ext cx="7134225" cy="4724400"/>
          </a:xfrm>
        </p:spPr>
        <p:txBody>
          <a:bodyPr>
            <a:noAutofit/>
          </a:bodyPr>
          <a:lstStyle/>
          <a:p>
            <a:pPr eaLnBrk="1" hangingPunct="1"/>
            <a:r>
              <a:rPr lang="en-PH" sz="2400" b="1" dirty="0" smtClean="0"/>
              <a:t>Linking verbs</a:t>
            </a:r>
            <a:r>
              <a:rPr lang="en-PH" sz="2400" dirty="0" smtClean="0"/>
              <a:t>:  what follows the verb relates back to the subject (= subject complement: pred. noun or pred. adj.)</a:t>
            </a:r>
          </a:p>
          <a:p>
            <a:pPr eaLnBrk="1" hangingPunct="1">
              <a:buFontTx/>
              <a:buNone/>
            </a:pPr>
            <a:endParaRPr lang="en-PH" sz="2400" dirty="0" smtClean="0"/>
          </a:p>
          <a:p>
            <a:pPr eaLnBrk="1" hangingPunct="1">
              <a:buFontTx/>
              <a:buNone/>
            </a:pPr>
            <a:r>
              <a:rPr lang="en-PH" sz="2400" dirty="0" smtClean="0"/>
              <a:t>		</a:t>
            </a:r>
            <a:r>
              <a:rPr lang="en-PH" sz="2400" i="1" u="sng" dirty="0" smtClean="0"/>
              <a:t>We</a:t>
            </a:r>
            <a:r>
              <a:rPr lang="en-PH" sz="2400" i="1" dirty="0" smtClean="0"/>
              <a:t> </a:t>
            </a:r>
            <a:r>
              <a:rPr lang="en-PH" sz="2400" b="1" i="1" dirty="0" smtClean="0"/>
              <a:t>are</a:t>
            </a:r>
            <a:r>
              <a:rPr lang="en-PH" sz="2400" i="1" dirty="0" smtClean="0"/>
              <a:t> </a:t>
            </a:r>
            <a:r>
              <a:rPr lang="en-PH" sz="2400" i="1" u="sng" dirty="0" smtClean="0">
                <a:solidFill>
                  <a:srgbClr val="FF0000"/>
                </a:solidFill>
              </a:rPr>
              <a:t>teachers</a:t>
            </a:r>
            <a:r>
              <a:rPr lang="en-PH" sz="2400" i="1" dirty="0" smtClean="0"/>
              <a:t>.</a:t>
            </a:r>
            <a:r>
              <a:rPr lang="en-PH" sz="2400" dirty="0" smtClean="0"/>
              <a:t> (N</a:t>
            </a:r>
            <a:r>
              <a:rPr lang="en-PH" sz="2400" baseline="30000" dirty="0" smtClean="0"/>
              <a:t>1</a:t>
            </a:r>
            <a:r>
              <a:rPr lang="en-PH" sz="2400" dirty="0" smtClean="0"/>
              <a:t> LV </a:t>
            </a:r>
            <a:r>
              <a:rPr lang="en-PH" sz="2400" b="1" dirty="0" smtClean="0">
                <a:solidFill>
                  <a:srgbClr val="FF0000"/>
                </a:solidFill>
              </a:rPr>
              <a:t>N</a:t>
            </a:r>
            <a:r>
              <a:rPr lang="en-PH" sz="2400" b="1" baseline="30000" dirty="0" smtClean="0">
                <a:solidFill>
                  <a:srgbClr val="FF0000"/>
                </a:solidFill>
              </a:rPr>
              <a:t>1 </a:t>
            </a:r>
            <a:r>
              <a:rPr lang="en-PH" sz="2400" dirty="0" smtClean="0">
                <a:solidFill>
                  <a:srgbClr val="FF0000"/>
                </a:solidFill>
              </a:rPr>
              <a:t> = pred.     </a:t>
            </a:r>
          </a:p>
          <a:p>
            <a:pPr eaLnBrk="1" hangingPunct="1">
              <a:buFontTx/>
              <a:buNone/>
            </a:pPr>
            <a:r>
              <a:rPr lang="en-PH" sz="2400" dirty="0">
                <a:solidFill>
                  <a:srgbClr val="FF0000"/>
                </a:solidFill>
              </a:rPr>
              <a:t> </a:t>
            </a:r>
            <a:r>
              <a:rPr lang="en-PH" sz="2400" dirty="0" smtClean="0">
                <a:solidFill>
                  <a:srgbClr val="FF0000"/>
                </a:solidFill>
              </a:rPr>
              <a:t>     noun</a:t>
            </a:r>
            <a:r>
              <a:rPr lang="en-PH" sz="2400" dirty="0" smtClean="0"/>
              <a:t>)</a:t>
            </a:r>
          </a:p>
          <a:p>
            <a:pPr eaLnBrk="1" hangingPunct="1">
              <a:buFontTx/>
              <a:buNone/>
            </a:pPr>
            <a:r>
              <a:rPr lang="en-PH" sz="2400" dirty="0" smtClean="0"/>
              <a:t>		</a:t>
            </a:r>
            <a:r>
              <a:rPr lang="en-PH" sz="2400" i="1" u="sng" dirty="0" smtClean="0"/>
              <a:t>We</a:t>
            </a:r>
            <a:r>
              <a:rPr lang="en-PH" sz="2400" i="1" dirty="0" smtClean="0"/>
              <a:t> </a:t>
            </a:r>
            <a:r>
              <a:rPr lang="en-PH" sz="2400" b="1" i="1" dirty="0" smtClean="0"/>
              <a:t>become</a:t>
            </a:r>
            <a:r>
              <a:rPr lang="en-PH" sz="2400" i="1" dirty="0" smtClean="0"/>
              <a:t> </a:t>
            </a:r>
            <a:r>
              <a:rPr lang="en-PH" sz="2400" i="1" u="sng" dirty="0" err="1" smtClean="0">
                <a:solidFill>
                  <a:srgbClr val="FF0000"/>
                </a:solidFill>
              </a:rPr>
              <a:t>molders</a:t>
            </a:r>
            <a:r>
              <a:rPr lang="en-PH" sz="2400" i="1" dirty="0" smtClean="0">
                <a:solidFill>
                  <a:srgbClr val="FF0000"/>
                </a:solidFill>
              </a:rPr>
              <a:t> of minds</a:t>
            </a:r>
            <a:r>
              <a:rPr lang="en-PH" sz="2400" i="1" dirty="0" smtClean="0"/>
              <a:t>. </a:t>
            </a:r>
          </a:p>
          <a:p>
            <a:pPr eaLnBrk="1" hangingPunct="1">
              <a:buFontTx/>
              <a:buNone/>
            </a:pPr>
            <a:r>
              <a:rPr lang="en-PH" sz="2400" i="1" dirty="0"/>
              <a:t> </a:t>
            </a:r>
            <a:r>
              <a:rPr lang="en-PH" sz="2400" i="1" dirty="0" smtClean="0"/>
              <a:t>    The </a:t>
            </a:r>
            <a:r>
              <a:rPr lang="en-PH" sz="2400" i="1" u="sng" dirty="0" smtClean="0"/>
              <a:t>children</a:t>
            </a:r>
            <a:r>
              <a:rPr lang="en-PH" sz="2400" i="1" dirty="0" smtClean="0"/>
              <a:t> </a:t>
            </a:r>
            <a:r>
              <a:rPr lang="en-PH" sz="2400" b="1" i="1" dirty="0" smtClean="0"/>
              <a:t>seem</a:t>
            </a:r>
            <a:r>
              <a:rPr lang="en-PH" sz="2400" i="1" dirty="0" smtClean="0"/>
              <a:t> </a:t>
            </a:r>
            <a:r>
              <a:rPr lang="en-PH" sz="2400" i="1" u="sng" dirty="0" smtClean="0">
                <a:solidFill>
                  <a:srgbClr val="FF0000"/>
                </a:solidFill>
              </a:rPr>
              <a:t>scared</a:t>
            </a:r>
            <a:r>
              <a:rPr lang="en-PH" sz="2400" i="1" dirty="0" smtClean="0"/>
              <a:t>.</a:t>
            </a:r>
            <a:r>
              <a:rPr lang="en-PH" sz="2400" dirty="0" smtClean="0"/>
              <a:t> (N LV </a:t>
            </a:r>
            <a:r>
              <a:rPr lang="en-PH" sz="2400" b="1" dirty="0" err="1" smtClean="0">
                <a:solidFill>
                  <a:srgbClr val="FF0000"/>
                </a:solidFill>
              </a:rPr>
              <a:t>Adj</a:t>
            </a:r>
            <a:r>
              <a:rPr lang="en-PH" sz="2400" dirty="0" smtClean="0">
                <a:solidFill>
                  <a:srgbClr val="FF0000"/>
                </a:solidFill>
              </a:rPr>
              <a:t> = pred. 	adj</a:t>
            </a:r>
            <a:r>
              <a:rPr lang="en-PH" sz="2400" dirty="0" smtClean="0"/>
              <a:t>.)</a:t>
            </a:r>
          </a:p>
          <a:p>
            <a:pPr eaLnBrk="1" hangingPunct="1">
              <a:buFontTx/>
              <a:buNone/>
            </a:pPr>
            <a:r>
              <a:rPr lang="en-PH" sz="2400" dirty="0" smtClean="0"/>
              <a:t>		The </a:t>
            </a:r>
            <a:r>
              <a:rPr lang="en-PH" sz="2400" u="sng" dirty="0" smtClean="0"/>
              <a:t>boys</a:t>
            </a:r>
            <a:r>
              <a:rPr lang="en-PH" sz="2400" dirty="0" smtClean="0"/>
              <a:t> </a:t>
            </a:r>
            <a:r>
              <a:rPr lang="en-PH" sz="2400" b="1" dirty="0" smtClean="0"/>
              <a:t>are</a:t>
            </a:r>
            <a:r>
              <a:rPr lang="en-PH" sz="2400" dirty="0" smtClean="0"/>
              <a:t> </a:t>
            </a:r>
            <a:r>
              <a:rPr lang="en-PH" sz="2400" u="sng" dirty="0" smtClean="0">
                <a:solidFill>
                  <a:srgbClr val="FF0000"/>
                </a:solidFill>
              </a:rPr>
              <a:t>in the garden</a:t>
            </a:r>
            <a:r>
              <a:rPr lang="en-PH" sz="2400" dirty="0" smtClean="0"/>
              <a:t>. (N LV Adv)</a:t>
            </a:r>
          </a:p>
        </p:txBody>
      </p:sp>
    </p:spTree>
    <p:extLst>
      <p:ext uri="{BB962C8B-B14F-4D97-AF65-F5344CB8AC3E}">
        <p14:creationId xmlns:p14="http://schemas.microsoft.com/office/powerpoint/2010/main" xmlns="" val="206628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Types of Verbs</a:t>
            </a:r>
            <a:endParaRPr lang="en-GB" sz="4000" b="1" dirty="0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343400"/>
          </a:xfrm>
        </p:spPr>
        <p:txBody>
          <a:bodyPr>
            <a:normAutofit/>
          </a:bodyPr>
          <a:lstStyle/>
          <a:p>
            <a:pPr eaLnBrk="1" hangingPunct="1"/>
            <a:r>
              <a:rPr lang="en-PH" sz="2800" b="1" dirty="0" smtClean="0"/>
              <a:t>Intransitive verbs</a:t>
            </a:r>
            <a:r>
              <a:rPr lang="en-PH" sz="2800" dirty="0" smtClean="0"/>
              <a:t>:  take no following object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 eaLnBrk="1" hangingPunct="1"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team </a:t>
            </a:r>
            <a:r>
              <a:rPr lang="en-PH" sz="2800" b="1" i="1" dirty="0" smtClean="0"/>
              <a:t>won</a:t>
            </a:r>
            <a:r>
              <a:rPr lang="en-PH" sz="2800" i="1" dirty="0" smtClean="0"/>
              <a:t>.</a:t>
            </a:r>
            <a:r>
              <a:rPr lang="en-PH" sz="2800" dirty="0" smtClean="0"/>
              <a:t> (N </a:t>
            </a:r>
            <a:r>
              <a:rPr lang="en-PH" sz="2800" dirty="0" err="1" smtClean="0"/>
              <a:t>InV</a:t>
            </a:r>
            <a:r>
              <a:rPr lang="en-PH" sz="2800" dirty="0" smtClean="0"/>
              <a:t>)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 eaLnBrk="1" hangingPunct="1"/>
            <a:r>
              <a:rPr lang="en-PH" sz="2800" b="1" dirty="0" smtClean="0"/>
              <a:t>Transitive verbs</a:t>
            </a:r>
            <a:r>
              <a:rPr lang="en-PH" sz="2800" dirty="0" smtClean="0"/>
              <a:t>:  require an object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 eaLnBrk="1" hangingPunct="1"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My father </a:t>
            </a:r>
            <a:r>
              <a:rPr lang="en-PH" sz="2800" b="1" i="1" dirty="0" smtClean="0"/>
              <a:t>raises</a:t>
            </a:r>
            <a:r>
              <a:rPr lang="en-PH" sz="2800" i="1" dirty="0" smtClean="0"/>
              <a:t> </a:t>
            </a:r>
            <a:r>
              <a:rPr lang="en-PH" sz="2800" i="1" dirty="0" smtClean="0">
                <a:solidFill>
                  <a:srgbClr val="FF0000"/>
                </a:solidFill>
              </a:rPr>
              <a:t>rabbits</a:t>
            </a:r>
            <a:r>
              <a:rPr lang="en-PH" sz="2800" dirty="0" smtClean="0"/>
              <a:t>. (N</a:t>
            </a:r>
            <a:r>
              <a:rPr lang="en-PH" sz="2800" baseline="30000" dirty="0" smtClean="0"/>
              <a:t>1</a:t>
            </a:r>
            <a:r>
              <a:rPr lang="en-PH" sz="2800" dirty="0" smtClean="0"/>
              <a:t> TV </a:t>
            </a:r>
            <a:r>
              <a:rPr lang="en-PH" sz="2800" b="1" dirty="0" smtClean="0">
                <a:solidFill>
                  <a:srgbClr val="FF0000"/>
                </a:solidFill>
              </a:rPr>
              <a:t>N</a:t>
            </a:r>
            <a:r>
              <a:rPr lang="en-PH" sz="2800" b="1" baseline="30000" dirty="0" smtClean="0">
                <a:solidFill>
                  <a:srgbClr val="FF0000"/>
                </a:solidFill>
              </a:rPr>
              <a:t>2</a:t>
            </a:r>
            <a:r>
              <a:rPr lang="en-PH" sz="2800" baseline="30000" dirty="0" smtClean="0">
                <a:solidFill>
                  <a:srgbClr val="FF0000"/>
                </a:solidFill>
              </a:rPr>
              <a:t> </a:t>
            </a:r>
            <a:r>
              <a:rPr lang="en-PH" sz="2800" dirty="0" smtClean="0">
                <a:solidFill>
                  <a:srgbClr val="FF0000"/>
                </a:solidFill>
              </a:rPr>
              <a:t> = direct 	object</a:t>
            </a:r>
            <a:r>
              <a:rPr lang="en-PH" sz="2800" dirty="0" smtClean="0"/>
              <a:t>)</a:t>
            </a:r>
            <a:endParaRPr lang="en-PH" sz="2800" baseline="30000" dirty="0" smtClean="0"/>
          </a:p>
          <a:p>
            <a:pPr eaLnBrk="1" hangingPunct="1"/>
            <a:endParaRPr lang="en-GB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340030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384300"/>
          </a:xfrm>
        </p:spPr>
        <p:txBody>
          <a:bodyPr/>
          <a:lstStyle/>
          <a:p>
            <a:pPr algn="ctr" eaLnBrk="1" hangingPunct="1"/>
            <a:r>
              <a:rPr lang="en-PH" sz="4000" b="1" dirty="0" smtClean="0"/>
              <a:t>Types of Verbs</a:t>
            </a:r>
            <a:endParaRPr lang="en-GB" sz="4000" b="1" dirty="0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PH" sz="2800" b="1" dirty="0" smtClean="0"/>
              <a:t>Prepositional verbs</a:t>
            </a:r>
            <a:r>
              <a:rPr lang="en-PH" sz="2800" dirty="0" smtClean="0"/>
              <a:t>:  require a prepositional phrase to be complete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 eaLnBrk="1" hangingPunct="1"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I </a:t>
            </a:r>
            <a:r>
              <a:rPr lang="en-PH" sz="2800" b="1" i="1" dirty="0" smtClean="0"/>
              <a:t>glanced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at the mirror</a:t>
            </a:r>
            <a:r>
              <a:rPr lang="en-PH" sz="2800" i="1" dirty="0" smtClean="0"/>
              <a:t>.</a:t>
            </a:r>
          </a:p>
          <a:p>
            <a:pPr eaLnBrk="1" hangingPunct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111443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PH" b="1" dirty="0" smtClean="0"/>
              <a:t>Types of Transitive Verbs</a:t>
            </a:r>
            <a:endParaRPr lang="en-GB" b="1" dirty="0" smtClean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362200"/>
            <a:ext cx="8229600" cy="3962400"/>
          </a:xfrm>
        </p:spPr>
        <p:txBody>
          <a:bodyPr/>
          <a:lstStyle/>
          <a:p>
            <a:pPr eaLnBrk="1" hangingPunct="1"/>
            <a:r>
              <a:rPr lang="en-PH" sz="2800" b="1" dirty="0" err="1" smtClean="0"/>
              <a:t>Monotransitive</a:t>
            </a:r>
            <a:r>
              <a:rPr lang="en-PH" sz="2800" dirty="0" smtClean="0"/>
              <a:t>: takes one object (</a:t>
            </a:r>
            <a:r>
              <a:rPr lang="en-PH" sz="2800" dirty="0" smtClean="0">
                <a:solidFill>
                  <a:srgbClr val="FF0000"/>
                </a:solidFill>
              </a:rPr>
              <a:t>direct object</a:t>
            </a:r>
            <a:r>
              <a:rPr lang="en-PH" sz="2800" dirty="0" smtClean="0"/>
              <a:t>)</a:t>
            </a:r>
          </a:p>
          <a:p>
            <a:pPr eaLnBrk="1" hangingPunct="1">
              <a:buFontTx/>
              <a:buNone/>
            </a:pPr>
            <a:r>
              <a:rPr lang="en-PH" sz="2800" dirty="0" smtClean="0"/>
              <a:t>	</a:t>
            </a:r>
          </a:p>
          <a:p>
            <a:pPr eaLnBrk="1" hangingPunct="1"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My father </a:t>
            </a:r>
            <a:r>
              <a:rPr lang="en-PH" sz="2800" b="1" i="1" dirty="0" smtClean="0"/>
              <a:t>raises</a:t>
            </a:r>
            <a:r>
              <a:rPr lang="en-PH" sz="2800" i="1" dirty="0" smtClean="0"/>
              <a:t> </a:t>
            </a:r>
            <a:r>
              <a:rPr lang="en-PH" sz="2800" i="1" u="sng" dirty="0" smtClean="0">
                <a:solidFill>
                  <a:srgbClr val="FF0000"/>
                </a:solidFill>
              </a:rPr>
              <a:t>rabbits</a:t>
            </a:r>
            <a:r>
              <a:rPr lang="en-PH" sz="2800" i="1" dirty="0" smtClean="0"/>
              <a:t>.</a:t>
            </a:r>
            <a:r>
              <a:rPr lang="en-PH" sz="2800" dirty="0" smtClean="0"/>
              <a:t> (N</a:t>
            </a:r>
            <a:r>
              <a:rPr lang="en-PH" sz="2800" baseline="30000" dirty="0" smtClean="0"/>
              <a:t>1</a:t>
            </a:r>
            <a:r>
              <a:rPr lang="en-PH" sz="2800" dirty="0" smtClean="0"/>
              <a:t> TV </a:t>
            </a:r>
            <a:r>
              <a:rPr lang="en-PH" sz="2800" dirty="0" smtClean="0">
                <a:solidFill>
                  <a:srgbClr val="FF0000"/>
                </a:solidFill>
              </a:rPr>
              <a:t>N</a:t>
            </a:r>
            <a:r>
              <a:rPr lang="en-PH" sz="2800" baseline="30000" dirty="0" smtClean="0">
                <a:solidFill>
                  <a:srgbClr val="FF0000"/>
                </a:solidFill>
              </a:rPr>
              <a:t>2</a:t>
            </a:r>
            <a:r>
              <a:rPr lang="en-PH" sz="2800" dirty="0" smtClean="0"/>
              <a:t>)</a:t>
            </a:r>
            <a:endParaRPr lang="en-PH" sz="2800" baseline="30000" dirty="0" smtClean="0"/>
          </a:p>
          <a:p>
            <a:pPr eaLnBrk="1" hangingPunct="1">
              <a:buFontTx/>
              <a:buNone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2913693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pPr algn="ctr" eaLnBrk="1" hangingPunct="1"/>
            <a:r>
              <a:rPr lang="en-PH" sz="4000" b="1" dirty="0" smtClean="0"/>
              <a:t>Types of Transitive Verbs</a:t>
            </a:r>
            <a:endParaRPr lang="en-GB" sz="4000" b="1" dirty="0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1143001" y="1752600"/>
            <a:ext cx="7391400" cy="47244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PH" sz="2800" b="1" dirty="0" err="1" smtClean="0"/>
              <a:t>Ditransitive</a:t>
            </a:r>
            <a:r>
              <a:rPr lang="en-PH" sz="2800" b="1" dirty="0" smtClean="0"/>
              <a:t> </a:t>
            </a:r>
            <a:r>
              <a:rPr lang="en-PH" sz="2800" dirty="0" smtClean="0"/>
              <a:t>:  takes two objects (direct and </a:t>
            </a:r>
            <a:r>
              <a:rPr lang="en-PH" sz="2800" dirty="0" smtClean="0">
                <a:solidFill>
                  <a:srgbClr val="FF0000"/>
                </a:solidFill>
              </a:rPr>
              <a:t>indirect</a:t>
            </a:r>
            <a:r>
              <a:rPr lang="en-PH" sz="2800" dirty="0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PH" sz="28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postman </a:t>
            </a:r>
            <a:r>
              <a:rPr lang="en-PH" sz="2800" b="1" i="1" dirty="0" smtClean="0"/>
              <a:t>delivered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a package </a:t>
            </a:r>
            <a:r>
              <a:rPr lang="en-PH" sz="2800" i="1" dirty="0" smtClean="0"/>
              <a:t>to </a:t>
            </a:r>
            <a:r>
              <a:rPr lang="en-PH" sz="2800" i="1" u="sng" dirty="0" smtClean="0">
                <a:solidFill>
                  <a:srgbClr val="FF0000"/>
                </a:solidFill>
              </a:rPr>
              <a:t>my </a:t>
            </a:r>
            <a:r>
              <a:rPr lang="en-PH" sz="2800" i="1" dirty="0" smtClean="0">
                <a:solidFill>
                  <a:srgbClr val="FF0000"/>
                </a:solidFill>
              </a:rPr>
              <a:t>	</a:t>
            </a:r>
            <a:r>
              <a:rPr lang="en-PH" sz="2800" i="1" u="sng" dirty="0" smtClean="0">
                <a:solidFill>
                  <a:srgbClr val="FF0000"/>
                </a:solidFill>
              </a:rPr>
              <a:t>sister</a:t>
            </a:r>
            <a:r>
              <a:rPr lang="en-PH" sz="2800" i="1" dirty="0" smtClean="0">
                <a:solidFill>
                  <a:srgbClr val="FF0000"/>
                </a:solidFill>
              </a:rPr>
              <a:t>.</a:t>
            </a:r>
            <a:r>
              <a:rPr lang="en-PH" sz="2800" dirty="0" smtClean="0"/>
              <a:t>  (N</a:t>
            </a:r>
            <a:r>
              <a:rPr lang="en-PH" sz="2800" baseline="30000" dirty="0" smtClean="0"/>
              <a:t>1</a:t>
            </a:r>
            <a:r>
              <a:rPr lang="en-PH" sz="2800" dirty="0" smtClean="0"/>
              <a:t> TV N</a:t>
            </a:r>
            <a:r>
              <a:rPr lang="en-PH" sz="2800" baseline="30000" dirty="0" smtClean="0"/>
              <a:t>2</a:t>
            </a:r>
            <a:r>
              <a:rPr lang="en-PH" sz="2800" dirty="0" smtClean="0"/>
              <a:t> </a:t>
            </a:r>
            <a:r>
              <a:rPr lang="en-PH" sz="2800" dirty="0" smtClean="0">
                <a:solidFill>
                  <a:srgbClr val="FF0000"/>
                </a:solidFill>
              </a:rPr>
              <a:t>N</a:t>
            </a:r>
            <a:r>
              <a:rPr lang="en-PH" sz="2800" baseline="30000" dirty="0" smtClean="0">
                <a:solidFill>
                  <a:srgbClr val="FF0000"/>
                </a:solidFill>
              </a:rPr>
              <a:t>3 </a:t>
            </a:r>
            <a:r>
              <a:rPr lang="en-PH" sz="2800" dirty="0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PH" sz="28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postman </a:t>
            </a:r>
            <a:r>
              <a:rPr lang="en-PH" sz="2800" b="1" i="1" dirty="0" smtClean="0"/>
              <a:t>gave </a:t>
            </a:r>
            <a:r>
              <a:rPr lang="en-PH" sz="2800" i="1" u="sng" dirty="0" smtClean="0">
                <a:solidFill>
                  <a:srgbClr val="FF0000"/>
                </a:solidFill>
              </a:rPr>
              <a:t>my sister</a:t>
            </a:r>
            <a:r>
              <a:rPr lang="en-PH" sz="2800" i="1" dirty="0" smtClean="0">
                <a:solidFill>
                  <a:srgbClr val="FF0000"/>
                </a:solidFill>
              </a:rPr>
              <a:t> </a:t>
            </a:r>
            <a:r>
              <a:rPr lang="en-PH" sz="2800" i="1" u="sng" dirty="0" smtClean="0"/>
              <a:t>a package</a:t>
            </a:r>
            <a:r>
              <a:rPr lang="en-PH" sz="2800" i="1" dirty="0" smtClean="0"/>
              <a:t>.</a:t>
            </a:r>
            <a:r>
              <a:rPr lang="en-PH" sz="2800" dirty="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		(N</a:t>
            </a:r>
            <a:r>
              <a:rPr lang="en-PH" sz="2800" baseline="30000" dirty="0" smtClean="0"/>
              <a:t>1</a:t>
            </a:r>
            <a:r>
              <a:rPr lang="en-PH" sz="2800" dirty="0" smtClean="0"/>
              <a:t> TV </a:t>
            </a:r>
            <a:r>
              <a:rPr lang="en-PH" sz="2800" dirty="0" smtClean="0">
                <a:solidFill>
                  <a:srgbClr val="FF0000"/>
                </a:solidFill>
              </a:rPr>
              <a:t>N</a:t>
            </a:r>
            <a:r>
              <a:rPr lang="en-PH" sz="2800" baseline="30000" dirty="0" smtClean="0">
                <a:solidFill>
                  <a:srgbClr val="FF0000"/>
                </a:solidFill>
              </a:rPr>
              <a:t>3</a:t>
            </a:r>
            <a:r>
              <a:rPr lang="en-PH" sz="2800" dirty="0" smtClean="0"/>
              <a:t> N</a:t>
            </a:r>
            <a:r>
              <a:rPr lang="en-PH" sz="2800" baseline="30000" dirty="0" smtClean="0"/>
              <a:t>2</a:t>
            </a:r>
            <a:r>
              <a:rPr lang="en-PH" sz="2800" dirty="0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PH" sz="2800" dirty="0" smtClean="0"/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     </a:t>
            </a:r>
            <a:r>
              <a:rPr lang="en-PH" sz="2800" dirty="0" smtClean="0">
                <a:solidFill>
                  <a:srgbClr val="FF0000"/>
                </a:solidFill>
              </a:rPr>
              <a:t>N</a:t>
            </a:r>
            <a:r>
              <a:rPr lang="en-PH" sz="2800" baseline="30000" dirty="0" smtClean="0">
                <a:solidFill>
                  <a:srgbClr val="FF0000"/>
                </a:solidFill>
              </a:rPr>
              <a:t>3</a:t>
            </a:r>
            <a:r>
              <a:rPr lang="en-PH" sz="2800" dirty="0" smtClean="0">
                <a:solidFill>
                  <a:srgbClr val="FF0000"/>
                </a:solidFill>
              </a:rPr>
              <a:t> = indirect object</a:t>
            </a:r>
            <a:r>
              <a:rPr lang="en-PH" sz="2800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xmlns="" val="127382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Types of Transitive Verbs</a:t>
            </a:r>
            <a:endParaRPr lang="en-GB" sz="4000" b="1" dirty="0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371601" y="1600200"/>
            <a:ext cx="7162800" cy="4311022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PH" sz="2800" b="1" dirty="0" smtClean="0"/>
              <a:t>Complex transitive</a:t>
            </a:r>
            <a:r>
              <a:rPr lang="en-PH" sz="2800" dirty="0" smtClean="0"/>
              <a:t>:  takes two objects, but what follows the direct object relates back to it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 eaLnBrk="1" hangingPunct="1">
              <a:buFontTx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class </a:t>
            </a:r>
            <a:r>
              <a:rPr lang="en-PH" sz="2800" b="1" i="1" dirty="0" smtClean="0"/>
              <a:t>elected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Jose</a:t>
            </a:r>
            <a:r>
              <a:rPr lang="en-PH" sz="2800" i="1" dirty="0" smtClean="0"/>
              <a:t> </a:t>
            </a:r>
            <a:r>
              <a:rPr lang="en-PH" sz="2800" i="1" u="sng" dirty="0" smtClean="0">
                <a:solidFill>
                  <a:srgbClr val="FF0000"/>
                </a:solidFill>
              </a:rPr>
              <a:t>their </a:t>
            </a:r>
            <a:r>
              <a:rPr lang="en-PH" sz="2800" i="1" u="sng" dirty="0">
                <a:solidFill>
                  <a:srgbClr val="FF0000"/>
                </a:solidFill>
              </a:rPr>
              <a:t> </a:t>
            </a:r>
            <a:endParaRPr lang="en-PH" sz="2800" i="1" u="sng" dirty="0" smtClean="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PH" sz="2800" i="1" dirty="0">
                <a:solidFill>
                  <a:srgbClr val="FF0000"/>
                </a:solidFill>
              </a:rPr>
              <a:t> </a:t>
            </a:r>
            <a:r>
              <a:rPr lang="en-PH" sz="2800" i="1" dirty="0" smtClean="0">
                <a:solidFill>
                  <a:srgbClr val="FF0000"/>
                </a:solidFill>
              </a:rPr>
              <a:t>    </a:t>
            </a:r>
            <a:r>
              <a:rPr lang="en-PH" sz="2800" i="1" u="sng" dirty="0" smtClean="0">
                <a:solidFill>
                  <a:srgbClr val="FF0000"/>
                </a:solidFill>
              </a:rPr>
              <a:t>representative</a:t>
            </a:r>
            <a:r>
              <a:rPr lang="en-PH" sz="2800" i="1" dirty="0" smtClean="0"/>
              <a:t>.</a:t>
            </a:r>
            <a:r>
              <a:rPr lang="en-PH" sz="2800" dirty="0" smtClean="0"/>
              <a:t> </a:t>
            </a:r>
          </a:p>
          <a:p>
            <a:pPr eaLnBrk="1" hangingPunct="1">
              <a:buFontTx/>
              <a:buNone/>
            </a:pPr>
            <a:r>
              <a:rPr lang="en-PH" sz="2800" dirty="0" smtClean="0"/>
              <a:t>		(N</a:t>
            </a:r>
            <a:r>
              <a:rPr lang="en-PH" sz="2800" baseline="30000" dirty="0" smtClean="0"/>
              <a:t>1</a:t>
            </a:r>
            <a:r>
              <a:rPr lang="en-PH" sz="2800" dirty="0" smtClean="0"/>
              <a:t> TV N</a:t>
            </a:r>
            <a:r>
              <a:rPr lang="en-PH" sz="2800" baseline="30000" dirty="0" smtClean="0"/>
              <a:t>2</a:t>
            </a:r>
            <a:r>
              <a:rPr lang="en-PH" sz="2800" dirty="0" smtClean="0"/>
              <a:t> </a:t>
            </a:r>
            <a:r>
              <a:rPr lang="en-PH" sz="2800" dirty="0" err="1" smtClean="0">
                <a:solidFill>
                  <a:srgbClr val="FF0000"/>
                </a:solidFill>
              </a:rPr>
              <a:t>N</a:t>
            </a:r>
            <a:r>
              <a:rPr lang="en-PH" sz="2800" baseline="30000" dirty="0" err="1" smtClean="0">
                <a:solidFill>
                  <a:srgbClr val="FF0000"/>
                </a:solidFill>
              </a:rPr>
              <a:t>2</a:t>
            </a:r>
            <a:r>
              <a:rPr lang="en-PH" sz="2800" dirty="0" smtClean="0"/>
              <a:t>)</a:t>
            </a:r>
          </a:p>
          <a:p>
            <a:pPr eaLnBrk="1" hangingPunct="1">
              <a:buFontTx/>
              <a:buNone/>
            </a:pPr>
            <a:endParaRPr lang="en-PH" sz="2800" dirty="0" smtClean="0"/>
          </a:p>
          <a:p>
            <a:pPr>
              <a:buNone/>
            </a:pPr>
            <a:r>
              <a:rPr lang="en-PH" sz="2800" dirty="0" smtClean="0">
                <a:solidFill>
                  <a:srgbClr val="FF0000"/>
                </a:solidFill>
              </a:rPr>
              <a:t>     N</a:t>
            </a:r>
            <a:r>
              <a:rPr lang="en-PH" sz="2800" baseline="30000" dirty="0" smtClean="0">
                <a:solidFill>
                  <a:srgbClr val="FF0000"/>
                </a:solidFill>
              </a:rPr>
              <a:t>2 </a:t>
            </a:r>
            <a:r>
              <a:rPr lang="en-PH" sz="2800" dirty="0" smtClean="0"/>
              <a:t> = </a:t>
            </a:r>
            <a:r>
              <a:rPr lang="en-PH" sz="2800" dirty="0" smtClean="0">
                <a:solidFill>
                  <a:srgbClr val="FF0000"/>
                </a:solidFill>
              </a:rPr>
              <a:t>object complement</a:t>
            </a:r>
          </a:p>
          <a:p>
            <a:pPr eaLnBrk="1" hangingPunct="1">
              <a:buFontTx/>
              <a:buNone/>
            </a:pPr>
            <a:endParaRPr lang="en-PH" dirty="0" smtClean="0"/>
          </a:p>
          <a:p>
            <a:pPr eaLnBrk="1" hangingPunct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xmlns="" val="225786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6096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Functions of Nouns</a:t>
            </a:r>
            <a:endParaRPr lang="en-GB" sz="4000" b="1" dirty="0" smtClean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PH" sz="2800" b="1" dirty="0" smtClean="0"/>
              <a:t>Subject of verb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u="sng" dirty="0" smtClean="0"/>
              <a:t>The guest</a:t>
            </a:r>
            <a:r>
              <a:rPr lang="en-PH" sz="2800" i="1" dirty="0" smtClean="0"/>
              <a:t> is amiable</a:t>
            </a:r>
            <a:r>
              <a:rPr lang="en-PH" sz="2800" dirty="0" smtClean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PH" sz="2800" b="1" dirty="0" smtClean="0"/>
              <a:t>Subject complement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dirty="0" smtClean="0"/>
              <a:t>He is </a:t>
            </a:r>
            <a:r>
              <a:rPr lang="en-PH" sz="2800" i="1" u="sng" dirty="0" smtClean="0"/>
              <a:t>my hero</a:t>
            </a:r>
            <a:r>
              <a:rPr lang="en-PH" sz="2800" i="1" dirty="0" smtClean="0"/>
              <a:t>. </a:t>
            </a:r>
            <a:r>
              <a:rPr lang="en-PH" sz="2800" dirty="0" smtClean="0"/>
              <a:t>(</a:t>
            </a:r>
            <a:r>
              <a:rPr lang="en-PH" sz="2800" b="1" dirty="0" smtClean="0"/>
              <a:t>predicate noun</a:t>
            </a:r>
            <a:r>
              <a:rPr lang="en-PH" sz="2800" dirty="0" smtClean="0"/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PH" sz="2800" i="1" dirty="0" smtClean="0"/>
              <a:t>		</a:t>
            </a:r>
            <a:r>
              <a:rPr lang="en-PH" sz="2800" dirty="0" smtClean="0"/>
              <a:t> </a:t>
            </a:r>
            <a:r>
              <a:rPr lang="en-PH" sz="2800" i="1" dirty="0" smtClean="0"/>
              <a:t>They are </a:t>
            </a:r>
            <a:r>
              <a:rPr lang="en-PH" sz="2800" i="1" u="sng" dirty="0" smtClean="0"/>
              <a:t>excited</a:t>
            </a:r>
            <a:r>
              <a:rPr lang="en-PH" sz="2800" i="1" dirty="0" smtClean="0"/>
              <a:t>. </a:t>
            </a:r>
            <a:r>
              <a:rPr lang="en-PH" sz="2800" dirty="0" smtClean="0"/>
              <a:t>(</a:t>
            </a:r>
            <a:r>
              <a:rPr lang="en-PH" sz="2800" b="1" dirty="0" smtClean="0"/>
              <a:t>predicate adjective</a:t>
            </a:r>
            <a:r>
              <a:rPr lang="en-PH" sz="2800" dirty="0" smtClean="0"/>
              <a:t>)</a:t>
            </a:r>
            <a:endParaRPr lang="en-PH" sz="2800" i="1" dirty="0" smtClean="0"/>
          </a:p>
          <a:p>
            <a:pPr eaLnBrk="1" hangingPunct="1">
              <a:lnSpc>
                <a:spcPct val="90000"/>
              </a:lnSpc>
            </a:pPr>
            <a:r>
              <a:rPr lang="en-PH" sz="2800" b="1" dirty="0" smtClean="0"/>
              <a:t>Direct object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dirty="0" smtClean="0"/>
              <a:t>Mother gave </a:t>
            </a:r>
            <a:r>
              <a:rPr lang="en-PH" sz="2800" i="1" u="sng" dirty="0" smtClean="0"/>
              <a:t>a gift</a:t>
            </a:r>
            <a:r>
              <a:rPr lang="en-PH" sz="2800" i="1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PH" sz="2800" b="1" dirty="0" smtClean="0"/>
              <a:t>Indirect object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PH" sz="2800" dirty="0" smtClean="0"/>
              <a:t>		Mother gave a gift to </a:t>
            </a:r>
            <a:r>
              <a:rPr lang="en-PH" sz="2800" i="1" u="sng" dirty="0" smtClean="0"/>
              <a:t>the orphan</a:t>
            </a:r>
            <a:r>
              <a:rPr lang="en-PH" sz="2800" dirty="0" smtClean="0"/>
              <a:t>. </a:t>
            </a:r>
          </a:p>
          <a:p>
            <a:pPr marL="609600" indent="-609600">
              <a:lnSpc>
                <a:spcPct val="90000"/>
              </a:lnSpc>
              <a:buNone/>
            </a:pPr>
            <a:r>
              <a:rPr lang="en-PH" sz="2800" dirty="0" smtClean="0"/>
              <a:t>		Mother gave </a:t>
            </a:r>
            <a:r>
              <a:rPr lang="en-PH" sz="2800" i="1" u="sng" dirty="0" smtClean="0"/>
              <a:t>the orphan</a:t>
            </a:r>
            <a:r>
              <a:rPr lang="en-PH" sz="2800" b="1" u="sng" dirty="0" smtClean="0">
                <a:solidFill>
                  <a:srgbClr val="FF0000"/>
                </a:solidFill>
              </a:rPr>
              <a:t> </a:t>
            </a:r>
            <a:r>
              <a:rPr lang="en-PH" sz="2800" dirty="0" smtClean="0"/>
              <a:t>a gift.</a:t>
            </a:r>
          </a:p>
          <a:p>
            <a:pPr eaLnBrk="1" hangingPunct="1">
              <a:lnSpc>
                <a:spcPct val="90000"/>
              </a:lnSpc>
              <a:buNone/>
            </a:pPr>
            <a:endParaRPr lang="en-PH" dirty="0" smtClean="0"/>
          </a:p>
        </p:txBody>
      </p:sp>
    </p:spTree>
    <p:extLst>
      <p:ext uri="{BB962C8B-B14F-4D97-AF65-F5344CB8AC3E}">
        <p14:creationId xmlns:p14="http://schemas.microsoft.com/office/powerpoint/2010/main" xmlns="" val="141194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ctr" eaLnBrk="1" hangingPunct="1"/>
            <a:r>
              <a:rPr lang="en-PH" b="1" dirty="0" smtClean="0"/>
              <a:t>Functions of Nouns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495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PH" sz="2800" b="1" dirty="0" smtClean="0"/>
              <a:t>Object complement/object noun predicate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dirty="0" smtClean="0"/>
              <a:t>They elected Mario </a:t>
            </a:r>
            <a:r>
              <a:rPr lang="en-PH" sz="2800" i="1" u="sng" dirty="0" smtClean="0"/>
              <a:t>president</a:t>
            </a:r>
            <a:r>
              <a:rPr lang="en-PH" sz="2800" i="1" dirty="0" smtClean="0"/>
              <a:t>. </a:t>
            </a:r>
          </a:p>
          <a:p>
            <a:pPr>
              <a:lnSpc>
                <a:spcPct val="90000"/>
              </a:lnSpc>
            </a:pPr>
            <a:r>
              <a:rPr lang="en-PH" sz="2800" b="1" dirty="0" smtClean="0"/>
              <a:t>Appositive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</a:t>
            </a:r>
            <a:r>
              <a:rPr lang="en-PH" sz="2800" i="1" dirty="0" smtClean="0"/>
              <a:t>	 Baguio City, </a:t>
            </a:r>
            <a:r>
              <a:rPr lang="en-PH" sz="2800" i="1" u="sng" dirty="0" smtClean="0"/>
              <a:t>the summer capital of the </a:t>
            </a:r>
            <a:r>
              <a:rPr lang="en-PH" sz="2800" i="1" dirty="0" smtClean="0"/>
              <a:t>	</a:t>
            </a:r>
            <a:r>
              <a:rPr lang="en-PH" sz="2800" i="1" u="sng" dirty="0" smtClean="0"/>
              <a:t>Philippines</a:t>
            </a:r>
            <a:r>
              <a:rPr lang="en-PH" sz="2800" i="1" dirty="0" smtClean="0"/>
              <a:t>, is no longer as beautiful as it 	was 	before. </a:t>
            </a:r>
          </a:p>
          <a:p>
            <a:pPr>
              <a:lnSpc>
                <a:spcPct val="90000"/>
              </a:lnSpc>
            </a:pPr>
            <a:r>
              <a:rPr lang="en-PH" sz="2800" b="1" dirty="0" smtClean="0"/>
              <a:t>Vocative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u="sng" dirty="0" smtClean="0"/>
              <a:t>Friends</a:t>
            </a:r>
            <a:r>
              <a:rPr lang="en-PH" sz="2800" i="1" dirty="0" smtClean="0"/>
              <a:t>, shall we play tennis tomorrow? </a:t>
            </a:r>
          </a:p>
          <a:p>
            <a:pPr>
              <a:lnSpc>
                <a:spcPct val="90000"/>
              </a:lnSpc>
            </a:pPr>
            <a:r>
              <a:rPr lang="en-PH" sz="2800" b="1" dirty="0" smtClean="0"/>
              <a:t>Object of the preposition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 </a:t>
            </a:r>
            <a:r>
              <a:rPr lang="en-PH" sz="2800" i="1" dirty="0" smtClean="0"/>
              <a:t>PNU is </a:t>
            </a:r>
            <a:r>
              <a:rPr lang="en-PH" sz="2800" b="1" i="1" dirty="0" smtClean="0"/>
              <a:t>at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the corner</a:t>
            </a:r>
            <a:r>
              <a:rPr lang="en-PH" sz="2800" i="1" dirty="0" smtClean="0"/>
              <a:t> of Taft Avenue and Ayala 	 Boulevard. </a:t>
            </a:r>
            <a:endParaRPr lang="en-GB" sz="2800" i="1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u="sng" dirty="0" smtClean="0"/>
          </a:p>
        </p:txBody>
      </p:sp>
    </p:spTree>
    <p:extLst>
      <p:ext uri="{BB962C8B-B14F-4D97-AF65-F5344CB8AC3E}">
        <p14:creationId xmlns:p14="http://schemas.microsoft.com/office/powerpoint/2010/main" xmlns="" val="400428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None/>
            </a:pPr>
            <a:r>
              <a:rPr lang="en-PH" sz="2800" b="1" dirty="0" smtClean="0"/>
              <a:t>2. </a:t>
            </a:r>
            <a:r>
              <a:rPr lang="en-PH" sz="2800" dirty="0" smtClean="0"/>
              <a:t>In the sentence, “The club meeting will be over </a:t>
            </a:r>
            <a:r>
              <a:rPr lang="en-PH" sz="2800" u="sng" dirty="0" smtClean="0"/>
              <a:t>in an hour</a:t>
            </a:r>
            <a:r>
              <a:rPr lang="en-PH" sz="2800" dirty="0" smtClean="0"/>
              <a:t>,” the underlined phrase functions as _____.</a:t>
            </a:r>
          </a:p>
          <a:p>
            <a:pPr eaLnBrk="1" hangingPunct="1">
              <a:buNone/>
            </a:pP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A. </a:t>
            </a:r>
            <a:r>
              <a:rPr lang="en-PH" sz="2800" dirty="0" smtClean="0"/>
              <a:t>subject complement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B. </a:t>
            </a:r>
            <a:r>
              <a:rPr lang="en-PH" sz="2800" dirty="0" smtClean="0"/>
              <a:t>predicate noun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C. </a:t>
            </a:r>
            <a:r>
              <a:rPr lang="en-PH" sz="2800" dirty="0" smtClean="0"/>
              <a:t>prepositional phrase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	</a:t>
            </a:r>
            <a:r>
              <a:rPr lang="en-US" sz="2800" dirty="0" smtClean="0"/>
              <a:t>D. </a:t>
            </a:r>
            <a:r>
              <a:rPr lang="en-PH" sz="2800" dirty="0" smtClean="0"/>
              <a:t>adverbial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51054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Forms of Adverbials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1" y="1600200"/>
            <a:ext cx="6629400" cy="4572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PH" sz="2800" b="1" dirty="0" smtClean="0"/>
              <a:t>Adverbial clause</a:t>
            </a:r>
            <a:r>
              <a:rPr lang="en-PH" sz="2800" dirty="0" smtClean="0"/>
              <a:t>: 	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She cried </a:t>
            </a:r>
            <a:r>
              <a:rPr lang="en-PH" sz="2800" u="sng" dirty="0" smtClean="0"/>
              <a:t>because she lost her </a:t>
            </a:r>
            <a:r>
              <a:rPr lang="en-PH" sz="2800" dirty="0" smtClean="0"/>
              <a:t>	</a:t>
            </a:r>
            <a:r>
              <a:rPr lang="en-PH" sz="2800" u="sng" dirty="0" smtClean="0"/>
              <a:t>wallet</a:t>
            </a:r>
            <a:r>
              <a:rPr lang="en-PH" sz="2800" dirty="0" smtClean="0"/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			</a:t>
            </a:r>
          </a:p>
          <a:p>
            <a:pPr>
              <a:lnSpc>
                <a:spcPct val="90000"/>
              </a:lnSpc>
            </a:pPr>
            <a:r>
              <a:rPr lang="en-PH" sz="2800" b="1" dirty="0" smtClean="0"/>
              <a:t>Adverbial phrase</a:t>
            </a:r>
            <a:r>
              <a:rPr lang="en-PH" sz="2800" dirty="0" smtClean="0"/>
              <a:t>:	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She cried </a:t>
            </a:r>
            <a:r>
              <a:rPr lang="en-PH" sz="2800" u="sng" dirty="0" smtClean="0"/>
              <a:t>very silently</a:t>
            </a:r>
            <a:r>
              <a:rPr lang="en-PH" sz="2800" dirty="0" smtClean="0"/>
              <a:t>.</a:t>
            </a:r>
          </a:p>
          <a:p>
            <a:pPr>
              <a:lnSpc>
                <a:spcPct val="90000"/>
              </a:lnSpc>
              <a:buNone/>
            </a:pPr>
            <a:endParaRPr lang="en-PH" sz="2800" dirty="0" smtClean="0"/>
          </a:p>
          <a:p>
            <a:pPr>
              <a:lnSpc>
                <a:spcPct val="90000"/>
              </a:lnSpc>
            </a:pPr>
            <a:r>
              <a:rPr lang="en-PH" sz="2800" b="1" dirty="0" smtClean="0"/>
              <a:t>Prep. phrase</a:t>
            </a:r>
            <a:r>
              <a:rPr lang="en-PH" sz="2800" dirty="0" smtClean="0"/>
              <a:t>: 	</a:t>
            </a:r>
          </a:p>
          <a:p>
            <a:pPr>
              <a:lnSpc>
                <a:spcPct val="90000"/>
              </a:lnSpc>
              <a:buNone/>
            </a:pPr>
            <a:r>
              <a:rPr lang="en-PH" sz="2800" dirty="0" smtClean="0"/>
              <a:t>	Jason woke up </a:t>
            </a:r>
            <a:r>
              <a:rPr lang="en-PH" sz="2800" u="sng" dirty="0" smtClean="0"/>
              <a:t>at seven o’clock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64126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366490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00200"/>
            <a:ext cx="6591985" cy="4800600"/>
          </a:xfrm>
        </p:spPr>
        <p:txBody>
          <a:bodyPr rtlCol="0">
            <a:normAutofit fontScale="92500" lnSpcReduction="10000"/>
          </a:bodyPr>
          <a:lstStyle/>
          <a:p>
            <a:pPr marL="685800" indent="-6858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b="1" dirty="0" smtClean="0"/>
              <a:t>3. </a:t>
            </a:r>
            <a:r>
              <a:rPr lang="en-PH" sz="2800" dirty="0" smtClean="0"/>
              <a:t>Which of the following sentences</a:t>
            </a:r>
          </a:p>
          <a:p>
            <a:pPr marL="685800" indent="-6858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dirty="0"/>
              <a:t>  </a:t>
            </a:r>
            <a:r>
              <a:rPr lang="en-PH" sz="2800" dirty="0" smtClean="0"/>
              <a:t>  does not have a linking verb?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dirty="0" smtClean="0"/>
              <a:t>	A. The tall building appears haunted.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/>
              <a:t>	</a:t>
            </a:r>
            <a:r>
              <a:rPr lang="en-PH" sz="2800" dirty="0" smtClean="0"/>
              <a:t>B. The principal is busy monitoring  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       school activities.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/>
              <a:t>	C. </a:t>
            </a:r>
            <a:r>
              <a:rPr lang="en-PH" sz="2800" dirty="0" smtClean="0"/>
              <a:t>The ugly bud becomes a beautiful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        flower after two days.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dirty="0" smtClean="0"/>
              <a:t>	D. </a:t>
            </a:r>
            <a:r>
              <a:rPr lang="en-PH" sz="2800" dirty="0" smtClean="0"/>
              <a:t>The class are working on their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dirty="0"/>
              <a:t> </a:t>
            </a:r>
            <a:r>
              <a:rPr lang="en-PH" sz="2800" dirty="0" smtClean="0"/>
              <a:t>       science project.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1027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b="1" dirty="0" smtClean="0"/>
              <a:t>Linking/Copula Verbs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315200" cy="50292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u="sng" dirty="0" smtClean="0"/>
              <a:t>Be</a:t>
            </a:r>
            <a:r>
              <a:rPr lang="en-US" sz="2800" dirty="0" smtClean="0"/>
              <a:t> verbs (</a:t>
            </a:r>
            <a:r>
              <a:rPr lang="en-US" sz="2800" i="1" dirty="0" smtClean="0"/>
              <a:t>am, is, are, was, were, will be</a:t>
            </a:r>
            <a:r>
              <a:rPr lang="en-US" sz="2800" dirty="0" smtClean="0"/>
              <a:t>)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when it is the main verb in the sentence.</a:t>
            </a:r>
          </a:p>
          <a:p>
            <a:pPr eaLnBrk="1" hangingPunct="1">
              <a:buFont typeface="Arial" charset="0"/>
              <a:buNone/>
            </a:pPr>
            <a:endParaRPr lang="en-US" sz="2800" dirty="0" smtClean="0"/>
          </a:p>
          <a:p>
            <a:pPr eaLnBrk="1" hangingPunct="1"/>
            <a:r>
              <a:rPr lang="en-US" sz="2800" u="sng" dirty="0" smtClean="0"/>
              <a:t>Other verbs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/>
              <a:t>appear, feel, look, prove, seem, smell, sound, taste, become, fall, get, go, grow, keep, remain, stay </a:t>
            </a:r>
            <a:r>
              <a:rPr lang="en-US" sz="2800" dirty="0" smtClean="0"/>
              <a:t>may be substituted by an appropriate </a:t>
            </a:r>
            <a:r>
              <a:rPr lang="en-US" sz="2800" u="sng" dirty="0" smtClean="0"/>
              <a:t>be</a:t>
            </a:r>
            <a:r>
              <a:rPr lang="en-US" sz="2800" dirty="0" smtClean="0"/>
              <a:t> verb</a:t>
            </a:r>
          </a:p>
        </p:txBody>
      </p:sp>
    </p:spTree>
    <p:extLst>
      <p:ext uri="{BB962C8B-B14F-4D97-AF65-F5344CB8AC3E}">
        <p14:creationId xmlns:p14="http://schemas.microsoft.com/office/powerpoint/2010/main" xmlns="" val="60858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057400" y="533400"/>
            <a:ext cx="6589199" cy="533400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1942415" y="1600200"/>
            <a:ext cx="6591985" cy="4876800"/>
          </a:xfrm>
        </p:spPr>
        <p:txBody>
          <a:bodyPr>
            <a:normAutofit fontScale="92500"/>
          </a:bodyPr>
          <a:lstStyle/>
          <a:p>
            <a:pPr eaLnBrk="1" hangingPunct="1">
              <a:buNone/>
            </a:pPr>
            <a:r>
              <a:rPr lang="en-PH" sz="2800" b="1" dirty="0" smtClean="0"/>
              <a:t>4. </a:t>
            </a:r>
            <a:r>
              <a:rPr lang="en-PH" sz="2800" dirty="0" smtClean="0"/>
              <a:t>Which of these is a passive sentence?</a:t>
            </a:r>
          </a:p>
          <a:p>
            <a:pPr eaLnBrk="1" hangingPunct="1">
              <a:buNone/>
            </a:pP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The box contains a pair of silver 	shoes.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	He has bought a new house by 	the lake.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Bob got excused for his first 	offense.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The choir sang an early folk tune.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21764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292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PH" sz="3300" dirty="0" smtClean="0">
                <a:latin typeface="Arial" pitchFamily="34" charset="0"/>
                <a:cs typeface="Arial" pitchFamily="34" charset="0"/>
              </a:rPr>
              <a:t>Pertains to </a:t>
            </a:r>
            <a:r>
              <a:rPr lang="en-PH" sz="3300" u="sng" dirty="0" smtClean="0">
                <a:latin typeface="Arial" pitchFamily="34" charset="0"/>
                <a:cs typeface="Arial" pitchFamily="34" charset="0"/>
              </a:rPr>
              <a:t>who or what serves as the subject </a:t>
            </a:r>
            <a:r>
              <a:rPr lang="en-PH" sz="3300" dirty="0" smtClean="0">
                <a:latin typeface="Arial" pitchFamily="34" charset="0"/>
                <a:cs typeface="Arial" pitchFamily="34" charset="0"/>
              </a:rPr>
              <a:t>in a clause.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PH" sz="3300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PH" sz="3300" dirty="0" smtClean="0">
                <a:latin typeface="Arial" pitchFamily="34" charset="0"/>
                <a:cs typeface="Arial" pitchFamily="34" charset="0"/>
              </a:rPr>
              <a:t>ACTIVE voice: 	the </a:t>
            </a:r>
            <a:r>
              <a:rPr lang="en-PH" sz="3300" u="sng" dirty="0" smtClean="0">
                <a:latin typeface="Arial" pitchFamily="34" charset="0"/>
                <a:cs typeface="Arial" pitchFamily="34" charset="0"/>
              </a:rPr>
              <a:t>subject</a:t>
            </a:r>
            <a:r>
              <a:rPr lang="en-PH" sz="3300" dirty="0" smtClean="0">
                <a:latin typeface="Arial" pitchFamily="34" charset="0"/>
                <a:cs typeface="Arial" pitchFamily="34" charset="0"/>
              </a:rPr>
              <a:t> of a clause is most often the </a:t>
            </a:r>
            <a:r>
              <a:rPr lang="en-PH" sz="33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agent/ doer </a:t>
            </a:r>
            <a:r>
              <a:rPr lang="en-PH" sz="3300" dirty="0" smtClean="0">
                <a:latin typeface="Arial" pitchFamily="34" charset="0"/>
                <a:cs typeface="Arial" pitchFamily="34" charset="0"/>
              </a:rPr>
              <a:t>of the action.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PH" sz="9600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PH" sz="7200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685800"/>
            <a:ext cx="6589199" cy="457200"/>
          </a:xfrm>
        </p:spPr>
        <p:txBody>
          <a:bodyPr>
            <a:normAutofit fontScale="90000"/>
          </a:bodyPr>
          <a:lstStyle/>
          <a:p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1" y="1524000"/>
            <a:ext cx="7543800" cy="4876800"/>
          </a:xfrm>
        </p:spPr>
        <p:txBody>
          <a:bodyPr>
            <a:normAutofit fontScale="25000" lnSpcReduction="20000"/>
          </a:bodyPr>
          <a:lstStyle/>
          <a:p>
            <a:pPr>
              <a:buFont typeface="Arial" pitchFamily="34" charset="0"/>
              <a:buChar char="•"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PASSIVE voice:	the </a:t>
            </a:r>
            <a:r>
              <a:rPr lang="en-PH" sz="9600" u="sng" dirty="0">
                <a:latin typeface="Arial" pitchFamily="34" charset="0"/>
                <a:cs typeface="Arial" pitchFamily="34" charset="0"/>
              </a:rPr>
              <a:t>subject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 of a clause is the</a:t>
            </a:r>
            <a:r>
              <a:rPr lang="en-PH" sz="96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receiver 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or </a:t>
            </a:r>
            <a:r>
              <a:rPr lang="en-PH" sz="9600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undergoer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 of the action. The passive “defocuses” the agent</a:t>
            </a:r>
            <a:r>
              <a:rPr lang="en-PH" sz="9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Arial" pitchFamily="34" charset="0"/>
              <a:buChar char="•"/>
              <a:defRPr/>
            </a:pPr>
            <a:endParaRPr lang="en-US" sz="9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PH" sz="9600" i="1" dirty="0">
                <a:latin typeface="Arial" pitchFamily="34" charset="0"/>
                <a:cs typeface="Arial" pitchFamily="34" charset="0"/>
              </a:rPr>
              <a:t>	     </a:t>
            </a:r>
            <a:r>
              <a:rPr lang="en-PH" sz="9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lifeguard </a:t>
            </a:r>
            <a:r>
              <a:rPr lang="en-PH" sz="9600" i="1" u="sng" dirty="0">
                <a:latin typeface="Arial" pitchFamily="34" charset="0"/>
                <a:cs typeface="Arial" pitchFamily="34" charset="0"/>
              </a:rPr>
              <a:t>saved 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the child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. (</a:t>
            </a:r>
            <a:r>
              <a:rPr lang="en-PH" sz="9600" dirty="0" smtClean="0">
                <a:latin typeface="Arial" pitchFamily="34" charset="0"/>
                <a:cs typeface="Arial" pitchFamily="34" charset="0"/>
              </a:rPr>
              <a:t>active)</a:t>
            </a: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US" sz="9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9600" i="1" dirty="0" smtClean="0">
                <a:latin typeface="Arial" pitchFamily="34" charset="0"/>
                <a:cs typeface="Arial" pitchFamily="34" charset="0"/>
              </a:rPr>
              <a:t>        </a:t>
            </a:r>
            <a:r>
              <a:rPr lang="en-PH" sz="9600" i="1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child </a:t>
            </a:r>
            <a:r>
              <a:rPr lang="en-PH" sz="9600" i="1" u="sng" dirty="0">
                <a:latin typeface="Arial" pitchFamily="34" charset="0"/>
                <a:cs typeface="Arial" pitchFamily="34" charset="0"/>
              </a:rPr>
              <a:t>was saved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 [</a:t>
            </a:r>
            <a:r>
              <a:rPr lang="en-PH" sz="9600" i="1" u="sng" dirty="0">
                <a:latin typeface="Arial" pitchFamily="34" charset="0"/>
                <a:cs typeface="Arial" pitchFamily="34" charset="0"/>
              </a:rPr>
              <a:t>by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 </a:t>
            </a:r>
            <a:r>
              <a:rPr lang="en-PH" sz="9600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lifeguard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].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 (passive)</a:t>
            </a:r>
            <a:endParaRPr lang="en-US" sz="9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 </a:t>
            </a:r>
            <a:endParaRPr lang="en-US" sz="9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The passive voice requires only transitive verbs.</a:t>
            </a:r>
            <a:endParaRPr lang="en-US" sz="9600" dirty="0">
              <a:latin typeface="Arial" pitchFamily="34" charset="0"/>
              <a:cs typeface="Arial" pitchFamily="34" charset="0"/>
            </a:endParaRPr>
          </a:p>
          <a:p>
            <a:pPr>
              <a:buNone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 </a:t>
            </a:r>
            <a:endParaRPr lang="en-US" sz="96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Passive morphology :	 </a:t>
            </a:r>
            <a:r>
              <a:rPr lang="en-PH" sz="9600" i="1" dirty="0">
                <a:latin typeface="Arial" pitchFamily="34" charset="0"/>
                <a:cs typeface="Arial" pitchFamily="34" charset="0"/>
              </a:rPr>
              <a:t>be . . . –en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  <a:defRPr/>
            </a:pPr>
            <a:r>
              <a:rPr lang="en-PH" sz="9600" dirty="0">
                <a:latin typeface="Arial" pitchFamily="34" charset="0"/>
                <a:cs typeface="Arial" pitchFamily="34" charset="0"/>
              </a:rPr>
              <a:t>		(a form of the </a:t>
            </a:r>
            <a:r>
              <a:rPr lang="en-PH" sz="9600" i="1" u="sng" dirty="0">
                <a:latin typeface="Arial" pitchFamily="34" charset="0"/>
                <a:cs typeface="Arial" pitchFamily="34" charset="0"/>
              </a:rPr>
              <a:t>be</a:t>
            </a:r>
            <a:r>
              <a:rPr lang="en-PH" sz="9600" u="sng" dirty="0">
                <a:latin typeface="Arial" pitchFamily="34" charset="0"/>
                <a:cs typeface="Arial" pitchFamily="34" charset="0"/>
              </a:rPr>
              <a:t> verb + the past participle</a:t>
            </a:r>
            <a:r>
              <a:rPr lang="en-PH" sz="9600" dirty="0">
                <a:latin typeface="Arial" pitchFamily="34" charset="0"/>
                <a:cs typeface="Arial" pitchFamily="34" charset="0"/>
              </a:rPr>
              <a:t>)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xmlns="" val="1222504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850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PH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PH" sz="2800" dirty="0" smtClean="0"/>
          </a:p>
          <a:p>
            <a:pPr>
              <a:buNone/>
              <a:defRPr/>
            </a:pPr>
            <a:endParaRPr lang="en-PH" sz="2800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PH" sz="2800" dirty="0" smtClean="0"/>
              <a:t>AGENTED passive:   the agent is mentioned (appears in a prepositional phrase marked by the  preposition </a:t>
            </a:r>
            <a:r>
              <a:rPr lang="en-PH" sz="2800" i="1" dirty="0" smtClean="0"/>
              <a:t>by</a:t>
            </a:r>
            <a:r>
              <a:rPr lang="en-PH" sz="2800" dirty="0" smtClean="0"/>
              <a:t>.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PH" sz="2800" dirty="0" smtClean="0"/>
              <a:t>	</a:t>
            </a:r>
            <a:r>
              <a:rPr lang="en-PH" sz="2800" i="1" dirty="0" smtClean="0"/>
              <a:t>	The child was saved by </a:t>
            </a:r>
            <a:r>
              <a:rPr lang="en-PH" sz="2800" i="1" dirty="0" smtClean="0">
                <a:solidFill>
                  <a:srgbClr val="FF0000"/>
                </a:solidFill>
              </a:rPr>
              <a:t>the lifeguard.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PH" sz="2800" dirty="0" smtClean="0">
              <a:solidFill>
                <a:srgbClr val="FF0000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PH" sz="2800" dirty="0" smtClean="0"/>
              <a:t>AGENTLESS passive :  the agent is not mentioned</a:t>
            </a:r>
          </a:p>
          <a:p>
            <a:pPr eaLnBrk="1" fontAlgn="auto" hangingPunct="1">
              <a:spcAft>
                <a:spcPts val="0"/>
              </a:spcAft>
              <a:buNone/>
              <a:defRPr/>
            </a:pPr>
            <a:r>
              <a:rPr lang="en-PH" sz="2800" dirty="0" smtClean="0"/>
              <a:t>		</a:t>
            </a:r>
            <a:r>
              <a:rPr lang="en-PH" sz="2800" i="1" dirty="0" smtClean="0"/>
              <a:t>The child was saved</a:t>
            </a:r>
            <a:r>
              <a:rPr lang="en-PH" sz="2800" dirty="0"/>
              <a:t>.</a:t>
            </a:r>
            <a:endParaRPr lang="en-PH" sz="2800" dirty="0" smtClean="0"/>
          </a:p>
          <a:p>
            <a:pPr eaLnBrk="1" fontAlgn="auto" hangingPunct="1">
              <a:spcAft>
                <a:spcPts val="0"/>
              </a:spcAft>
              <a:buNone/>
              <a:defRPr/>
            </a:pPr>
            <a:endParaRPr lang="en-US" sz="2800" u="sng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PH" sz="2800" dirty="0" smtClean="0"/>
              <a:t>Some passive sentences have no active counterparts.</a:t>
            </a:r>
            <a:endParaRPr lang="en-US" sz="28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PH" sz="2800" i="1" dirty="0" smtClean="0"/>
              <a:t>		Justin </a:t>
            </a:r>
            <a:r>
              <a:rPr lang="en-PH" sz="2800" i="1" u="sng" dirty="0" smtClean="0"/>
              <a:t>was born</a:t>
            </a:r>
            <a:r>
              <a:rPr lang="en-PH" sz="2800" i="1" dirty="0" smtClean="0"/>
              <a:t> in Canada.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30628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10312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None/>
            </a:pPr>
            <a:endParaRPr lang="en-PH" sz="2800" b="1" dirty="0" smtClean="0"/>
          </a:p>
          <a:p>
            <a:pPr eaLnBrk="1" hangingPunct="1">
              <a:buFont typeface="Arial" charset="0"/>
              <a:buNone/>
            </a:pPr>
            <a:r>
              <a:rPr lang="en-PH" sz="2800" b="1" dirty="0" smtClean="0"/>
              <a:t>5. </a:t>
            </a:r>
            <a:r>
              <a:rPr lang="en-PH" sz="2800" dirty="0" smtClean="0"/>
              <a:t>In the sentence “</a:t>
            </a:r>
            <a:r>
              <a:rPr lang="en-PH" sz="2800" dirty="0" smtClean="0">
                <a:solidFill>
                  <a:srgbClr val="FF0000"/>
                </a:solidFill>
              </a:rPr>
              <a:t>My aunt tenderly </a:t>
            </a:r>
            <a:r>
              <a:rPr lang="en-PH" sz="2800" u="sng" dirty="0" smtClean="0">
                <a:solidFill>
                  <a:srgbClr val="FF0000"/>
                </a:solidFill>
              </a:rPr>
              <a:t>mothers</a:t>
            </a:r>
            <a:r>
              <a:rPr lang="en-PH" sz="2800" dirty="0" smtClean="0">
                <a:solidFill>
                  <a:srgbClr val="FF0000"/>
                </a:solidFill>
              </a:rPr>
              <a:t> her youngest son,</a:t>
            </a:r>
            <a:r>
              <a:rPr lang="en-PH" sz="2800" dirty="0" smtClean="0"/>
              <a:t>” the underlined word is _____.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a noun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a verb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an adjective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a possessive</a:t>
            </a:r>
          </a:p>
          <a:p>
            <a:pPr lvl="1" eaLnBrk="1" hangingPunct="1">
              <a:buFont typeface="Arial" charset="0"/>
              <a:buNone/>
            </a:pPr>
            <a:endParaRPr lang="en-PH" sz="2800" dirty="0" smtClean="0"/>
          </a:p>
          <a:p>
            <a:pPr lvl="1" eaLnBrk="1" hangingPunct="1">
              <a:buFont typeface="Wingdings" pitchFamily="2" charset="2"/>
              <a:buChar char="§"/>
            </a:pPr>
            <a:r>
              <a:rPr lang="en-PH" sz="2800" dirty="0" smtClean="0"/>
              <a:t>Referred to as conversion/functional shift</a:t>
            </a:r>
          </a:p>
          <a:p>
            <a:pPr lvl="1" eaLnBrk="1" hangingPunct="1">
              <a:buFont typeface="Arial" charset="0"/>
              <a:buNone/>
            </a:pPr>
            <a:endParaRPr lang="en-US" sz="32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22797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629400"/>
          </a:xfrm>
        </p:spPr>
        <p:txBody>
          <a:bodyPr>
            <a:normAutofit/>
          </a:bodyPr>
          <a:lstStyle/>
          <a:p>
            <a:pPr eaLnBrk="1" hangingPunct="1">
              <a:buNone/>
            </a:pPr>
            <a:r>
              <a:rPr lang="en-PH" sz="2800" b="1" dirty="0" smtClean="0"/>
              <a:t>6. </a:t>
            </a:r>
          </a:p>
          <a:p>
            <a:pPr eaLnBrk="1" hangingPunct="1">
              <a:buNone/>
            </a:pPr>
            <a:endParaRPr lang="en-PH" sz="2800" b="1" dirty="0"/>
          </a:p>
          <a:p>
            <a:pPr eaLnBrk="1" hangingPunct="1">
              <a:buNone/>
            </a:pPr>
            <a:r>
              <a:rPr lang="en-PH" sz="2800" dirty="0" smtClean="0"/>
              <a:t>6. Which of the following sentences does not contain a phrasal verb?</a:t>
            </a:r>
            <a:endParaRPr lang="en-US" sz="33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The Board winded their meeting up quite 	early.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 We look up to him as our role model.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Do not lean against the wall.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Am I going to round off the numbers?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endParaRPr lang="en-US" sz="2800" dirty="0" smtClean="0"/>
          </a:p>
          <a:p>
            <a:pPr eaLnBrk="1" hangingPunct="1"/>
            <a:r>
              <a:rPr lang="en-US" sz="2800" dirty="0" smtClean="0"/>
              <a:t>Phrasal verbs are two-word verbs.</a:t>
            </a:r>
          </a:p>
          <a:p>
            <a:pPr marL="0" indent="0" algn="ctr" eaLnBrk="1" hangingPunct="1">
              <a:buNone/>
            </a:pPr>
            <a:r>
              <a:rPr lang="en-US" sz="2800" dirty="0" smtClean="0"/>
              <a:t>= V + adverbial particle</a:t>
            </a:r>
          </a:p>
          <a:p>
            <a:pPr eaLnBrk="1" hangingPunct="1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77292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Examples of Phrasal Verbs (PVs)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3429000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endParaRPr lang="en-US" smtClean="0"/>
          </a:p>
          <a:p>
            <a:pPr eaLnBrk="1" hangingPunct="1">
              <a:buFont typeface="Arial" charset="0"/>
              <a:buNone/>
            </a:pPr>
            <a:endParaRPr 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905000"/>
          <a:ext cx="8229600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4267200"/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Phrasal Verb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Synonym</a:t>
                      </a:r>
                      <a:endParaRPr lang="en-US" sz="3200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call up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telephone</a:t>
                      </a:r>
                      <a:endParaRPr lang="en-US" sz="3200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keep</a:t>
                      </a:r>
                      <a:r>
                        <a:rPr lang="en-US" sz="3200" baseline="0" dirty="0" smtClean="0"/>
                        <a:t> on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continue</a:t>
                      </a:r>
                      <a:endParaRPr lang="en-US" sz="3200" dirty="0"/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pick out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choose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give in/up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surrender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leave</a:t>
                      </a:r>
                      <a:r>
                        <a:rPr lang="en-US" sz="3200" baseline="0" dirty="0" smtClean="0"/>
                        <a:t> out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omit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put off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postpone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5181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8382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Separable and Inseparable PVs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Char char="§"/>
            </a:pPr>
            <a:r>
              <a:rPr lang="en-US" sz="2800" i="1" u="sng" dirty="0" smtClean="0"/>
              <a:t>Look afte</a:t>
            </a:r>
            <a:r>
              <a:rPr lang="en-US" sz="2800" i="1" dirty="0" smtClean="0"/>
              <a:t>r your baby brother.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*</a:t>
            </a:r>
            <a:r>
              <a:rPr lang="en-US" sz="2800" i="1" u="sng" dirty="0" smtClean="0"/>
              <a:t>Look</a:t>
            </a:r>
            <a:r>
              <a:rPr lang="en-US" sz="2800" i="1" dirty="0" smtClean="0"/>
              <a:t> your baby brother </a:t>
            </a:r>
            <a:r>
              <a:rPr lang="en-US" sz="2800" i="1" u="sng" dirty="0" smtClean="0"/>
              <a:t>after</a:t>
            </a:r>
            <a:r>
              <a:rPr lang="en-US" sz="2800" i="1" dirty="0" smtClean="0"/>
              <a:t>. </a:t>
            </a:r>
            <a:r>
              <a:rPr lang="en-US" sz="2800" dirty="0" smtClean="0"/>
              <a:t>(* means ungrammatical)</a:t>
            </a:r>
            <a:endParaRPr lang="en-US" sz="2800" i="1" dirty="0" smtClean="0"/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</a:t>
            </a:r>
            <a:r>
              <a:rPr lang="en-US" sz="2800" i="1" u="sng" dirty="0" smtClean="0"/>
              <a:t>Look after </a:t>
            </a:r>
            <a:r>
              <a:rPr lang="en-US" sz="2800" i="1" dirty="0" smtClean="0"/>
              <a:t>him.</a:t>
            </a:r>
          </a:p>
          <a:p>
            <a:pPr eaLnBrk="1" hangingPunct="1">
              <a:buFont typeface="Arial" charset="0"/>
              <a:buNone/>
            </a:pPr>
            <a:endParaRPr lang="en-US" sz="2800" i="1" dirty="0" smtClean="0"/>
          </a:p>
          <a:p>
            <a:pPr eaLnBrk="1" hangingPunct="1">
              <a:buFont typeface="Wingdings" pitchFamily="2" charset="2"/>
              <a:buChar char="§"/>
            </a:pPr>
            <a:r>
              <a:rPr lang="en-US" sz="2800" i="1" dirty="0" smtClean="0"/>
              <a:t>Donna </a:t>
            </a:r>
            <a:r>
              <a:rPr lang="en-US" sz="2800" i="1" u="sng" dirty="0" smtClean="0"/>
              <a:t>turned on </a:t>
            </a:r>
            <a:r>
              <a:rPr lang="en-US" sz="2800" i="1" dirty="0" smtClean="0"/>
              <a:t>the light.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Donna</a:t>
            </a:r>
            <a:r>
              <a:rPr lang="en-US" sz="2800" i="1" u="sng" dirty="0" smtClean="0"/>
              <a:t> turned </a:t>
            </a:r>
            <a:r>
              <a:rPr lang="en-US" sz="2800" i="1" dirty="0" smtClean="0"/>
              <a:t>the light </a:t>
            </a:r>
            <a:r>
              <a:rPr lang="en-US" sz="2800" i="1" u="sng" dirty="0" smtClean="0"/>
              <a:t>on</a:t>
            </a:r>
            <a:r>
              <a:rPr lang="en-US" sz="2800" i="1" dirty="0" smtClean="0"/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Donna </a:t>
            </a:r>
            <a:r>
              <a:rPr lang="en-US" sz="2800" i="1" u="sng" dirty="0" smtClean="0"/>
              <a:t>turned</a:t>
            </a:r>
            <a:r>
              <a:rPr lang="en-US" sz="2800" i="1" dirty="0" smtClean="0"/>
              <a:t> it </a:t>
            </a:r>
            <a:r>
              <a:rPr lang="en-US" sz="2800" i="1" u="sng" dirty="0" smtClean="0"/>
              <a:t>on</a:t>
            </a:r>
            <a:r>
              <a:rPr lang="en-US" sz="2800" i="1" dirty="0" smtClean="0"/>
              <a:t>.</a:t>
            </a:r>
          </a:p>
          <a:p>
            <a:pPr eaLnBrk="1" hangingPunct="1">
              <a:buFont typeface="Arial" charset="0"/>
              <a:buNone/>
            </a:pPr>
            <a:endParaRPr lang="en-US" sz="2800" i="1" dirty="0" smtClean="0"/>
          </a:p>
          <a:p>
            <a:pPr eaLnBrk="1" hangingPunct="1">
              <a:buFont typeface="Wingdings" pitchFamily="2" charset="2"/>
              <a:buChar char="§"/>
            </a:pPr>
            <a:r>
              <a:rPr lang="en-US" sz="2800" i="1" dirty="0" smtClean="0"/>
              <a:t>She </a:t>
            </a:r>
            <a:r>
              <a:rPr lang="en-US" sz="2800" i="1" u="sng" dirty="0" smtClean="0"/>
              <a:t>passed out </a:t>
            </a:r>
            <a:r>
              <a:rPr lang="en-US" sz="2800" i="1" dirty="0" smtClean="0"/>
              <a:t>(fainted).</a:t>
            </a:r>
          </a:p>
          <a:p>
            <a:pPr eaLnBrk="1" hangingPunct="1">
              <a:buNone/>
            </a:pPr>
            <a:r>
              <a:rPr lang="en-US" sz="2800" i="1" dirty="0" smtClean="0"/>
              <a:t>	She </a:t>
            </a:r>
            <a:r>
              <a:rPr lang="en-US" sz="2800" i="1" u="sng" dirty="0" smtClean="0"/>
              <a:t>passed</a:t>
            </a:r>
            <a:r>
              <a:rPr lang="en-US" sz="2800" i="1" dirty="0" smtClean="0"/>
              <a:t> the brochures </a:t>
            </a:r>
            <a:r>
              <a:rPr lang="en-US" sz="2800" i="1" u="sng" dirty="0" smtClean="0"/>
              <a:t>out</a:t>
            </a:r>
            <a:r>
              <a:rPr lang="en-US" sz="2800" i="1" dirty="0" smtClean="0"/>
              <a:t> (distributed).</a:t>
            </a:r>
          </a:p>
        </p:txBody>
      </p:sp>
    </p:spTree>
    <p:extLst>
      <p:ext uri="{BB962C8B-B14F-4D97-AF65-F5344CB8AC3E}">
        <p14:creationId xmlns:p14="http://schemas.microsoft.com/office/powerpoint/2010/main" xmlns="" val="62465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7. </a:t>
            </a:r>
            <a:r>
              <a:rPr lang="en-PH" sz="2800" dirty="0" smtClean="0"/>
              <a:t>Which of the following words is </a:t>
            </a:r>
            <a:r>
              <a:rPr lang="en-PH" sz="2800" b="1" dirty="0" smtClean="0"/>
              <a:t>not</a:t>
            </a:r>
            <a:r>
              <a:rPr lang="en-PH" sz="2800" dirty="0" smtClean="0"/>
              <a:t> a derived word?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attendance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television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perfectly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children</a:t>
            </a:r>
          </a:p>
          <a:p>
            <a:pPr lvl="1" eaLnBrk="1" hangingPunct="1">
              <a:buFont typeface="Arial" charset="0"/>
              <a:buNone/>
            </a:pPr>
            <a:endParaRPr lang="en-US" sz="2800" dirty="0" smtClean="0"/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396222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Affixation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Word formation process involving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 smtClean="0"/>
              <a:t>Inflection &gt; inflected word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 smtClean="0"/>
              <a:t>Derivation &gt; derived word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  <a:p>
            <a:pPr eaLnBrk="1" hangingPunct="1"/>
            <a:r>
              <a:rPr lang="en-US" sz="2800" dirty="0" smtClean="0"/>
              <a:t>8 inflectional affixes in English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 smtClean="0"/>
              <a:t>noun = plural, possessive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 smtClean="0"/>
              <a:t>verb = 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p. </a:t>
            </a:r>
            <a:r>
              <a:rPr lang="en-US" sz="2800" dirty="0" err="1" smtClean="0"/>
              <a:t>sg</a:t>
            </a:r>
            <a:r>
              <a:rPr lang="en-US" sz="2800" dirty="0" smtClean="0"/>
              <a:t>., simple past, present participle, past participle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dirty="0" smtClean="0"/>
              <a:t>adjective = comparative, superlative degree markers</a:t>
            </a:r>
          </a:p>
        </p:txBody>
      </p:sp>
    </p:spTree>
    <p:extLst>
      <p:ext uri="{BB962C8B-B14F-4D97-AF65-F5344CB8AC3E}">
        <p14:creationId xmlns:p14="http://schemas.microsoft.com/office/powerpoint/2010/main" xmlns="" val="116729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Inflectional &amp; Derivation Suffixes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79879814"/>
              </p:ext>
            </p:extLst>
          </p:nvPr>
        </p:nvGraphicFramePr>
        <p:xfrm>
          <a:off x="457200" y="1371601"/>
          <a:ext cx="8229600" cy="509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4343400"/>
              </a:tblGrid>
              <a:tr h="650928"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Inflectional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Derivational </a:t>
                      </a:r>
                      <a:endParaRPr lang="en-US" sz="3600" dirty="0"/>
                    </a:p>
                  </a:txBody>
                  <a:tcPr/>
                </a:tc>
              </a:tr>
              <a:tr h="1766806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Keeps</a:t>
                      </a:r>
                      <a:r>
                        <a:rPr lang="en-US" sz="2800" baseline="0" dirty="0" smtClean="0"/>
                        <a:t> the class of the word to which it is added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Changes the class</a:t>
                      </a:r>
                      <a:r>
                        <a:rPr lang="en-US" sz="2800" baseline="0" dirty="0" smtClean="0"/>
                        <a:t> . . . .</a:t>
                      </a:r>
                      <a:endParaRPr lang="en-US" sz="2800" dirty="0"/>
                    </a:p>
                  </a:txBody>
                  <a:tcPr/>
                </a:tc>
              </a:tr>
              <a:tr h="650928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Closed list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Open list</a:t>
                      </a:r>
                    </a:p>
                  </a:txBody>
                  <a:tcPr/>
                </a:tc>
              </a:tr>
              <a:tr h="817537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Wide</a:t>
                      </a:r>
                      <a:r>
                        <a:rPr lang="en-US" sz="2800" baseline="0" dirty="0" smtClean="0"/>
                        <a:t>ly distributed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Limited</a:t>
                      </a:r>
                      <a:r>
                        <a:rPr lang="en-US" sz="2800" baseline="0" dirty="0" smtClean="0"/>
                        <a:t> in distribution</a:t>
                      </a:r>
                    </a:p>
                  </a:txBody>
                  <a:tcPr/>
                </a:tc>
              </a:tr>
              <a:tr h="1208868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Closes a word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aseline="0" dirty="0" smtClean="0"/>
                        <a:t>Can pile up at the end of words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609710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PH" sz="2800" b="1" dirty="0" smtClean="0"/>
              <a:t>8. </a:t>
            </a:r>
            <a:r>
              <a:rPr lang="en-PH" sz="2800" i="1" dirty="0" smtClean="0">
                <a:solidFill>
                  <a:srgbClr val="FF0000"/>
                </a:solidFill>
              </a:rPr>
              <a:t>I can hardly hear the news. Please turn _____ the volume.</a:t>
            </a:r>
            <a:endParaRPr lang="en-US" sz="2800" i="1" dirty="0" smtClean="0">
              <a:solidFill>
                <a:srgbClr val="FF0000"/>
              </a:solidFill>
            </a:endParaRPr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over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up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around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on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93876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910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sz="3200" i="1" dirty="0" smtClean="0"/>
              <a:t>turn over</a:t>
            </a:r>
            <a:r>
              <a:rPr lang="en-US" sz="3200" dirty="0" smtClean="0"/>
              <a:t>:	pass the control/running 					of,  give into the custody 					of</a:t>
            </a:r>
          </a:p>
          <a:p>
            <a:r>
              <a:rPr lang="en-US" sz="3200" i="1" dirty="0" smtClean="0"/>
              <a:t>turn up</a:t>
            </a:r>
            <a:r>
              <a:rPr lang="en-US" sz="3200" dirty="0" smtClean="0"/>
              <a:t>: 		make loud,  appear,    						improve	(economy), be 						found; </a:t>
            </a:r>
            <a:endParaRPr lang="en-US" sz="3200" i="1" dirty="0" smtClean="0"/>
          </a:p>
          <a:p>
            <a:pPr eaLnBrk="1" hangingPunct="1"/>
            <a:r>
              <a:rPr lang="en-US" sz="3200" i="1" dirty="0" smtClean="0"/>
              <a:t>turn around:	</a:t>
            </a:r>
            <a:r>
              <a:rPr lang="en-US" sz="3200" dirty="0" smtClean="0"/>
              <a:t>reverse</a:t>
            </a:r>
          </a:p>
          <a:p>
            <a:pPr eaLnBrk="1" hangingPunct="1"/>
            <a:r>
              <a:rPr lang="en-US" sz="3200" i="1" dirty="0" smtClean="0"/>
              <a:t>turn on: 		</a:t>
            </a:r>
            <a:r>
              <a:rPr lang="en-US" sz="3200" dirty="0" smtClean="0"/>
              <a:t>switch on, excite</a:t>
            </a:r>
          </a:p>
          <a:p>
            <a:pPr eaLnBrk="1" hangingPunct="1"/>
            <a:r>
              <a:rPr lang="en-US" sz="3200" i="1" dirty="0" smtClean="0"/>
              <a:t>turn out</a:t>
            </a:r>
            <a:r>
              <a:rPr lang="en-US" sz="3200" dirty="0" smtClean="0"/>
              <a:t>: 		extinguish; produce</a:t>
            </a:r>
          </a:p>
        </p:txBody>
      </p:sp>
    </p:spTree>
    <p:extLst>
      <p:ext uri="{BB962C8B-B14F-4D97-AF65-F5344CB8AC3E}">
        <p14:creationId xmlns:p14="http://schemas.microsoft.com/office/powerpoint/2010/main" xmlns="" val="317486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PH" sz="2800" b="1" dirty="0" smtClean="0"/>
              <a:t>9. </a:t>
            </a:r>
            <a:r>
              <a:rPr lang="en-PH" sz="2800" dirty="0" smtClean="0"/>
              <a:t>Which of the following plural nouns is an </a:t>
            </a:r>
            <a:r>
              <a:rPr lang="en-PH" sz="2800" b="1" dirty="0" smtClean="0"/>
              <a:t>un</a:t>
            </a:r>
            <a:r>
              <a:rPr lang="en-PH" sz="2800" dirty="0" smtClean="0"/>
              <a:t>marked form?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students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bacteria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women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sheep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84838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Unmarked and Marked Forms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200" b="1" dirty="0" smtClean="0"/>
              <a:t>Unmarked </a:t>
            </a:r>
          </a:p>
          <a:p>
            <a:pPr eaLnBrk="1" hangingPunct="1">
              <a:buNone/>
            </a:pPr>
            <a:r>
              <a:rPr lang="en-US" sz="3200" dirty="0" smtClean="0"/>
              <a:t>		means predictable, typical, 	regular, basic</a:t>
            </a:r>
          </a:p>
          <a:p>
            <a:pPr eaLnBrk="1" hangingPunct="1">
              <a:buFont typeface="Arial" charset="0"/>
              <a:buNone/>
            </a:pPr>
            <a:endParaRPr lang="en-US" sz="3200" dirty="0" smtClean="0"/>
          </a:p>
          <a:p>
            <a:pPr eaLnBrk="1" hangingPunct="1"/>
            <a:r>
              <a:rPr lang="en-US" sz="3200" b="1" dirty="0" smtClean="0"/>
              <a:t>Marked</a:t>
            </a:r>
          </a:p>
          <a:p>
            <a:pPr eaLnBrk="1" hangingPunct="1">
              <a:buNone/>
            </a:pPr>
            <a:r>
              <a:rPr lang="en-US" sz="3200" dirty="0" smtClean="0"/>
              <a:t>		means not common, irregular</a:t>
            </a:r>
          </a:p>
        </p:txBody>
      </p:sp>
    </p:spTree>
    <p:extLst>
      <p:ext uri="{BB962C8B-B14F-4D97-AF65-F5344CB8AC3E}">
        <p14:creationId xmlns:p14="http://schemas.microsoft.com/office/powerpoint/2010/main" xmlns="" val="147147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 eaLnBrk="1" hangingPunct="1">
              <a:buFont typeface="Arial" charset="0"/>
              <a:buNone/>
              <a:tabLst>
                <a:tab pos="457200" algn="l"/>
              </a:tabLst>
            </a:pPr>
            <a:r>
              <a:rPr lang="en-US" sz="2800" b="1" dirty="0" smtClean="0"/>
              <a:t>10. </a:t>
            </a:r>
            <a:r>
              <a:rPr lang="en-PH" sz="2800" dirty="0" smtClean="0"/>
              <a:t>In the verb phrase, </a:t>
            </a:r>
            <a:r>
              <a:rPr lang="en-PH" sz="2800" i="1" dirty="0" smtClean="0">
                <a:solidFill>
                  <a:srgbClr val="FF0000"/>
                </a:solidFill>
              </a:rPr>
              <a:t>will have been chosen</a:t>
            </a:r>
            <a:r>
              <a:rPr lang="en-PH" sz="2800" dirty="0" smtClean="0"/>
              <a:t>, the operator verb is _____.</a:t>
            </a:r>
            <a:endParaRPr lang="en-US" sz="2800" dirty="0" smtClean="0"/>
          </a:p>
          <a:p>
            <a:pPr lvl="1" eaLnBrk="1" hangingPunct="1">
              <a:buNone/>
            </a:pPr>
            <a:r>
              <a:rPr lang="en-PH" sz="2800" dirty="0" smtClean="0"/>
              <a:t>A. will</a:t>
            </a:r>
            <a:endParaRPr lang="en-US" sz="2800" dirty="0" smtClean="0"/>
          </a:p>
          <a:p>
            <a:pPr lvl="1" eaLnBrk="1" hangingPunct="1">
              <a:buNone/>
            </a:pPr>
            <a:r>
              <a:rPr lang="en-PH" sz="2800" dirty="0" smtClean="0"/>
              <a:t>B. have</a:t>
            </a:r>
            <a:endParaRPr lang="en-US" sz="2800" dirty="0" smtClean="0"/>
          </a:p>
          <a:p>
            <a:pPr lvl="1" eaLnBrk="1" hangingPunct="1">
              <a:buNone/>
            </a:pPr>
            <a:r>
              <a:rPr lang="en-PH" sz="2800" dirty="0" smtClean="0"/>
              <a:t>C. been</a:t>
            </a:r>
            <a:endParaRPr lang="en-US" sz="2800" dirty="0" smtClean="0"/>
          </a:p>
          <a:p>
            <a:pPr lvl="1" eaLnBrk="1" hangingPunct="1">
              <a:buNone/>
            </a:pPr>
            <a:r>
              <a:rPr lang="en-PH" sz="2800" dirty="0" smtClean="0"/>
              <a:t>D. chosen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44367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Operator Verb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Related to the concept of auxiliary/helping verbs</a:t>
            </a:r>
          </a:p>
          <a:p>
            <a:pPr eaLnBrk="1" hangingPunct="1">
              <a:buNone/>
            </a:pPr>
            <a:endParaRPr lang="en-US" sz="2800" dirty="0" smtClean="0"/>
          </a:p>
          <a:p>
            <a:pPr eaLnBrk="1" hangingPunct="1"/>
            <a:r>
              <a:rPr lang="en-US" sz="2800" dirty="0" smtClean="0"/>
              <a:t>Types of auxiliary verbs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b="1" dirty="0" smtClean="0"/>
              <a:t>Modal</a:t>
            </a:r>
            <a:r>
              <a:rPr lang="en-US" sz="2800" dirty="0" smtClean="0"/>
              <a:t> – can/could, will/would, shall/should, 		   may/might, must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b="1" dirty="0" smtClean="0"/>
              <a:t>Non-modal</a:t>
            </a:r>
            <a:r>
              <a:rPr lang="en-US" sz="2800" dirty="0" smtClean="0"/>
              <a:t> – </a:t>
            </a:r>
            <a:r>
              <a:rPr lang="en-US" sz="2800" u="sng" dirty="0" smtClean="0"/>
              <a:t>be</a:t>
            </a:r>
            <a:r>
              <a:rPr lang="en-US" sz="2800" dirty="0" smtClean="0"/>
              <a:t>, </a:t>
            </a:r>
            <a:r>
              <a:rPr lang="en-US" sz="2800" u="sng" dirty="0" smtClean="0"/>
              <a:t>do</a:t>
            </a:r>
            <a:r>
              <a:rPr lang="en-US" sz="2800" dirty="0" smtClean="0"/>
              <a:t>, </a:t>
            </a:r>
            <a:r>
              <a:rPr lang="en-US" sz="2800" u="sng" dirty="0" smtClean="0"/>
              <a:t>have</a:t>
            </a:r>
            <a:r>
              <a:rPr lang="en-US" sz="2800" dirty="0" smtClean="0"/>
              <a:t> verbs</a:t>
            </a:r>
          </a:p>
          <a:p>
            <a:pPr eaLnBrk="1" hangingPunct="1">
              <a:buNone/>
            </a:pPr>
            <a:endParaRPr lang="en-US" sz="2800" dirty="0" smtClean="0"/>
          </a:p>
          <a:p>
            <a:pPr eaLnBrk="1" hangingPunct="1"/>
            <a:r>
              <a:rPr lang="en-US" sz="2800" dirty="0" smtClean="0"/>
              <a:t>Crucial in the formation of </a:t>
            </a:r>
            <a:r>
              <a:rPr lang="en-US" sz="2800" b="1" dirty="0" smtClean="0"/>
              <a:t>negative</a:t>
            </a:r>
            <a:r>
              <a:rPr lang="en-US" sz="2800" dirty="0" smtClean="0"/>
              <a:t> sentences, </a:t>
            </a:r>
            <a:r>
              <a:rPr lang="en-US" sz="2800" b="1" dirty="0" smtClean="0"/>
              <a:t>yes-no</a:t>
            </a:r>
            <a:r>
              <a:rPr lang="en-US" sz="2800" dirty="0" smtClean="0"/>
              <a:t> questions, </a:t>
            </a:r>
            <a:r>
              <a:rPr lang="en-US" sz="2800" b="1" dirty="0" smtClean="0"/>
              <a:t>tag</a:t>
            </a:r>
            <a:r>
              <a:rPr lang="en-US" sz="2800" dirty="0" smtClean="0"/>
              <a:t> questions</a:t>
            </a:r>
          </a:p>
        </p:txBody>
      </p:sp>
    </p:spTree>
    <p:extLst>
      <p:ext uri="{BB962C8B-B14F-4D97-AF65-F5344CB8AC3E}">
        <p14:creationId xmlns:p14="http://schemas.microsoft.com/office/powerpoint/2010/main" xmlns="" val="295946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Modal as Operator Verb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92500"/>
          </a:bodyPr>
          <a:lstStyle/>
          <a:p>
            <a:pPr algn="ctr" eaLnBrk="1" hangingPunct="1">
              <a:buFont typeface="Arial" charset="0"/>
              <a:buNone/>
            </a:pPr>
            <a:r>
              <a:rPr lang="en-US" sz="2800" i="1" dirty="0" smtClean="0"/>
              <a:t>We can submit our project on time</a:t>
            </a:r>
            <a:r>
              <a:rPr lang="en-US" sz="2800" dirty="0" smtClean="0"/>
              <a:t>.</a:t>
            </a:r>
          </a:p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Negative: 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/>
              <a:t>We </a:t>
            </a:r>
            <a:r>
              <a:rPr lang="en-US" sz="2800" i="1" dirty="0" smtClean="0">
                <a:solidFill>
                  <a:srgbClr val="FF0000"/>
                </a:solidFill>
              </a:rPr>
              <a:t>can</a:t>
            </a:r>
            <a:r>
              <a:rPr lang="en-US" sz="2800" b="1" i="1" dirty="0" smtClean="0"/>
              <a:t>not</a:t>
            </a:r>
            <a:r>
              <a:rPr lang="en-US" sz="2800" i="1" dirty="0" smtClean="0"/>
              <a:t> submit our project on time.</a:t>
            </a:r>
          </a:p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Yes-no Question: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>
                <a:solidFill>
                  <a:srgbClr val="FF0000"/>
                </a:solidFill>
              </a:rPr>
              <a:t>Can</a:t>
            </a:r>
            <a:r>
              <a:rPr lang="en-US" sz="2800" i="1" dirty="0" smtClean="0"/>
              <a:t> we submit our project on time?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</a:t>
            </a:r>
            <a:r>
              <a:rPr lang="en-US" sz="2800" i="1" dirty="0" smtClean="0">
                <a:solidFill>
                  <a:srgbClr val="FF0000"/>
                </a:solidFill>
              </a:rPr>
              <a:t>Can</a:t>
            </a:r>
            <a:r>
              <a:rPr lang="en-US" sz="2800" i="1" dirty="0" smtClean="0"/>
              <a:t> we not submit our project on time?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</a:t>
            </a:r>
            <a:r>
              <a:rPr lang="en-US" sz="2800" i="1" dirty="0" smtClean="0">
                <a:solidFill>
                  <a:srgbClr val="FF0000"/>
                </a:solidFill>
              </a:rPr>
              <a:t>Can’t</a:t>
            </a:r>
            <a:r>
              <a:rPr lang="en-US" sz="2800" i="1" dirty="0" smtClean="0"/>
              <a:t> we submit our project on time?</a:t>
            </a:r>
          </a:p>
          <a:p>
            <a:pPr eaLnBrk="1" hangingPunct="1">
              <a:buFont typeface="Arial" charset="0"/>
              <a:buNone/>
            </a:pPr>
            <a:r>
              <a:rPr lang="en-US" sz="2800" b="1" dirty="0" smtClean="0"/>
              <a:t>Tag Question: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/>
              <a:t>We </a:t>
            </a:r>
            <a:r>
              <a:rPr lang="en-US" sz="2800" i="1" u="sng" dirty="0" smtClean="0"/>
              <a:t>can</a:t>
            </a:r>
            <a:r>
              <a:rPr lang="en-US" sz="2800" i="1" dirty="0" smtClean="0"/>
              <a:t> submit our project on time, </a:t>
            </a:r>
            <a:r>
              <a:rPr lang="en-US" sz="2800" i="1" dirty="0" smtClean="0">
                <a:solidFill>
                  <a:srgbClr val="FF0000"/>
                </a:solidFill>
              </a:rPr>
              <a:t>can’t</a:t>
            </a:r>
            <a:r>
              <a:rPr lang="en-US" sz="2800" i="1" dirty="0" smtClean="0"/>
              <a:t> we?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We </a:t>
            </a:r>
            <a:r>
              <a:rPr lang="en-US" sz="2800" i="1" u="sng" dirty="0" smtClean="0"/>
              <a:t>cannot</a:t>
            </a:r>
            <a:r>
              <a:rPr lang="en-US" sz="2800" i="1" dirty="0" smtClean="0"/>
              <a:t> submit our project on time, </a:t>
            </a:r>
            <a:r>
              <a:rPr lang="en-US" sz="2800" i="1" dirty="0" smtClean="0">
                <a:solidFill>
                  <a:srgbClr val="FF0000"/>
                </a:solidFill>
              </a:rPr>
              <a:t>can</a:t>
            </a:r>
            <a:r>
              <a:rPr lang="en-US" sz="2800" i="1" dirty="0" smtClean="0"/>
              <a:t> we?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05619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u="sng" dirty="0" smtClean="0"/>
              <a:t>Be</a:t>
            </a:r>
            <a:r>
              <a:rPr lang="en-US" b="1" dirty="0" smtClean="0"/>
              <a:t> as Operator Verb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/>
          </a:bodyPr>
          <a:lstStyle/>
          <a:p>
            <a:pPr algn="ctr" eaLnBrk="1" hangingPunct="1">
              <a:buFont typeface="Arial" charset="0"/>
              <a:buNone/>
            </a:pPr>
            <a:r>
              <a:rPr lang="en-US" sz="2800" dirty="0" smtClean="0"/>
              <a:t> </a:t>
            </a:r>
            <a:r>
              <a:rPr lang="en-US" sz="2800" b="1" i="1" dirty="0" smtClean="0"/>
              <a:t>The students are here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Neg.:	  	 The students </a:t>
            </a:r>
            <a:r>
              <a:rPr lang="en-US" sz="2800" dirty="0" smtClean="0">
                <a:solidFill>
                  <a:srgbClr val="FF0000"/>
                </a:solidFill>
              </a:rPr>
              <a:t>are</a:t>
            </a:r>
            <a:r>
              <a:rPr lang="en-US" sz="2800" dirty="0" smtClean="0"/>
              <a:t> </a:t>
            </a:r>
            <a:r>
              <a:rPr lang="en-US" sz="2800" b="1" dirty="0" smtClean="0"/>
              <a:t>not </a:t>
            </a:r>
            <a:r>
              <a:rPr lang="en-US" sz="2800" dirty="0" smtClean="0"/>
              <a:t>here.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Y/N Q: 	</a:t>
            </a:r>
            <a:r>
              <a:rPr lang="en-US" sz="2800" dirty="0" smtClean="0">
                <a:solidFill>
                  <a:srgbClr val="FF0000"/>
                </a:solidFill>
              </a:rPr>
              <a:t>Are</a:t>
            </a:r>
            <a:r>
              <a:rPr lang="en-US" sz="2800" dirty="0" smtClean="0"/>
              <a:t> the students here?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Tag Q: 	The students </a:t>
            </a:r>
            <a:r>
              <a:rPr lang="en-US" sz="2800" b="1" dirty="0" smtClean="0"/>
              <a:t>are</a:t>
            </a:r>
            <a:r>
              <a:rPr lang="en-US" sz="2800" dirty="0" smtClean="0"/>
              <a:t> here, </a:t>
            </a:r>
            <a:r>
              <a:rPr lang="en-US" sz="2800" dirty="0" smtClean="0">
                <a:solidFill>
                  <a:srgbClr val="FF0000"/>
                </a:solidFill>
              </a:rPr>
              <a:t>aren’t</a:t>
            </a:r>
            <a:r>
              <a:rPr lang="en-US" sz="2800" dirty="0" smtClean="0"/>
              <a:t> they?</a:t>
            </a:r>
          </a:p>
          <a:p>
            <a:pPr eaLnBrk="1" hangingPunct="1">
              <a:buFont typeface="Arial" charset="0"/>
              <a:buNone/>
            </a:pPr>
            <a:endParaRPr lang="en-US" sz="2800" dirty="0" smtClean="0"/>
          </a:p>
          <a:p>
            <a:pPr algn="ctr" eaLnBrk="1" hangingPunct="1">
              <a:buFont typeface="Arial" charset="0"/>
              <a:buNone/>
            </a:pPr>
            <a:r>
              <a:rPr lang="en-US" sz="2800" b="1" i="1" dirty="0" smtClean="0"/>
              <a:t>He is joining the party.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Neg.:   	He </a:t>
            </a:r>
            <a:r>
              <a:rPr lang="en-US" sz="2800" dirty="0" smtClean="0">
                <a:solidFill>
                  <a:srgbClr val="FF0000"/>
                </a:solidFill>
              </a:rPr>
              <a:t>is</a:t>
            </a:r>
            <a:r>
              <a:rPr lang="en-US" sz="2800" dirty="0" smtClean="0"/>
              <a:t> </a:t>
            </a:r>
            <a:r>
              <a:rPr lang="en-US" sz="2800" b="1" dirty="0" smtClean="0"/>
              <a:t>not</a:t>
            </a:r>
            <a:r>
              <a:rPr lang="en-US" sz="2800" dirty="0" smtClean="0"/>
              <a:t> joining the party.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Y/N Q:	</a:t>
            </a:r>
            <a:r>
              <a:rPr lang="en-US" sz="2800" dirty="0" smtClean="0">
                <a:solidFill>
                  <a:srgbClr val="FF0000"/>
                </a:solidFill>
              </a:rPr>
              <a:t>Is</a:t>
            </a:r>
            <a:r>
              <a:rPr lang="en-US" sz="2800" dirty="0" smtClean="0"/>
              <a:t> he joining the party?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Tag Q:	He </a:t>
            </a:r>
            <a:r>
              <a:rPr lang="en-US" sz="2800" b="1" dirty="0" smtClean="0"/>
              <a:t>is</a:t>
            </a:r>
            <a:r>
              <a:rPr lang="en-US" sz="2800" dirty="0" smtClean="0"/>
              <a:t> joining the party, </a:t>
            </a:r>
            <a:r>
              <a:rPr lang="en-US" sz="2800" dirty="0" smtClean="0">
                <a:solidFill>
                  <a:srgbClr val="FF0000"/>
                </a:solidFill>
              </a:rPr>
              <a:t>isn’t</a:t>
            </a:r>
            <a:r>
              <a:rPr lang="en-US" sz="2800" dirty="0" smtClean="0"/>
              <a:t> he?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  	     He </a:t>
            </a:r>
            <a:r>
              <a:rPr lang="en-US" sz="2800" b="1" dirty="0" smtClean="0"/>
              <a:t>is</a:t>
            </a:r>
            <a:r>
              <a:rPr lang="en-US" sz="2800" dirty="0" smtClean="0"/>
              <a:t> not joining the party, </a:t>
            </a:r>
            <a:r>
              <a:rPr lang="en-US" sz="2800" dirty="0" smtClean="0">
                <a:solidFill>
                  <a:srgbClr val="FF0000"/>
                </a:solidFill>
              </a:rPr>
              <a:t>is</a:t>
            </a:r>
            <a:r>
              <a:rPr lang="en-US" sz="2800" dirty="0" smtClean="0"/>
              <a:t> he?</a:t>
            </a:r>
          </a:p>
        </p:txBody>
      </p:sp>
    </p:spTree>
    <p:extLst>
      <p:ext uri="{BB962C8B-B14F-4D97-AF65-F5344CB8AC3E}">
        <p14:creationId xmlns:p14="http://schemas.microsoft.com/office/powerpoint/2010/main" xmlns="" val="37428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u="sng" dirty="0" smtClean="0"/>
              <a:t>Have</a:t>
            </a:r>
            <a:r>
              <a:rPr lang="en-US" b="1" dirty="0" smtClean="0"/>
              <a:t> as Operator Verb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lnSpcReduction="10000"/>
          </a:bodyPr>
          <a:lstStyle/>
          <a:p>
            <a:pPr algn="ctr" eaLnBrk="1" hangingPunct="1">
              <a:buFont typeface="Arial" charset="0"/>
              <a:buNone/>
            </a:pPr>
            <a:r>
              <a:rPr lang="en-US" i="1" dirty="0" smtClean="0"/>
              <a:t>	</a:t>
            </a:r>
            <a:r>
              <a:rPr lang="en-US" sz="2800" b="1" i="1" dirty="0" smtClean="0"/>
              <a:t>My brother has reviewed for the final exams.</a:t>
            </a:r>
          </a:p>
          <a:p>
            <a:pPr algn="ctr" eaLnBrk="1" hangingPunct="1">
              <a:buFont typeface="Arial" charset="0"/>
              <a:buNone/>
            </a:pPr>
            <a:endParaRPr lang="en-US" sz="2800" b="1" i="1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Neg.: 	My brother has not reviewed for the 				final exam.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Y/N Q: 	</a:t>
            </a:r>
            <a:r>
              <a:rPr lang="en-US" sz="2800" dirty="0" smtClean="0">
                <a:solidFill>
                  <a:srgbClr val="FF0000"/>
                </a:solidFill>
              </a:rPr>
              <a:t>Has </a:t>
            </a:r>
            <a:r>
              <a:rPr lang="en-US" sz="2800" dirty="0" smtClean="0"/>
              <a:t>my brother reviewed for the final 	  		exam?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Tag Q:  	My brother has reviewed for the final 	   		exam, </a:t>
            </a:r>
            <a:r>
              <a:rPr lang="en-US" sz="2800" dirty="0" smtClean="0">
                <a:solidFill>
                  <a:srgbClr val="FF0000"/>
                </a:solidFill>
              </a:rPr>
              <a:t>hasn’t</a:t>
            </a:r>
            <a:r>
              <a:rPr lang="en-US" sz="2800" dirty="0" smtClean="0"/>
              <a:t> he?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             	My brother has not reviewed for the 				final exam,</a:t>
            </a:r>
            <a:r>
              <a:rPr lang="en-US" sz="2800" dirty="0" smtClean="0">
                <a:solidFill>
                  <a:srgbClr val="FF0000"/>
                </a:solidFill>
              </a:rPr>
              <a:t> has </a:t>
            </a:r>
            <a:r>
              <a:rPr lang="en-US" sz="2800" dirty="0" smtClean="0"/>
              <a:t>he?</a:t>
            </a:r>
          </a:p>
        </p:txBody>
      </p:sp>
    </p:spTree>
    <p:extLst>
      <p:ext uri="{BB962C8B-B14F-4D97-AF65-F5344CB8AC3E}">
        <p14:creationId xmlns:p14="http://schemas.microsoft.com/office/powerpoint/2010/main" xmlns="" val="188826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i="1" dirty="0" smtClean="0"/>
              <a:t>Has </a:t>
            </a:r>
            <a:r>
              <a:rPr lang="en-US" b="1" dirty="0" smtClean="0"/>
              <a:t>as Main Verb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pPr algn="ctr" eaLnBrk="1" hangingPunct="1">
              <a:buFont typeface="Arial" charset="0"/>
              <a:buNone/>
            </a:pPr>
            <a:r>
              <a:rPr lang="en-US" sz="2800" i="1" dirty="0" smtClean="0"/>
              <a:t>Albert </a:t>
            </a:r>
            <a:r>
              <a:rPr lang="en-US" sz="2800" i="1" u="sng" dirty="0" smtClean="0"/>
              <a:t>has</a:t>
            </a:r>
            <a:r>
              <a:rPr lang="en-US" sz="2800" i="1" dirty="0" smtClean="0"/>
              <a:t> a new girl friend.</a:t>
            </a:r>
          </a:p>
          <a:p>
            <a:pPr algn="ctr" eaLnBrk="1" hangingPunct="1">
              <a:buFont typeface="Arial" charset="0"/>
              <a:buNone/>
            </a:pPr>
            <a:endParaRPr lang="en-US" i="1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err="1" smtClean="0"/>
              <a:t>Neg</a:t>
            </a:r>
            <a:r>
              <a:rPr lang="en-US" sz="2800" dirty="0" smtClean="0"/>
              <a:t>:     	Albert </a:t>
            </a:r>
            <a:r>
              <a:rPr lang="en-US" sz="2800" dirty="0" smtClean="0">
                <a:solidFill>
                  <a:srgbClr val="FF0000"/>
                </a:solidFill>
              </a:rPr>
              <a:t>does</a:t>
            </a:r>
            <a:r>
              <a:rPr lang="en-US" sz="2800" dirty="0" smtClean="0"/>
              <a:t> not have a new girl friend.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Y/N Q: 	</a:t>
            </a:r>
            <a:r>
              <a:rPr lang="en-US" sz="2800" dirty="0" smtClean="0">
                <a:solidFill>
                  <a:srgbClr val="FF0000"/>
                </a:solidFill>
              </a:rPr>
              <a:t>Does</a:t>
            </a:r>
            <a:r>
              <a:rPr lang="en-US" sz="2800" dirty="0" smtClean="0"/>
              <a:t> Albert have a new girl friend?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Tag Q: 	Albert has a new girl friend, </a:t>
            </a:r>
            <a:r>
              <a:rPr lang="en-US" sz="2800" dirty="0" smtClean="0">
                <a:solidFill>
                  <a:srgbClr val="FF0000"/>
                </a:solidFill>
              </a:rPr>
              <a:t>doesn’t</a:t>
            </a:r>
            <a:r>
              <a:rPr lang="en-US" sz="2800" dirty="0" smtClean="0"/>
              <a:t> 				he?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            	Albert does not have a new girl friend, 	</a:t>
            </a:r>
            <a:r>
              <a:rPr lang="en-US" dirty="0" smtClean="0"/>
              <a:t>  		</a:t>
            </a:r>
            <a:r>
              <a:rPr lang="en-US" sz="2800" dirty="0" smtClean="0">
                <a:solidFill>
                  <a:srgbClr val="FF0000"/>
                </a:solidFill>
              </a:rPr>
              <a:t>does</a:t>
            </a:r>
            <a:r>
              <a:rPr lang="en-US" sz="2800" dirty="0" smtClean="0"/>
              <a:t> he?</a:t>
            </a:r>
          </a:p>
        </p:txBody>
      </p:sp>
    </p:spTree>
    <p:extLst>
      <p:ext uri="{BB962C8B-B14F-4D97-AF65-F5344CB8AC3E}">
        <p14:creationId xmlns:p14="http://schemas.microsoft.com/office/powerpoint/2010/main" xmlns="" val="4323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Do Operator with Other Verbs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Autofit/>
          </a:bodyPr>
          <a:lstStyle/>
          <a:p>
            <a:pPr algn="ctr" eaLnBrk="1" hangingPunct="1">
              <a:buFont typeface="Arial" charset="0"/>
              <a:buNone/>
              <a:tabLst>
                <a:tab pos="1201738" algn="l"/>
              </a:tabLst>
            </a:pPr>
            <a:r>
              <a:rPr lang="en-US" sz="2800" i="1" dirty="0" smtClean="0"/>
              <a:t>The baby </a:t>
            </a:r>
            <a:r>
              <a:rPr lang="en-US" sz="2800" b="1" i="1" u="sng" dirty="0" smtClean="0"/>
              <a:t>takes</a:t>
            </a:r>
            <a:r>
              <a:rPr lang="en-US" sz="2800" i="1" dirty="0" smtClean="0"/>
              <a:t> a nap every day.</a:t>
            </a:r>
          </a:p>
          <a:p>
            <a:pPr algn="ctr" eaLnBrk="1" hangingPunct="1">
              <a:buFont typeface="Arial" charset="0"/>
              <a:buNone/>
              <a:tabLst>
                <a:tab pos="1201738" algn="l"/>
              </a:tabLst>
            </a:pPr>
            <a:r>
              <a:rPr lang="en-US" sz="2800" i="1" dirty="0" smtClean="0"/>
              <a:t>The babies </a:t>
            </a:r>
            <a:r>
              <a:rPr lang="en-US" sz="2800" b="1" i="1" u="sng" dirty="0" smtClean="0"/>
              <a:t>take</a:t>
            </a:r>
            <a:r>
              <a:rPr lang="en-US" sz="2800" i="1" dirty="0" smtClean="0"/>
              <a:t> a nap every day.</a:t>
            </a:r>
          </a:p>
          <a:p>
            <a:pPr algn="ctr" eaLnBrk="1" hangingPunct="1">
              <a:buFont typeface="Arial" charset="0"/>
              <a:buNone/>
            </a:pPr>
            <a:r>
              <a:rPr lang="en-US" sz="2800" i="1" dirty="0" smtClean="0"/>
              <a:t>The baby/babies </a:t>
            </a:r>
            <a:r>
              <a:rPr lang="en-US" sz="2800" b="1" i="1" u="sng" dirty="0" smtClean="0"/>
              <a:t>took</a:t>
            </a:r>
            <a:r>
              <a:rPr lang="en-US" sz="2800" i="1" dirty="0" smtClean="0"/>
              <a:t> a nap this morning</a:t>
            </a:r>
          </a:p>
          <a:p>
            <a:pPr algn="ctr" eaLnBrk="1" hangingPunct="1">
              <a:buFont typeface="Arial" charset="0"/>
              <a:buNone/>
            </a:pPr>
            <a:endParaRPr lang="en-US" sz="2800" i="1" dirty="0" smtClean="0"/>
          </a:p>
          <a:p>
            <a:pPr eaLnBrk="1" hangingPunct="1">
              <a:buFont typeface="Arial" charset="0"/>
              <a:buNone/>
            </a:pPr>
            <a:r>
              <a:rPr lang="en-US" sz="2800" b="1" u="sng" dirty="0" smtClean="0"/>
              <a:t>Do</a:t>
            </a:r>
            <a:r>
              <a:rPr lang="en-US" sz="2800" b="1" dirty="0" smtClean="0"/>
              <a:t> insertion: 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The baby </a:t>
            </a:r>
            <a:r>
              <a:rPr lang="en-US" sz="2800" b="1" u="sng" dirty="0" smtClean="0"/>
              <a:t>does </a:t>
            </a:r>
            <a:r>
              <a:rPr lang="en-US" sz="2800" u="sng" dirty="0" smtClean="0"/>
              <a:t>take </a:t>
            </a:r>
            <a:r>
              <a:rPr lang="en-US" sz="2800" dirty="0" smtClean="0"/>
              <a:t>a nap every day.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The babies </a:t>
            </a:r>
            <a:r>
              <a:rPr lang="en-US" sz="2800" b="1" u="sng" dirty="0" smtClean="0"/>
              <a:t>do</a:t>
            </a:r>
            <a:r>
              <a:rPr lang="en-US" sz="2800" u="sng" dirty="0" smtClean="0"/>
              <a:t> take </a:t>
            </a:r>
            <a:r>
              <a:rPr lang="en-US" sz="2800" dirty="0" smtClean="0"/>
              <a:t>a nap every day.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The baby/babies </a:t>
            </a:r>
            <a:r>
              <a:rPr lang="en-US" sz="2800" b="1" u="sng" dirty="0" smtClean="0"/>
              <a:t>did</a:t>
            </a:r>
            <a:r>
              <a:rPr lang="en-US" sz="2800" u="sng" dirty="0" smtClean="0"/>
              <a:t> take </a:t>
            </a:r>
            <a:r>
              <a:rPr lang="en-US" sz="2800" dirty="0" smtClean="0"/>
              <a:t>a nap this  		morning.</a:t>
            </a:r>
          </a:p>
        </p:txBody>
      </p:sp>
    </p:spTree>
    <p:extLst>
      <p:ext uri="{BB962C8B-B14F-4D97-AF65-F5344CB8AC3E}">
        <p14:creationId xmlns:p14="http://schemas.microsoft.com/office/powerpoint/2010/main" xmlns="" val="3020489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algn="ctr" eaLnBrk="1" hangingPunct="1"/>
            <a:r>
              <a:rPr lang="en-PH" b="1" dirty="0" smtClean="0"/>
              <a:t>Tag Questions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1295401" y="1752600"/>
            <a:ext cx="7239000" cy="4724400"/>
          </a:xfrm>
        </p:spPr>
        <p:txBody>
          <a:bodyPr>
            <a:normAutofit fontScale="92500" lnSpcReduction="10000"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400" dirty="0" smtClean="0"/>
              <a:t>1</a:t>
            </a:r>
            <a:r>
              <a:rPr lang="en-PH" sz="2800" dirty="0" smtClean="0"/>
              <a:t>.	A tag question comes at the end of a statement.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2.	It asks for agreement or disagreement.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3.	It is positive after a negative statement and vice versa.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28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The mail </a:t>
            </a:r>
            <a:r>
              <a:rPr lang="en-PH" sz="2800" b="1" dirty="0" smtClean="0"/>
              <a:t>has </a:t>
            </a:r>
            <a:r>
              <a:rPr lang="en-PH" sz="2800" dirty="0" smtClean="0"/>
              <a:t>come today, </a:t>
            </a:r>
            <a:r>
              <a:rPr lang="en-PH" sz="2800" b="1" dirty="0" smtClean="0"/>
              <a:t>hasn’t</a:t>
            </a:r>
            <a:r>
              <a:rPr lang="en-PH" sz="2800" dirty="0" smtClean="0"/>
              <a:t> it.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The mail </a:t>
            </a:r>
            <a:r>
              <a:rPr lang="en-PH" sz="2800" b="1" dirty="0" smtClean="0"/>
              <a:t>hasn’t</a:t>
            </a:r>
            <a:r>
              <a:rPr lang="en-PH" sz="2800" dirty="0" smtClean="0"/>
              <a:t> come today, </a:t>
            </a:r>
            <a:r>
              <a:rPr lang="en-PH" sz="2800" b="1" dirty="0" smtClean="0"/>
              <a:t>has</a:t>
            </a:r>
            <a:r>
              <a:rPr lang="en-PH" sz="2800" dirty="0" smtClean="0"/>
              <a:t> it?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28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It</a:t>
            </a:r>
            <a:r>
              <a:rPr lang="en-PH" sz="2800" b="1" dirty="0" smtClean="0"/>
              <a:t>’s </a:t>
            </a:r>
            <a:r>
              <a:rPr lang="en-PH" sz="2800" dirty="0" smtClean="0"/>
              <a:t>raining, </a:t>
            </a:r>
            <a:r>
              <a:rPr lang="en-PH" sz="2800" b="1" dirty="0" smtClean="0"/>
              <a:t>isn’t</a:t>
            </a:r>
            <a:r>
              <a:rPr lang="en-PH" sz="2800" dirty="0" smtClean="0"/>
              <a:t> it?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It </a:t>
            </a:r>
            <a:r>
              <a:rPr lang="en-PH" sz="2800" b="1" dirty="0" smtClean="0"/>
              <a:t>isn’t</a:t>
            </a:r>
            <a:r>
              <a:rPr lang="en-PH" sz="2800" dirty="0" smtClean="0"/>
              <a:t> raining, </a:t>
            </a:r>
            <a:r>
              <a:rPr lang="en-PH" sz="2800" b="1" dirty="0" smtClean="0"/>
              <a:t>is </a:t>
            </a:r>
            <a:r>
              <a:rPr lang="en-PH" sz="2800" dirty="0" smtClean="0"/>
              <a:t>it?</a:t>
            </a:r>
          </a:p>
        </p:txBody>
      </p:sp>
    </p:spTree>
    <p:extLst>
      <p:ext uri="{BB962C8B-B14F-4D97-AF65-F5344CB8AC3E}">
        <p14:creationId xmlns:p14="http://schemas.microsoft.com/office/powerpoint/2010/main" xmlns="" val="112194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8650" indent="-628650" eaLnBrk="1" hangingPunct="1">
              <a:buFont typeface="Arial" charset="0"/>
              <a:buNone/>
            </a:pPr>
            <a:r>
              <a:rPr lang="en-US" sz="2800" b="1" dirty="0" smtClean="0"/>
              <a:t>11. </a:t>
            </a:r>
            <a:r>
              <a:rPr lang="en-PH" sz="2800" dirty="0" smtClean="0"/>
              <a:t>Which of the following adjective phrases is syntactically correct?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the most perfect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nearly perfect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the very perfect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less perfect 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6114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Gradable &amp; Absolute Adjectives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848601" cy="5105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u="sng" dirty="0" smtClean="0"/>
              <a:t>Gradable adjective</a:t>
            </a:r>
            <a:r>
              <a:rPr lang="en-US" sz="2800" dirty="0" smtClean="0"/>
              <a:t>: allows comparison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/>
              <a:t>easy			easier				easiest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beautiful 	more beautiful	most beautiful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					less _____			least _____</a:t>
            </a:r>
          </a:p>
          <a:p>
            <a:pPr eaLnBrk="1" hangingPunct="1"/>
            <a:r>
              <a:rPr lang="en-US" sz="2800" u="sng" dirty="0" smtClean="0"/>
              <a:t>Absolute/Non-gradable adjective</a:t>
            </a:r>
            <a:r>
              <a:rPr lang="en-US" sz="2800" dirty="0" smtClean="0"/>
              <a:t>: 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i="1" dirty="0" smtClean="0"/>
              <a:t>perfect	*more perfect		*most perfect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				*less perfect			*least perfect</a:t>
            </a:r>
          </a:p>
          <a:p>
            <a:pPr eaLnBrk="1" hangingPunct="1">
              <a:buFont typeface="Arial" charset="0"/>
              <a:buNone/>
            </a:pPr>
            <a:endParaRPr lang="en-US" sz="2800" i="1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Takes </a:t>
            </a:r>
            <a:r>
              <a:rPr lang="en-US" sz="2800" i="1" dirty="0" smtClean="0"/>
              <a:t>nearly</a:t>
            </a:r>
            <a:r>
              <a:rPr lang="en-US" sz="2800" dirty="0" smtClean="0"/>
              <a:t> and </a:t>
            </a:r>
            <a:r>
              <a:rPr lang="en-US" sz="2800" i="1" dirty="0" smtClean="0"/>
              <a:t>almost</a:t>
            </a:r>
            <a:r>
              <a:rPr lang="en-US" sz="2800" dirty="0" smtClean="0"/>
              <a:t> as markers.</a:t>
            </a:r>
          </a:p>
        </p:txBody>
      </p:sp>
    </p:spTree>
    <p:extLst>
      <p:ext uri="{BB962C8B-B14F-4D97-AF65-F5344CB8AC3E}">
        <p14:creationId xmlns:p14="http://schemas.microsoft.com/office/powerpoint/2010/main" xmlns="" val="21168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Absolute Adjectives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Arial" charset="0"/>
              <a:buNone/>
            </a:pPr>
            <a:r>
              <a:rPr lang="en-US" sz="2800" dirty="0" smtClean="0"/>
              <a:t>	round					supreme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fatal					total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unique				unanimous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possible				impossible	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equal					eternal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final					infinite</a:t>
            </a:r>
          </a:p>
          <a:p>
            <a:pPr eaLnBrk="1" hangingPunct="1">
              <a:buFont typeface="Arial" charset="0"/>
              <a:buNone/>
            </a:pPr>
            <a:r>
              <a:rPr lang="en-US" dirty="0" smtClean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xmlns="" val="270805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290290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dirty="0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315201" cy="4311022"/>
          </a:xfrm>
        </p:spPr>
        <p:txBody>
          <a:bodyPr>
            <a:normAutofit/>
          </a:bodyPr>
          <a:lstStyle/>
          <a:p>
            <a:pPr marL="628650" indent="-628650" eaLnBrk="1" hangingPunct="1">
              <a:buFont typeface="Arial" charset="0"/>
              <a:buNone/>
              <a:tabLst>
                <a:tab pos="628650" algn="l"/>
              </a:tabLst>
            </a:pPr>
            <a:r>
              <a:rPr lang="en-PH" sz="2800" b="1" dirty="0" smtClean="0"/>
              <a:t>12. </a:t>
            </a:r>
            <a:r>
              <a:rPr lang="en-PH" sz="2800" dirty="0" smtClean="0"/>
              <a:t>Which of the following phrases is     properly sequenced?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an old ugly gray wooden statue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a wooden old ugly gray statue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an ugly old gray wooden statue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a gray wooden old ugly statue</a:t>
            </a:r>
            <a:endParaRPr lang="en-US" sz="2800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794345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954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Order of One-Word Adjectives in a Series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Opinion		</a:t>
            </a:r>
            <a:r>
              <a:rPr lang="en-US" sz="2800" i="1" dirty="0" smtClean="0"/>
              <a:t>pretty</a:t>
            </a:r>
          </a:p>
          <a:p>
            <a:pPr eaLnBrk="1" hangingPunct="1"/>
            <a:r>
              <a:rPr lang="en-US" sz="2800" dirty="0" smtClean="0"/>
              <a:t>Size			</a:t>
            </a:r>
            <a:r>
              <a:rPr lang="en-US" sz="2800" i="1" dirty="0" smtClean="0"/>
              <a:t>small</a:t>
            </a:r>
          </a:p>
          <a:p>
            <a:pPr eaLnBrk="1" hangingPunct="1"/>
            <a:r>
              <a:rPr lang="en-US" sz="2800" dirty="0" smtClean="0"/>
              <a:t>Shape		</a:t>
            </a:r>
            <a:r>
              <a:rPr lang="en-US" sz="2800" i="1" dirty="0" smtClean="0"/>
              <a:t>round</a:t>
            </a:r>
          </a:p>
          <a:p>
            <a:pPr eaLnBrk="1" hangingPunct="1"/>
            <a:r>
              <a:rPr lang="en-US" sz="2800" dirty="0" smtClean="0"/>
              <a:t>Condition	</a:t>
            </a:r>
            <a:r>
              <a:rPr lang="en-US" sz="2800" i="1" dirty="0" smtClean="0"/>
              <a:t>chipped</a:t>
            </a:r>
          </a:p>
          <a:p>
            <a:pPr eaLnBrk="1" hangingPunct="1"/>
            <a:r>
              <a:rPr lang="en-US" sz="2800" dirty="0" smtClean="0"/>
              <a:t>Age			</a:t>
            </a:r>
            <a:r>
              <a:rPr lang="en-US" sz="2800" i="1" dirty="0" smtClean="0"/>
              <a:t>antique</a:t>
            </a:r>
          </a:p>
          <a:p>
            <a:pPr eaLnBrk="1" hangingPunct="1"/>
            <a:r>
              <a:rPr lang="en-US" sz="2800" dirty="0" smtClean="0"/>
              <a:t>Color			</a:t>
            </a:r>
            <a:r>
              <a:rPr lang="en-US" sz="2800" i="1" dirty="0" smtClean="0"/>
              <a:t>blue</a:t>
            </a:r>
          </a:p>
          <a:p>
            <a:pPr eaLnBrk="1" hangingPunct="1"/>
            <a:r>
              <a:rPr lang="en-US" sz="2800" dirty="0" smtClean="0"/>
              <a:t>Origin			</a:t>
            </a:r>
            <a:r>
              <a:rPr lang="en-US" sz="2800" i="1" dirty="0" smtClean="0"/>
              <a:t>Chinese</a:t>
            </a:r>
          </a:p>
          <a:p>
            <a:pPr algn="ctr" eaLnBrk="1" hangingPunct="1"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u="sng" dirty="0" smtClean="0"/>
              <a:t>many</a:t>
            </a:r>
            <a:r>
              <a:rPr lang="en-US" sz="2800" dirty="0" smtClean="0"/>
              <a:t> pretty small round chipped antique blue Chinese </a:t>
            </a:r>
            <a:r>
              <a:rPr lang="en-US" sz="2800" u="sng" dirty="0" smtClean="0"/>
              <a:t>vases</a:t>
            </a:r>
          </a:p>
        </p:txBody>
      </p:sp>
    </p:spTree>
    <p:extLst>
      <p:ext uri="{BB962C8B-B14F-4D97-AF65-F5344CB8AC3E}">
        <p14:creationId xmlns:p14="http://schemas.microsoft.com/office/powerpoint/2010/main" xmlns="" val="304166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6985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Order of Determiners</a:t>
            </a:r>
          </a:p>
        </p:txBody>
      </p:sp>
      <p:graphicFrame>
        <p:nvGraphicFramePr>
          <p:cNvPr id="107523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235892486"/>
              </p:ext>
            </p:extLst>
          </p:nvPr>
        </p:nvGraphicFramePr>
        <p:xfrm>
          <a:off x="304800" y="1219200"/>
          <a:ext cx="8382000" cy="5616575"/>
        </p:xfrm>
        <a:graphic>
          <a:graphicData uri="http://schemas.openxmlformats.org/drawingml/2006/table">
            <a:tbl>
              <a:tblPr/>
              <a:tblGrid>
                <a:gridCol w="1828800"/>
                <a:gridCol w="2362200"/>
                <a:gridCol w="1905000"/>
                <a:gridCol w="1143000"/>
                <a:gridCol w="1143000"/>
              </a:tblGrid>
              <a:tr h="555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Pre-</a:t>
                      </a:r>
                      <a:r>
                        <a:rPr kumimoji="0" lang="en-PH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Det</a:t>
                      </a:r>
                      <a:endParaRPr kumimoji="0" lang="en-PH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Core Det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Post-Det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Adj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0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QUANTIFIERS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all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both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half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MULTIPLIERS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twice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four times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ARTICLES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a/an, the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POSS. ADJECTIVES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my/your/his, etc.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DEMONSTRATIVES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this/these, etc.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NOUN POSSESSIVES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INDEFINITE WORDS</a:t>
                      </a:r>
                      <a:r>
                        <a:rPr kumimoji="0" lang="en-PH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some, any, no, each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etc.</a:t>
                      </a:r>
                      <a:endParaRPr kumimoji="0" lang="en-PH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CARDINAL NUMBERS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one/two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ORDINAL NUMBERS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first/second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next, last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QUANTIFIERS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little, some,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young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boys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5754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8650" indent="-628650" eaLnBrk="1" hangingPunct="1">
              <a:buFont typeface="Arial" charset="0"/>
              <a:buNone/>
            </a:pPr>
            <a:r>
              <a:rPr lang="en-US" sz="2800" b="1" dirty="0" smtClean="0"/>
              <a:t>13. </a:t>
            </a:r>
            <a:r>
              <a:rPr lang="en-PH" sz="2800" dirty="0" smtClean="0"/>
              <a:t>Which of the following questions is positively phrased?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How young are you today?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How old are you today?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What’s your age today?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All of the above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06500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143001" y="624110"/>
            <a:ext cx="7391399" cy="1280890"/>
          </a:xfrm>
        </p:spPr>
        <p:txBody>
          <a:bodyPr/>
          <a:lstStyle/>
          <a:p>
            <a:pPr algn="ctr" eaLnBrk="1" hangingPunct="1"/>
            <a:r>
              <a:rPr lang="en-US" b="1" dirty="0" smtClean="0"/>
              <a:t>Polarity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1143001" y="2133600"/>
            <a:ext cx="7391400" cy="4495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Arial" charset="0"/>
              <a:buNone/>
            </a:pPr>
            <a:r>
              <a:rPr lang="en-US" sz="2800" u="sng" dirty="0" smtClean="0"/>
              <a:t>Positive</a:t>
            </a:r>
            <a:r>
              <a:rPr lang="en-US" sz="2800" dirty="0" smtClean="0"/>
              <a:t>			</a:t>
            </a:r>
            <a:r>
              <a:rPr lang="en-US" sz="2800" u="sng" dirty="0" smtClean="0"/>
              <a:t>Negative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old				young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big				small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long				short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fast				slow</a:t>
            </a:r>
          </a:p>
          <a:p>
            <a:pPr eaLnBrk="1" hangingPunct="1">
              <a:buFont typeface="Arial" charset="0"/>
              <a:buNone/>
            </a:pPr>
            <a:endParaRPr lang="en-US" sz="2800" i="1" dirty="0" smtClean="0"/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Positive:	</a:t>
            </a:r>
          </a:p>
          <a:p>
            <a:pPr marL="0" indent="0" eaLnBrk="1" hangingPunct="1">
              <a:buFont typeface="Arial" charset="0"/>
              <a:buNone/>
            </a:pPr>
            <a:r>
              <a:rPr lang="en-US" sz="2800" dirty="0" smtClean="0"/>
              <a:t>Are unmarked forms (more frequent), learned earlier by children, used in neutral contexts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882584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 eaLnBrk="1" hangingPunct="1">
              <a:buFont typeface="Arial" charset="0"/>
              <a:buNone/>
            </a:pPr>
            <a:r>
              <a:rPr lang="en-PH" sz="2800" b="1" dirty="0" smtClean="0"/>
              <a:t>14</a:t>
            </a:r>
            <a:r>
              <a:rPr lang="en-PH" sz="2800" dirty="0" smtClean="0"/>
              <a:t>. </a:t>
            </a:r>
            <a:r>
              <a:rPr lang="en-PH" sz="2800" i="1" dirty="0" smtClean="0">
                <a:solidFill>
                  <a:srgbClr val="FF0000"/>
                </a:solidFill>
              </a:rPr>
              <a:t>One of the most powerful countries which existed several years back is _____ Union of Soviet Socialist Republics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What article is missing?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a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an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the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none</a:t>
            </a:r>
            <a:endParaRPr lang="en-US" sz="2800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414289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1079500"/>
          </a:xfrm>
        </p:spPr>
        <p:txBody>
          <a:bodyPr/>
          <a:lstStyle/>
          <a:p>
            <a:pPr algn="ctr" eaLnBrk="1" hangingPunct="1"/>
            <a:r>
              <a:rPr lang="en-PH" b="1" dirty="0" smtClean="0"/>
              <a:t>Article Use</a:t>
            </a:r>
            <a:endParaRPr lang="en-GB" b="1" dirty="0" smtClean="0"/>
          </a:p>
        </p:txBody>
      </p:sp>
      <p:graphicFrame>
        <p:nvGraphicFramePr>
          <p:cNvPr id="109615" name="Group 47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4188257857"/>
              </p:ext>
            </p:extLst>
          </p:nvPr>
        </p:nvGraphicFramePr>
        <p:xfrm>
          <a:off x="457200" y="1600201"/>
          <a:ext cx="8229600" cy="4671924"/>
        </p:xfrm>
        <a:graphic>
          <a:graphicData uri="http://schemas.openxmlformats.org/drawingml/2006/table">
            <a:tbl>
              <a:tblPr/>
              <a:tblGrid>
                <a:gridCol w="1371600"/>
                <a:gridCol w="152400"/>
                <a:gridCol w="1325563"/>
                <a:gridCol w="1265237"/>
                <a:gridCol w="1524000"/>
                <a:gridCol w="1219200"/>
                <a:gridCol w="1371600"/>
              </a:tblGrid>
              <a:tr h="609599"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Nouns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 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Common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Proper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(inherently definite)</a:t>
                      </a: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809827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                     Count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Noncount</a:t>
                      </a:r>
                      <a:endParaRPr kumimoji="0" lang="en-PH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(mass)</a:t>
                      </a: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307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sg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.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pl.</a:t>
                      </a:r>
                      <a:endParaRPr kumimoji="0" lang="en-GB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sg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.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pl.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13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Definite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the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the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the</a:t>
                      </a:r>
                      <a:endParaRPr kumimoji="0" lang="en-GB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Ø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the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982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Indefinite</a:t>
                      </a:r>
                      <a:endParaRPr kumimoji="0" lang="en-GB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a/an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some/Ø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  <a:defRPr/>
                      </a:pP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some/Ø</a:t>
                      </a: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6370301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Other Uses of </a:t>
            </a:r>
            <a:r>
              <a:rPr lang="en-US" b="1" i="1" u="sng" dirty="0" smtClean="0"/>
              <a:t>the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u="sng" dirty="0" smtClean="0"/>
              <a:t>countries viewed as unions, collection of islands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</a:t>
            </a:r>
            <a:r>
              <a:rPr lang="en-US" sz="2800" b="1" i="1" dirty="0" smtClean="0"/>
              <a:t>the</a:t>
            </a:r>
            <a:r>
              <a:rPr lang="en-US" sz="2800" i="1" dirty="0" smtClean="0"/>
              <a:t> United States of America</a:t>
            </a:r>
          </a:p>
          <a:p>
            <a:pPr eaLnBrk="1" hangingPunct="1">
              <a:buFont typeface="Arial" charset="0"/>
              <a:buNone/>
            </a:pPr>
            <a:r>
              <a:rPr lang="en-US" sz="2800" i="1" dirty="0" smtClean="0"/>
              <a:t>		</a:t>
            </a:r>
            <a:r>
              <a:rPr lang="en-US" sz="2800" b="1" i="1" dirty="0" smtClean="0"/>
              <a:t>the</a:t>
            </a:r>
            <a:r>
              <a:rPr lang="en-US" sz="2800" i="1" dirty="0" smtClean="0"/>
              <a:t> Philippines (Philippine Islands)</a:t>
            </a:r>
          </a:p>
          <a:p>
            <a:pPr eaLnBrk="1" hangingPunct="1"/>
            <a:r>
              <a:rPr lang="en-US" sz="2800" u="sng" dirty="0" smtClean="0"/>
              <a:t>lakes</a:t>
            </a:r>
            <a:r>
              <a:rPr lang="en-US" sz="2800" dirty="0" smtClean="0"/>
              <a:t> (if they form a geological group)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</a:t>
            </a:r>
            <a:r>
              <a:rPr lang="en-US" sz="2800" b="1" i="1" dirty="0" smtClean="0"/>
              <a:t>the</a:t>
            </a:r>
            <a:r>
              <a:rPr lang="en-US" sz="2800" i="1" dirty="0" smtClean="0"/>
              <a:t> Great Lakes</a:t>
            </a:r>
          </a:p>
          <a:p>
            <a:pPr eaLnBrk="1" hangingPunct="1"/>
            <a:r>
              <a:rPr lang="en-US" sz="2800" dirty="0" smtClean="0"/>
              <a:t> </a:t>
            </a:r>
            <a:r>
              <a:rPr lang="en-US" sz="2800" u="sng" dirty="0" smtClean="0"/>
              <a:t>mountain ranges</a:t>
            </a:r>
          </a:p>
          <a:p>
            <a:pPr eaLnBrk="1" hangingPunct="1">
              <a:buFont typeface="Arial" charset="0"/>
              <a:buNone/>
            </a:pPr>
            <a:r>
              <a:rPr lang="en-US" sz="2800" dirty="0" smtClean="0"/>
              <a:t>		</a:t>
            </a:r>
            <a:r>
              <a:rPr lang="en-US" sz="2800" b="1" i="1" dirty="0" smtClean="0"/>
              <a:t>the </a:t>
            </a:r>
            <a:r>
              <a:rPr lang="en-US" sz="2800" i="1" dirty="0" smtClean="0"/>
              <a:t>Rocky Mountains, </a:t>
            </a:r>
            <a:r>
              <a:rPr lang="en-US" sz="2800" b="1" i="1" dirty="0" smtClean="0"/>
              <a:t>the</a:t>
            </a:r>
            <a:r>
              <a:rPr lang="en-US" sz="2800" i="1" dirty="0" smtClean="0"/>
              <a:t> Alps, </a:t>
            </a:r>
            <a:r>
              <a:rPr lang="en-US" sz="2800" b="1" i="1" dirty="0" smtClean="0"/>
              <a:t>the</a:t>
            </a:r>
            <a:r>
              <a:rPr lang="en-US" sz="2800" i="1" dirty="0" smtClean="0"/>
              <a:t> Sierra 	Madre</a:t>
            </a:r>
          </a:p>
          <a:p>
            <a:pPr eaLnBrk="1" hangingPunct="1"/>
            <a:r>
              <a:rPr lang="en-US" sz="2800" u="sng" dirty="0" smtClean="0"/>
              <a:t>islands</a:t>
            </a:r>
          </a:p>
          <a:p>
            <a:pPr lvl="1" eaLnBrk="1" hangingPunct="1">
              <a:buFont typeface="Arial" charset="0"/>
              <a:buNone/>
            </a:pPr>
            <a:r>
              <a:rPr lang="en-US" sz="2800" b="1" i="1" dirty="0" smtClean="0"/>
              <a:t>the </a:t>
            </a:r>
            <a:r>
              <a:rPr lang="en-US" sz="2800" i="1" dirty="0" smtClean="0"/>
              <a:t>Bahamas</a:t>
            </a:r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660081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8650" indent="-628650" eaLnBrk="1" hangingPunct="1">
              <a:buFont typeface="Arial" charset="0"/>
              <a:buNone/>
            </a:pPr>
            <a:r>
              <a:rPr lang="en-US" sz="2800" b="1" dirty="0" smtClean="0"/>
              <a:t>15. </a:t>
            </a:r>
            <a:r>
              <a:rPr lang="en-PH" sz="2800" i="1" dirty="0" smtClean="0">
                <a:solidFill>
                  <a:srgbClr val="FF0000"/>
                </a:solidFill>
              </a:rPr>
              <a:t>You can sleep on the beach or in the woods</a:t>
            </a:r>
            <a:r>
              <a:rPr lang="en-PH" sz="2800" dirty="0" smtClean="0"/>
              <a:t>. The sentence has conjoined _____.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A. clauses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B. predicates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C. verb phrases</a:t>
            </a:r>
            <a:endParaRPr lang="en-US" sz="2800" dirty="0" smtClean="0"/>
          </a:p>
          <a:p>
            <a:pPr lvl="1" eaLnBrk="1" hangingPunct="1">
              <a:buFont typeface="Arial" charset="0"/>
              <a:buNone/>
            </a:pPr>
            <a:r>
              <a:rPr lang="en-PH" sz="2800" dirty="0" smtClean="0"/>
              <a:t>D. prepositional phrases</a:t>
            </a:r>
            <a:endParaRPr lang="en-US" sz="2800" dirty="0" smtClean="0"/>
          </a:p>
          <a:p>
            <a:pPr eaLnBrk="1" hangingPunct="1"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19675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 smtClean="0"/>
              <a:t>Coordination/Conjoining Process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0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Makes use of coordinators/coordinating conjunctions</a:t>
            </a:r>
          </a:p>
          <a:p>
            <a:pPr eaLnBrk="1" hangingPunct="1"/>
            <a:r>
              <a:rPr lang="en-US" sz="2800" dirty="0" smtClean="0">
                <a:solidFill>
                  <a:srgbClr val="FF0000"/>
                </a:solidFill>
              </a:rPr>
              <a:t>FANBOYS</a:t>
            </a:r>
            <a:r>
              <a:rPr lang="en-US" sz="2800" dirty="0" smtClean="0"/>
              <a:t> (</a:t>
            </a:r>
            <a:r>
              <a:rPr lang="en-US" sz="2800" i="1" dirty="0" smtClean="0"/>
              <a:t>for, and, nor, but, or, yet, so</a:t>
            </a:r>
            <a:r>
              <a:rPr lang="en-US" sz="2800" dirty="0" smtClean="0"/>
              <a:t>)</a:t>
            </a:r>
          </a:p>
          <a:p>
            <a:pPr eaLnBrk="1" hangingPunct="1"/>
            <a:r>
              <a:rPr lang="en-US" sz="2800" dirty="0" smtClean="0"/>
              <a:t>Coordinators join two or more independent clauses</a:t>
            </a:r>
          </a:p>
          <a:p>
            <a:pPr eaLnBrk="1" hangingPunct="1"/>
            <a:r>
              <a:rPr lang="en-US" sz="2800" dirty="0" smtClean="0"/>
              <a:t>Coordinators form compound sentences.</a:t>
            </a:r>
          </a:p>
          <a:p>
            <a:pPr eaLnBrk="1" hangingPunct="1"/>
            <a:endParaRPr lang="en-US" sz="2800" dirty="0" smtClean="0"/>
          </a:p>
          <a:p>
            <a:pPr algn="ctr" eaLnBrk="1" hangingPunct="1">
              <a:buFont typeface="Arial" charset="0"/>
              <a:buNone/>
            </a:pPr>
            <a:r>
              <a:rPr lang="en-US" sz="2800" i="1" dirty="0" smtClean="0"/>
              <a:t>I wanted to help my parents, </a:t>
            </a:r>
            <a:r>
              <a:rPr lang="en-US" sz="2800" b="1" i="1" dirty="0" smtClean="0"/>
              <a:t>but</a:t>
            </a:r>
            <a:r>
              <a:rPr lang="en-US" sz="2800" i="1" dirty="0" smtClean="0"/>
              <a:t> they won’t let me be a working student.</a:t>
            </a:r>
          </a:p>
        </p:txBody>
      </p:sp>
    </p:spTree>
    <p:extLst>
      <p:ext uri="{BB962C8B-B14F-4D97-AF65-F5344CB8AC3E}">
        <p14:creationId xmlns:p14="http://schemas.microsoft.com/office/powerpoint/2010/main" xmlns="" val="302969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6985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Sentence Types: Clause Structure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5562600"/>
          </a:xfrm>
        </p:spPr>
        <p:txBody>
          <a:bodyPr>
            <a:normAutofit fontScale="92500" lnSpcReduction="20000"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PH" sz="3000" dirty="0" smtClean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dirty="0" smtClean="0"/>
              <a:t>1. </a:t>
            </a:r>
            <a:r>
              <a:rPr lang="en-PH" sz="3000" b="1" dirty="0" smtClean="0"/>
              <a:t>Simple = one subject + one predicate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dirty="0" smtClean="0"/>
              <a:t>	</a:t>
            </a:r>
            <a:r>
              <a:rPr lang="en-PH" sz="3000" i="1" dirty="0" smtClean="0"/>
              <a:t>The parents / signed the permission form.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i="1" dirty="0" smtClean="0"/>
              <a:t>	The captain and his men / fought with their enemies bravely.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PH" sz="3000" dirty="0" smtClean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dirty="0" smtClean="0"/>
              <a:t>2</a:t>
            </a:r>
            <a:r>
              <a:rPr lang="en-PH" sz="3000" b="1" dirty="0" smtClean="0"/>
              <a:t>. Compound = 2 or more independent clauses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dirty="0" smtClean="0"/>
              <a:t>	</a:t>
            </a:r>
            <a:r>
              <a:rPr lang="en-PH" sz="3000" i="1" dirty="0" smtClean="0"/>
              <a:t>The doctor / schedules a consultation, </a:t>
            </a:r>
            <a:r>
              <a:rPr lang="en-PH" sz="3000" b="1" i="1" dirty="0" smtClean="0"/>
              <a:t>but</a:t>
            </a:r>
            <a:r>
              <a:rPr lang="en-PH" sz="3000" i="1" dirty="0" smtClean="0"/>
              <a:t> he / has not come yet.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i="1" dirty="0" smtClean="0"/>
              <a:t>     	This test / is for preschool children</a:t>
            </a:r>
            <a:r>
              <a:rPr lang="en-PH" sz="3000" b="1" i="1" dirty="0" smtClean="0"/>
              <a:t>; </a:t>
            </a:r>
            <a:r>
              <a:rPr lang="en-PH" sz="3000" i="1" dirty="0" smtClean="0"/>
              <a:t>it / should not be used for other children.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3000" i="1" dirty="0" smtClean="0"/>
              <a:t>	The children / didn’t enjoy it</a:t>
            </a:r>
            <a:r>
              <a:rPr lang="en-PH" sz="3000" b="1" i="1" dirty="0" smtClean="0"/>
              <a:t>;</a:t>
            </a:r>
            <a:r>
              <a:rPr lang="en-PH" sz="3000" i="1" dirty="0" smtClean="0"/>
              <a:t> </a:t>
            </a:r>
            <a:r>
              <a:rPr lang="en-PH" sz="3000" b="1" i="1" dirty="0" smtClean="0"/>
              <a:t>nevertheless,</a:t>
            </a:r>
            <a:r>
              <a:rPr lang="en-PH" sz="3000" i="1" dirty="0" smtClean="0"/>
              <a:t> it / was a learning experience.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PH" sz="2800" dirty="0" smtClean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r>
              <a:rPr lang="en-PH" sz="2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xmlns="" val="60552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6985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PH" b="1" dirty="0" smtClean="0"/>
              <a:t>Sentence Types: Clause Structure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3. </a:t>
            </a:r>
            <a:r>
              <a:rPr lang="en-PH" sz="2800" b="1" dirty="0" smtClean="0"/>
              <a:t>Complex = 1 independent clause + at least 1 dependent clause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	</a:t>
            </a:r>
            <a:r>
              <a:rPr lang="en-PH" sz="2800" i="1" dirty="0" smtClean="0"/>
              <a:t>Alan, </a:t>
            </a:r>
            <a:r>
              <a:rPr lang="en-PH" sz="2800" i="1" dirty="0" smtClean="0">
                <a:solidFill>
                  <a:srgbClr val="FF0000"/>
                </a:solidFill>
              </a:rPr>
              <a:t>[the boy I told you about], </a:t>
            </a:r>
            <a:r>
              <a:rPr lang="en-PH" sz="2800" i="1" dirty="0" smtClean="0"/>
              <a:t>was discharged last week.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i="1" dirty="0" smtClean="0"/>
              <a:t>	[As the family has suspected,] their </a:t>
            </a:r>
            <a:r>
              <a:rPr lang="en-PH" sz="2800" i="1" dirty="0" err="1" smtClean="0"/>
              <a:t>barangay</a:t>
            </a:r>
            <a:r>
              <a:rPr lang="en-PH" sz="2800" i="1" dirty="0" smtClean="0"/>
              <a:t> captain would not help at all.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i="1" dirty="0" smtClean="0"/>
              <a:t>	The poem </a:t>
            </a:r>
            <a:r>
              <a:rPr lang="en-PH" sz="2800" i="1" dirty="0" smtClean="0">
                <a:solidFill>
                  <a:srgbClr val="FF0000"/>
                </a:solidFill>
              </a:rPr>
              <a:t>[which won the award] </a:t>
            </a:r>
            <a:r>
              <a:rPr lang="en-PH" sz="2800" i="1" dirty="0" smtClean="0"/>
              <a:t>pleased the judges.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PH" sz="2800" i="1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4. </a:t>
            </a:r>
            <a:r>
              <a:rPr lang="en-PH" sz="2800" b="1" dirty="0" smtClean="0"/>
              <a:t>Compound-complex = 2 or more independent clauses + at least 1 dependent clause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PH" sz="2800" dirty="0" smtClean="0"/>
              <a:t>	</a:t>
            </a:r>
            <a:r>
              <a:rPr lang="en-PH" sz="2800" i="1" dirty="0" smtClean="0"/>
              <a:t>It was true </a:t>
            </a:r>
            <a:r>
              <a:rPr lang="en-PH" sz="2800" i="1" dirty="0" smtClean="0">
                <a:solidFill>
                  <a:srgbClr val="FF0000"/>
                </a:solidFill>
              </a:rPr>
              <a:t>[that the building was elevated above the flood level], </a:t>
            </a:r>
            <a:r>
              <a:rPr lang="en-PH" sz="2800" b="1" i="1" dirty="0" smtClean="0"/>
              <a:t>but </a:t>
            </a:r>
            <a:r>
              <a:rPr lang="en-PH" sz="2800" i="1" dirty="0" smtClean="0"/>
              <a:t>the water reached the floor anyway.</a:t>
            </a:r>
          </a:p>
          <a:p>
            <a:pPr eaLnBrk="1" hangingPunct="1">
              <a:lnSpc>
                <a:spcPct val="90000"/>
              </a:lnSpc>
            </a:pPr>
            <a:endParaRPr lang="en-PH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51100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None/>
            </a:pPr>
            <a:r>
              <a:rPr lang="en-US" sz="2800" b="1" dirty="0" smtClean="0"/>
              <a:t>16. </a:t>
            </a:r>
            <a:r>
              <a:rPr lang="en-PH" sz="2800" i="1" dirty="0" smtClean="0">
                <a:solidFill>
                  <a:srgbClr val="FF0000"/>
                </a:solidFill>
              </a:rPr>
              <a:t>If you learn to swim, you _____ on this trip</a:t>
            </a:r>
            <a:r>
              <a:rPr lang="en-PH" sz="2800" dirty="0" smtClean="0"/>
              <a:t>. The appropriate verb phrase to complete the sentence is _____.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A. would go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B. will go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C. will be going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D. would have gone</a:t>
            </a:r>
            <a:endParaRPr lang="en-US" sz="2800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79405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7747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PH" sz="3600" b="1" dirty="0" smtClean="0"/>
              <a:t>Basic Verb Forms Used in Conditional Sentences</a:t>
            </a:r>
            <a:endParaRPr lang="en-GB" sz="3600" b="1" dirty="0" smtClean="0"/>
          </a:p>
        </p:txBody>
      </p:sp>
      <p:graphicFrame>
        <p:nvGraphicFramePr>
          <p:cNvPr id="208947" name="Group 5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1234181958"/>
              </p:ext>
            </p:extLst>
          </p:nvPr>
        </p:nvGraphicFramePr>
        <p:xfrm>
          <a:off x="457200" y="1523999"/>
          <a:ext cx="8229600" cy="4972686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664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SITUATION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IF-CLAUSE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RESULT CLAUSE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EXAMPLES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634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True in the present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simple present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simple present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help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me now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,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are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a true friend.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496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True in the future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OR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PH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Real condition</a:t>
                      </a:r>
                      <a:endParaRPr kumimoji="0" lang="en-GB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simple present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will 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+ simple form</a:t>
                      </a: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drive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carefully, 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will have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a safe trip.</a:t>
                      </a: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94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simple present</a:t>
                      </a:r>
                      <a:endParaRPr kumimoji="0" lang="en-GB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will 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+ simple form</a:t>
                      </a: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Unless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study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hard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,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will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obtain a low grade.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endParaRPr kumimoji="0" lang="en-GB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0911257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927100"/>
          </a:xfrm>
        </p:spPr>
        <p:txBody>
          <a:bodyPr/>
          <a:lstStyle/>
          <a:p>
            <a:pPr algn="ctr" eaLnBrk="1" hangingPunct="1"/>
            <a:r>
              <a:rPr lang="en-PH" sz="3600" b="1" dirty="0" smtClean="0"/>
              <a:t>More on Conditional Sentences</a:t>
            </a:r>
          </a:p>
        </p:txBody>
      </p:sp>
      <p:graphicFrame>
        <p:nvGraphicFramePr>
          <p:cNvPr id="145411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xmlns="" val="2217206406"/>
              </p:ext>
            </p:extLst>
          </p:nvPr>
        </p:nvGraphicFramePr>
        <p:xfrm>
          <a:off x="457200" y="2246313"/>
          <a:ext cx="8229600" cy="4307609"/>
        </p:xfrm>
        <a:graphic>
          <a:graphicData uri="http://schemas.openxmlformats.org/drawingml/2006/table">
            <a:tbl>
              <a:tblPr/>
              <a:tblGrid>
                <a:gridCol w="1828800"/>
                <a:gridCol w="1981200"/>
                <a:gridCol w="2133600"/>
                <a:gridCol w="2286000"/>
              </a:tblGrid>
              <a:tr h="21157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Untrue in the present/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future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simple past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would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+ simple 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brushed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your teeth carefully, 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would have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fewer cavities.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18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Untrue in the past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past perfect =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had </a:t>
                      </a:r>
                      <a:r>
                        <a:rPr kumimoji="0" lang="en-PH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+ 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participle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would have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+ past participle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had studied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hard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, you </a:t>
                      </a:r>
                      <a:r>
                        <a:rPr kumimoji="0" lang="en-PH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wouldn’t have obtained</a:t>
                      </a: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 a low grade.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97000"/>
          <a:ext cx="8229600" cy="812800"/>
        </p:xfrm>
        <a:graphic>
          <a:graphicData uri="http://schemas.openxmlformats.org/drawingml/2006/table">
            <a:tbl>
              <a:tblPr/>
              <a:tblGrid>
                <a:gridCol w="1828800"/>
                <a:gridCol w="1981200"/>
                <a:gridCol w="2133600"/>
                <a:gridCol w="2286000"/>
              </a:tblGrid>
              <a:tr h="812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SITUATION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IF-CLAUSE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RESULT CLAUSE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itchFamily="34" charset="0"/>
                          <a:cs typeface="Arial" charset="0"/>
                        </a:rPr>
                        <a:t>EXAMPLES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42304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371601" y="2133600"/>
            <a:ext cx="7162800" cy="3777622"/>
          </a:xfrm>
        </p:spPr>
        <p:txBody>
          <a:bodyPr>
            <a:normAutofit fontScale="92500"/>
          </a:bodyPr>
          <a:lstStyle/>
          <a:p>
            <a:pPr marL="571500" indent="-571500">
              <a:buFont typeface="Arial" charset="0"/>
              <a:buNone/>
            </a:pPr>
            <a:r>
              <a:rPr lang="en-PH" sz="2800" b="1" dirty="0" smtClean="0"/>
              <a:t>17</a:t>
            </a:r>
            <a:r>
              <a:rPr lang="en-PH" sz="2800" dirty="0" smtClean="0"/>
              <a:t>. You look attractive in _____ the blue sweater _____  the yellow one. To complete the sentence which correlative conjunction is appropriate?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A. not only . . . but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B. neither . . . nor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C. either . . . or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D. both . . . and also</a:t>
            </a:r>
            <a:endParaRPr lang="en-US" sz="2800" dirty="0" smtClean="0"/>
          </a:p>
          <a:p>
            <a:pPr eaLnBrk="1" hangingPunct="1">
              <a:buFontTx/>
              <a:buNone/>
            </a:pPr>
            <a:endParaRPr lang="en-PH" dirty="0" smtClean="0"/>
          </a:p>
          <a:p>
            <a:pPr eaLnBrk="1" hangingPunct="1">
              <a:buFontTx/>
              <a:buNone/>
            </a:pPr>
            <a:endParaRPr lang="en-PH" dirty="0" smtClean="0"/>
          </a:p>
          <a:p>
            <a:pPr algn="ctr" eaLnBrk="1" hangingPunct="1">
              <a:buFontTx/>
              <a:buNone/>
            </a:pPr>
            <a:endParaRPr lang="en-PH" sz="40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213539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Correlative Conjunctions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143001" y="2133600"/>
            <a:ext cx="7391400" cy="4038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 paired conjunction  that links balanced words, phrases, and clauses.</a:t>
            </a:r>
          </a:p>
          <a:p>
            <a:endParaRPr lang="en-US" sz="2800" dirty="0" smtClean="0"/>
          </a:p>
          <a:p>
            <a:r>
              <a:rPr lang="en-US" sz="2800" i="1" dirty="0" smtClean="0"/>
              <a:t>both . . . and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i="1" dirty="0" smtClean="0"/>
              <a:t>either . . . or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i="1" dirty="0" smtClean="0"/>
              <a:t>neither . . . nor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i="1" dirty="0" smtClean="0"/>
              <a:t>not . . . but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i="1" dirty="0" smtClean="0"/>
              <a:t>not only . . . but also</a:t>
            </a:r>
            <a:endParaRPr lang="en-US" sz="28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45048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1295401" y="2133600"/>
            <a:ext cx="7239000" cy="377762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PH" sz="2800" b="1" dirty="0" smtClean="0"/>
              <a:t>18. </a:t>
            </a:r>
            <a:r>
              <a:rPr lang="en-PH" sz="2800" i="1" dirty="0" smtClean="0"/>
              <a:t>The amount </a:t>
            </a:r>
            <a:r>
              <a:rPr lang="en-PH" sz="2800" i="1" u="sng" dirty="0" smtClean="0"/>
              <a:t>which she paid for</a:t>
            </a:r>
            <a:r>
              <a:rPr lang="en-PH" sz="2800" i="1" dirty="0" smtClean="0"/>
              <a:t> is a  		  student loan</a:t>
            </a:r>
            <a:r>
              <a:rPr lang="en-PH" sz="2800" dirty="0" smtClean="0"/>
              <a:t>. The underlined group  	  of words is considered _____.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A. an independent clause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B. a dependent clause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C. a fragment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D. a subject complement</a:t>
            </a:r>
            <a:endParaRPr lang="en-US" sz="28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41106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913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Relative Clause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334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A dependent clause</a:t>
            </a:r>
          </a:p>
          <a:p>
            <a:r>
              <a:rPr lang="en-US" sz="2400" dirty="0" smtClean="0"/>
              <a:t>A product of an embedding process</a:t>
            </a:r>
          </a:p>
          <a:p>
            <a:r>
              <a:rPr lang="en-US" sz="2400" dirty="0" smtClean="0"/>
              <a:t>An adjective clause (noun modifier)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The amount is a student loan.	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She paid for the amount.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			              </a:t>
            </a:r>
            <a:r>
              <a:rPr lang="en-US" sz="2400" i="1" dirty="0" smtClean="0">
                <a:solidFill>
                  <a:srgbClr val="FF0000"/>
                </a:solidFill>
              </a:rPr>
              <a:t>which</a:t>
            </a:r>
          </a:p>
          <a:p>
            <a:pPr>
              <a:buFont typeface="Arial" charset="0"/>
              <a:buNone/>
            </a:pPr>
            <a:r>
              <a:rPr lang="en-US" sz="2400" i="1" dirty="0" smtClean="0"/>
              <a:t>		The amount [she paid for </a:t>
            </a:r>
            <a:r>
              <a:rPr lang="en-US" sz="2400" i="1" u="sng" dirty="0" smtClean="0">
                <a:solidFill>
                  <a:srgbClr val="FF0000"/>
                </a:solidFill>
              </a:rPr>
              <a:t>the amount</a:t>
            </a:r>
            <a:r>
              <a:rPr lang="en-US" sz="2400" i="1" dirty="0" smtClean="0"/>
              <a:t>] is a student 	loan.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The amount </a:t>
            </a:r>
            <a:r>
              <a:rPr lang="en-US" sz="2400" i="1" u="sng" dirty="0" smtClean="0">
                <a:solidFill>
                  <a:srgbClr val="FF0000"/>
                </a:solidFill>
              </a:rPr>
              <a:t>which</a:t>
            </a:r>
            <a:r>
              <a:rPr lang="en-US" sz="2400" i="1" u="sng" dirty="0" smtClean="0"/>
              <a:t> she paid for</a:t>
            </a:r>
            <a:r>
              <a:rPr lang="en-US" sz="2400" i="1" dirty="0" smtClean="0"/>
              <a:t> is a student loan</a:t>
            </a:r>
            <a:r>
              <a:rPr lang="en-US" sz="2800" i="1" dirty="0" smtClean="0"/>
              <a:t>.</a:t>
            </a:r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156399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Font typeface="Arial" charset="0"/>
              <a:buNone/>
            </a:pPr>
            <a:r>
              <a:rPr lang="en-PH" sz="2800" b="1" dirty="0" smtClean="0"/>
              <a:t>19. </a:t>
            </a:r>
            <a:r>
              <a:rPr lang="en-PH" sz="2800" i="1" dirty="0" smtClean="0"/>
              <a:t>My brother doesn’t like meat and </a:t>
            </a:r>
            <a:r>
              <a:rPr lang="en-PH" sz="2800" i="1" u="sng" dirty="0" smtClean="0"/>
              <a:t>neither do I</a:t>
            </a:r>
            <a:r>
              <a:rPr lang="en-PH" sz="2800" dirty="0" smtClean="0"/>
              <a:t>. The underlined words show _____.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A. </a:t>
            </a:r>
            <a:r>
              <a:rPr lang="en-PH" sz="2800" dirty="0" err="1" smtClean="0"/>
              <a:t>uninverted</a:t>
            </a:r>
            <a:r>
              <a:rPr lang="en-PH" sz="2800" dirty="0" smtClean="0"/>
              <a:t> affirmative elision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B. inverted affirmative elision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C. </a:t>
            </a:r>
            <a:r>
              <a:rPr lang="en-PH" sz="2800" dirty="0" err="1" smtClean="0"/>
              <a:t>uninverted</a:t>
            </a:r>
            <a:r>
              <a:rPr lang="en-PH" sz="2800" dirty="0" smtClean="0"/>
              <a:t> negative elision</a:t>
            </a:r>
            <a:endParaRPr lang="en-US" sz="2800" dirty="0" smtClean="0"/>
          </a:p>
          <a:p>
            <a:pPr lvl="1">
              <a:buFont typeface="Arial" charset="0"/>
              <a:buNone/>
            </a:pPr>
            <a:r>
              <a:rPr lang="en-PH" sz="2800" dirty="0" smtClean="0"/>
              <a:t>D. inverted negative elision</a:t>
            </a:r>
            <a:endParaRPr lang="en-US" sz="2800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36186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Elision Process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rmAutofit fontScale="92500" lnSpcReduction="10000"/>
          </a:bodyPr>
          <a:lstStyle/>
          <a:p>
            <a:pPr algn="ctr">
              <a:buFont typeface="Arial" charset="0"/>
              <a:buNone/>
            </a:pPr>
            <a:r>
              <a:rPr lang="en-US" sz="2400" i="1" dirty="0" smtClean="0"/>
              <a:t>My brother doesn’t like meat.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I do not like meat.</a:t>
            </a:r>
          </a:p>
          <a:p>
            <a:r>
              <a:rPr lang="en-US" sz="2400" b="1" dirty="0" err="1" smtClean="0"/>
              <a:t>Uninverted</a:t>
            </a:r>
            <a:r>
              <a:rPr lang="en-US" sz="2400" b="1" dirty="0" smtClean="0"/>
              <a:t> negative elision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My brother doesn’t like meat and </a:t>
            </a:r>
            <a:r>
              <a:rPr lang="en-US" sz="2400" i="1" u="sng" dirty="0" smtClean="0"/>
              <a:t>I don’t, </a:t>
            </a:r>
            <a:r>
              <a:rPr lang="en-US" sz="2400" b="1" i="1" u="sng" dirty="0" smtClean="0"/>
              <a:t>either</a:t>
            </a:r>
            <a:r>
              <a:rPr lang="en-US" sz="2400" i="1" dirty="0" smtClean="0"/>
              <a:t>.</a:t>
            </a:r>
          </a:p>
          <a:p>
            <a:r>
              <a:rPr lang="en-US" sz="2400" b="1" dirty="0" smtClean="0"/>
              <a:t>Inverted negative elision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	My brother doesn’t like meat and </a:t>
            </a:r>
            <a:r>
              <a:rPr lang="en-US" sz="2400" i="1" u="sng" dirty="0" smtClean="0"/>
              <a:t>neither do I</a:t>
            </a:r>
            <a:r>
              <a:rPr lang="en-US" sz="2400" i="1" dirty="0" smtClean="0"/>
              <a:t>.</a:t>
            </a:r>
          </a:p>
          <a:p>
            <a:pPr>
              <a:buFont typeface="Arial" charset="0"/>
              <a:buNone/>
            </a:pPr>
            <a:endParaRPr lang="en-US" sz="2400" dirty="0" smtClean="0"/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My brother likes meat.</a:t>
            </a:r>
          </a:p>
          <a:p>
            <a:pPr algn="ctr">
              <a:buFont typeface="Arial" charset="0"/>
              <a:buNone/>
            </a:pPr>
            <a:r>
              <a:rPr lang="en-US" sz="2400" i="1" dirty="0" smtClean="0"/>
              <a:t>I like meat.</a:t>
            </a:r>
          </a:p>
          <a:p>
            <a:r>
              <a:rPr lang="en-US" sz="2400" b="1" dirty="0" err="1" smtClean="0"/>
              <a:t>Uninverted</a:t>
            </a:r>
            <a:r>
              <a:rPr lang="en-US" sz="2400" b="1" dirty="0" smtClean="0"/>
              <a:t> affirmative elision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My brother likes meat and </a:t>
            </a:r>
            <a:r>
              <a:rPr lang="en-US" sz="2400" i="1" u="sng" dirty="0" smtClean="0"/>
              <a:t>I do, </a:t>
            </a:r>
            <a:r>
              <a:rPr lang="en-US" sz="2400" b="1" i="1" u="sng" dirty="0" smtClean="0"/>
              <a:t>too</a:t>
            </a:r>
            <a:r>
              <a:rPr lang="en-US" sz="2400" i="1" dirty="0" smtClean="0"/>
              <a:t>.</a:t>
            </a:r>
          </a:p>
          <a:p>
            <a:r>
              <a:rPr lang="en-US" sz="2400" b="1" dirty="0" smtClean="0"/>
              <a:t>Inverted affirmative elision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My brother likes meat and </a:t>
            </a:r>
            <a:r>
              <a:rPr lang="en-US" sz="2400" i="1" u="sng" dirty="0" smtClean="0"/>
              <a:t>so do I</a:t>
            </a:r>
            <a:r>
              <a:rPr lang="en-US" sz="2400" i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8229356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Arial" charset="0"/>
              <a:buNone/>
            </a:pPr>
            <a:r>
              <a:rPr lang="en-US" sz="2800" b="1" dirty="0" smtClean="0"/>
              <a:t>20. </a:t>
            </a:r>
            <a:r>
              <a:rPr lang="en-PH" sz="2800" dirty="0" smtClean="0"/>
              <a:t>Which of the following is a prototypical imperative sentence?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	A. </a:t>
            </a:r>
            <a:r>
              <a:rPr lang="en-PH" sz="2800" dirty="0" smtClean="0"/>
              <a:t>Let’s gather wild berries.</a:t>
            </a:r>
          </a:p>
          <a:p>
            <a:pPr marL="742950" indent="-742950">
              <a:buFont typeface="Arial" charset="0"/>
              <a:buNone/>
            </a:pPr>
            <a:r>
              <a:rPr lang="en-PH" sz="2800" dirty="0" smtClean="0"/>
              <a:t>    B. Could you please sharpen my pencil?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	C. </a:t>
            </a:r>
            <a:r>
              <a:rPr lang="en-PH" sz="2800" dirty="0" smtClean="0"/>
              <a:t>Don’t wash your dirty linen in 	   	 	  	    public.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	D. </a:t>
            </a:r>
            <a:r>
              <a:rPr lang="en-PH" sz="2800" dirty="0" smtClean="0"/>
              <a:t>Wait for your turn.</a:t>
            </a:r>
            <a:endParaRPr lang="en-US" sz="2800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3156422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 smtClean="0"/>
              <a:t>Kinds of Imperative Sentences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A. 	Inclusive imperative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		Let’s gather wild berries.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B.  	Polite imperative/Request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		Could you please sharpen my pencil?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b="1" dirty="0" smtClean="0"/>
              <a:t>	C.  Negative imperative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</a:t>
            </a:r>
            <a:r>
              <a:rPr lang="en-PH" sz="2800" dirty="0" smtClean="0"/>
              <a:t>Don’t wash your dirty linen in public.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D.  Affirmative imperative </a:t>
            </a:r>
          </a:p>
          <a:p>
            <a:pPr>
              <a:buFont typeface="Arial" charset="0"/>
              <a:buNone/>
            </a:pPr>
            <a:r>
              <a:rPr lang="en-US" sz="2800" dirty="0" smtClean="0"/>
              <a:t>			</a:t>
            </a:r>
            <a:r>
              <a:rPr lang="en-PH" sz="2800" dirty="0" smtClean="0"/>
              <a:t>Wait for your turn.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E.  	Elliptical imperative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	</a:t>
            </a:r>
            <a:r>
              <a:rPr lang="en-PH" sz="2800" dirty="0"/>
              <a:t> </a:t>
            </a:r>
            <a:r>
              <a:rPr lang="en-PH" sz="2800" dirty="0" smtClean="0"/>
              <a:t>   	Trays!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F.  	Diffuse imperative</a:t>
            </a:r>
          </a:p>
          <a:p>
            <a:pPr>
              <a:buFont typeface="Arial" charset="0"/>
              <a:buNone/>
            </a:pPr>
            <a:r>
              <a:rPr lang="en-PH" sz="2800" dirty="0" smtClean="0"/>
              <a:t>			Somebody open the door</a:t>
            </a:r>
          </a:p>
          <a:p>
            <a:pPr>
              <a:buFont typeface="Arial" charset="0"/>
              <a:buNone/>
            </a:pPr>
            <a:endParaRPr lang="en-US" sz="2800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37209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Arial" charset="0"/>
              <a:buNone/>
            </a:pPr>
            <a:r>
              <a:rPr lang="en-US" sz="2800" b="1" dirty="0" smtClean="0"/>
              <a:t>21. </a:t>
            </a:r>
            <a:r>
              <a:rPr lang="en-PH" sz="2800" dirty="0" smtClean="0"/>
              <a:t>One of the following is not a </a:t>
            </a:r>
            <a:r>
              <a:rPr lang="en-PH" sz="2800" i="1" dirty="0" smtClean="0"/>
              <a:t>content word</a:t>
            </a:r>
            <a:r>
              <a:rPr lang="en-PH" sz="2800" dirty="0" smtClean="0"/>
              <a:t>. Which word is it?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A. he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B. bought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C. new</a:t>
            </a:r>
            <a:endParaRPr lang="en-US" sz="2800" dirty="0" smtClean="0"/>
          </a:p>
          <a:p>
            <a:pPr>
              <a:buFont typeface="Arial" charset="0"/>
              <a:buNone/>
            </a:pPr>
            <a:r>
              <a:rPr lang="en-PH" sz="2800" dirty="0" smtClean="0"/>
              <a:t>	D. shirt</a:t>
            </a:r>
            <a:endParaRPr lang="en-US" sz="2800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1159378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33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Categories of Words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Traditionally, we recognize eight (8) parts of speech</a:t>
            </a:r>
          </a:p>
          <a:p>
            <a:pPr marL="400050" indent="-400050">
              <a:buNone/>
            </a:pPr>
            <a:r>
              <a:rPr lang="en-US" sz="2400" dirty="0" smtClean="0"/>
              <a:t>NOW, we categorize words into:</a:t>
            </a:r>
          </a:p>
          <a:p>
            <a:r>
              <a:rPr lang="en-US" sz="2400" b="1" dirty="0" smtClean="0"/>
              <a:t>Content words </a:t>
            </a:r>
            <a:r>
              <a:rPr lang="en-US" sz="2400" dirty="0" smtClean="0"/>
              <a:t>(open classes)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Nouns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Verbs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Adjectives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Adverbs</a:t>
            </a:r>
          </a:p>
          <a:p>
            <a:r>
              <a:rPr lang="en-US" sz="2400" b="1" dirty="0" smtClean="0"/>
              <a:t>Structure/function words (</a:t>
            </a:r>
            <a:r>
              <a:rPr lang="en-US" sz="2400" dirty="0" smtClean="0"/>
              <a:t>closed classes)</a:t>
            </a:r>
          </a:p>
          <a:p>
            <a:pPr lvl="1">
              <a:buFont typeface="Wingdings" pitchFamily="2" charset="2"/>
              <a:buChar char="ü"/>
            </a:pPr>
            <a:r>
              <a:rPr lang="en-US" sz="2200" dirty="0" smtClean="0"/>
              <a:t>All other word classes (pronouns, determiners, prepositions,  conjunctions, etc.)</a:t>
            </a:r>
          </a:p>
        </p:txBody>
      </p:sp>
    </p:spTree>
    <p:extLst>
      <p:ext uri="{BB962C8B-B14F-4D97-AF65-F5344CB8AC3E}">
        <p14:creationId xmlns:p14="http://schemas.microsoft.com/office/powerpoint/2010/main" xmlns="" val="21139807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1066801" y="2133600"/>
            <a:ext cx="7467600" cy="3777622"/>
          </a:xfrm>
        </p:spPr>
        <p:txBody>
          <a:bodyPr/>
          <a:lstStyle/>
          <a:p>
            <a:pPr marL="571500" indent="-571500">
              <a:buFont typeface="Arial" charset="0"/>
              <a:buNone/>
            </a:pPr>
            <a:r>
              <a:rPr lang="en-US" sz="2800" b="1" dirty="0" smtClean="0"/>
              <a:t>22</a:t>
            </a:r>
            <a:r>
              <a:rPr lang="en-US" sz="2800" dirty="0" smtClean="0"/>
              <a:t>. </a:t>
            </a:r>
            <a:r>
              <a:rPr lang="en-PH" sz="2800" dirty="0" smtClean="0"/>
              <a:t>Which of the following verbs can be both transitive and intransitive?</a:t>
            </a:r>
            <a:endParaRPr lang="en-US" sz="2800" dirty="0" smtClean="0"/>
          </a:p>
          <a:p>
            <a:pPr>
              <a:buNone/>
            </a:pPr>
            <a:r>
              <a:rPr lang="en-PH" sz="2800" dirty="0"/>
              <a:t>	</a:t>
            </a:r>
            <a:r>
              <a:rPr lang="en-PH" sz="2800" dirty="0" smtClean="0"/>
              <a:t>A. seem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B. arrive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C. sing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bring </a:t>
            </a:r>
            <a:endParaRPr lang="en-US" sz="2800" dirty="0" smtClean="0"/>
          </a:p>
          <a:p>
            <a:pPr>
              <a:buFont typeface="Arial" charset="0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19914191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To Remember 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Some verbs are </a:t>
            </a:r>
            <a:r>
              <a:rPr lang="en-US" sz="2400" b="1" u="sng" dirty="0" smtClean="0"/>
              <a:t>intransitive only</a:t>
            </a:r>
            <a:r>
              <a:rPr lang="en-US" sz="2400" b="1" dirty="0" smtClean="0"/>
              <a:t>.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arrive, blush, cry, disappear, erupt, faint, happen,  kneel, laugh, moan, persist, roar</a:t>
            </a:r>
          </a:p>
          <a:p>
            <a:r>
              <a:rPr lang="en-US" sz="2400" b="1" dirty="0" smtClean="0"/>
              <a:t>Some verbs are </a:t>
            </a:r>
            <a:r>
              <a:rPr lang="en-US" sz="2400" b="1" u="sng" dirty="0" smtClean="0"/>
              <a:t>transitive only</a:t>
            </a:r>
            <a:r>
              <a:rPr lang="en-US" sz="2400" b="1" dirty="0" smtClean="0"/>
              <a:t>.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	</a:t>
            </a:r>
            <a:r>
              <a:rPr lang="en-US" sz="2400" i="1" dirty="0" smtClean="0"/>
              <a:t>admire, blame, catch, design, enjoy, free, give, hear, keep, like, make, need, plant, record</a:t>
            </a:r>
          </a:p>
          <a:p>
            <a:r>
              <a:rPr lang="en-US" sz="2400" b="1" dirty="0" smtClean="0"/>
              <a:t>Other verbs can be </a:t>
            </a:r>
            <a:r>
              <a:rPr lang="en-US" sz="2400" b="1" u="sng" dirty="0" smtClean="0"/>
              <a:t>both intransitive or transitive</a:t>
            </a:r>
            <a:r>
              <a:rPr lang="en-US" sz="2400" b="1" dirty="0" smtClean="0"/>
              <a:t> </a:t>
            </a:r>
            <a:r>
              <a:rPr lang="en-US" sz="2400" dirty="0" smtClean="0"/>
              <a:t>(may or may not take an object</a:t>
            </a:r>
            <a:endParaRPr lang="en-US" sz="2400" u="sng" dirty="0" smtClean="0"/>
          </a:p>
          <a:p>
            <a:pPr>
              <a:buFont typeface="Arial" charset="0"/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eat, play, run, sing, speak, wash</a:t>
            </a:r>
          </a:p>
          <a:p>
            <a:pPr>
              <a:buFont typeface="Arial" charset="0"/>
              <a:buNone/>
            </a:pPr>
            <a:r>
              <a:rPr lang="en-US" sz="2400" i="1" dirty="0" smtClean="0"/>
              <a:t>		The children played.	(</a:t>
            </a:r>
            <a:r>
              <a:rPr lang="en-US" sz="2400" dirty="0" smtClean="0"/>
              <a:t>intransitive)</a:t>
            </a:r>
            <a:endParaRPr lang="en-US" sz="2400" i="1" dirty="0" smtClean="0"/>
          </a:p>
          <a:p>
            <a:pPr>
              <a:buFont typeface="Arial" charset="0"/>
              <a:buNone/>
            </a:pPr>
            <a:r>
              <a:rPr lang="en-US" sz="2400" i="1" dirty="0" smtClean="0"/>
              <a:t>		The children played chess.	</a:t>
            </a:r>
            <a:r>
              <a:rPr lang="en-US" sz="2400" dirty="0" smtClean="0"/>
              <a:t>(transitive)</a:t>
            </a:r>
            <a:endParaRPr lang="en-US" sz="2400" i="1" dirty="0" smtClean="0"/>
          </a:p>
        </p:txBody>
      </p:sp>
    </p:spTree>
    <p:extLst>
      <p:ext uri="{BB962C8B-B14F-4D97-AF65-F5344CB8AC3E}">
        <p14:creationId xmlns:p14="http://schemas.microsoft.com/office/powerpoint/2010/main" xmlns="" val="3546649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627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>
            <a:normAutofit/>
          </a:bodyPr>
          <a:lstStyle/>
          <a:p>
            <a:pPr marL="628650" lvl="0" indent="-628650">
              <a:buNone/>
            </a:pPr>
            <a:r>
              <a:rPr lang="en-PH" sz="2800" b="1" dirty="0" smtClean="0"/>
              <a:t>23</a:t>
            </a:r>
            <a:r>
              <a:rPr lang="en-PH" sz="2800" dirty="0" smtClean="0"/>
              <a:t>. Which adverbial phrases come in the right order?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 (walks) every morning hurriedly to catch 		the bus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 (walks) to catch the bus hurriedly every 			morning 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(goes) at seven o’clock to the library to 		    return some books 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(goes) to the library at seven o’clock to 		    return some books 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4066597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Sequence of Sentence-Final Adverbials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752600"/>
            <a:ext cx="7277785" cy="484442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PH" dirty="0" smtClean="0"/>
              <a:t>	</a:t>
            </a:r>
            <a:r>
              <a:rPr lang="en-PH" sz="2800" dirty="0"/>
              <a:t> { direction/goal</a:t>
            </a:r>
            <a:r>
              <a:rPr lang="en-PH" sz="2800" dirty="0" smtClean="0"/>
              <a:t>} + position ↔ manner + time ↔ frequency + purpose/reason}</a:t>
            </a:r>
          </a:p>
          <a:p>
            <a:pPr>
              <a:buNone/>
            </a:pPr>
            <a:endParaRPr lang="en-PH" sz="2800" i="1" dirty="0" smtClean="0"/>
          </a:p>
          <a:p>
            <a:pPr>
              <a:buNone/>
            </a:pPr>
            <a:r>
              <a:rPr lang="en-PH" sz="2800" i="1" dirty="0" smtClean="0"/>
              <a:t>	He walks </a:t>
            </a:r>
            <a:r>
              <a:rPr lang="en-PH" sz="2800" i="1" u="sng" dirty="0" smtClean="0"/>
              <a:t>home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leisurely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at 5:30 PM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every day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because he wants to feel relaxed</a:t>
            </a:r>
            <a:r>
              <a:rPr lang="en-PH" sz="2800" i="1" dirty="0" smtClean="0"/>
              <a:t>.</a:t>
            </a:r>
            <a:endParaRPr lang="en-US" sz="2800" dirty="0" smtClean="0"/>
          </a:p>
          <a:p>
            <a:endParaRPr lang="en-US" sz="2800" dirty="0" smtClean="0"/>
          </a:p>
          <a:p>
            <a:pPr>
              <a:buNone/>
            </a:pPr>
            <a:r>
              <a:rPr lang="en-PH" sz="2800" i="1" dirty="0" smtClean="0"/>
              <a:t>	He walks </a:t>
            </a:r>
            <a:r>
              <a:rPr lang="en-PH" sz="2800" i="1" u="sng" dirty="0" smtClean="0"/>
              <a:t>home leisurely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every day </a:t>
            </a:r>
            <a:r>
              <a:rPr lang="en-PH" sz="2800" i="1" dirty="0" smtClean="0"/>
              <a:t>at</a:t>
            </a:r>
            <a:r>
              <a:rPr lang="en-PH" sz="2800" i="1" u="sng" dirty="0" smtClean="0"/>
              <a:t> 5:30 PM</a:t>
            </a:r>
            <a:r>
              <a:rPr lang="en-PH" sz="2800" i="1" dirty="0" smtClean="0"/>
              <a:t> </a:t>
            </a:r>
            <a:r>
              <a:rPr lang="en-PH" sz="2800" i="1" u="sng" dirty="0" smtClean="0"/>
              <a:t>because he wants to feel relaxed</a:t>
            </a:r>
            <a:r>
              <a:rPr lang="en-PH" sz="2800" i="1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4503146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28651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524000"/>
            <a:ext cx="7239000" cy="4953000"/>
          </a:xfrm>
        </p:spPr>
        <p:txBody>
          <a:bodyPr/>
          <a:lstStyle/>
          <a:p>
            <a:pPr marL="514350" lvl="0" indent="-514350">
              <a:buNone/>
            </a:pPr>
            <a:r>
              <a:rPr lang="en-PH" sz="2400" b="1" dirty="0" smtClean="0"/>
              <a:t>24. </a:t>
            </a:r>
            <a:r>
              <a:rPr lang="en-PH" sz="2400" dirty="0" smtClean="0"/>
              <a:t>”</a:t>
            </a:r>
            <a:r>
              <a:rPr lang="en-PH" sz="2400" dirty="0" smtClean="0">
                <a:solidFill>
                  <a:srgbClr val="FF0000"/>
                </a:solidFill>
              </a:rPr>
              <a:t>If Fred _____ hard, he would have passed the examination</a:t>
            </a:r>
            <a:r>
              <a:rPr lang="en-PH" sz="2400" dirty="0" smtClean="0"/>
              <a:t>.” Which verb form correctly completes the conditional sentence?</a:t>
            </a:r>
            <a:endParaRPr lang="en-US" sz="2400" dirty="0" smtClean="0"/>
          </a:p>
          <a:p>
            <a:pPr>
              <a:buNone/>
            </a:pPr>
            <a:r>
              <a:rPr lang="en-PH" sz="2400" dirty="0" smtClean="0"/>
              <a:t>	A. studied</a:t>
            </a:r>
            <a:endParaRPr lang="en-US" sz="2400" dirty="0" smtClean="0"/>
          </a:p>
          <a:p>
            <a:pPr>
              <a:buNone/>
            </a:pPr>
            <a:r>
              <a:rPr lang="en-PH" sz="2400" b="1" dirty="0" smtClean="0"/>
              <a:t>	</a:t>
            </a:r>
            <a:r>
              <a:rPr lang="en-PH" sz="2400" dirty="0" smtClean="0"/>
              <a:t>B. had studied </a:t>
            </a:r>
            <a:endParaRPr lang="en-US" sz="2400" dirty="0" smtClean="0"/>
          </a:p>
          <a:p>
            <a:pPr>
              <a:buNone/>
            </a:pPr>
            <a:r>
              <a:rPr lang="en-PH" sz="2400" dirty="0" smtClean="0"/>
              <a:t>	C. has studied</a:t>
            </a:r>
            <a:endParaRPr lang="en-US" sz="2400" dirty="0" smtClean="0"/>
          </a:p>
          <a:p>
            <a:pPr>
              <a:buNone/>
            </a:pPr>
            <a:r>
              <a:rPr lang="en-PH" sz="2400" dirty="0" smtClean="0"/>
              <a:t>	D. would have studied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347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Verb Pairing in </a:t>
            </a:r>
            <a:r>
              <a:rPr lang="en-US" b="1" i="1" dirty="0" smtClean="0"/>
              <a:t>If</a:t>
            </a:r>
            <a:r>
              <a:rPr lang="en-US" b="1" dirty="0" smtClean="0"/>
              <a:t> and Main Clauses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3200" dirty="0" smtClean="0"/>
              <a:t>If … studies		… will pass</a:t>
            </a:r>
          </a:p>
          <a:p>
            <a:r>
              <a:rPr lang="en-US" sz="3200" dirty="0" smtClean="0"/>
              <a:t>If … studied		… would pass</a:t>
            </a:r>
          </a:p>
          <a:p>
            <a:r>
              <a:rPr lang="en-US" sz="3200" dirty="0" smtClean="0"/>
              <a:t>If … has studied	… will have passed</a:t>
            </a:r>
          </a:p>
          <a:p>
            <a:r>
              <a:rPr lang="en-US" sz="3200" dirty="0" smtClean="0"/>
              <a:t>If … had studied	… would have passed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4895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571500" indent="-571500">
              <a:buNone/>
            </a:pPr>
            <a:r>
              <a:rPr lang="en-PH" sz="2800" b="1" dirty="0" smtClean="0"/>
              <a:t>25. </a:t>
            </a:r>
            <a:r>
              <a:rPr lang="en-PH" sz="2800" dirty="0" smtClean="0"/>
              <a:t>Which of the following sentences does not make use of an operator verb?</a:t>
            </a:r>
            <a:endParaRPr lang="en-US" sz="2800" dirty="0" smtClean="0"/>
          </a:p>
          <a:p>
            <a:pPr marL="742950" indent="-742950">
              <a:buNone/>
            </a:pPr>
            <a:r>
              <a:rPr lang="en-PH" sz="2800" dirty="0" smtClean="0"/>
              <a:t>   A. 	Please join my birthday party this weekend.</a:t>
            </a:r>
            <a:endParaRPr lang="en-US" sz="2800" dirty="0" smtClean="0"/>
          </a:p>
          <a:p>
            <a:pPr marL="742950" indent="-742950">
              <a:buNone/>
            </a:pPr>
            <a:r>
              <a:rPr lang="en-PH" sz="2800" dirty="0"/>
              <a:t> </a:t>
            </a:r>
            <a:r>
              <a:rPr lang="en-PH" sz="2800" dirty="0" smtClean="0"/>
              <a:t>  B. 	Can you join my birthday party this weekend?</a:t>
            </a:r>
            <a:endParaRPr lang="en-US" sz="2800" dirty="0" smtClean="0"/>
          </a:p>
          <a:p>
            <a:pPr marL="628650">
              <a:buNone/>
            </a:pPr>
            <a:r>
              <a:rPr lang="en-PH" sz="2800" dirty="0" smtClean="0"/>
              <a:t>C. You are joining my birthday party,           </a:t>
            </a:r>
          </a:p>
          <a:p>
            <a:pPr marL="628650">
              <a:buNone/>
            </a:pPr>
            <a:r>
              <a:rPr lang="en-PH" sz="2800" dirty="0"/>
              <a:t>	</a:t>
            </a:r>
            <a:r>
              <a:rPr lang="en-PH" sz="2800" dirty="0" smtClean="0"/>
              <a:t> aren’t you?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I will expect you and your sister.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76132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3200" b="1" dirty="0" smtClean="0"/>
              <a:t>PART II</a:t>
            </a:r>
          </a:p>
          <a:p>
            <a:pPr algn="ctr">
              <a:buNone/>
            </a:pPr>
            <a:r>
              <a:rPr lang="en-US" sz="3200" b="1" dirty="0" smtClean="0"/>
              <a:t>ENHANCING TEST-TAKING SKILLS</a:t>
            </a:r>
          </a:p>
        </p:txBody>
      </p:sp>
    </p:spTree>
    <p:extLst>
      <p:ext uri="{BB962C8B-B14F-4D97-AF65-F5344CB8AC3E}">
        <p14:creationId xmlns:p14="http://schemas.microsoft.com/office/powerpoint/2010/main" xmlns="" val="27892779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sz="2800" b="1" dirty="0" smtClean="0"/>
              <a:t>1. </a:t>
            </a:r>
            <a:r>
              <a:rPr lang="en-PH" sz="2800" dirty="0" smtClean="0"/>
              <a:t>In the sentence, “</a:t>
            </a:r>
            <a:r>
              <a:rPr lang="en-PH" sz="2800" dirty="0" smtClean="0">
                <a:solidFill>
                  <a:srgbClr val="FF0000"/>
                </a:solidFill>
              </a:rPr>
              <a:t>The supplier delivers water on Tuesdays and Fridays</a:t>
            </a:r>
            <a:r>
              <a:rPr lang="en-PH" sz="2800" dirty="0" smtClean="0"/>
              <a:t>,” the verb is a _____ verb.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A. transitive 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B. intransitive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C. linking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phrasal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84888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PH" sz="2800" b="1" dirty="0" smtClean="0"/>
              <a:t>2. </a:t>
            </a:r>
            <a:r>
              <a:rPr lang="en-PH" sz="2800" dirty="0" smtClean="0"/>
              <a:t>Which of the following is an active sentence?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A. The dishes have been washed.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B.  Much corn is raised in the </a:t>
            </a:r>
            <a:r>
              <a:rPr lang="en-PH" sz="2800" dirty="0" err="1" smtClean="0"/>
              <a:t>Ilocos</a:t>
            </a:r>
            <a:r>
              <a:rPr lang="en-PH" sz="2800" dirty="0" smtClean="0"/>
              <a:t> Region.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C. The boy scouts raised the flag.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The drums are played at 7:45 in the evening.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267782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PH" sz="2800" b="1" dirty="0" smtClean="0"/>
              <a:t>3. </a:t>
            </a:r>
            <a:r>
              <a:rPr lang="en-PH" sz="2800" i="1" dirty="0" smtClean="0">
                <a:solidFill>
                  <a:srgbClr val="FF0000"/>
                </a:solidFill>
              </a:rPr>
              <a:t>The pitcher _____ the ball with a strong force scoring a perfect strike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In a commentary of a baseball match, which verb will complete the sentence correctly?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A. throws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B. is throwing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C. has thrown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D. will be throwing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30406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6985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PH" b="1" dirty="0" smtClean="0"/>
              <a:t>Tense and Aspect of Verbs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3000" b="1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3000" b="1" dirty="0" smtClean="0"/>
              <a:t>1.    Tense</a:t>
            </a:r>
            <a:r>
              <a:rPr lang="en-PH" sz="3000" dirty="0" smtClean="0"/>
              <a:t> gives information about the time when an event takes place.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30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3000" dirty="0" smtClean="0"/>
              <a:t>		Present / Past / Future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30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3000" dirty="0" smtClean="0"/>
              <a:t>2.	</a:t>
            </a:r>
            <a:r>
              <a:rPr lang="en-PH" sz="3000" b="1" dirty="0" smtClean="0"/>
              <a:t>Aspect</a:t>
            </a:r>
            <a:r>
              <a:rPr lang="en-PH" sz="3000" dirty="0" smtClean="0"/>
              <a:t> gives information on completion and duration of an event.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30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3000" dirty="0" smtClean="0"/>
              <a:t>	Simple / Progressive / Perfect / Perfect  progressive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PH" sz="2400" dirty="0" smtClean="0"/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400" dirty="0" smtClean="0"/>
              <a:t>	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PH" sz="2400" dirty="0" smtClean="0"/>
              <a:t>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xmlns="" val="5866310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b="1" dirty="0" smtClean="0"/>
              <a:t>Source</a:t>
            </a:r>
            <a:r>
              <a:rPr lang="en-US" sz="2400" b="1" dirty="0"/>
              <a:t>: 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http</a:t>
            </a:r>
            <a:r>
              <a:rPr lang="en-US" sz="2400" b="1" dirty="0">
                <a:solidFill>
                  <a:schemeClr val="tx1"/>
                </a:solidFill>
              </a:rPr>
              <a:t>://</a:t>
            </a:r>
            <a:r>
              <a:rPr lang="en-US" sz="2400" b="1" dirty="0" smtClean="0">
                <a:solidFill>
                  <a:schemeClr val="tx1"/>
                </a:solidFill>
              </a:rPr>
              <a:t>www.englishpage.com/verbpage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480059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7747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b="1" dirty="0" smtClean="0"/>
              <a:t>Uses of the Present Tense</a:t>
            </a:r>
          </a:p>
        </p:txBody>
      </p:sp>
      <p:graphicFrame>
        <p:nvGraphicFramePr>
          <p:cNvPr id="181279" name="Group 31"/>
          <p:cNvGraphicFramePr>
            <a:graphicFrameLocks noGrp="1"/>
          </p:cNvGraphicFramePr>
          <p:nvPr>
            <p:ph type="tbl" idx="1"/>
          </p:nvPr>
        </p:nvGraphicFramePr>
        <p:xfrm>
          <a:off x="304800" y="1295400"/>
          <a:ext cx="8229600" cy="46482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044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He </a:t>
                      </a:r>
                      <a:r>
                        <a:rPr kumimoji="0" lang="en-PH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walks</a:t>
                      </a: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to school </a:t>
                      </a:r>
                      <a:r>
                        <a:rPr kumimoji="0" lang="en-PH" sz="2800" b="0" i="1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every day</a:t>
                      </a: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habitual action in the present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4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Water </a:t>
                      </a:r>
                      <a:r>
                        <a:rPr kumimoji="0" lang="en-PH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freezes</a:t>
                      </a: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at 0 degrees centigrade</a:t>
                      </a: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general timeless truth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44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There  </a:t>
                      </a:r>
                      <a:r>
                        <a:rPr kumimoji="0" lang="en-PH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is</a:t>
                      </a: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a large store at the corner</a:t>
                      </a: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a state/condition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15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If Alan </a:t>
                      </a:r>
                      <a:r>
                        <a:rPr kumimoji="0" lang="en-PH" sz="2800" b="1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passes</a:t>
                      </a:r>
                      <a:r>
                        <a:rPr kumimoji="0" lang="en-PH" sz="2800" b="0" i="1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the bar exam</a:t>
                      </a: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, he will practice law</a:t>
                      </a: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subordinate clause of conditional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872235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6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165100"/>
          </a:xfrm>
        </p:spPr>
        <p:txBody>
          <a:bodyPr>
            <a:normAutofit fontScale="90000"/>
          </a:bodyPr>
          <a:lstStyle/>
          <a:p>
            <a:pPr eaLnBrk="1" hangingPunct="1"/>
            <a:endParaRPr lang="en-US" sz="4000" smtClean="0"/>
          </a:p>
        </p:txBody>
      </p:sp>
      <p:graphicFrame>
        <p:nvGraphicFramePr>
          <p:cNvPr id="183322" name="Group 26"/>
          <p:cNvGraphicFramePr>
            <a:graphicFrameLocks noGrp="1"/>
          </p:cNvGraphicFramePr>
          <p:nvPr>
            <p:ph type="tbl" idx="1"/>
          </p:nvPr>
        </p:nvGraphicFramePr>
        <p:xfrm>
          <a:off x="457200" y="1066800"/>
          <a:ext cx="8229600" cy="5303838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266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I </a:t>
                      </a:r>
                      <a:r>
                        <a:rPr kumimoji="0" lang="en-PH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have</a:t>
                      </a: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a meeting </a:t>
                      </a:r>
                      <a:r>
                        <a:rPr kumimoji="0" lang="en-PH" sz="2800" b="0" i="1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next week</a:t>
                      </a:r>
                      <a:r>
                        <a:rPr kumimoji="0" lang="en-PH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kumimoji="0" lang="en-GB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future</a:t>
                      </a: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0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Now I </a:t>
                      </a:r>
                      <a:r>
                        <a:rPr kumimoji="0" lang="en-PH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add</a:t>
                      </a: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three eggs to the mixture.</a:t>
                      </a:r>
                      <a:endParaRPr kumimoji="0" lang="en-GB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present action in a demonstration/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procedure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6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So he </a:t>
                      </a:r>
                      <a:r>
                        <a:rPr kumimoji="0" lang="en-PH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stands</a:t>
                      </a: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up on the boat and </a:t>
                      </a:r>
                      <a:r>
                        <a:rPr kumimoji="0" lang="en-PH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waves</a:t>
                      </a:r>
                      <a:r>
                        <a:rPr kumimoji="0" lang="en-PH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 his hands to catch our attention.</a:t>
                      </a:r>
                      <a:endParaRPr kumimoji="0" lang="en-GB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20000"/>
                        <a:buFontTx/>
                        <a:buNone/>
                        <a:tabLst/>
                      </a:pPr>
                      <a:r>
                        <a:rPr kumimoji="0" lang="en-PH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itchFamily="34" charset="0"/>
                          <a:cs typeface="Arial" pitchFamily="34" charset="0"/>
                        </a:rPr>
                        <a:t>narration - historical present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4799086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sz="2800" b="1" dirty="0" smtClean="0"/>
              <a:t>4. </a:t>
            </a:r>
            <a:r>
              <a:rPr lang="en-PH" sz="2800" dirty="0" smtClean="0"/>
              <a:t>Which aspect of the verb carries the meaning of “prior.”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A. simple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B. progressive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C. perfect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perfect progressive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79799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774700"/>
          </a:xfrm>
        </p:spPr>
        <p:txBody>
          <a:bodyPr/>
          <a:lstStyle/>
          <a:p>
            <a:pPr algn="ctr" eaLnBrk="1" hangingPunct="1"/>
            <a:r>
              <a:rPr lang="en-PH" sz="4000" b="1" dirty="0" smtClean="0"/>
              <a:t>Meaning of the Aspects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876800"/>
          </a:xfrm>
        </p:spPr>
        <p:txBody>
          <a:bodyPr>
            <a:noAutofit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PH" sz="2800" b="1" dirty="0" smtClean="0"/>
              <a:t>Simple aspect</a:t>
            </a:r>
          </a:p>
          <a:p>
            <a:pPr marL="609600" indent="-609600" eaLnBrk="1" hangingPunct="1">
              <a:buFontTx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=</a:t>
            </a:r>
            <a:r>
              <a:rPr lang="en-PH" sz="2800" dirty="0" smtClean="0"/>
              <a:t> complete; unchanging nature; immediate  </a:t>
            </a:r>
          </a:p>
          <a:p>
            <a:pPr marL="609600" indent="-609600" eaLnBrk="1" hangingPunct="1">
              <a:buFontTx/>
              <a:buNone/>
            </a:pPr>
            <a:r>
              <a:rPr lang="en-PH" sz="2800" dirty="0" smtClean="0"/>
              <a:t>        factuality (present &amp; past tense) /strong prediction (future tense)</a:t>
            </a:r>
          </a:p>
          <a:p>
            <a:pPr marL="609600" indent="-609600" eaLnBrk="1" hangingPunct="1">
              <a:buFontTx/>
              <a:buAutoNum type="arabicPeriod" startAt="2"/>
            </a:pPr>
            <a:r>
              <a:rPr lang="en-PH" sz="2800" b="1" dirty="0" smtClean="0"/>
              <a:t>Perfect aspect</a:t>
            </a:r>
          </a:p>
          <a:p>
            <a:pPr marL="609600" indent="-609600" eaLnBrk="1" hangingPunct="1">
              <a:buFontTx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=</a:t>
            </a:r>
            <a:r>
              <a:rPr lang="en-PH" sz="2800" dirty="0" smtClean="0"/>
              <a:t> prior/before</a:t>
            </a:r>
          </a:p>
          <a:p>
            <a:pPr marL="609600" indent="-609600" eaLnBrk="1" hangingPunct="1">
              <a:buFontTx/>
              <a:buAutoNum type="arabicPeriod" startAt="3"/>
            </a:pPr>
            <a:r>
              <a:rPr lang="en-PH" sz="2800" b="1" dirty="0" smtClean="0"/>
              <a:t>Progressive aspect</a:t>
            </a:r>
          </a:p>
          <a:p>
            <a:pPr marL="609600" indent="-609600" eaLnBrk="1" hangingPunct="1">
              <a:buFontTx/>
              <a:buNone/>
            </a:pPr>
            <a:r>
              <a:rPr lang="en-PH" sz="2800" dirty="0" smtClean="0"/>
              <a:t>	</a:t>
            </a:r>
            <a:r>
              <a:rPr lang="en-PH" sz="2800" b="1" dirty="0" smtClean="0"/>
              <a:t>=</a:t>
            </a:r>
            <a:r>
              <a:rPr lang="en-PH" sz="2800" dirty="0" smtClean="0"/>
              <a:t> incomplete; changing</a:t>
            </a:r>
          </a:p>
        </p:txBody>
      </p:sp>
    </p:spTree>
    <p:extLst>
      <p:ext uri="{BB962C8B-B14F-4D97-AF65-F5344CB8AC3E}">
        <p14:creationId xmlns:p14="http://schemas.microsoft.com/office/powerpoint/2010/main" xmlns="" val="2007106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PH" sz="2800" b="1" dirty="0" smtClean="0"/>
              <a:t>5. </a:t>
            </a:r>
            <a:r>
              <a:rPr lang="en-PH" sz="2800" dirty="0" smtClean="0"/>
              <a:t>Which sentence has a </a:t>
            </a:r>
            <a:r>
              <a:rPr lang="en-PH" sz="2800" dirty="0" err="1" smtClean="0"/>
              <a:t>ditransitive</a:t>
            </a:r>
            <a:r>
              <a:rPr lang="en-PH" sz="2800" dirty="0" smtClean="0"/>
              <a:t> verb?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A. He looked at the mountain with 		  	   binoculars.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B. </a:t>
            </a:r>
            <a:r>
              <a:rPr lang="en-PH" sz="2800" dirty="0" smtClean="0"/>
              <a:t>We were happily chatting under 	      	   the tree.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C. </a:t>
            </a:r>
            <a:r>
              <a:rPr lang="en-PH" sz="2800" dirty="0" smtClean="0"/>
              <a:t>Mother made dresses for my doll.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D. </a:t>
            </a:r>
            <a:r>
              <a:rPr lang="en-PH" sz="2800" dirty="0" smtClean="0"/>
              <a:t>She put a rocking chair on the 	  		    lawn.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16017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PH" sz="2800" b="1" dirty="0" smtClean="0"/>
              <a:t>6. </a:t>
            </a:r>
            <a:r>
              <a:rPr lang="en-PH" sz="2800" dirty="0" smtClean="0"/>
              <a:t>Which of the following sentences shows an error in subject-verb agreement?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Measles is contagious.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The committee works hard even on 	   holidays.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One hundred pesos are hard to  		    earn in one day.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My </a:t>
            </a:r>
            <a:r>
              <a:rPr lang="en-PH" sz="2800" dirty="0" err="1" smtClean="0"/>
              <a:t>pajamas</a:t>
            </a:r>
            <a:r>
              <a:rPr lang="en-PH" sz="2800" dirty="0" smtClean="0"/>
              <a:t> are still wet.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653143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PH" sz="2800" b="1" dirty="0" smtClean="0"/>
              <a:t>7. </a:t>
            </a:r>
            <a:r>
              <a:rPr lang="en-PH" sz="2800" i="1" dirty="0" smtClean="0">
                <a:solidFill>
                  <a:srgbClr val="FF0000"/>
                </a:solidFill>
              </a:rPr>
              <a:t>We watched the softball game on the front porch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Which question elicits the direct object constituent?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A. </a:t>
            </a:r>
            <a:r>
              <a:rPr lang="en-PH" sz="2800" dirty="0" smtClean="0"/>
              <a:t>Who watched the softball game?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B. </a:t>
            </a:r>
            <a:r>
              <a:rPr lang="en-PH" sz="2800" dirty="0" smtClean="0"/>
              <a:t>What did we do? </a:t>
            </a:r>
          </a:p>
          <a:p>
            <a:pPr>
              <a:buNone/>
            </a:pPr>
            <a:r>
              <a:rPr lang="en-PH" sz="2800" dirty="0" smtClean="0"/>
              <a:t>	C. What did we watch? </a:t>
            </a:r>
          </a:p>
          <a:p>
            <a:pPr>
              <a:buNone/>
            </a:pPr>
            <a:r>
              <a:rPr lang="en-PH" sz="2800" dirty="0" smtClean="0"/>
              <a:t>	D. Where did we watch the game?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707520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PH" sz="2800" b="1" dirty="0" smtClean="0"/>
              <a:t>8. </a:t>
            </a:r>
            <a:r>
              <a:rPr lang="en-PH" sz="2800" dirty="0" smtClean="0"/>
              <a:t>Which of the following </a:t>
            </a:r>
            <a:r>
              <a:rPr lang="en-PH" sz="2800" i="1" dirty="0" smtClean="0"/>
              <a:t>yes/no</a:t>
            </a:r>
            <a:r>
              <a:rPr lang="en-PH" sz="2800" dirty="0" smtClean="0"/>
              <a:t> questions is not formed accurately?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A. </a:t>
            </a:r>
            <a:r>
              <a:rPr lang="en-PH" sz="2800" dirty="0" smtClean="0"/>
              <a:t>Have you all the things that you 	  		    need for the trip?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B.  </a:t>
            </a:r>
            <a:r>
              <a:rPr lang="en-PH" sz="2800" dirty="0" smtClean="0"/>
              <a:t>Do you want to play badminton?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C. </a:t>
            </a:r>
            <a:r>
              <a:rPr lang="en-PH" sz="2800" dirty="0" smtClean="0"/>
              <a:t>Won’t you have been the rightful 	         	    heiress?</a:t>
            </a:r>
          </a:p>
          <a:p>
            <a:pPr>
              <a:buNone/>
            </a:pPr>
            <a:r>
              <a:rPr lang="en-PH" sz="2800" dirty="0" smtClean="0"/>
              <a:t>	D. Can you not deliver your speech 	   	    without a script?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80080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00050" indent="-400050">
              <a:buNone/>
            </a:pPr>
            <a:r>
              <a:rPr lang="en-PH" sz="2800" b="1" dirty="0" smtClean="0"/>
              <a:t>9. </a:t>
            </a:r>
            <a:r>
              <a:rPr lang="en-PH" sz="2800" i="1" dirty="0" smtClean="0">
                <a:solidFill>
                  <a:srgbClr val="FF0000"/>
                </a:solidFill>
              </a:rPr>
              <a:t>Father drove the car into the garage beside our house with </a:t>
            </a:r>
            <a:r>
              <a:rPr lang="en-PH" sz="2800" i="1" u="sng" dirty="0" smtClean="0">
                <a:solidFill>
                  <a:srgbClr val="FF0000"/>
                </a:solidFill>
              </a:rPr>
              <a:t>its</a:t>
            </a:r>
            <a:r>
              <a:rPr lang="en-PH" sz="2800" i="1" dirty="0" smtClean="0">
                <a:solidFill>
                  <a:srgbClr val="FF0000"/>
                </a:solidFill>
              </a:rPr>
              <a:t> headlights on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The reference of the underlined word is _____.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A. Father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car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garage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house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31179800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Referencing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7150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Antecedent</a:t>
            </a:r>
            <a:r>
              <a:rPr lang="en-US" sz="2400" dirty="0" smtClean="0"/>
              <a:t>- noun being replace by a pronoun; comes before the pronoun substitute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b="1" dirty="0" smtClean="0"/>
              <a:t>Referent </a:t>
            </a:r>
            <a:r>
              <a:rPr lang="en-US" sz="2400" dirty="0" smtClean="0"/>
              <a:t>= noun being substituted; neutral term</a:t>
            </a:r>
          </a:p>
          <a:p>
            <a:pPr marL="0" indent="0" algn="ctr"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ü"/>
            </a:pPr>
            <a:r>
              <a:rPr lang="en-US" sz="2400" b="1" dirty="0" smtClean="0"/>
              <a:t>Anaphoric</a:t>
            </a:r>
            <a:r>
              <a:rPr lang="en-US" sz="2400" dirty="0" smtClean="0"/>
              <a:t> – backward reference; referent comes before (antecedent)</a:t>
            </a:r>
          </a:p>
          <a:p>
            <a:pPr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If a </a:t>
            </a:r>
            <a:r>
              <a:rPr lang="en-US" sz="2400" i="1" dirty="0" smtClean="0">
                <a:solidFill>
                  <a:srgbClr val="FF0000"/>
                </a:solidFill>
              </a:rPr>
              <a:t>man </a:t>
            </a:r>
            <a:r>
              <a:rPr lang="en-US" sz="2400" i="1" dirty="0" smtClean="0"/>
              <a:t>has </a:t>
            </a:r>
            <a:r>
              <a:rPr lang="en-US" sz="2400" b="1" i="1" dirty="0" smtClean="0"/>
              <a:t>talent</a:t>
            </a:r>
            <a:r>
              <a:rPr lang="en-US" sz="2400" i="1" dirty="0" smtClean="0"/>
              <a:t> and can’t use </a:t>
            </a:r>
            <a:r>
              <a:rPr lang="en-US" sz="2400" b="1" i="1" dirty="0" smtClean="0"/>
              <a:t>it</a:t>
            </a:r>
            <a:r>
              <a:rPr lang="en-US" sz="2400" i="1" dirty="0" smtClean="0"/>
              <a:t>, </a:t>
            </a:r>
            <a:r>
              <a:rPr lang="en-US" sz="2400" i="1" dirty="0" smtClean="0">
                <a:solidFill>
                  <a:srgbClr val="FF0000"/>
                </a:solidFill>
              </a:rPr>
              <a:t>he</a:t>
            </a:r>
            <a:r>
              <a:rPr lang="en-US" sz="2400" i="1" dirty="0" smtClean="0"/>
              <a:t>’s failed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sz="2400" b="1" dirty="0" err="1" smtClean="0"/>
              <a:t>Cataphoric</a:t>
            </a:r>
            <a:r>
              <a:rPr lang="en-US" sz="2400" dirty="0" smtClean="0"/>
              <a:t> – forward reference; referent comes after</a:t>
            </a:r>
          </a:p>
          <a:p>
            <a:pPr>
              <a:buNone/>
            </a:pPr>
            <a:r>
              <a:rPr lang="en-US" sz="2400" dirty="0" smtClean="0"/>
              <a:t>		</a:t>
            </a:r>
            <a:r>
              <a:rPr lang="en-US" sz="2400" i="1" dirty="0" smtClean="0"/>
              <a:t>A few days before </a:t>
            </a:r>
            <a:r>
              <a:rPr lang="en-US" sz="2400" i="1" dirty="0" smtClean="0">
                <a:solidFill>
                  <a:srgbClr val="FF0000"/>
                </a:solidFill>
              </a:rPr>
              <a:t>she</a:t>
            </a:r>
            <a:r>
              <a:rPr lang="en-US" sz="2400" i="1" dirty="0" smtClean="0"/>
              <a:t> left for </a:t>
            </a:r>
            <a:r>
              <a:rPr lang="en-US" sz="2400" i="1" dirty="0" err="1" smtClean="0"/>
              <a:t>Hongkong</a:t>
            </a:r>
            <a:r>
              <a:rPr lang="en-US" sz="2400" i="1" dirty="0" smtClean="0"/>
              <a:t>, my 	</a:t>
            </a:r>
            <a:r>
              <a:rPr lang="en-US" sz="2400" i="1" dirty="0" smtClean="0">
                <a:solidFill>
                  <a:srgbClr val="FF0000"/>
                </a:solidFill>
              </a:rPr>
              <a:t>mother</a:t>
            </a:r>
            <a:r>
              <a:rPr lang="en-US" sz="2400" i="1" dirty="0" smtClean="0"/>
              <a:t> gave me a list of reminders and advice.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8379522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4426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676400"/>
            <a:ext cx="6591985" cy="408242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None/>
            </a:pPr>
            <a:r>
              <a:rPr lang="en-PH" sz="2800" b="1" dirty="0" smtClean="0"/>
              <a:t>10. </a:t>
            </a:r>
            <a:r>
              <a:rPr lang="en-PH" sz="2800" dirty="0" smtClean="0"/>
              <a:t>Which of the following sentences is the most acceptable because it is easy to handle?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Everyone passed his or her paper on 	    	   time.</a:t>
            </a:r>
            <a:endParaRPr lang="en-US" sz="2800" dirty="0" smtClean="0"/>
          </a:p>
          <a:p>
            <a:pPr marL="685800" lvl="0" indent="-685800">
              <a:buNone/>
            </a:pPr>
            <a:r>
              <a:rPr lang="en-PH" sz="2800" dirty="0" smtClean="0"/>
              <a:t>    B. Everyone passed their project on </a:t>
            </a:r>
            <a:r>
              <a:rPr lang="en-PH" sz="2800" dirty="0"/>
              <a:t> </a:t>
            </a:r>
            <a:r>
              <a:rPr lang="en-PH" sz="2800" dirty="0" smtClean="0"/>
              <a:t>   time.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Everyone passed his/her project on 	  	    time.</a:t>
            </a:r>
            <a:endParaRPr lang="en-US" sz="2800" dirty="0" smtClean="0"/>
          </a:p>
          <a:p>
            <a:pPr lvl="0"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D. All the students passed their project 	        	   on time.</a:t>
            </a:r>
          </a:p>
          <a:p>
            <a:pPr lvl="0">
              <a:buNone/>
            </a:pPr>
            <a:endParaRPr lang="en-PH" sz="2800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890843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indent="-571500">
              <a:buNone/>
            </a:pPr>
            <a:r>
              <a:rPr lang="en-PH" sz="2800" b="1" dirty="0" smtClean="0"/>
              <a:t>11. </a:t>
            </a:r>
            <a:r>
              <a:rPr lang="en-PH" sz="2800" dirty="0" smtClean="0"/>
              <a:t>Which of the following nouns shows inflection?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friendship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helplessness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advocacy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librarian</a:t>
            </a:r>
            <a:r>
              <a:rPr lang="en-PH" sz="2800" dirty="0" smtClean="0">
                <a:solidFill>
                  <a:srgbClr val="FF0000"/>
                </a:solidFill>
              </a:rPr>
              <a:t>s</a:t>
            </a:r>
            <a:endParaRPr lang="en-US" sz="28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xmlns="" val="255180421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9488" y="304800"/>
            <a:ext cx="6589199" cy="128089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752600"/>
            <a:ext cx="7100887" cy="3777622"/>
          </a:xfrm>
        </p:spPr>
        <p:txBody>
          <a:bodyPr>
            <a:normAutofit fontScale="92500" lnSpcReduction="20000"/>
          </a:bodyPr>
          <a:lstStyle/>
          <a:p>
            <a:pPr marL="571500" indent="-571500">
              <a:buNone/>
            </a:pPr>
            <a:r>
              <a:rPr lang="en-PH" sz="2800" b="1" dirty="0" smtClean="0"/>
              <a:t>12. </a:t>
            </a:r>
            <a:r>
              <a:rPr lang="en-PH" sz="2800" dirty="0" smtClean="0"/>
              <a:t>Which of the following sentences expresses negation?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A. The dogs are not well trained.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B. 	Many never pray before sleeping.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C. Usually the lame can neither run   	nor jump.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D. All of the above.</a:t>
            </a:r>
            <a:endParaRPr lang="en-US" sz="28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4005103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None/>
            </a:pPr>
            <a:r>
              <a:rPr lang="en-PH" sz="2800" b="1" dirty="0" smtClean="0"/>
              <a:t>13. </a:t>
            </a:r>
            <a:r>
              <a:rPr lang="en-PH" sz="2800" dirty="0" smtClean="0"/>
              <a:t>The imperative “</a:t>
            </a:r>
            <a:r>
              <a:rPr lang="en-PH" sz="2800" i="1" dirty="0" smtClean="0"/>
              <a:t>Have an enjoyable vacation</a:t>
            </a:r>
            <a:r>
              <a:rPr lang="en-PH" sz="2800" dirty="0" smtClean="0"/>
              <a:t>,” is used as _____.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a suggestion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a wish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an advice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an invitation</a:t>
            </a:r>
            <a:endParaRPr lang="en-US" sz="2800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996804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Other Uses of Imperatives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Offer: 			</a:t>
            </a:r>
            <a:r>
              <a:rPr lang="en-US" sz="2400" i="1" dirty="0" smtClean="0"/>
              <a:t>Have another biscuit.</a:t>
            </a:r>
          </a:p>
          <a:p>
            <a:r>
              <a:rPr lang="en-US" sz="2400" dirty="0" smtClean="0"/>
              <a:t>Suggestion: 	</a:t>
            </a:r>
            <a:r>
              <a:rPr lang="en-US" sz="2400" i="1" dirty="0" smtClean="0"/>
              <a:t>Let’s go to the movie tonight.</a:t>
            </a:r>
          </a:p>
          <a:p>
            <a:r>
              <a:rPr lang="en-US" sz="2400" dirty="0" smtClean="0"/>
              <a:t>Request: 		</a:t>
            </a:r>
            <a:r>
              <a:rPr lang="en-US" sz="2400" i="1" dirty="0" smtClean="0"/>
              <a:t>Close the door, please.</a:t>
            </a:r>
          </a:p>
          <a:p>
            <a:r>
              <a:rPr lang="en-US" sz="2400" dirty="0" smtClean="0"/>
              <a:t>Advice: 		</a:t>
            </a:r>
            <a:r>
              <a:rPr lang="en-US" sz="2400" i="1" dirty="0" smtClean="0"/>
              <a:t>Don’t forget Mother’s Day.</a:t>
            </a:r>
          </a:p>
          <a:p>
            <a:r>
              <a:rPr lang="en-US" sz="2400" dirty="0" smtClean="0"/>
              <a:t>Directions: 	</a:t>
            </a:r>
            <a:r>
              <a:rPr lang="en-US" sz="2400" i="1" dirty="0" smtClean="0"/>
              <a:t>Go left at the next corner.</a:t>
            </a:r>
          </a:p>
          <a:p>
            <a:r>
              <a:rPr lang="en-US" sz="2400" dirty="0" smtClean="0"/>
              <a:t>Prohibition: 	</a:t>
            </a:r>
            <a:r>
              <a:rPr lang="en-US" sz="2400" i="1" dirty="0" smtClean="0"/>
              <a:t>Do not pick the flowers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Warning: 		</a:t>
            </a:r>
            <a:r>
              <a:rPr lang="en-US" sz="2400" i="1" dirty="0" smtClean="0"/>
              <a:t>Watch out!</a:t>
            </a:r>
          </a:p>
          <a:p>
            <a:r>
              <a:rPr lang="en-US" sz="2400" dirty="0" smtClean="0"/>
              <a:t>Procedure: 	</a:t>
            </a:r>
            <a:r>
              <a:rPr lang="en-US" sz="2400" i="1" dirty="0" smtClean="0"/>
              <a:t>Add a teaspoon of baking powder to 					the flour.</a:t>
            </a:r>
          </a:p>
          <a:p>
            <a:r>
              <a:rPr lang="en-US" sz="2400" dirty="0" smtClean="0"/>
              <a:t>Invitation:		</a:t>
            </a:r>
            <a:r>
              <a:rPr lang="en-US" sz="2400" i="1" dirty="0" smtClean="0"/>
              <a:t>Come in.</a:t>
            </a:r>
          </a:p>
          <a:p>
            <a:r>
              <a:rPr lang="en-US" sz="2400" dirty="0" smtClean="0"/>
              <a:t>Threat: 		</a:t>
            </a:r>
            <a:r>
              <a:rPr lang="en-US" sz="2400" i="1" dirty="0" smtClean="0"/>
              <a:t>Watch your step.</a:t>
            </a:r>
          </a:p>
          <a:p>
            <a:r>
              <a:rPr lang="en-US" sz="2400" dirty="0" smtClean="0"/>
              <a:t>Wish</a:t>
            </a:r>
            <a:r>
              <a:rPr lang="en-US" sz="2400" i="1" dirty="0" smtClean="0"/>
              <a:t>: 			Have a great day!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60340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6626" y="38100"/>
            <a:ext cx="6589199" cy="1280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600200"/>
            <a:ext cx="6591985" cy="431102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None/>
            </a:pPr>
            <a:r>
              <a:rPr lang="en-PH" sz="2800" b="1" dirty="0" smtClean="0"/>
              <a:t>14. </a:t>
            </a:r>
            <a:r>
              <a:rPr lang="en-PH" sz="2800" dirty="0" smtClean="0"/>
              <a:t>Which of the following is not a correct coordination of these sentence?</a:t>
            </a:r>
          </a:p>
          <a:p>
            <a:pPr marL="514350" indent="-514350">
              <a:buNone/>
            </a:pPr>
            <a:endParaRPr lang="en-US" sz="2800" dirty="0" smtClean="0"/>
          </a:p>
          <a:p>
            <a:pPr>
              <a:buNone/>
            </a:pPr>
            <a:r>
              <a:rPr lang="en-PH" sz="2800" i="1" dirty="0" smtClean="0"/>
              <a:t>			</a:t>
            </a:r>
            <a:r>
              <a:rPr lang="en-PH" sz="2800" i="1" dirty="0" smtClean="0">
                <a:solidFill>
                  <a:srgbClr val="FF0000"/>
                </a:solidFill>
              </a:rPr>
              <a:t>Mark loves to eat fruits.</a:t>
            </a:r>
            <a:endParaRPr lang="en-US" sz="2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PH" sz="2800" i="1" dirty="0" smtClean="0">
                <a:solidFill>
                  <a:srgbClr val="FF0000"/>
                </a:solidFill>
              </a:rPr>
              <a:t>			I love to eat fruits.</a:t>
            </a:r>
          </a:p>
          <a:p>
            <a:pPr>
              <a:buNone/>
            </a:pPr>
            <a:endParaRPr lang="en-US" sz="28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PH" sz="2800" dirty="0" smtClean="0"/>
              <a:t>	A. Mark and I love to eat fruits.</a:t>
            </a:r>
            <a:endParaRPr lang="en-US" sz="2800" dirty="0" smtClean="0"/>
          </a:p>
          <a:p>
            <a:pPr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B. Mark loves to eat fruits and I do, either.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C. Mark loves to eat fruits and so do I.</a:t>
            </a:r>
            <a:endParaRPr lang="en-US" sz="2800" dirty="0" smtClean="0"/>
          </a:p>
          <a:p>
            <a:pPr>
              <a:buNone/>
            </a:pPr>
            <a:r>
              <a:rPr lang="en-PH" sz="2800" dirty="0" smtClean="0"/>
              <a:t>	D. Mark loves to eat  fruits and I do, too.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870715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21409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524000"/>
            <a:ext cx="7391400" cy="5105400"/>
          </a:xfrm>
        </p:spPr>
        <p:txBody>
          <a:bodyPr>
            <a:normAutofit lnSpcReduction="10000"/>
          </a:bodyPr>
          <a:lstStyle/>
          <a:p>
            <a:pPr marL="685800" indent="-685800">
              <a:buNone/>
            </a:pPr>
            <a:r>
              <a:rPr lang="en-PH" sz="3300" b="1" dirty="0" smtClean="0"/>
              <a:t>15. </a:t>
            </a:r>
            <a:r>
              <a:rPr lang="en-PH" sz="3300" dirty="0" smtClean="0"/>
              <a:t>In the sentence, </a:t>
            </a:r>
            <a:r>
              <a:rPr lang="en-PH" sz="3300" dirty="0" smtClean="0">
                <a:solidFill>
                  <a:srgbClr val="FF0000"/>
                </a:solidFill>
              </a:rPr>
              <a:t>“</a:t>
            </a:r>
            <a:r>
              <a:rPr lang="en-PH" sz="3300" i="1" dirty="0" smtClean="0">
                <a:solidFill>
                  <a:srgbClr val="FF0000"/>
                </a:solidFill>
              </a:rPr>
              <a:t>The </a:t>
            </a:r>
            <a:r>
              <a:rPr lang="en-PH" sz="3300" i="1" dirty="0" err="1" smtClean="0">
                <a:solidFill>
                  <a:srgbClr val="FF0000"/>
                </a:solidFill>
              </a:rPr>
              <a:t>awardee</a:t>
            </a:r>
            <a:r>
              <a:rPr lang="en-PH" sz="3300" i="1" dirty="0" smtClean="0">
                <a:solidFill>
                  <a:srgbClr val="FF0000"/>
                </a:solidFill>
              </a:rPr>
              <a:t> </a:t>
            </a:r>
            <a:r>
              <a:rPr lang="en-PH" sz="3300" i="1" u="sng" dirty="0" smtClean="0">
                <a:solidFill>
                  <a:srgbClr val="FF0000"/>
                </a:solidFill>
              </a:rPr>
              <a:t>that</a:t>
            </a:r>
            <a:r>
              <a:rPr lang="en-PH" sz="3300" i="1" dirty="0" smtClean="0">
                <a:solidFill>
                  <a:srgbClr val="FF0000"/>
                </a:solidFill>
              </a:rPr>
              <a:t> the committee chose comes from a poor</a:t>
            </a:r>
            <a:r>
              <a:rPr lang="en-US" sz="3300" dirty="0" smtClean="0">
                <a:solidFill>
                  <a:srgbClr val="FF0000"/>
                </a:solidFill>
              </a:rPr>
              <a:t> </a:t>
            </a:r>
            <a:r>
              <a:rPr lang="en-PH" sz="3300" i="1" dirty="0" smtClean="0">
                <a:solidFill>
                  <a:srgbClr val="FF0000"/>
                </a:solidFill>
              </a:rPr>
              <a:t>family</a:t>
            </a:r>
            <a:r>
              <a:rPr lang="en-PH" sz="3300" dirty="0" smtClean="0">
                <a:solidFill>
                  <a:srgbClr val="FF0000"/>
                </a:solidFill>
              </a:rPr>
              <a:t>,” </a:t>
            </a:r>
            <a:r>
              <a:rPr lang="en-PH" sz="3300" dirty="0" smtClean="0"/>
              <a:t>the underlined word functions as _____.</a:t>
            </a:r>
            <a:endParaRPr lang="en-US" sz="3300" dirty="0" smtClean="0"/>
          </a:p>
          <a:p>
            <a:pPr>
              <a:buNone/>
            </a:pPr>
            <a:r>
              <a:rPr lang="en-PH" sz="3300" dirty="0" smtClean="0"/>
              <a:t>	A. a sentence marker</a:t>
            </a:r>
            <a:endParaRPr lang="en-US" sz="3300" dirty="0" smtClean="0"/>
          </a:p>
          <a:p>
            <a:pPr lvl="0">
              <a:buNone/>
            </a:pPr>
            <a:r>
              <a:rPr lang="en-PH" sz="3300" dirty="0" smtClean="0"/>
              <a:t>	B. an object of the verb</a:t>
            </a:r>
            <a:endParaRPr lang="en-US" sz="3300" dirty="0" smtClean="0"/>
          </a:p>
          <a:p>
            <a:pPr lvl="0">
              <a:buNone/>
            </a:pPr>
            <a:r>
              <a:rPr lang="en-PH" sz="3300" dirty="0" smtClean="0"/>
              <a:t>	C. a subject of the clause</a:t>
            </a:r>
            <a:endParaRPr lang="en-US" sz="3300" dirty="0" smtClean="0"/>
          </a:p>
          <a:p>
            <a:pPr lvl="0">
              <a:buNone/>
            </a:pPr>
            <a:r>
              <a:rPr lang="en-PH" sz="3300" dirty="0" smtClean="0"/>
              <a:t>	D. a subordinating conjunction</a:t>
            </a:r>
          </a:p>
          <a:p>
            <a:pPr lvl="0">
              <a:buNone/>
            </a:pPr>
            <a:endParaRPr lang="en-PH" sz="5100" dirty="0" smtClean="0"/>
          </a:p>
          <a:p>
            <a:pPr lvl="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756766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Uses of </a:t>
            </a:r>
            <a:r>
              <a:rPr lang="en-US" b="1" i="1" u="sng" dirty="0" smtClean="0"/>
              <a:t>that</a:t>
            </a:r>
            <a:endParaRPr lang="en-US" b="1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25000" lnSpcReduction="20000"/>
          </a:bodyPr>
          <a:lstStyle/>
          <a:p>
            <a:r>
              <a:rPr lang="en-US" sz="11200" dirty="0" smtClean="0"/>
              <a:t>As a </a:t>
            </a:r>
            <a:r>
              <a:rPr lang="en-US" sz="11200" u="sng" dirty="0" smtClean="0"/>
              <a:t>pronoun</a:t>
            </a:r>
          </a:p>
          <a:p>
            <a:pPr>
              <a:buNone/>
            </a:pPr>
            <a:r>
              <a:rPr lang="en-US" sz="11200" dirty="0" smtClean="0"/>
              <a:t>		</a:t>
            </a:r>
            <a:r>
              <a:rPr lang="en-US" sz="11200" i="1" dirty="0" smtClean="0"/>
              <a:t>Let’s think carefully about </a:t>
            </a:r>
            <a:r>
              <a:rPr lang="en-US" sz="11200" b="1" i="1" dirty="0" smtClean="0"/>
              <a:t>that</a:t>
            </a:r>
            <a:r>
              <a:rPr lang="en-US" sz="11200" i="1" dirty="0" smtClean="0"/>
              <a:t>.</a:t>
            </a:r>
          </a:p>
          <a:p>
            <a:r>
              <a:rPr lang="en-US" sz="11200" dirty="0" smtClean="0"/>
              <a:t>As a </a:t>
            </a:r>
            <a:r>
              <a:rPr lang="en-US" sz="11200" u="sng" dirty="0" smtClean="0"/>
              <a:t>determiner</a:t>
            </a:r>
          </a:p>
          <a:p>
            <a:pPr>
              <a:buNone/>
            </a:pPr>
            <a:r>
              <a:rPr lang="en-US" sz="11200" dirty="0" smtClean="0"/>
              <a:t>		</a:t>
            </a:r>
            <a:r>
              <a:rPr lang="en-US" sz="11200" i="1" dirty="0" smtClean="0"/>
              <a:t>I like </a:t>
            </a:r>
            <a:r>
              <a:rPr lang="en-US" sz="11200" b="1" i="1" dirty="0" smtClean="0"/>
              <a:t>that</a:t>
            </a:r>
            <a:r>
              <a:rPr lang="en-US" sz="11200" i="1" dirty="0" smtClean="0"/>
              <a:t> shoulder bag.</a:t>
            </a:r>
          </a:p>
          <a:p>
            <a:r>
              <a:rPr lang="en-US" sz="11200" dirty="0" smtClean="0"/>
              <a:t>As a </a:t>
            </a:r>
            <a:r>
              <a:rPr lang="en-US" sz="11200" u="sng" dirty="0" smtClean="0"/>
              <a:t>relative pronoun</a:t>
            </a:r>
          </a:p>
          <a:p>
            <a:pPr>
              <a:buNone/>
            </a:pPr>
            <a:r>
              <a:rPr lang="en-US" sz="11200" dirty="0" smtClean="0"/>
              <a:t>		</a:t>
            </a:r>
            <a:r>
              <a:rPr lang="en-US" sz="11200" i="1" dirty="0" smtClean="0"/>
              <a:t>The letter</a:t>
            </a:r>
            <a:r>
              <a:rPr lang="en-US" sz="11200" b="1" i="1" dirty="0" smtClean="0"/>
              <a:t> that</a:t>
            </a:r>
            <a:r>
              <a:rPr lang="en-US" sz="11200" i="1" dirty="0" smtClean="0"/>
              <a:t> came this morning is from my 	brother</a:t>
            </a:r>
          </a:p>
          <a:p>
            <a:r>
              <a:rPr lang="en-US" sz="11200" dirty="0" smtClean="0"/>
              <a:t>As </a:t>
            </a:r>
            <a:r>
              <a:rPr lang="en-US" sz="11200" u="sng" dirty="0" smtClean="0"/>
              <a:t>conjunction</a:t>
            </a:r>
          </a:p>
          <a:p>
            <a:pPr>
              <a:buNone/>
            </a:pPr>
            <a:r>
              <a:rPr lang="en-US" sz="11200" dirty="0" smtClean="0"/>
              <a:t>		</a:t>
            </a:r>
            <a:r>
              <a:rPr lang="en-US" sz="11200" i="1" dirty="0" smtClean="0"/>
              <a:t>His manners are so bad </a:t>
            </a:r>
            <a:r>
              <a:rPr lang="en-US" sz="11200" b="1" i="1" dirty="0" smtClean="0"/>
              <a:t>that</a:t>
            </a:r>
            <a:r>
              <a:rPr lang="en-US" sz="11200" i="1" dirty="0" smtClean="0"/>
              <a:t> nobody invites 	him 	to a party.</a:t>
            </a:r>
          </a:p>
          <a:p>
            <a:r>
              <a:rPr lang="en-US" sz="11200" dirty="0" smtClean="0"/>
              <a:t>As </a:t>
            </a:r>
            <a:r>
              <a:rPr lang="en-US" sz="11200" u="sng" dirty="0" smtClean="0"/>
              <a:t>sentence marker</a:t>
            </a:r>
          </a:p>
          <a:p>
            <a:pPr>
              <a:buNone/>
            </a:pPr>
            <a:r>
              <a:rPr lang="en-US" sz="11200" dirty="0" smtClean="0"/>
              <a:t>		</a:t>
            </a:r>
            <a:r>
              <a:rPr lang="en-US" sz="11200" i="1" dirty="0" smtClean="0"/>
              <a:t>The fact </a:t>
            </a:r>
            <a:r>
              <a:rPr lang="en-US" sz="11200" b="1" i="1" dirty="0" smtClean="0"/>
              <a:t>that</a:t>
            </a:r>
            <a:r>
              <a:rPr lang="en-US" sz="11200" i="1" dirty="0" smtClean="0"/>
              <a:t> the students destroyed the 	science lab infuriated  the school head.</a:t>
            </a:r>
            <a:r>
              <a:rPr lang="en-US" sz="11200" dirty="0" smtClean="0"/>
              <a:t/>
            </a:r>
            <a:br>
              <a:rPr lang="en-US" sz="11200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730759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628650" indent="-628650">
              <a:buNone/>
            </a:pPr>
            <a:r>
              <a:rPr lang="en-PH" sz="2800" b="1" dirty="0" smtClean="0"/>
              <a:t>16. </a:t>
            </a:r>
            <a:r>
              <a:rPr lang="en-PH" sz="2800" i="1" dirty="0" smtClean="0">
                <a:solidFill>
                  <a:srgbClr val="FF0000"/>
                </a:solidFill>
              </a:rPr>
              <a:t>Ella was a girl who could surf but who was afraid to </a:t>
            </a:r>
            <a:r>
              <a:rPr lang="en-PH" sz="2800" i="1" dirty="0">
                <a:solidFill>
                  <a:srgbClr val="FF0000"/>
                </a:solidFill>
              </a:rPr>
              <a:t> </a:t>
            </a:r>
            <a:r>
              <a:rPr lang="en-PH" sz="2800" i="1" dirty="0" smtClean="0">
                <a:solidFill>
                  <a:srgbClr val="FF0000"/>
                </a:solidFill>
              </a:rPr>
              <a:t>  swim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The conjuncts in the sentence are _____.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A. sentences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B. relative clauses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C. relative pronouns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D. independent clauses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367721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4191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PH" sz="2800" b="1" dirty="0" smtClean="0"/>
              <a:t>17. </a:t>
            </a:r>
            <a:r>
              <a:rPr lang="en-PH" sz="2800" dirty="0" smtClean="0"/>
              <a:t>Which of the following sentences 	     	  should have the article </a:t>
            </a:r>
            <a:r>
              <a:rPr lang="en-PH" sz="2800" u="sng" dirty="0" smtClean="0"/>
              <a:t>the</a:t>
            </a:r>
            <a:r>
              <a:rPr lang="en-PH" sz="2800" dirty="0" smtClean="0"/>
              <a:t> on the 	 	  blank?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The artist I talked in the Art Fair is 	  	    _____ Michelangelo.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	_____ Philippines has a lot of 					wonderful tourist destinations.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	Obama Wins by _____ Landslide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	_____ </a:t>
            </a:r>
            <a:r>
              <a:rPr lang="en-PH" sz="2800" dirty="0" err="1" smtClean="0"/>
              <a:t>sampaguita</a:t>
            </a:r>
            <a:r>
              <a:rPr lang="en-PH" sz="2800" dirty="0" smtClean="0"/>
              <a:t> lei is usually 	 	  		given to a guest of </a:t>
            </a:r>
            <a:r>
              <a:rPr lang="en-PH" sz="2800" dirty="0" err="1" smtClean="0"/>
              <a:t>honor</a:t>
            </a:r>
            <a:r>
              <a:rPr lang="en-PH" sz="2800" dirty="0" smtClean="0"/>
              <a:t>.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60162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None/>
            </a:pPr>
            <a:r>
              <a:rPr lang="en-PH" sz="2800" b="1" dirty="0" smtClean="0"/>
              <a:t>18. </a:t>
            </a:r>
            <a:r>
              <a:rPr lang="en-PH" sz="2800" dirty="0" smtClean="0"/>
              <a:t>In the sentence, “</a:t>
            </a:r>
            <a:r>
              <a:rPr lang="en-PH" sz="2800" i="1" dirty="0" smtClean="0"/>
              <a:t>The red roses given as a birthday gift by my best friend really smell sweet</a:t>
            </a:r>
            <a:r>
              <a:rPr lang="en-PH" sz="2800" dirty="0" smtClean="0"/>
              <a:t>,” which adjective is predicative?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A. red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B. birthday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C. best</a:t>
            </a:r>
            <a:endParaRPr lang="en-US" sz="2800" dirty="0" smtClean="0"/>
          </a:p>
          <a:p>
            <a:pPr lvl="1">
              <a:buNone/>
            </a:pPr>
            <a:r>
              <a:rPr lang="en-PH" sz="2800" dirty="0" smtClean="0"/>
              <a:t>D. sweet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964121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 smtClean="0"/>
              <a:t>Attributive and Predicative Adjectives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133600"/>
            <a:ext cx="7239000" cy="4495800"/>
          </a:xfrm>
        </p:spPr>
        <p:txBody>
          <a:bodyPr>
            <a:normAutofit fontScale="92500" lnSpcReduction="20000"/>
          </a:bodyPr>
          <a:lstStyle/>
          <a:p>
            <a:pPr marL="609600" indent="-609600">
              <a:lnSpc>
                <a:spcPct val="80000"/>
              </a:lnSpc>
            </a:pPr>
            <a:endParaRPr lang="en-PH" sz="2800" b="1" dirty="0" smtClean="0"/>
          </a:p>
          <a:p>
            <a:pPr marL="609600" indent="-609600">
              <a:lnSpc>
                <a:spcPct val="80000"/>
              </a:lnSpc>
            </a:pPr>
            <a:r>
              <a:rPr lang="en-PH" sz="3000" b="1" dirty="0" smtClean="0"/>
              <a:t>Attributive : </a:t>
            </a:r>
            <a:r>
              <a:rPr lang="en-PH" sz="3000" dirty="0" smtClean="0"/>
              <a:t>precedes a noun wherever that noun is in the sentence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PH" sz="3000" dirty="0" smtClean="0"/>
              <a:t>		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PH" sz="3000" i="1" dirty="0"/>
              <a:t>	</a:t>
            </a:r>
            <a:r>
              <a:rPr lang="en-PH" sz="3000" i="1" dirty="0" smtClean="0"/>
              <a:t>	My </a:t>
            </a:r>
            <a:r>
              <a:rPr lang="en-PH" sz="3000" i="1" dirty="0" smtClean="0">
                <a:solidFill>
                  <a:srgbClr val="FF0000"/>
                </a:solidFill>
              </a:rPr>
              <a:t>late</a:t>
            </a:r>
            <a:r>
              <a:rPr lang="en-PH" sz="3000" i="1" dirty="0" smtClean="0"/>
              <a:t> father was an </a:t>
            </a:r>
            <a:r>
              <a:rPr lang="en-PH" sz="3000" i="1" dirty="0" smtClean="0">
                <a:solidFill>
                  <a:srgbClr val="FF0000"/>
                </a:solidFill>
              </a:rPr>
              <a:t>honest</a:t>
            </a:r>
            <a:r>
              <a:rPr lang="en-PH" sz="3000" i="1" dirty="0" smtClean="0"/>
              <a:t> 	person.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PH" sz="3000" i="1" dirty="0" smtClean="0"/>
          </a:p>
          <a:p>
            <a:pPr marL="609600" indent="-609600">
              <a:lnSpc>
                <a:spcPct val="80000"/>
              </a:lnSpc>
            </a:pPr>
            <a:r>
              <a:rPr lang="en-PH" sz="3000" b="1" dirty="0" smtClean="0"/>
              <a:t>Predicative: </a:t>
            </a:r>
            <a:r>
              <a:rPr lang="en-PH" sz="3000" dirty="0" smtClean="0"/>
              <a:t>occurs in the predicate following a linking verb</a:t>
            </a:r>
          </a:p>
          <a:p>
            <a:pPr marL="609600" indent="-609600">
              <a:lnSpc>
                <a:spcPct val="80000"/>
              </a:lnSpc>
              <a:buNone/>
            </a:pPr>
            <a:endParaRPr lang="en-PH" sz="3000" b="1" dirty="0" smtClean="0"/>
          </a:p>
          <a:p>
            <a:pPr marL="609600" indent="-609600">
              <a:lnSpc>
                <a:spcPct val="80000"/>
              </a:lnSpc>
              <a:buNone/>
            </a:pPr>
            <a:r>
              <a:rPr lang="en-PH" sz="3000" dirty="0" smtClean="0"/>
              <a:t>		</a:t>
            </a:r>
            <a:r>
              <a:rPr lang="en-PH" sz="3000" i="1" dirty="0" smtClean="0"/>
              <a:t>The young man is </a:t>
            </a:r>
            <a:r>
              <a:rPr lang="en-PH" sz="3000" i="1" dirty="0" smtClean="0">
                <a:solidFill>
                  <a:srgbClr val="FF0000"/>
                </a:solidFill>
              </a:rPr>
              <a:t>tall</a:t>
            </a:r>
            <a:r>
              <a:rPr lang="en-PH" sz="3000" i="1" dirty="0" smtClean="0"/>
              <a:t>.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PH" dirty="0" smtClean="0"/>
              <a:t>	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9998363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buNone/>
            </a:pPr>
            <a:r>
              <a:rPr lang="en-PH" sz="2800" b="1" dirty="0" smtClean="0"/>
              <a:t>19</a:t>
            </a:r>
            <a:r>
              <a:rPr lang="en-PH" sz="2800" dirty="0" smtClean="0"/>
              <a:t>. In the noun phrase, </a:t>
            </a:r>
            <a:r>
              <a:rPr lang="en-PH" sz="2800" i="1" dirty="0" smtClean="0"/>
              <a:t>a sound advice from my grandmother who came last weekend</a:t>
            </a:r>
            <a:r>
              <a:rPr lang="en-PH" sz="2800" dirty="0" smtClean="0"/>
              <a:t>, the head is _____.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sound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advice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grandmother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weekend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0905082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PH" sz="2400" b="1" dirty="0" smtClean="0"/>
              <a:t>20. </a:t>
            </a:r>
            <a:r>
              <a:rPr lang="en-PH" sz="2400" dirty="0" smtClean="0"/>
              <a:t>Which of the following is a gradable  	 	 adjective?</a:t>
            </a:r>
          </a:p>
          <a:p>
            <a:pPr>
              <a:buNone/>
            </a:pPr>
            <a:r>
              <a:rPr lang="en-PH" sz="2400" dirty="0" smtClean="0"/>
              <a:t>	A. unique</a:t>
            </a:r>
          </a:p>
          <a:p>
            <a:pPr>
              <a:buNone/>
            </a:pPr>
            <a:r>
              <a:rPr lang="en-PH" sz="2400" dirty="0" smtClean="0"/>
              <a:t>	B. round</a:t>
            </a:r>
          </a:p>
          <a:p>
            <a:pPr>
              <a:buNone/>
            </a:pPr>
            <a:r>
              <a:rPr lang="en-PH" sz="2400" dirty="0" smtClean="0"/>
              <a:t>	C. perfect</a:t>
            </a:r>
            <a:endParaRPr lang="en-US" sz="2400" dirty="0" smtClean="0"/>
          </a:p>
          <a:p>
            <a:pPr>
              <a:buNone/>
            </a:pPr>
            <a:r>
              <a:rPr lang="en-PH" sz="2400" dirty="0" smtClean="0"/>
              <a:t>	D. healthy</a:t>
            </a:r>
            <a:endParaRPr lang="en-US" sz="24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8422145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71500" lvl="0" indent="-571500">
              <a:buNone/>
            </a:pPr>
            <a:r>
              <a:rPr lang="en-PH" sz="2800" b="1" dirty="0" smtClean="0"/>
              <a:t>21. </a:t>
            </a:r>
            <a:r>
              <a:rPr lang="en-PH" sz="2800" dirty="0" smtClean="0"/>
              <a:t>The team, </a:t>
            </a:r>
            <a:r>
              <a:rPr lang="en-PH" sz="2800" u="sng" dirty="0" smtClean="0"/>
              <a:t>which won the volleyball championship, </a:t>
            </a:r>
            <a:r>
              <a:rPr lang="en-PH" sz="2800" dirty="0" smtClean="0"/>
              <a:t>has retained their title. What does the underlined group of words exemplify?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non-restrictive clause</a:t>
            </a:r>
            <a:endParaRPr lang="en-US" sz="2800" dirty="0" smtClean="0"/>
          </a:p>
          <a:p>
            <a:pPr lvl="0"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B. restrictive clause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attributive clause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predicative clause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798637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PH" sz="4000" b="1" dirty="0" smtClean="0"/>
              <a:t>Restrictive and Non-restrictive Relative Clauses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PH" sz="2800" dirty="0" smtClean="0"/>
              <a:t>R</a:t>
            </a:r>
            <a:r>
              <a:rPr lang="en-PH" sz="2800" b="1" dirty="0" smtClean="0"/>
              <a:t>estrictive</a:t>
            </a:r>
            <a:r>
              <a:rPr lang="en-PH" sz="2800" dirty="0" smtClean="0"/>
              <a:t>:  necessary/essential for defining which noun is being referred to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house </a:t>
            </a:r>
            <a:r>
              <a:rPr lang="en-PH" sz="2800" i="1" dirty="0" smtClean="0">
                <a:solidFill>
                  <a:srgbClr val="FF0000"/>
                </a:solidFill>
              </a:rPr>
              <a:t>which is decorated 	by the Albas</a:t>
            </a:r>
            <a:r>
              <a:rPr lang="en-PH" sz="2800" i="1" dirty="0" smtClean="0"/>
              <a:t> 	is quite unusual</a:t>
            </a:r>
            <a:r>
              <a:rPr lang="en-PH" sz="2800" dirty="0" smtClean="0"/>
              <a:t>.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endParaRPr lang="en-PH" sz="2800" dirty="0" smtClean="0"/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PH" sz="2800" dirty="0" smtClean="0"/>
              <a:t>2.   </a:t>
            </a:r>
            <a:r>
              <a:rPr lang="en-PH" sz="2800" b="1" dirty="0" smtClean="0"/>
              <a:t>Non-restrictive</a:t>
            </a:r>
            <a:r>
              <a:rPr lang="en-PH" sz="2800" dirty="0" smtClean="0"/>
              <a:t>:  not necessary/ non-essential; simply adds information</a:t>
            </a: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PH" sz="2800" dirty="0" smtClean="0"/>
              <a:t>		</a:t>
            </a:r>
            <a:r>
              <a:rPr lang="en-PH" sz="2800" i="1" dirty="0" smtClean="0"/>
              <a:t>The house</a:t>
            </a:r>
            <a:r>
              <a:rPr lang="en-PH" sz="2800" b="1" i="1" dirty="0" smtClean="0"/>
              <a:t>,</a:t>
            </a:r>
            <a:r>
              <a:rPr lang="en-PH" sz="2800" i="1" dirty="0" smtClean="0"/>
              <a:t> </a:t>
            </a:r>
            <a:r>
              <a:rPr lang="en-PH" sz="2800" i="1" dirty="0" smtClean="0">
                <a:solidFill>
                  <a:srgbClr val="FF0000"/>
                </a:solidFill>
              </a:rPr>
              <a:t>which is decorated 	by the 	Albas</a:t>
            </a:r>
            <a:r>
              <a:rPr lang="en-PH" sz="2800" b="1" i="1" dirty="0" smtClean="0"/>
              <a:t>,</a:t>
            </a:r>
            <a:r>
              <a:rPr lang="en-PH" sz="2800" i="1" dirty="0" smtClean="0"/>
              <a:t> is quite unusual.</a:t>
            </a:r>
          </a:p>
        </p:txBody>
      </p:sp>
    </p:spTree>
    <p:extLst>
      <p:ext uri="{BB962C8B-B14F-4D97-AF65-F5344CB8AC3E}">
        <p14:creationId xmlns:p14="http://schemas.microsoft.com/office/powerpoint/2010/main" xmlns="" val="25486526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lvl="0" indent="-571500">
              <a:buNone/>
              <a:tabLst>
                <a:tab pos="628650" algn="l"/>
              </a:tabLst>
            </a:pPr>
            <a:r>
              <a:rPr lang="en-US" sz="2800" b="1" dirty="0" smtClean="0"/>
              <a:t>22. </a:t>
            </a:r>
            <a:r>
              <a:rPr lang="en-PH" sz="2800" dirty="0" smtClean="0"/>
              <a:t>“His bag is more expensive than mine. His father bought it when he went to Singapore.”</a:t>
            </a:r>
            <a:r>
              <a:rPr lang="en-US" sz="2800" dirty="0" smtClean="0"/>
              <a:t> </a:t>
            </a:r>
            <a:r>
              <a:rPr lang="en-PH" sz="2800" dirty="0" smtClean="0"/>
              <a:t>The word </a:t>
            </a:r>
            <a:r>
              <a:rPr lang="en-PH" sz="2800" i="1" dirty="0" smtClean="0"/>
              <a:t>mine </a:t>
            </a:r>
            <a:r>
              <a:rPr lang="en-PH" sz="2800" dirty="0" smtClean="0"/>
              <a:t>is called   _____.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possessive pronoun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subject pronoun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possessive determiner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demonstrative determiner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781456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lvl="0" indent="-571500">
              <a:buNone/>
            </a:pPr>
            <a:r>
              <a:rPr lang="en-PH" sz="2800" b="1" dirty="0" smtClean="0"/>
              <a:t>23. </a:t>
            </a:r>
            <a:r>
              <a:rPr lang="en-PH" sz="2800" dirty="0" smtClean="0"/>
              <a:t>In the word </a:t>
            </a:r>
            <a:r>
              <a:rPr lang="en-PH" sz="2800" i="1" dirty="0" smtClean="0"/>
              <a:t>nationalism</a:t>
            </a:r>
            <a:r>
              <a:rPr lang="en-PH" sz="2800" dirty="0" smtClean="0"/>
              <a:t>, which part of the word functions as the </a:t>
            </a:r>
            <a:r>
              <a:rPr lang="en-PH" sz="2800" u="sng" dirty="0" smtClean="0"/>
              <a:t>base</a:t>
            </a:r>
            <a:r>
              <a:rPr lang="en-PH" sz="2800" dirty="0" smtClean="0"/>
              <a:t>? 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nation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national </a:t>
            </a:r>
            <a:endParaRPr lang="en-US" sz="2800" dirty="0" smtClean="0"/>
          </a:p>
          <a:p>
            <a:pPr lvl="0"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C. </a:t>
            </a:r>
            <a:r>
              <a:rPr lang="en-PH" sz="2800" dirty="0" err="1" smtClean="0"/>
              <a:t>nat</a:t>
            </a:r>
            <a:r>
              <a:rPr lang="en-PH" sz="2800" dirty="0" smtClean="0"/>
              <a:t>-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–ism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2108874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Types of Morphemes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764672719"/>
              </p:ext>
            </p:extLst>
          </p:nvPr>
        </p:nvGraphicFramePr>
        <p:xfrm>
          <a:off x="457200" y="1036319"/>
          <a:ext cx="8229600" cy="6248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1252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dirty="0" smtClean="0"/>
                        <a:t>The words </a:t>
                      </a:r>
                      <a:r>
                        <a:rPr lang="en-US" sz="2800" b="0" i="1" dirty="0" smtClean="0"/>
                        <a:t>teachers</a:t>
                      </a:r>
                      <a:r>
                        <a:rPr lang="en-US" sz="2800" b="0" i="0" baseline="0" dirty="0" smtClean="0"/>
                        <a:t> &amp; </a:t>
                      </a:r>
                      <a:r>
                        <a:rPr lang="en-US" sz="2800" b="0" i="1" dirty="0" smtClean="0"/>
                        <a:t>nationalism</a:t>
                      </a:r>
                      <a:r>
                        <a:rPr lang="en-US" sz="2800" b="0" i="0" dirty="0" smtClean="0"/>
                        <a:t> are made</a:t>
                      </a:r>
                      <a:r>
                        <a:rPr lang="en-US" sz="2800" b="0" i="0" baseline="0" dirty="0" smtClean="0"/>
                        <a:t> up of the following: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Morpheme</a:t>
                      </a:r>
                      <a:r>
                        <a:rPr lang="en-US" sz="2800" b="0" i="1" dirty="0"/>
                        <a:t>s</a:t>
                      </a:r>
                      <a:endParaRPr lang="en-US" sz="280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39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Base</a:t>
                      </a:r>
                      <a:endParaRPr lang="en-US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Affix</a:t>
                      </a:r>
                      <a:endParaRPr lang="en-US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039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Free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Bound</a:t>
                      </a:r>
                      <a:endParaRPr lang="en-US" sz="2800" b="1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Bound</a:t>
                      </a:r>
                      <a:endParaRPr lang="en-US" sz="28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112520"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 smtClean="0"/>
                        <a:t>teach</a:t>
                      </a:r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 err="1" smtClean="0"/>
                        <a:t>nat</a:t>
                      </a:r>
                      <a:r>
                        <a:rPr lang="en-US" sz="2800" i="1" dirty="0" smtClean="0"/>
                        <a:t>-</a:t>
                      </a:r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Inflectional</a:t>
                      </a:r>
                    </a:p>
                    <a:p>
                      <a:pPr algn="ctr"/>
                      <a:r>
                        <a:rPr lang="en-US" sz="2400" b="1" dirty="0" smtClean="0"/>
                        <a:t>Affix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Derivational</a:t>
                      </a:r>
                    </a:p>
                    <a:p>
                      <a:pPr algn="ctr"/>
                      <a:r>
                        <a:rPr lang="en-US" sz="2400" b="1" dirty="0" smtClean="0"/>
                        <a:t>Affix</a:t>
                      </a:r>
                      <a:endParaRPr lang="en-US" sz="2400" b="1" dirty="0"/>
                    </a:p>
                  </a:txBody>
                  <a:tcPr/>
                </a:tc>
              </a:tr>
              <a:tr h="2129681"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1" dirty="0" smtClean="0"/>
                        <a:t>nat</a:t>
                      </a:r>
                      <a:r>
                        <a:rPr lang="en-US" sz="2800" i="1" dirty="0" smtClean="0"/>
                        <a:t>ive</a:t>
                      </a:r>
                    </a:p>
                    <a:p>
                      <a:pPr algn="ctr"/>
                      <a:r>
                        <a:rPr lang="en-US" sz="2800" b="1" i="1" dirty="0" smtClean="0"/>
                        <a:t>nat</a:t>
                      </a:r>
                      <a:r>
                        <a:rPr lang="en-US" sz="2800" i="1" dirty="0" smtClean="0"/>
                        <a:t>ion</a:t>
                      </a:r>
                    </a:p>
                    <a:p>
                      <a:pPr algn="ctr"/>
                      <a:r>
                        <a:rPr lang="en-US" sz="2800" b="1" i="1" dirty="0" smtClean="0"/>
                        <a:t>nat</a:t>
                      </a:r>
                      <a:r>
                        <a:rPr lang="en-US" sz="2800" i="1" dirty="0" smtClean="0"/>
                        <a:t>ure</a:t>
                      </a:r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i="1" dirty="0" smtClean="0"/>
                        <a:t>-s</a:t>
                      </a:r>
                    </a:p>
                    <a:p>
                      <a:pPr algn="ctr"/>
                      <a:endParaRPr lang="en-US" sz="28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i="1" dirty="0" smtClean="0"/>
                        <a:t>-</a:t>
                      </a:r>
                      <a:r>
                        <a:rPr lang="en-US" sz="2800" i="1" dirty="0" err="1" smtClean="0"/>
                        <a:t>er</a:t>
                      </a:r>
                      <a:endParaRPr lang="en-US" sz="2800" i="1" dirty="0" smtClean="0"/>
                    </a:p>
                    <a:p>
                      <a:pPr algn="ctr"/>
                      <a:r>
                        <a:rPr lang="en-US" sz="2800" i="1" dirty="0" smtClean="0"/>
                        <a:t>-ion</a:t>
                      </a:r>
                    </a:p>
                    <a:p>
                      <a:pPr algn="ctr"/>
                      <a:r>
                        <a:rPr lang="en-US" sz="2800" i="1" dirty="0" smtClean="0"/>
                        <a:t>-al</a:t>
                      </a:r>
                    </a:p>
                    <a:p>
                      <a:pPr algn="ctr"/>
                      <a:r>
                        <a:rPr lang="en-US" sz="2800" i="1" dirty="0" smtClean="0"/>
                        <a:t>-ism</a:t>
                      </a:r>
                      <a:endParaRPr lang="en-US" sz="2800" i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7417180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6751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Stem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form to which the last affix is added.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b="1" dirty="0" err="1" smtClean="0"/>
              <a:t>nat</a:t>
            </a:r>
            <a:r>
              <a:rPr lang="en-US" sz="2800" dirty="0" smtClean="0"/>
              <a:t>- 	+ 	-ion	&gt; 	nation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b="1" dirty="0" smtClean="0"/>
              <a:t>nat</a:t>
            </a:r>
            <a:r>
              <a:rPr lang="en-US" sz="2800" dirty="0" smtClean="0"/>
              <a:t>ion	+	-al	&gt;	national</a:t>
            </a:r>
          </a:p>
          <a:p>
            <a:pPr lvl="1">
              <a:buFont typeface="Wingdings" pitchFamily="2" charset="2"/>
              <a:buChar char="ü"/>
            </a:pPr>
            <a:r>
              <a:rPr lang="en-US" sz="2800" b="1" dirty="0" smtClean="0"/>
              <a:t>nat</a:t>
            </a:r>
            <a:r>
              <a:rPr lang="en-US" sz="2800" dirty="0" smtClean="0"/>
              <a:t>ional +	-ism	&gt;	nationalism</a:t>
            </a:r>
          </a:p>
          <a:p>
            <a:pPr lvl="1">
              <a:buNone/>
            </a:pPr>
            <a:endParaRPr lang="en-US" sz="2800" dirty="0" smtClean="0"/>
          </a:p>
          <a:p>
            <a:r>
              <a:rPr lang="en-US" sz="2800" dirty="0" smtClean="0"/>
              <a:t>Base is a constant; does not change.</a:t>
            </a:r>
          </a:p>
          <a:p>
            <a:r>
              <a:rPr lang="en-US" sz="2800" dirty="0" smtClean="0"/>
              <a:t>Stem changes as the word grows, i.e., as more affixes are added.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41239269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lvl="0" indent="-571500">
              <a:buNone/>
            </a:pPr>
            <a:r>
              <a:rPr lang="en-US" sz="2800" b="1" dirty="0" smtClean="0"/>
              <a:t>24. </a:t>
            </a:r>
            <a:r>
              <a:rPr lang="en-PH" sz="2800" dirty="0" smtClean="0">
                <a:solidFill>
                  <a:srgbClr val="FF0000"/>
                </a:solidFill>
              </a:rPr>
              <a:t>Some persons think of the word</a:t>
            </a:r>
            <a:r>
              <a:rPr lang="en-PH" sz="2800" b="1" dirty="0" smtClean="0">
                <a:solidFill>
                  <a:srgbClr val="FF0000"/>
                </a:solidFill>
              </a:rPr>
              <a:t> </a:t>
            </a:r>
            <a:r>
              <a:rPr lang="en-PH" sz="2800" b="1" i="1" dirty="0" smtClean="0">
                <a:solidFill>
                  <a:srgbClr val="FF0000"/>
                </a:solidFill>
              </a:rPr>
              <a:t>water </a:t>
            </a:r>
            <a:r>
              <a:rPr lang="en-PH" sz="2800" dirty="0" smtClean="0">
                <a:solidFill>
                  <a:srgbClr val="FF0000"/>
                </a:solidFill>
              </a:rPr>
              <a:t>as either </a:t>
            </a:r>
            <a:r>
              <a:rPr lang="en-PH" sz="2800" i="1" dirty="0" smtClean="0">
                <a:solidFill>
                  <a:srgbClr val="FF0000"/>
                </a:solidFill>
              </a:rPr>
              <a:t>life</a:t>
            </a:r>
            <a:r>
              <a:rPr lang="en-PH" sz="2800" dirty="0" smtClean="0">
                <a:solidFill>
                  <a:srgbClr val="FF0000"/>
                </a:solidFill>
              </a:rPr>
              <a:t> or </a:t>
            </a:r>
            <a:r>
              <a:rPr lang="en-PH" sz="2800" i="1" dirty="0" smtClean="0">
                <a:solidFill>
                  <a:srgbClr val="FF0000"/>
                </a:solidFill>
              </a:rPr>
              <a:t>death</a:t>
            </a:r>
            <a:r>
              <a:rPr lang="en-PH" sz="2800" dirty="0" smtClean="0">
                <a:solidFill>
                  <a:srgbClr val="FF0000"/>
                </a:solidFill>
              </a:rPr>
              <a:t>. </a:t>
            </a:r>
            <a:r>
              <a:rPr lang="en-PH" sz="2800" dirty="0" smtClean="0"/>
              <a:t>Which vocabulary concept  do the italicized words illustrate?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A. lexical meaning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referential meaning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denotation</a:t>
            </a:r>
            <a:endParaRPr lang="en-US" sz="2800" dirty="0" smtClean="0"/>
          </a:p>
          <a:p>
            <a:pPr lvl="0"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D. connotation</a:t>
            </a:r>
            <a:endParaRPr lang="en-US" sz="2800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306595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43712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Denotation and Connotation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600200"/>
            <a:ext cx="7239000" cy="5257800"/>
          </a:xfrm>
        </p:spPr>
        <p:txBody>
          <a:bodyPr>
            <a:noAutofit/>
          </a:bodyPr>
          <a:lstStyle/>
          <a:p>
            <a:r>
              <a:rPr lang="en-US" sz="2800" dirty="0" smtClean="0"/>
              <a:t>Denotation </a:t>
            </a:r>
          </a:p>
          <a:p>
            <a:pPr>
              <a:buNone/>
            </a:pPr>
            <a:r>
              <a:rPr lang="en-US" sz="2800" dirty="0" smtClean="0"/>
              <a:t>		= dictionary meaning</a:t>
            </a:r>
          </a:p>
          <a:p>
            <a:pPr>
              <a:buNone/>
            </a:pPr>
            <a:r>
              <a:rPr lang="en-US" sz="2800" dirty="0" smtClean="0"/>
              <a:t>		   also referred to as </a:t>
            </a:r>
            <a:r>
              <a:rPr lang="en-US" sz="2800" i="1" dirty="0" smtClean="0"/>
              <a:t>lexical meaning</a:t>
            </a:r>
            <a:r>
              <a:rPr lang="en-US" sz="2800" dirty="0" smtClean="0"/>
              <a:t>/</a:t>
            </a:r>
          </a:p>
          <a:p>
            <a:pPr>
              <a:buNone/>
            </a:pPr>
            <a:r>
              <a:rPr lang="en-US" sz="2800" dirty="0" smtClean="0"/>
              <a:t>		   </a:t>
            </a:r>
            <a:r>
              <a:rPr lang="en-US" sz="2800" i="1" dirty="0" smtClean="0"/>
              <a:t>referential meaning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Connotation</a:t>
            </a:r>
          </a:p>
          <a:p>
            <a:pPr>
              <a:buNone/>
            </a:pPr>
            <a:r>
              <a:rPr lang="en-US" sz="2800" dirty="0" smtClean="0"/>
              <a:t>		= the emotional association with a  	word; association can be personal or 	communal.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53284786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lvl="0" indent="-571500">
              <a:buNone/>
            </a:pPr>
            <a:r>
              <a:rPr lang="en-PH" sz="2800" b="1" dirty="0" smtClean="0"/>
              <a:t>25. </a:t>
            </a:r>
            <a:r>
              <a:rPr lang="en-PH" sz="2800" dirty="0" smtClean="0"/>
              <a:t>In which phrase is the spatial meaning of the preposition </a:t>
            </a:r>
            <a:r>
              <a:rPr lang="en-PH" sz="2800" i="1" dirty="0" smtClean="0"/>
              <a:t>about</a:t>
            </a:r>
            <a:r>
              <a:rPr lang="en-PH" sz="2800" dirty="0" smtClean="0"/>
              <a:t> shown? </a:t>
            </a:r>
            <a:endParaRPr lang="en-US" sz="2800" dirty="0" smtClean="0"/>
          </a:p>
          <a:p>
            <a:pPr lvl="0">
              <a:buNone/>
            </a:pPr>
            <a:r>
              <a:rPr lang="en-PH" sz="2800" b="1" dirty="0" smtClean="0"/>
              <a:t>	</a:t>
            </a:r>
            <a:r>
              <a:rPr lang="en-PH" sz="2800" dirty="0" smtClean="0"/>
              <a:t>A. ran about the school ground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B. about 7:00 in the morning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C. about -4 degrees centigrade</a:t>
            </a:r>
            <a:endParaRPr lang="en-US" sz="2800" dirty="0" smtClean="0"/>
          </a:p>
          <a:p>
            <a:pPr lvl="0">
              <a:buNone/>
            </a:pPr>
            <a:r>
              <a:rPr lang="en-PH" sz="2800" dirty="0" smtClean="0"/>
              <a:t>	D. a movie about space aliens</a:t>
            </a:r>
            <a:endParaRPr lang="en-US" sz="28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1567015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2100"/>
            <a:ext cx="8229600" cy="850900"/>
          </a:xfrm>
        </p:spPr>
        <p:txBody>
          <a:bodyPr/>
          <a:lstStyle/>
          <a:p>
            <a:pPr eaLnBrk="1" hangingPunct="1"/>
            <a:r>
              <a:rPr lang="en-US" b="1" dirty="0" smtClean="0"/>
              <a:t>My Fervent Wish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5720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endParaRPr lang="en-PH" sz="4000" dirty="0" smtClean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PH" sz="4000" dirty="0" smtClean="0"/>
              <a:t>I wish you all the luck in the coming LET!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PH" sz="4000" dirty="0" smtClean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PH" sz="4000" dirty="0" smtClean="0"/>
              <a:t>If others can make it, there  WON’T be any reason why you can’t.</a:t>
            </a:r>
            <a:endParaRPr lang="en-GB" sz="4000" dirty="0" smtClean="0"/>
          </a:p>
        </p:txBody>
      </p:sp>
    </p:spTree>
    <p:extLst>
      <p:ext uri="{BB962C8B-B14F-4D97-AF65-F5344CB8AC3E}">
        <p14:creationId xmlns:p14="http://schemas.microsoft.com/office/powerpoint/2010/main" xmlns="" val="196638565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209</TotalTime>
  <Words>2441</Words>
  <Application>Microsoft Office PowerPoint</Application>
  <PresentationFormat>On-screen Show (4:3)</PresentationFormat>
  <Paragraphs>911</Paragraphs>
  <Slides>114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5" baseType="lpstr">
      <vt:lpstr>Wisp</vt:lpstr>
      <vt:lpstr>  Structure of English  2015 LET Review </vt:lpstr>
      <vt:lpstr>Slide 2</vt:lpstr>
      <vt:lpstr>Slide 3</vt:lpstr>
      <vt:lpstr>Basic Sentence Patterns</vt:lpstr>
      <vt:lpstr>Types of Verbs</vt:lpstr>
      <vt:lpstr>Types of Verbs</vt:lpstr>
      <vt:lpstr>Types of Verbs</vt:lpstr>
      <vt:lpstr>Types of Transitive Verbs</vt:lpstr>
      <vt:lpstr>Types of Transitive Verbs</vt:lpstr>
      <vt:lpstr>Types of Transitive Verbs</vt:lpstr>
      <vt:lpstr>Functions of Nouns</vt:lpstr>
      <vt:lpstr>Functions of Nouns</vt:lpstr>
      <vt:lpstr>Slide 13</vt:lpstr>
      <vt:lpstr>Forms of Adverbials</vt:lpstr>
      <vt:lpstr>Slide 15</vt:lpstr>
      <vt:lpstr>Linking/Copula Verbs</vt:lpstr>
      <vt:lpstr>Slide 17</vt:lpstr>
      <vt:lpstr>Voice</vt:lpstr>
      <vt:lpstr>Slide 19</vt:lpstr>
      <vt:lpstr>Slide 20</vt:lpstr>
      <vt:lpstr>Slide 21</vt:lpstr>
      <vt:lpstr>Slide 22</vt:lpstr>
      <vt:lpstr>Examples of Phrasal Verbs (PVs)</vt:lpstr>
      <vt:lpstr>Separable and Inseparable PVs</vt:lpstr>
      <vt:lpstr>Slide 25</vt:lpstr>
      <vt:lpstr>Affixation</vt:lpstr>
      <vt:lpstr>Inflectional &amp; Derivation Suffixes</vt:lpstr>
      <vt:lpstr>Slide 28</vt:lpstr>
      <vt:lpstr>Slide 29</vt:lpstr>
      <vt:lpstr>Slide 30</vt:lpstr>
      <vt:lpstr>Unmarked and Marked Forms</vt:lpstr>
      <vt:lpstr>Slide 32</vt:lpstr>
      <vt:lpstr>Operator Verb</vt:lpstr>
      <vt:lpstr>Modal as Operator Verb</vt:lpstr>
      <vt:lpstr>Be as Operator Verb</vt:lpstr>
      <vt:lpstr>Have as Operator Verb</vt:lpstr>
      <vt:lpstr>Has as Main Verb</vt:lpstr>
      <vt:lpstr>Do Operator with Other Verbs</vt:lpstr>
      <vt:lpstr>Tag Questions</vt:lpstr>
      <vt:lpstr>Slide 40</vt:lpstr>
      <vt:lpstr>Gradable &amp; Absolute Adjectives</vt:lpstr>
      <vt:lpstr>Absolute Adjectives</vt:lpstr>
      <vt:lpstr>Slide 43</vt:lpstr>
      <vt:lpstr>Order of One-Word Adjectives in a Series</vt:lpstr>
      <vt:lpstr>Order of Determiners</vt:lpstr>
      <vt:lpstr>Slide 46</vt:lpstr>
      <vt:lpstr>Polarity</vt:lpstr>
      <vt:lpstr>Slide 48</vt:lpstr>
      <vt:lpstr>Article Use</vt:lpstr>
      <vt:lpstr>Other Uses of the</vt:lpstr>
      <vt:lpstr>Slide 51</vt:lpstr>
      <vt:lpstr>Coordination/Conjoining Process</vt:lpstr>
      <vt:lpstr>Sentence Types: Clause Structure</vt:lpstr>
      <vt:lpstr>Sentence Types: Clause Structure</vt:lpstr>
      <vt:lpstr>Slide 55</vt:lpstr>
      <vt:lpstr>Basic Verb Forms Used in Conditional Sentences</vt:lpstr>
      <vt:lpstr>More on Conditional Sentences</vt:lpstr>
      <vt:lpstr>Slide 58</vt:lpstr>
      <vt:lpstr>Correlative Conjunctions</vt:lpstr>
      <vt:lpstr>Slide 60</vt:lpstr>
      <vt:lpstr>Relative Clause</vt:lpstr>
      <vt:lpstr>Slide 62</vt:lpstr>
      <vt:lpstr>Elision Process</vt:lpstr>
      <vt:lpstr>Slide 64</vt:lpstr>
      <vt:lpstr>Kinds of Imperative Sentences</vt:lpstr>
      <vt:lpstr>Slide 66</vt:lpstr>
      <vt:lpstr>Categories of Words</vt:lpstr>
      <vt:lpstr>Slide 68</vt:lpstr>
      <vt:lpstr>To Remember </vt:lpstr>
      <vt:lpstr>Slide 70</vt:lpstr>
      <vt:lpstr>Sequence of Sentence-Final Adverbials</vt:lpstr>
      <vt:lpstr>Slide 72</vt:lpstr>
      <vt:lpstr>Verb Pairing in If and Main Clauses</vt:lpstr>
      <vt:lpstr>Slide 74</vt:lpstr>
      <vt:lpstr>Slide 75</vt:lpstr>
      <vt:lpstr>Slide 76</vt:lpstr>
      <vt:lpstr>Slide 77</vt:lpstr>
      <vt:lpstr>Slide 78</vt:lpstr>
      <vt:lpstr>Tense and Aspect of Verbs</vt:lpstr>
      <vt:lpstr>Slide 80</vt:lpstr>
      <vt:lpstr>Uses of the Present Tense</vt:lpstr>
      <vt:lpstr>Slide 82</vt:lpstr>
      <vt:lpstr>Slide 83</vt:lpstr>
      <vt:lpstr>Meaning of the Aspects</vt:lpstr>
      <vt:lpstr>Slide 85</vt:lpstr>
      <vt:lpstr>Slide 86</vt:lpstr>
      <vt:lpstr>Slide 87</vt:lpstr>
      <vt:lpstr>Slide 88</vt:lpstr>
      <vt:lpstr> </vt:lpstr>
      <vt:lpstr>Referencing</vt:lpstr>
      <vt:lpstr>Slide 91</vt:lpstr>
      <vt:lpstr>Slide 92</vt:lpstr>
      <vt:lpstr>Slide 93</vt:lpstr>
      <vt:lpstr>Slide 94</vt:lpstr>
      <vt:lpstr>Other Uses of Imperatives</vt:lpstr>
      <vt:lpstr>Slide 96</vt:lpstr>
      <vt:lpstr>Slide 97</vt:lpstr>
      <vt:lpstr>Uses of that</vt:lpstr>
      <vt:lpstr>Slide 99</vt:lpstr>
      <vt:lpstr>Slide 100</vt:lpstr>
      <vt:lpstr>Slide 101</vt:lpstr>
      <vt:lpstr>Attributive and Predicative Adjectives</vt:lpstr>
      <vt:lpstr>Slide 103</vt:lpstr>
      <vt:lpstr>Slide 104</vt:lpstr>
      <vt:lpstr>Slide 105</vt:lpstr>
      <vt:lpstr>Restrictive and Non-restrictive Relative Clauses</vt:lpstr>
      <vt:lpstr>Slide 107</vt:lpstr>
      <vt:lpstr>Slide 108</vt:lpstr>
      <vt:lpstr>Types of Morphemes</vt:lpstr>
      <vt:lpstr>Stem</vt:lpstr>
      <vt:lpstr> </vt:lpstr>
      <vt:lpstr>Denotation and Connotation</vt:lpstr>
      <vt:lpstr>Slide 113</vt:lpstr>
      <vt:lpstr>My Fervent Wish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of English  2015 LET Review</dc:title>
  <dc:creator>ADMIN</dc:creator>
  <cp:lastModifiedBy>Sony</cp:lastModifiedBy>
  <cp:revision>43</cp:revision>
  <dcterms:created xsi:type="dcterms:W3CDTF">2015-05-21T10:51:35Z</dcterms:created>
  <dcterms:modified xsi:type="dcterms:W3CDTF">2015-07-10T12:34:44Z</dcterms:modified>
</cp:coreProperties>
</file>