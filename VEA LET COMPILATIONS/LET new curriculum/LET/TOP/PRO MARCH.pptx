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3"/>
  </p:notesMasterIdLst>
  <p:sldIdLst>
    <p:sldId id="407" r:id="rId2"/>
    <p:sldId id="257" r:id="rId3"/>
    <p:sldId id="408" r:id="rId4"/>
    <p:sldId id="258" r:id="rId5"/>
    <p:sldId id="409" r:id="rId6"/>
    <p:sldId id="259" r:id="rId7"/>
    <p:sldId id="410" r:id="rId8"/>
    <p:sldId id="260" r:id="rId9"/>
    <p:sldId id="411" r:id="rId10"/>
    <p:sldId id="261" r:id="rId11"/>
    <p:sldId id="412" r:id="rId12"/>
    <p:sldId id="262" r:id="rId13"/>
    <p:sldId id="413" r:id="rId14"/>
    <p:sldId id="263" r:id="rId15"/>
    <p:sldId id="414" r:id="rId16"/>
    <p:sldId id="264" r:id="rId17"/>
    <p:sldId id="415" r:id="rId18"/>
    <p:sldId id="265" r:id="rId19"/>
    <p:sldId id="416" r:id="rId20"/>
    <p:sldId id="266" r:id="rId21"/>
    <p:sldId id="417" r:id="rId22"/>
    <p:sldId id="267" r:id="rId23"/>
    <p:sldId id="418" r:id="rId24"/>
    <p:sldId id="268" r:id="rId25"/>
    <p:sldId id="419" r:id="rId26"/>
    <p:sldId id="269" r:id="rId27"/>
    <p:sldId id="420" r:id="rId28"/>
    <p:sldId id="270" r:id="rId29"/>
    <p:sldId id="421" r:id="rId30"/>
    <p:sldId id="271" r:id="rId31"/>
    <p:sldId id="422" r:id="rId32"/>
    <p:sldId id="272" r:id="rId33"/>
    <p:sldId id="423" r:id="rId34"/>
    <p:sldId id="273" r:id="rId35"/>
    <p:sldId id="424" r:id="rId36"/>
    <p:sldId id="274" r:id="rId37"/>
    <p:sldId id="425" r:id="rId38"/>
    <p:sldId id="275" r:id="rId39"/>
    <p:sldId id="426" r:id="rId40"/>
    <p:sldId id="276" r:id="rId41"/>
    <p:sldId id="427" r:id="rId42"/>
    <p:sldId id="277" r:id="rId43"/>
    <p:sldId id="428" r:id="rId44"/>
    <p:sldId id="278" r:id="rId45"/>
    <p:sldId id="429" r:id="rId46"/>
    <p:sldId id="279" r:id="rId47"/>
    <p:sldId id="430" r:id="rId48"/>
    <p:sldId id="280" r:id="rId49"/>
    <p:sldId id="431" r:id="rId50"/>
    <p:sldId id="281" r:id="rId51"/>
    <p:sldId id="432" r:id="rId52"/>
    <p:sldId id="282" r:id="rId53"/>
    <p:sldId id="433" r:id="rId54"/>
    <p:sldId id="283" r:id="rId55"/>
    <p:sldId id="434" r:id="rId56"/>
    <p:sldId id="284" r:id="rId57"/>
    <p:sldId id="435" r:id="rId58"/>
    <p:sldId id="285" r:id="rId59"/>
    <p:sldId id="436" r:id="rId60"/>
    <p:sldId id="286" r:id="rId61"/>
    <p:sldId id="437" r:id="rId62"/>
    <p:sldId id="287" r:id="rId63"/>
    <p:sldId id="438" r:id="rId64"/>
    <p:sldId id="288" r:id="rId65"/>
    <p:sldId id="439" r:id="rId66"/>
    <p:sldId id="289" r:id="rId67"/>
    <p:sldId id="440" r:id="rId68"/>
    <p:sldId id="290" r:id="rId69"/>
    <p:sldId id="441" r:id="rId70"/>
    <p:sldId id="291" r:id="rId71"/>
    <p:sldId id="442" r:id="rId72"/>
    <p:sldId id="292" r:id="rId73"/>
    <p:sldId id="443" r:id="rId74"/>
    <p:sldId id="293" r:id="rId75"/>
    <p:sldId id="444" r:id="rId76"/>
    <p:sldId id="294" r:id="rId77"/>
    <p:sldId id="446" r:id="rId78"/>
    <p:sldId id="295" r:id="rId79"/>
    <p:sldId id="447" r:id="rId80"/>
    <p:sldId id="296" r:id="rId81"/>
    <p:sldId id="448" r:id="rId82"/>
    <p:sldId id="297" r:id="rId83"/>
    <p:sldId id="449" r:id="rId84"/>
    <p:sldId id="298" r:id="rId85"/>
    <p:sldId id="445" r:id="rId86"/>
    <p:sldId id="299" r:id="rId87"/>
    <p:sldId id="450" r:id="rId88"/>
    <p:sldId id="300" r:id="rId89"/>
    <p:sldId id="451" r:id="rId90"/>
    <p:sldId id="301" r:id="rId91"/>
    <p:sldId id="453" r:id="rId92"/>
    <p:sldId id="302" r:id="rId93"/>
    <p:sldId id="452" r:id="rId94"/>
    <p:sldId id="303" r:id="rId95"/>
    <p:sldId id="455" r:id="rId96"/>
    <p:sldId id="304" r:id="rId97"/>
    <p:sldId id="456" r:id="rId98"/>
    <p:sldId id="305" r:id="rId99"/>
    <p:sldId id="454" r:id="rId100"/>
    <p:sldId id="306" r:id="rId101"/>
    <p:sldId id="457" r:id="rId102"/>
    <p:sldId id="307" r:id="rId103"/>
    <p:sldId id="459" r:id="rId104"/>
    <p:sldId id="308" r:id="rId105"/>
    <p:sldId id="458" r:id="rId106"/>
    <p:sldId id="309" r:id="rId107"/>
    <p:sldId id="461" r:id="rId108"/>
    <p:sldId id="310" r:id="rId109"/>
    <p:sldId id="462" r:id="rId110"/>
    <p:sldId id="311" r:id="rId111"/>
    <p:sldId id="463" r:id="rId112"/>
    <p:sldId id="312" r:id="rId113"/>
    <p:sldId id="464" r:id="rId114"/>
    <p:sldId id="313" r:id="rId115"/>
    <p:sldId id="460" r:id="rId116"/>
    <p:sldId id="314" r:id="rId117"/>
    <p:sldId id="465" r:id="rId118"/>
    <p:sldId id="315" r:id="rId119"/>
    <p:sldId id="466" r:id="rId120"/>
    <p:sldId id="316" r:id="rId121"/>
    <p:sldId id="467" r:id="rId122"/>
    <p:sldId id="317" r:id="rId123"/>
    <p:sldId id="468" r:id="rId124"/>
    <p:sldId id="318" r:id="rId125"/>
    <p:sldId id="469" r:id="rId126"/>
    <p:sldId id="319" r:id="rId127"/>
    <p:sldId id="470" r:id="rId128"/>
    <p:sldId id="320" r:id="rId129"/>
    <p:sldId id="471" r:id="rId130"/>
    <p:sldId id="321" r:id="rId131"/>
    <p:sldId id="472" r:id="rId132"/>
    <p:sldId id="322" r:id="rId133"/>
    <p:sldId id="473" r:id="rId134"/>
    <p:sldId id="323" r:id="rId135"/>
    <p:sldId id="474" r:id="rId136"/>
    <p:sldId id="324" r:id="rId137"/>
    <p:sldId id="475" r:id="rId138"/>
    <p:sldId id="325" r:id="rId139"/>
    <p:sldId id="476" r:id="rId140"/>
    <p:sldId id="326" r:id="rId141"/>
    <p:sldId id="477" r:id="rId142"/>
    <p:sldId id="327" r:id="rId143"/>
    <p:sldId id="478" r:id="rId144"/>
    <p:sldId id="328" r:id="rId145"/>
    <p:sldId id="479" r:id="rId146"/>
    <p:sldId id="329" r:id="rId147"/>
    <p:sldId id="480" r:id="rId148"/>
    <p:sldId id="330" r:id="rId149"/>
    <p:sldId id="481" r:id="rId150"/>
    <p:sldId id="331" r:id="rId151"/>
    <p:sldId id="482" r:id="rId152"/>
    <p:sldId id="332" r:id="rId153"/>
    <p:sldId id="483" r:id="rId154"/>
    <p:sldId id="333" r:id="rId155"/>
    <p:sldId id="484" r:id="rId156"/>
    <p:sldId id="334" r:id="rId157"/>
    <p:sldId id="485" r:id="rId158"/>
    <p:sldId id="335" r:id="rId159"/>
    <p:sldId id="486" r:id="rId160"/>
    <p:sldId id="336" r:id="rId161"/>
    <p:sldId id="487" r:id="rId162"/>
    <p:sldId id="337" r:id="rId163"/>
    <p:sldId id="488" r:id="rId164"/>
    <p:sldId id="338" r:id="rId165"/>
    <p:sldId id="489" r:id="rId166"/>
    <p:sldId id="339" r:id="rId167"/>
    <p:sldId id="490" r:id="rId168"/>
    <p:sldId id="340" r:id="rId169"/>
    <p:sldId id="491" r:id="rId170"/>
    <p:sldId id="341" r:id="rId171"/>
    <p:sldId id="492" r:id="rId172"/>
    <p:sldId id="342" r:id="rId173"/>
    <p:sldId id="493" r:id="rId174"/>
    <p:sldId id="343" r:id="rId175"/>
    <p:sldId id="494" r:id="rId176"/>
    <p:sldId id="344" r:id="rId177"/>
    <p:sldId id="495" r:id="rId178"/>
    <p:sldId id="345" r:id="rId179"/>
    <p:sldId id="497" r:id="rId180"/>
    <p:sldId id="346" r:id="rId181"/>
    <p:sldId id="498" r:id="rId182"/>
    <p:sldId id="347" r:id="rId183"/>
    <p:sldId id="496" r:id="rId184"/>
    <p:sldId id="348" r:id="rId185"/>
    <p:sldId id="499" r:id="rId186"/>
    <p:sldId id="349" r:id="rId187"/>
    <p:sldId id="500" r:id="rId188"/>
    <p:sldId id="350" r:id="rId189"/>
    <p:sldId id="501" r:id="rId190"/>
    <p:sldId id="351" r:id="rId191"/>
    <p:sldId id="502" r:id="rId192"/>
    <p:sldId id="352" r:id="rId193"/>
    <p:sldId id="503" r:id="rId194"/>
    <p:sldId id="353" r:id="rId195"/>
    <p:sldId id="504" r:id="rId196"/>
    <p:sldId id="354" r:id="rId197"/>
    <p:sldId id="505" r:id="rId198"/>
    <p:sldId id="355" r:id="rId199"/>
    <p:sldId id="506" r:id="rId200"/>
    <p:sldId id="356" r:id="rId201"/>
    <p:sldId id="507" r:id="rId202"/>
    <p:sldId id="357" r:id="rId203"/>
    <p:sldId id="508" r:id="rId204"/>
    <p:sldId id="358" r:id="rId205"/>
    <p:sldId id="509" r:id="rId206"/>
    <p:sldId id="359" r:id="rId207"/>
    <p:sldId id="510" r:id="rId208"/>
    <p:sldId id="360" r:id="rId209"/>
    <p:sldId id="511" r:id="rId210"/>
    <p:sldId id="361" r:id="rId211"/>
    <p:sldId id="512" r:id="rId212"/>
    <p:sldId id="362" r:id="rId213"/>
    <p:sldId id="513" r:id="rId214"/>
    <p:sldId id="363" r:id="rId215"/>
    <p:sldId id="514" r:id="rId216"/>
    <p:sldId id="364" r:id="rId217"/>
    <p:sldId id="515" r:id="rId218"/>
    <p:sldId id="365" r:id="rId219"/>
    <p:sldId id="516" r:id="rId220"/>
    <p:sldId id="366" r:id="rId221"/>
    <p:sldId id="517" r:id="rId222"/>
    <p:sldId id="367" r:id="rId223"/>
    <p:sldId id="518" r:id="rId224"/>
    <p:sldId id="368" r:id="rId225"/>
    <p:sldId id="519" r:id="rId226"/>
    <p:sldId id="369" r:id="rId227"/>
    <p:sldId id="520" r:id="rId228"/>
    <p:sldId id="370" r:id="rId229"/>
    <p:sldId id="521" r:id="rId230"/>
    <p:sldId id="371" r:id="rId231"/>
    <p:sldId id="522" r:id="rId232"/>
    <p:sldId id="372" r:id="rId233"/>
    <p:sldId id="523" r:id="rId234"/>
    <p:sldId id="373" r:id="rId235"/>
    <p:sldId id="524" r:id="rId236"/>
    <p:sldId id="374" r:id="rId237"/>
    <p:sldId id="525" r:id="rId238"/>
    <p:sldId id="375" r:id="rId239"/>
    <p:sldId id="526" r:id="rId240"/>
    <p:sldId id="376" r:id="rId241"/>
    <p:sldId id="527" r:id="rId242"/>
    <p:sldId id="377" r:id="rId243"/>
    <p:sldId id="528" r:id="rId244"/>
    <p:sldId id="378" r:id="rId245"/>
    <p:sldId id="529" r:id="rId246"/>
    <p:sldId id="379" r:id="rId247"/>
    <p:sldId id="530" r:id="rId248"/>
    <p:sldId id="380" r:id="rId249"/>
    <p:sldId id="531" r:id="rId250"/>
    <p:sldId id="381" r:id="rId251"/>
    <p:sldId id="532" r:id="rId252"/>
    <p:sldId id="382" r:id="rId253"/>
    <p:sldId id="533" r:id="rId254"/>
    <p:sldId id="383" r:id="rId255"/>
    <p:sldId id="534" r:id="rId256"/>
    <p:sldId id="384" r:id="rId257"/>
    <p:sldId id="535" r:id="rId258"/>
    <p:sldId id="385" r:id="rId259"/>
    <p:sldId id="536" r:id="rId260"/>
    <p:sldId id="386" r:id="rId261"/>
    <p:sldId id="537" r:id="rId262"/>
    <p:sldId id="387" r:id="rId263"/>
    <p:sldId id="538" r:id="rId264"/>
    <p:sldId id="388" r:id="rId265"/>
    <p:sldId id="539" r:id="rId266"/>
    <p:sldId id="389" r:id="rId267"/>
    <p:sldId id="540" r:id="rId268"/>
    <p:sldId id="390" r:id="rId269"/>
    <p:sldId id="541" r:id="rId270"/>
    <p:sldId id="391" r:id="rId271"/>
    <p:sldId id="542" r:id="rId272"/>
    <p:sldId id="392" r:id="rId273"/>
    <p:sldId id="543" r:id="rId274"/>
    <p:sldId id="393" r:id="rId275"/>
    <p:sldId id="544" r:id="rId276"/>
    <p:sldId id="394" r:id="rId277"/>
    <p:sldId id="545" r:id="rId278"/>
    <p:sldId id="395" r:id="rId279"/>
    <p:sldId id="546" r:id="rId280"/>
    <p:sldId id="396" r:id="rId281"/>
    <p:sldId id="547" r:id="rId282"/>
    <p:sldId id="397" r:id="rId283"/>
    <p:sldId id="548" r:id="rId284"/>
    <p:sldId id="398" r:id="rId285"/>
    <p:sldId id="549" r:id="rId286"/>
    <p:sldId id="399" r:id="rId287"/>
    <p:sldId id="550" r:id="rId288"/>
    <p:sldId id="400" r:id="rId289"/>
    <p:sldId id="551" r:id="rId290"/>
    <p:sldId id="401" r:id="rId291"/>
    <p:sldId id="552" r:id="rId292"/>
    <p:sldId id="402" r:id="rId293"/>
    <p:sldId id="553" r:id="rId294"/>
    <p:sldId id="403" r:id="rId295"/>
    <p:sldId id="554" r:id="rId296"/>
    <p:sldId id="404" r:id="rId297"/>
    <p:sldId id="555" r:id="rId298"/>
    <p:sldId id="405" r:id="rId299"/>
    <p:sldId id="556" r:id="rId300"/>
    <p:sldId id="406" r:id="rId301"/>
    <p:sldId id="557" r:id="rId30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presProps" Target="presProps.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viewProps" Target="viewProp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tableStyles" Target="tableStyle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notesMaster" Target="notesMasters/notesMaster1.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B1F98-9BFF-4CCF-813C-DB824E656881}" type="datetimeFigureOut">
              <a:rPr lang="en-PH" smtClean="0"/>
              <a:t>14/06/2022</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E7940F-47CD-4C15-BEF4-9820E48AEAA3}" type="slidenum">
              <a:rPr lang="en-PH" smtClean="0"/>
              <a:t>‹#›</a:t>
            </a:fld>
            <a:endParaRPr lang="en-PH"/>
          </a:p>
        </p:txBody>
      </p:sp>
    </p:spTree>
    <p:extLst>
      <p:ext uri="{BB962C8B-B14F-4D97-AF65-F5344CB8AC3E}">
        <p14:creationId xmlns:p14="http://schemas.microsoft.com/office/powerpoint/2010/main" val="810470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6/14/2022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ctrTitle"/>
          </p:nvPr>
        </p:nvSpPr>
        <p:spPr>
          <a:xfrm>
            <a:off x="890338" y="640080"/>
            <a:ext cx="3734014" cy="3566160"/>
          </a:xfrm>
        </p:spPr>
        <p:txBody>
          <a:bodyPr anchor="b">
            <a:noAutofit/>
          </a:bodyPr>
          <a:lstStyle/>
          <a:p>
            <a:r>
              <a:rPr lang="en-US" sz="4400" dirty="0">
                <a:latin typeface="Amasis MT Pro Black" panose="02040A04050005020304" pitchFamily="18" charset="0"/>
              </a:rPr>
              <a:t>Professional Education</a:t>
            </a:r>
            <a:br>
              <a:rPr lang="en-US" sz="4400" dirty="0">
                <a:latin typeface="Amasis MT Pro Black" panose="02040A04050005020304" pitchFamily="18" charset="0"/>
              </a:rPr>
            </a:br>
            <a:r>
              <a:rPr lang="en-US" sz="4400" dirty="0">
                <a:latin typeface="Amasis MT Pro Black" panose="02040A04050005020304" pitchFamily="18" charset="0"/>
              </a:rPr>
              <a:t>March 2022 LET</a:t>
            </a:r>
            <a:br>
              <a:rPr lang="en-US" sz="4400" dirty="0">
                <a:latin typeface="Amasis MT Pro Black" panose="02040A04050005020304" pitchFamily="18" charset="0"/>
              </a:rPr>
            </a:br>
            <a:r>
              <a:rPr lang="en-US" sz="4400" dirty="0">
                <a:latin typeface="Amasis MT Pro Black" panose="02040A04050005020304" pitchFamily="18" charset="0"/>
              </a:rPr>
              <a:t>Questions</a:t>
            </a:r>
          </a:p>
        </p:txBody>
      </p:sp>
      <p:sp>
        <p:nvSpPr>
          <p:cNvPr id="7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26" name="Picture 2" descr="No description available.">
            <a:extLst>
              <a:ext uri="{FF2B5EF4-FFF2-40B4-BE49-F238E27FC236}">
                <a16:creationId xmlns:a16="http://schemas.microsoft.com/office/drawing/2014/main" id="{BCDA422E-D4C4-11BE-7AA1-6D54065700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3"/>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1076325"/>
            <a:ext cx="10515600" cy="1325563"/>
          </a:xfrm>
        </p:spPr>
        <p:txBody>
          <a:bodyPr>
            <a:normAutofit fontScale="90000"/>
          </a:bodyPr>
          <a:lstStyle/>
          <a:p>
            <a:pPr algn="just"/>
            <a:r>
              <a:rPr lang="en-US" dirty="0">
                <a:latin typeface="Amasis MT Pro Black" panose="02040A04050005020304" pitchFamily="18" charset="0"/>
              </a:rPr>
              <a:t>1. What is the proper characterization for the PowerPoint presentation to deliver a lesson?</a:t>
            </a:r>
          </a:p>
        </p:txBody>
      </p:sp>
      <p:sp>
        <p:nvSpPr>
          <p:cNvPr id="3" name="Content Placeholder 2"/>
          <p:cNvSpPr>
            <a:spLocks noGrp="1"/>
          </p:cNvSpPr>
          <p:nvPr>
            <p:ph idx="1"/>
          </p:nvPr>
        </p:nvSpPr>
        <p:spPr>
          <a:xfrm>
            <a:off x="706120" y="3047999"/>
            <a:ext cx="10515600" cy="2580323"/>
          </a:xfrm>
        </p:spPr>
        <p:txBody>
          <a:bodyPr>
            <a:normAutofit lnSpcReduction="10000"/>
          </a:bodyPr>
          <a:lstStyle/>
          <a:p>
            <a:pPr marL="0" indent="0">
              <a:buNone/>
            </a:pPr>
            <a:r>
              <a:rPr lang="en-US" sz="4000" dirty="0">
                <a:latin typeface="Amasis MT Pro" panose="02040504050005020304" pitchFamily="18" charset="0"/>
              </a:rPr>
              <a:t>a. academics</a:t>
            </a:r>
          </a:p>
          <a:p>
            <a:pPr marL="0" indent="0">
              <a:buNone/>
            </a:pPr>
            <a:r>
              <a:rPr lang="en-US" sz="4000" dirty="0">
                <a:latin typeface="Amasis MT Pro" panose="02040504050005020304" pitchFamily="18" charset="0"/>
              </a:rPr>
              <a:t>b. technology</a:t>
            </a:r>
          </a:p>
          <a:p>
            <a:pPr marL="0" indent="0">
              <a:buNone/>
            </a:pPr>
            <a:r>
              <a:rPr lang="en-US" sz="4000" dirty="0">
                <a:latin typeface="Amasis MT Pro" panose="02040504050005020304" pitchFamily="18" charset="0"/>
              </a:rPr>
              <a:t>c. machinery</a:t>
            </a:r>
          </a:p>
          <a:p>
            <a:pPr marL="0" indent="0">
              <a:buNone/>
            </a:pPr>
            <a:r>
              <a:rPr lang="en-US" sz="4000" dirty="0">
                <a:latin typeface="Amasis MT Pro" panose="02040504050005020304" pitchFamily="18" charset="0"/>
              </a:rPr>
              <a:t>d. culture</a:t>
            </a:r>
          </a:p>
        </p:txBody>
      </p:sp>
      <p:pic>
        <p:nvPicPr>
          <p:cNvPr id="4" name="Graphic 3" descr="Checkmark with solid fill">
            <a:extLst>
              <a:ext uri="{FF2B5EF4-FFF2-40B4-BE49-F238E27FC236}">
                <a16:creationId xmlns:a16="http://schemas.microsoft.com/office/drawing/2014/main" id="{7E333E3A-414F-5FDB-FFC0-D8555CC788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59200" y="33274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800" dirty="0"/>
              <a:t>Used thoughtfully, </a:t>
            </a:r>
            <a:r>
              <a:rPr lang="en-US" sz="4800" b="1" dirty="0"/>
              <a:t>PowerPoint</a:t>
            </a:r>
            <a:r>
              <a:rPr lang="en-US" sz="4800" dirty="0"/>
              <a:t> can enhance your teaching sessions by providing a roadmap, reinforcing what you say and allowing you to use graphics and other multimedia to clarify understanding and to support different learning styles.</a:t>
            </a:r>
            <a:endParaRPr lang="en-PH" sz="4800" dirty="0"/>
          </a:p>
        </p:txBody>
      </p:sp>
    </p:spTree>
    <p:extLst>
      <p:ext uri="{BB962C8B-B14F-4D97-AF65-F5344CB8AC3E}">
        <p14:creationId xmlns:p14="http://schemas.microsoft.com/office/powerpoint/2010/main" val="3789434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69365"/>
            <a:ext cx="10515600" cy="1325563"/>
          </a:xfrm>
        </p:spPr>
        <p:txBody>
          <a:bodyPr>
            <a:normAutofit/>
          </a:bodyPr>
          <a:lstStyle/>
          <a:p>
            <a:pPr algn="just"/>
            <a:r>
              <a:rPr lang="en-US" sz="4000" dirty="0">
                <a:latin typeface="Amasis MT Pro Black" panose="02040A04050005020304" pitchFamily="18" charset="0"/>
              </a:rPr>
              <a:t>2. Which type of test can show the student’s synthesizing skills?</a:t>
            </a:r>
          </a:p>
        </p:txBody>
      </p:sp>
      <p:sp>
        <p:nvSpPr>
          <p:cNvPr id="3" name="Content Placeholder 2"/>
          <p:cNvSpPr>
            <a:spLocks noGrp="1"/>
          </p:cNvSpPr>
          <p:nvPr>
            <p:ph idx="1"/>
          </p:nvPr>
        </p:nvSpPr>
        <p:spPr>
          <a:xfrm>
            <a:off x="838200" y="3230879"/>
            <a:ext cx="10515600" cy="2600643"/>
          </a:xfrm>
        </p:spPr>
        <p:txBody>
          <a:bodyPr>
            <a:normAutofit lnSpcReduction="10000"/>
          </a:bodyPr>
          <a:lstStyle/>
          <a:p>
            <a:pPr marL="0" indent="0">
              <a:buNone/>
            </a:pPr>
            <a:r>
              <a:rPr lang="en-US" sz="4000" dirty="0">
                <a:latin typeface="Amasis MT Pro" panose="02040504050005020304" pitchFamily="18" charset="0"/>
              </a:rPr>
              <a:t>a. performance test</a:t>
            </a:r>
          </a:p>
          <a:p>
            <a:pPr marL="0" indent="0">
              <a:buNone/>
            </a:pPr>
            <a:r>
              <a:rPr lang="en-US" sz="4000" dirty="0">
                <a:latin typeface="Amasis MT Pro" panose="02040504050005020304" pitchFamily="18" charset="0"/>
              </a:rPr>
              <a:t>b. diagnostic test</a:t>
            </a:r>
          </a:p>
          <a:p>
            <a:pPr marL="0" indent="0">
              <a:buNone/>
            </a:pPr>
            <a:r>
              <a:rPr lang="en-US" sz="4000" dirty="0">
                <a:latin typeface="Amasis MT Pro" panose="02040504050005020304" pitchFamily="18" charset="0"/>
              </a:rPr>
              <a:t>c. multiple choice test</a:t>
            </a:r>
          </a:p>
          <a:p>
            <a:pPr marL="0" indent="0">
              <a:buNone/>
            </a:pPr>
            <a:r>
              <a:rPr lang="en-US" sz="4000" dirty="0">
                <a:latin typeface="Amasis MT Pro" panose="02040504050005020304" pitchFamily="18" charset="0"/>
              </a:rPr>
              <a:t>d. completion test</a:t>
            </a:r>
          </a:p>
        </p:txBody>
      </p:sp>
      <p:pic>
        <p:nvPicPr>
          <p:cNvPr id="5" name="Graphic 4" descr="Checkmark with solid fill">
            <a:extLst>
              <a:ext uri="{FF2B5EF4-FFF2-40B4-BE49-F238E27FC236}">
                <a16:creationId xmlns:a16="http://schemas.microsoft.com/office/drawing/2014/main" id="{AC342F32-21BF-36C4-EFE0-480D031FDE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81600" y="28803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4800" b="1" dirty="0"/>
              <a:t>Performance assessment - </a:t>
            </a:r>
            <a:r>
              <a:rPr lang="en-US" sz="4800" dirty="0"/>
              <a:t>this assessment measures how well students apply their knowledge, skills, and abilities to authentic problems. The key feature is that it requires the student to produce something, such as a report, experiment, or performance, which is scored against specific criteria.</a:t>
            </a:r>
            <a:endParaRPr lang="en-PH" sz="4800" dirty="0"/>
          </a:p>
        </p:txBody>
      </p:sp>
    </p:spTree>
    <p:extLst>
      <p:ext uri="{BB962C8B-B14F-4D97-AF65-F5344CB8AC3E}">
        <p14:creationId xmlns:p14="http://schemas.microsoft.com/office/powerpoint/2010/main" val="3419146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1845"/>
            <a:ext cx="10515600" cy="1325563"/>
          </a:xfrm>
        </p:spPr>
        <p:txBody>
          <a:bodyPr>
            <a:normAutofit/>
          </a:bodyPr>
          <a:lstStyle/>
          <a:p>
            <a:pPr algn="just"/>
            <a:r>
              <a:rPr lang="en-US" dirty="0">
                <a:latin typeface="Amasis MT Pro Black" panose="02040A04050005020304" pitchFamily="18" charset="0"/>
              </a:rPr>
              <a:t>3. What are characteristics of good management plan?</a:t>
            </a:r>
          </a:p>
        </p:txBody>
      </p:sp>
      <p:sp>
        <p:nvSpPr>
          <p:cNvPr id="3" name="Content Placeholder 2"/>
          <p:cNvSpPr>
            <a:spLocks noGrp="1"/>
          </p:cNvSpPr>
          <p:nvPr>
            <p:ph idx="1"/>
          </p:nvPr>
        </p:nvSpPr>
        <p:spPr>
          <a:xfrm>
            <a:off x="838200" y="2763519"/>
            <a:ext cx="10515600" cy="3068003"/>
          </a:xfrm>
        </p:spPr>
        <p:txBody>
          <a:bodyPr>
            <a:normAutofit/>
          </a:bodyPr>
          <a:lstStyle/>
          <a:p>
            <a:pPr marL="0" indent="0">
              <a:buNone/>
            </a:pPr>
            <a:r>
              <a:rPr lang="en-US" sz="4000" dirty="0">
                <a:latin typeface="Amasis MT Pro" panose="02040504050005020304" pitchFamily="18" charset="0"/>
              </a:rPr>
              <a:t>a. It is clear and simple.</a:t>
            </a:r>
          </a:p>
          <a:p>
            <a:pPr marL="0" indent="0">
              <a:buNone/>
            </a:pPr>
            <a:r>
              <a:rPr lang="en-US" sz="4000" dirty="0">
                <a:latin typeface="Amasis MT Pro" panose="02040504050005020304" pitchFamily="18" charset="0"/>
              </a:rPr>
              <a:t>b. It is prepared by students.</a:t>
            </a:r>
          </a:p>
          <a:p>
            <a:pPr marL="0" indent="0">
              <a:buNone/>
            </a:pPr>
            <a:r>
              <a:rPr lang="en-US" sz="4000" dirty="0">
                <a:latin typeface="Amasis MT Pro" panose="02040504050005020304" pitchFamily="18" charset="0"/>
              </a:rPr>
              <a:t>c. It is approved by parents.</a:t>
            </a:r>
          </a:p>
          <a:p>
            <a:pPr marL="0" indent="0">
              <a:buNone/>
            </a:pPr>
            <a:r>
              <a:rPr lang="en-US" sz="4000" dirty="0">
                <a:latin typeface="Amasis MT Pro" panose="02040504050005020304" pitchFamily="18" charset="0"/>
              </a:rPr>
              <a:t>d. It comes from the principal.</a:t>
            </a:r>
          </a:p>
        </p:txBody>
      </p:sp>
      <p:pic>
        <p:nvPicPr>
          <p:cNvPr id="4" name="Graphic 3" descr="Checkmark with solid fill">
            <a:extLst>
              <a:ext uri="{FF2B5EF4-FFF2-40B4-BE49-F238E27FC236}">
                <a16:creationId xmlns:a16="http://schemas.microsoft.com/office/drawing/2014/main" id="{754F6CFD-EC15-A9EE-2735-39DC8D18FC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84240" y="25146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lnSpcReduction="20000"/>
          </a:bodyPr>
          <a:lstStyle/>
          <a:p>
            <a:pPr marL="0" indent="0" algn="just">
              <a:buNone/>
            </a:pPr>
            <a:r>
              <a:rPr lang="en-US" sz="4800" dirty="0"/>
              <a:t>A </a:t>
            </a:r>
            <a:r>
              <a:rPr lang="en-US" sz="4800" b="1" dirty="0"/>
              <a:t>good management plan</a:t>
            </a:r>
            <a:r>
              <a:rPr lang="en-US" sz="4800" dirty="0"/>
              <a:t> helps you accomplish your goals in a number of ways: It clarifies the roles and responsibilities of everyone in the organization so that everyone knows what she and everyone else is supposed to do. Staff members know who they need to go to for information, consultation, supervision, etc.</a:t>
            </a:r>
            <a:endParaRPr lang="en-PH" sz="4800" dirty="0"/>
          </a:p>
        </p:txBody>
      </p:sp>
    </p:spTree>
    <p:extLst>
      <p:ext uri="{BB962C8B-B14F-4D97-AF65-F5344CB8AC3E}">
        <p14:creationId xmlns:p14="http://schemas.microsoft.com/office/powerpoint/2010/main" val="3746210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065145"/>
          </a:xfrm>
        </p:spPr>
        <p:txBody>
          <a:bodyPr>
            <a:noAutofit/>
          </a:bodyPr>
          <a:lstStyle/>
          <a:p>
            <a:pPr algn="just"/>
            <a:r>
              <a:rPr lang="en-US" sz="3600" dirty="0">
                <a:latin typeface="Amasis MT Pro Black" panose="02040A04050005020304" pitchFamily="18" charset="0"/>
              </a:rPr>
              <a:t>4. Given the oldest historical understanding of a teacher which of the following is closest to the idea of the first teachers who were parents or elders transmitting norms, crafts and beliefs to the young?</a:t>
            </a:r>
          </a:p>
        </p:txBody>
      </p:sp>
      <p:sp>
        <p:nvSpPr>
          <p:cNvPr id="3" name="Content Placeholder 2"/>
          <p:cNvSpPr>
            <a:spLocks noGrp="1"/>
          </p:cNvSpPr>
          <p:nvPr>
            <p:ph idx="1"/>
          </p:nvPr>
        </p:nvSpPr>
        <p:spPr>
          <a:xfrm>
            <a:off x="838200" y="3430270"/>
            <a:ext cx="10515600" cy="2747010"/>
          </a:xfrm>
        </p:spPr>
        <p:txBody>
          <a:bodyPr>
            <a:normAutofit/>
          </a:bodyPr>
          <a:lstStyle/>
          <a:p>
            <a:pPr marL="0" indent="0">
              <a:buNone/>
            </a:pPr>
            <a:r>
              <a:rPr lang="en-US" sz="3600" dirty="0">
                <a:latin typeface="Amasis MT Pro" panose="02040504050005020304" pitchFamily="18" charset="0"/>
              </a:rPr>
              <a:t>a. School teacher</a:t>
            </a:r>
          </a:p>
          <a:p>
            <a:pPr marL="0" indent="0">
              <a:buNone/>
            </a:pPr>
            <a:r>
              <a:rPr lang="en-US" sz="3600" dirty="0">
                <a:latin typeface="Amasis MT Pro" panose="02040504050005020304" pitchFamily="18" charset="0"/>
              </a:rPr>
              <a:t>b. Master</a:t>
            </a:r>
          </a:p>
          <a:p>
            <a:pPr marL="0" indent="0">
              <a:buNone/>
            </a:pPr>
            <a:r>
              <a:rPr lang="en-US" sz="3600" dirty="0">
                <a:latin typeface="Amasis MT Pro" panose="02040504050005020304" pitchFamily="18" charset="0"/>
              </a:rPr>
              <a:t>c. Guardians</a:t>
            </a:r>
          </a:p>
          <a:p>
            <a:pPr marL="0" indent="0">
              <a:buNone/>
            </a:pPr>
            <a:r>
              <a:rPr lang="en-US" sz="3600" dirty="0">
                <a:latin typeface="Amasis MT Pro" panose="02040504050005020304" pitchFamily="18" charset="0"/>
              </a:rPr>
              <a:t>d. Coach</a:t>
            </a:r>
          </a:p>
        </p:txBody>
      </p:sp>
      <p:pic>
        <p:nvPicPr>
          <p:cNvPr id="6" name="Graphic 5" descr="Checkmark with solid fill">
            <a:extLst>
              <a:ext uri="{FF2B5EF4-FFF2-40B4-BE49-F238E27FC236}">
                <a16:creationId xmlns:a16="http://schemas.microsoft.com/office/drawing/2014/main" id="{5F369B54-C660-EBE9-46FE-7808347B3F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3600" y="434657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BF63FCDF-4F0B-0A1F-FF82-2EEA5F4D9737}"/>
              </a:ext>
            </a:extLst>
          </p:cNvPr>
          <p:cNvPicPr>
            <a:picLocks noChangeAspect="1"/>
          </p:cNvPicPr>
          <p:nvPr/>
        </p:nvPicPr>
        <p:blipFill>
          <a:blip r:embed="rId2"/>
          <a:stretch>
            <a:fillRect/>
          </a:stretch>
        </p:blipFill>
        <p:spPr>
          <a:xfrm>
            <a:off x="643467" y="1506982"/>
            <a:ext cx="10905066" cy="3844035"/>
          </a:xfrm>
          <a:prstGeom prst="rect">
            <a:avLst/>
          </a:prstGeom>
        </p:spPr>
      </p:pic>
    </p:spTree>
    <p:extLst>
      <p:ext uri="{BB962C8B-B14F-4D97-AF65-F5344CB8AC3E}">
        <p14:creationId xmlns:p14="http://schemas.microsoft.com/office/powerpoint/2010/main" val="25359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3765"/>
            <a:ext cx="10515600" cy="1325563"/>
          </a:xfrm>
        </p:spPr>
        <p:txBody>
          <a:bodyPr>
            <a:normAutofit fontScale="90000"/>
          </a:bodyPr>
          <a:lstStyle/>
          <a:p>
            <a:pPr algn="just"/>
            <a:r>
              <a:rPr lang="en-US" dirty="0">
                <a:latin typeface="Amasis MT Pro Black" panose="02040A04050005020304" pitchFamily="18" charset="0"/>
              </a:rPr>
              <a:t>5. On periods of development, what feature characterizes the child in early childhood?</a:t>
            </a:r>
          </a:p>
        </p:txBody>
      </p:sp>
      <p:sp>
        <p:nvSpPr>
          <p:cNvPr id="3" name="Content Placeholder 2"/>
          <p:cNvSpPr>
            <a:spLocks noGrp="1"/>
          </p:cNvSpPr>
          <p:nvPr>
            <p:ph idx="1"/>
          </p:nvPr>
        </p:nvSpPr>
        <p:spPr>
          <a:xfrm>
            <a:off x="838200" y="2905759"/>
            <a:ext cx="10515600" cy="2966403"/>
          </a:xfrm>
        </p:spPr>
        <p:txBody>
          <a:bodyPr>
            <a:normAutofit/>
          </a:bodyPr>
          <a:lstStyle/>
          <a:p>
            <a:pPr marL="0" indent="0">
              <a:buNone/>
            </a:pPr>
            <a:r>
              <a:rPr lang="en-US" sz="4000" dirty="0">
                <a:latin typeface="Amasis MT Pro" panose="02040504050005020304" pitchFamily="18" charset="0"/>
              </a:rPr>
              <a:t>a. high level of cognition</a:t>
            </a:r>
          </a:p>
          <a:p>
            <a:pPr marL="0" indent="0">
              <a:buNone/>
            </a:pPr>
            <a:r>
              <a:rPr lang="en-US" sz="4000" dirty="0">
                <a:latin typeface="Amasis MT Pro" panose="02040504050005020304" pitchFamily="18" charset="0"/>
              </a:rPr>
              <a:t>b. independence</a:t>
            </a:r>
          </a:p>
          <a:p>
            <a:pPr marL="0" indent="0">
              <a:buNone/>
            </a:pPr>
            <a:r>
              <a:rPr lang="en-US" sz="4000" dirty="0">
                <a:latin typeface="Amasis MT Pro" panose="02040504050005020304" pitchFamily="18" charset="0"/>
              </a:rPr>
              <a:t>c. readiness for schooling</a:t>
            </a:r>
          </a:p>
          <a:p>
            <a:pPr marL="0" indent="0">
              <a:buNone/>
            </a:pPr>
            <a:r>
              <a:rPr lang="en-US" sz="4000" dirty="0">
                <a:latin typeface="Amasis MT Pro" panose="02040504050005020304" pitchFamily="18" charset="0"/>
              </a:rPr>
              <a:t>d. maturity</a:t>
            </a:r>
          </a:p>
        </p:txBody>
      </p:sp>
      <p:pic>
        <p:nvPicPr>
          <p:cNvPr id="4" name="Graphic 3" descr="Checkmark with solid fill">
            <a:extLst>
              <a:ext uri="{FF2B5EF4-FFF2-40B4-BE49-F238E27FC236}">
                <a16:creationId xmlns:a16="http://schemas.microsoft.com/office/drawing/2014/main" id="{CDD1999A-49BC-8DB9-D48E-0AD2789994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61760" y="40284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800" dirty="0"/>
              <a:t>The early signs of cognitive ability and maturity, children's work-related and learning-related social skills and self-regulatory skills have been identified as factors that contribute to and define “</a:t>
            </a:r>
            <a:r>
              <a:rPr lang="en-US" sz="4800" b="1" dirty="0"/>
              <a:t>school readiness</a:t>
            </a:r>
            <a:r>
              <a:rPr lang="en-US" sz="4800" dirty="0"/>
              <a:t>”.</a:t>
            </a:r>
            <a:endParaRPr lang="en-PH" sz="4800" dirty="0"/>
          </a:p>
        </p:txBody>
      </p:sp>
    </p:spTree>
    <p:extLst>
      <p:ext uri="{BB962C8B-B14F-4D97-AF65-F5344CB8AC3E}">
        <p14:creationId xmlns:p14="http://schemas.microsoft.com/office/powerpoint/2010/main" val="3318311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934085"/>
            <a:ext cx="10515600" cy="1325563"/>
          </a:xfrm>
        </p:spPr>
        <p:txBody>
          <a:bodyPr>
            <a:normAutofit fontScale="90000"/>
          </a:bodyPr>
          <a:lstStyle/>
          <a:p>
            <a:pPr algn="just"/>
            <a:r>
              <a:rPr lang="en-US" dirty="0">
                <a:latin typeface="Amasis MT Pro Black" panose="02040A04050005020304" pitchFamily="18" charset="0"/>
              </a:rPr>
              <a:t>6. What characteristics show that a teacher has empathy towards learners?</a:t>
            </a:r>
          </a:p>
        </p:txBody>
      </p:sp>
      <p:sp>
        <p:nvSpPr>
          <p:cNvPr id="3" name="Content Placeholder 2"/>
          <p:cNvSpPr>
            <a:spLocks noGrp="1"/>
          </p:cNvSpPr>
          <p:nvPr>
            <p:ph idx="1"/>
          </p:nvPr>
        </p:nvSpPr>
        <p:spPr>
          <a:xfrm>
            <a:off x="838200" y="2926081"/>
            <a:ext cx="10515600" cy="3250882"/>
          </a:xfrm>
        </p:spPr>
        <p:txBody>
          <a:bodyPr>
            <a:normAutofit/>
          </a:bodyPr>
          <a:lstStyle/>
          <a:p>
            <a:pPr marL="0" indent="0">
              <a:buNone/>
            </a:pPr>
            <a:r>
              <a:rPr lang="en-US" sz="4000" dirty="0">
                <a:latin typeface="Amasis MT Pro" panose="02040504050005020304" pitchFamily="18" charset="0"/>
              </a:rPr>
              <a:t>a. strength and conviction</a:t>
            </a:r>
          </a:p>
          <a:p>
            <a:pPr marL="0" indent="0">
              <a:buNone/>
            </a:pPr>
            <a:r>
              <a:rPr lang="en-US" sz="4000" dirty="0">
                <a:latin typeface="Amasis MT Pro" panose="02040504050005020304" pitchFamily="18" charset="0"/>
              </a:rPr>
              <a:t>b. caring and love</a:t>
            </a:r>
          </a:p>
          <a:p>
            <a:pPr marL="0" indent="0">
              <a:buNone/>
            </a:pPr>
            <a:r>
              <a:rPr lang="en-US" sz="4000" dirty="0">
                <a:latin typeface="Amasis MT Pro" panose="02040504050005020304" pitchFamily="18" charset="0"/>
              </a:rPr>
              <a:t>c. loyalty and affinity</a:t>
            </a:r>
          </a:p>
          <a:p>
            <a:pPr marL="0" indent="0">
              <a:buNone/>
            </a:pPr>
            <a:r>
              <a:rPr lang="en-US" sz="4000" dirty="0">
                <a:latin typeface="Amasis MT Pro" panose="02040504050005020304" pitchFamily="18" charset="0"/>
              </a:rPr>
              <a:t>d. discipline and fortitude</a:t>
            </a:r>
          </a:p>
        </p:txBody>
      </p:sp>
      <p:pic>
        <p:nvPicPr>
          <p:cNvPr id="4" name="Graphic 3" descr="Checkmark with solid fill">
            <a:extLst>
              <a:ext uri="{FF2B5EF4-FFF2-40B4-BE49-F238E27FC236}">
                <a16:creationId xmlns:a16="http://schemas.microsoft.com/office/drawing/2014/main" id="{484D9057-FEEA-5E1A-55AC-A624C1761E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36160" y="32969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800" dirty="0"/>
              <a:t>The term “</a:t>
            </a:r>
            <a:r>
              <a:rPr lang="en-US" sz="4800" b="1" dirty="0"/>
              <a:t>empathy</a:t>
            </a:r>
            <a:r>
              <a:rPr lang="en-US" sz="4800" dirty="0"/>
              <a:t>” is used to describe a wide range of experiences. Emotion researchers generally define empathy as the ability to sense other people's emotions, coupled with the ability to imagine what someone else might be thinking or feeling.</a:t>
            </a:r>
            <a:endParaRPr lang="en-PH" sz="4800" dirty="0"/>
          </a:p>
        </p:txBody>
      </p:sp>
    </p:spTree>
    <p:extLst>
      <p:ext uri="{BB962C8B-B14F-4D97-AF65-F5344CB8AC3E}">
        <p14:creationId xmlns:p14="http://schemas.microsoft.com/office/powerpoint/2010/main" val="2938202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5685"/>
            <a:ext cx="10515600" cy="1325563"/>
          </a:xfrm>
        </p:spPr>
        <p:txBody>
          <a:bodyPr>
            <a:normAutofit fontScale="90000"/>
          </a:bodyPr>
          <a:lstStyle/>
          <a:p>
            <a:pPr algn="just"/>
            <a:r>
              <a:rPr lang="en-US" dirty="0">
                <a:latin typeface="Amasis MT Pro Black" panose="02040A04050005020304" pitchFamily="18" charset="0"/>
              </a:rPr>
              <a:t>7. Which of the following is a routine procedure in class management? </a:t>
            </a:r>
          </a:p>
        </p:txBody>
      </p:sp>
      <p:sp>
        <p:nvSpPr>
          <p:cNvPr id="3" name="Content Placeholder 2"/>
          <p:cNvSpPr>
            <a:spLocks noGrp="1"/>
          </p:cNvSpPr>
          <p:nvPr>
            <p:ph idx="1"/>
          </p:nvPr>
        </p:nvSpPr>
        <p:spPr>
          <a:xfrm>
            <a:off x="838200" y="2890519"/>
            <a:ext cx="10515600" cy="2747963"/>
          </a:xfrm>
        </p:spPr>
        <p:txBody>
          <a:bodyPr>
            <a:normAutofit/>
          </a:bodyPr>
          <a:lstStyle/>
          <a:p>
            <a:pPr marL="0" indent="0">
              <a:buNone/>
            </a:pPr>
            <a:r>
              <a:rPr lang="en-US" sz="4000" dirty="0">
                <a:latin typeface="Amasis MT Pro" panose="02040504050005020304" pitchFamily="18" charset="0"/>
              </a:rPr>
              <a:t>a. experiment</a:t>
            </a:r>
          </a:p>
          <a:p>
            <a:pPr marL="0" indent="0">
              <a:buNone/>
            </a:pPr>
            <a:r>
              <a:rPr lang="en-US" sz="4000" dirty="0">
                <a:latin typeface="Amasis MT Pro" panose="02040504050005020304" pitchFamily="18" charset="0"/>
              </a:rPr>
              <a:t>b. role-play</a:t>
            </a:r>
          </a:p>
          <a:p>
            <a:pPr marL="0" indent="0">
              <a:buNone/>
            </a:pPr>
            <a:r>
              <a:rPr lang="en-US" sz="4000" dirty="0">
                <a:latin typeface="Amasis MT Pro" panose="02040504050005020304" pitchFamily="18" charset="0"/>
              </a:rPr>
              <a:t>c. roll-call</a:t>
            </a:r>
          </a:p>
          <a:p>
            <a:pPr marL="0" indent="0">
              <a:buNone/>
            </a:pPr>
            <a:r>
              <a:rPr lang="en-US" sz="4000" dirty="0">
                <a:latin typeface="Amasis MT Pro" panose="02040504050005020304" pitchFamily="18" charset="0"/>
              </a:rPr>
              <a:t>d. research</a:t>
            </a:r>
          </a:p>
        </p:txBody>
      </p:sp>
      <p:pic>
        <p:nvPicPr>
          <p:cNvPr id="4" name="Graphic 3" descr="Checkmark with solid fill">
            <a:extLst>
              <a:ext uri="{FF2B5EF4-FFF2-40B4-BE49-F238E27FC236}">
                <a16:creationId xmlns:a16="http://schemas.microsoft.com/office/drawing/2014/main" id="{A8DCC055-D3A7-5FBE-D7B3-85E56F7753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80080" y="39166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800" b="1" dirty="0"/>
              <a:t>Routines</a:t>
            </a:r>
            <a:r>
              <a:rPr lang="en-US" sz="4800" dirty="0"/>
              <a:t> are an important way to establish norms, set expectations, and otherwise build positive relationships in the classroom environment (and the workplace). They help everyone involved be on the same page.</a:t>
            </a:r>
            <a:endParaRPr lang="en-PH" sz="4800" dirty="0"/>
          </a:p>
        </p:txBody>
      </p:sp>
    </p:spTree>
    <p:extLst>
      <p:ext uri="{BB962C8B-B14F-4D97-AF65-F5344CB8AC3E}">
        <p14:creationId xmlns:p14="http://schemas.microsoft.com/office/powerpoint/2010/main" val="326476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934085"/>
            <a:ext cx="10515600" cy="1881505"/>
          </a:xfrm>
        </p:spPr>
        <p:txBody>
          <a:bodyPr>
            <a:noAutofit/>
          </a:bodyPr>
          <a:lstStyle/>
          <a:p>
            <a:pPr algn="just"/>
            <a:r>
              <a:rPr lang="en-US" sz="3600" dirty="0">
                <a:latin typeface="Amasis MT Pro Black" panose="02040A04050005020304" pitchFamily="18" charset="0"/>
              </a:rPr>
              <a:t>8. There are varied aspects to professionalism among teachers, but which aspect is their inner deals, commitment and dedication as teachers?</a:t>
            </a:r>
          </a:p>
        </p:txBody>
      </p:sp>
      <p:sp>
        <p:nvSpPr>
          <p:cNvPr id="3" name="Content Placeholder 2"/>
          <p:cNvSpPr>
            <a:spLocks noGrp="1"/>
          </p:cNvSpPr>
          <p:nvPr>
            <p:ph idx="1"/>
          </p:nvPr>
        </p:nvSpPr>
        <p:spPr>
          <a:xfrm>
            <a:off x="838200" y="3535680"/>
            <a:ext cx="10515600" cy="2641600"/>
          </a:xfrm>
        </p:spPr>
        <p:txBody>
          <a:bodyPr>
            <a:normAutofit lnSpcReduction="10000"/>
          </a:bodyPr>
          <a:lstStyle/>
          <a:p>
            <a:pPr marL="0" indent="0">
              <a:buNone/>
            </a:pPr>
            <a:r>
              <a:rPr lang="en-US" sz="4000" dirty="0">
                <a:latin typeface="Amasis MT Pro" panose="02040504050005020304" pitchFamily="18" charset="0"/>
              </a:rPr>
              <a:t>a.  ethical aspect</a:t>
            </a:r>
          </a:p>
          <a:p>
            <a:pPr marL="0" indent="0">
              <a:buNone/>
            </a:pPr>
            <a:r>
              <a:rPr lang="en-US" sz="4000" dirty="0">
                <a:latin typeface="Amasis MT Pro" panose="02040504050005020304" pitchFamily="18" charset="0"/>
              </a:rPr>
              <a:t>b.  social aspect</a:t>
            </a:r>
          </a:p>
          <a:p>
            <a:pPr marL="0" indent="0">
              <a:buNone/>
            </a:pPr>
            <a:r>
              <a:rPr lang="en-US" sz="4000" dirty="0">
                <a:latin typeface="Amasis MT Pro" panose="02040504050005020304" pitchFamily="18" charset="0"/>
              </a:rPr>
              <a:t>c.  cultural aspect</a:t>
            </a:r>
          </a:p>
          <a:p>
            <a:pPr marL="0" indent="0">
              <a:buNone/>
            </a:pPr>
            <a:r>
              <a:rPr lang="en-US" sz="4000" dirty="0">
                <a:latin typeface="Amasis MT Pro" panose="02040504050005020304" pitchFamily="18" charset="0"/>
              </a:rPr>
              <a:t>d.  work aspect</a:t>
            </a:r>
          </a:p>
        </p:txBody>
      </p:sp>
      <p:pic>
        <p:nvPicPr>
          <p:cNvPr id="4" name="Graphic 3" descr="Checkmark with solid fill">
            <a:extLst>
              <a:ext uri="{FF2B5EF4-FFF2-40B4-BE49-F238E27FC236}">
                <a16:creationId xmlns:a16="http://schemas.microsoft.com/office/drawing/2014/main" id="{8CCD3699-9B9F-A136-E871-2A966FAB60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1200" y="3219451"/>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4800" b="1" dirty="0"/>
              <a:t>Ethics</a:t>
            </a:r>
            <a:r>
              <a:rPr lang="en-US" sz="4800" dirty="0"/>
              <a:t> is connected to cultural meaning and social power to provide the philosophical base for justice, proper use of power and authority, and right relationships. As a whole, decisions and their rightness, consequences and context are all ethically very important in the development of sustainable society.</a:t>
            </a:r>
            <a:endParaRPr lang="en-PH" sz="4800" dirty="0"/>
          </a:p>
        </p:txBody>
      </p:sp>
    </p:spTree>
    <p:extLst>
      <p:ext uri="{BB962C8B-B14F-4D97-AF65-F5344CB8AC3E}">
        <p14:creationId xmlns:p14="http://schemas.microsoft.com/office/powerpoint/2010/main" val="342793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873125"/>
            <a:ext cx="10515600" cy="1325563"/>
          </a:xfrm>
        </p:spPr>
        <p:txBody>
          <a:bodyPr>
            <a:normAutofit/>
          </a:bodyPr>
          <a:lstStyle/>
          <a:p>
            <a:pPr algn="just"/>
            <a:r>
              <a:rPr lang="en-US" dirty="0">
                <a:latin typeface="Amasis MT Pro Black" panose="02040A04050005020304" pitchFamily="18" charset="0"/>
              </a:rPr>
              <a:t>9. What assessment provides a total view of a student’s performance?</a:t>
            </a:r>
          </a:p>
        </p:txBody>
      </p:sp>
      <p:sp>
        <p:nvSpPr>
          <p:cNvPr id="3" name="Content Placeholder 2"/>
          <p:cNvSpPr>
            <a:spLocks noGrp="1"/>
          </p:cNvSpPr>
          <p:nvPr>
            <p:ph idx="1"/>
          </p:nvPr>
        </p:nvSpPr>
        <p:spPr>
          <a:xfrm>
            <a:off x="838200" y="3139439"/>
            <a:ext cx="10515600" cy="3037523"/>
          </a:xfrm>
        </p:spPr>
        <p:txBody>
          <a:bodyPr>
            <a:normAutofit/>
          </a:bodyPr>
          <a:lstStyle/>
          <a:p>
            <a:pPr marL="0" indent="0">
              <a:buNone/>
            </a:pPr>
            <a:r>
              <a:rPr lang="en-US" sz="4000" dirty="0">
                <a:latin typeface="Amasis MT Pro" panose="02040504050005020304" pitchFamily="18" charset="0"/>
              </a:rPr>
              <a:t>a. summative</a:t>
            </a:r>
          </a:p>
          <a:p>
            <a:pPr marL="0" indent="0">
              <a:buNone/>
            </a:pPr>
            <a:r>
              <a:rPr lang="en-US" sz="4000" dirty="0">
                <a:latin typeface="Amasis MT Pro" panose="02040504050005020304" pitchFamily="18" charset="0"/>
              </a:rPr>
              <a:t>b. developmental</a:t>
            </a:r>
          </a:p>
          <a:p>
            <a:pPr marL="0" indent="0">
              <a:buNone/>
            </a:pPr>
            <a:r>
              <a:rPr lang="en-US" sz="4000" dirty="0">
                <a:latin typeface="Amasis MT Pro" panose="02040504050005020304" pitchFamily="18" charset="0"/>
              </a:rPr>
              <a:t>c. placement</a:t>
            </a:r>
          </a:p>
          <a:p>
            <a:pPr marL="0" indent="0">
              <a:buNone/>
            </a:pPr>
            <a:r>
              <a:rPr lang="en-US" sz="4000" dirty="0">
                <a:latin typeface="Amasis MT Pro" panose="02040504050005020304" pitchFamily="18" charset="0"/>
              </a:rPr>
              <a:t>d. formative</a:t>
            </a:r>
          </a:p>
        </p:txBody>
      </p:sp>
      <p:pic>
        <p:nvPicPr>
          <p:cNvPr id="4" name="Graphic 3" descr="Checkmark with solid fill">
            <a:extLst>
              <a:ext uri="{FF2B5EF4-FFF2-40B4-BE49-F238E27FC236}">
                <a16:creationId xmlns:a16="http://schemas.microsoft.com/office/drawing/2014/main" id="{20E51005-1655-0330-DB89-4C69429439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2400" y="28194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800" b="1" dirty="0"/>
              <a:t>Summative assessments</a:t>
            </a:r>
            <a:r>
              <a:rPr lang="en-US" sz="4800" dirty="0"/>
              <a:t> are used to evaluate student learning, skill acquisition, and academic achievement at the conclusion of a defined instructional period — typically at the end of a project, unit, course, semester, program, or school year. </a:t>
            </a:r>
            <a:endParaRPr lang="en-PH" sz="4800" dirty="0"/>
          </a:p>
        </p:txBody>
      </p:sp>
    </p:spTree>
    <p:extLst>
      <p:ext uri="{BB962C8B-B14F-4D97-AF65-F5344CB8AC3E}">
        <p14:creationId xmlns:p14="http://schemas.microsoft.com/office/powerpoint/2010/main" val="2739605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74725"/>
            <a:ext cx="10515600" cy="1325563"/>
          </a:xfrm>
        </p:spPr>
        <p:txBody>
          <a:bodyPr>
            <a:normAutofit/>
          </a:bodyPr>
          <a:lstStyle/>
          <a:p>
            <a:pPr algn="just"/>
            <a:r>
              <a:rPr lang="en-US" dirty="0">
                <a:latin typeface="Amasis MT Pro Black" panose="02040A04050005020304" pitchFamily="18" charset="0"/>
              </a:rPr>
              <a:t>10. How is periodic reporting of student grades useful?</a:t>
            </a:r>
          </a:p>
        </p:txBody>
      </p:sp>
      <p:sp>
        <p:nvSpPr>
          <p:cNvPr id="3" name="Content Placeholder 2"/>
          <p:cNvSpPr>
            <a:spLocks noGrp="1"/>
          </p:cNvSpPr>
          <p:nvPr>
            <p:ph idx="1"/>
          </p:nvPr>
        </p:nvSpPr>
        <p:spPr>
          <a:xfrm>
            <a:off x="838200" y="2890519"/>
            <a:ext cx="10515600" cy="2747963"/>
          </a:xfrm>
        </p:spPr>
        <p:txBody>
          <a:bodyPr>
            <a:normAutofit/>
          </a:bodyPr>
          <a:lstStyle/>
          <a:p>
            <a:pPr marL="0" indent="0">
              <a:buNone/>
            </a:pPr>
            <a:r>
              <a:rPr lang="en-US" sz="4000" dirty="0">
                <a:latin typeface="Amasis MT Pro" panose="02040504050005020304" pitchFamily="18" charset="0"/>
              </a:rPr>
              <a:t>a. as an obligation</a:t>
            </a:r>
          </a:p>
          <a:p>
            <a:pPr marL="0" indent="0">
              <a:buNone/>
            </a:pPr>
            <a:r>
              <a:rPr lang="en-US" sz="4000" dirty="0">
                <a:latin typeface="Amasis MT Pro" panose="02040504050005020304" pitchFamily="18" charset="0"/>
              </a:rPr>
              <a:t>b. as way to please parents</a:t>
            </a:r>
          </a:p>
          <a:p>
            <a:pPr marL="0" indent="0">
              <a:buNone/>
            </a:pPr>
            <a:r>
              <a:rPr lang="en-US" sz="4000" dirty="0">
                <a:latin typeface="Amasis MT Pro" panose="02040504050005020304" pitchFamily="18" charset="0"/>
              </a:rPr>
              <a:t>c. as way to win support for the school</a:t>
            </a:r>
          </a:p>
          <a:p>
            <a:pPr marL="0" indent="0">
              <a:buNone/>
            </a:pPr>
            <a:r>
              <a:rPr lang="en-US" sz="4000" dirty="0">
                <a:latin typeface="Amasis MT Pro" panose="02040504050005020304" pitchFamily="18" charset="0"/>
              </a:rPr>
              <a:t>d. as feedback</a:t>
            </a:r>
          </a:p>
        </p:txBody>
      </p:sp>
      <p:pic>
        <p:nvPicPr>
          <p:cNvPr id="4" name="Graphic 3" descr="Checkmark with solid fill">
            <a:extLst>
              <a:ext uri="{FF2B5EF4-FFF2-40B4-BE49-F238E27FC236}">
                <a16:creationId xmlns:a16="http://schemas.microsoft.com/office/drawing/2014/main" id="{605EEDFF-9B04-BB8D-24C5-B6C4FE1481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16400" y="4724082"/>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800" b="1" dirty="0"/>
              <a:t>Feedback</a:t>
            </a:r>
            <a:r>
              <a:rPr lang="en-US" sz="4800" dirty="0"/>
              <a:t> is any response regarding a student's performance or behavior. It can be verbal, written or gestural. The purpose of feedback in the assessment and learning process is to improve a student's performance - not put a damper on it.</a:t>
            </a:r>
            <a:endParaRPr lang="en-PH" sz="4800" dirty="0"/>
          </a:p>
        </p:txBody>
      </p:sp>
    </p:spTree>
    <p:extLst>
      <p:ext uri="{BB962C8B-B14F-4D97-AF65-F5344CB8AC3E}">
        <p14:creationId xmlns:p14="http://schemas.microsoft.com/office/powerpoint/2010/main" val="4011457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3765"/>
            <a:ext cx="10515600" cy="1866900"/>
          </a:xfrm>
        </p:spPr>
        <p:txBody>
          <a:bodyPr>
            <a:noAutofit/>
          </a:bodyPr>
          <a:lstStyle/>
          <a:p>
            <a:pPr algn="just"/>
            <a:r>
              <a:rPr lang="en-US" sz="3600" dirty="0">
                <a:latin typeface="Amasis MT Pro Black" panose="02040A04050005020304" pitchFamily="18" charset="0"/>
              </a:rPr>
              <a:t>11. What activity of human intelligence attaches value or quantitative description to measuring results of learning activities?</a:t>
            </a:r>
          </a:p>
        </p:txBody>
      </p:sp>
      <p:sp>
        <p:nvSpPr>
          <p:cNvPr id="3" name="Content Placeholder 2"/>
          <p:cNvSpPr>
            <a:spLocks noGrp="1"/>
          </p:cNvSpPr>
          <p:nvPr>
            <p:ph idx="1"/>
          </p:nvPr>
        </p:nvSpPr>
        <p:spPr>
          <a:xfrm>
            <a:off x="838200" y="3195955"/>
            <a:ext cx="10515600" cy="2748280"/>
          </a:xfrm>
        </p:spPr>
        <p:txBody>
          <a:bodyPr>
            <a:normAutofit/>
          </a:bodyPr>
          <a:lstStyle/>
          <a:p>
            <a:pPr marL="0" indent="0">
              <a:buNone/>
            </a:pPr>
            <a:r>
              <a:rPr lang="en-US" sz="3600" dirty="0">
                <a:latin typeface="Amasis MT Pro" panose="02040504050005020304" pitchFamily="18" charset="0"/>
              </a:rPr>
              <a:t>a. analysis</a:t>
            </a:r>
          </a:p>
          <a:p>
            <a:pPr marL="0" indent="0">
              <a:buNone/>
            </a:pPr>
            <a:r>
              <a:rPr lang="en-US" sz="3600" dirty="0">
                <a:latin typeface="Amasis MT Pro" panose="02040504050005020304" pitchFamily="18" charset="0"/>
              </a:rPr>
              <a:t>b. critical thinking</a:t>
            </a:r>
          </a:p>
          <a:p>
            <a:pPr marL="0" indent="0">
              <a:buNone/>
            </a:pPr>
            <a:r>
              <a:rPr lang="en-US" sz="3600" dirty="0">
                <a:latin typeface="Amasis MT Pro" panose="02040504050005020304" pitchFamily="18" charset="0"/>
              </a:rPr>
              <a:t>c. assessment</a:t>
            </a:r>
          </a:p>
          <a:p>
            <a:pPr marL="0" indent="0">
              <a:buNone/>
            </a:pPr>
            <a:r>
              <a:rPr lang="en-US" sz="3600" dirty="0">
                <a:latin typeface="Amasis MT Pro" panose="02040504050005020304" pitchFamily="18" charset="0"/>
              </a:rPr>
              <a:t>d. understanding</a:t>
            </a:r>
          </a:p>
        </p:txBody>
      </p:sp>
      <p:pic>
        <p:nvPicPr>
          <p:cNvPr id="4" name="Graphic 3" descr="Checkmark with solid fill">
            <a:extLst>
              <a:ext uri="{FF2B5EF4-FFF2-40B4-BE49-F238E27FC236}">
                <a16:creationId xmlns:a16="http://schemas.microsoft.com/office/drawing/2014/main" id="{FA2A1C7B-9295-D741-BA28-C4FC4F8DEC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67760" y="411289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800" dirty="0"/>
              <a:t>In education, the term </a:t>
            </a:r>
            <a:r>
              <a:rPr lang="en-US" sz="4800" b="1" dirty="0"/>
              <a:t>assessment</a:t>
            </a:r>
            <a:r>
              <a:rPr lang="en-US" sz="4800" dirty="0"/>
              <a:t> refers to the wide variety of methods or tools that educators use to evaluate, measure, and document the academic readiness, learning progress, skill acquisition, or educational needs of students.</a:t>
            </a:r>
            <a:endParaRPr lang="en-PH" sz="4800" dirty="0"/>
          </a:p>
        </p:txBody>
      </p:sp>
    </p:spTree>
    <p:extLst>
      <p:ext uri="{BB962C8B-B14F-4D97-AF65-F5344CB8AC3E}">
        <p14:creationId xmlns:p14="http://schemas.microsoft.com/office/powerpoint/2010/main" val="305870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5205"/>
            <a:ext cx="10515600" cy="1626235"/>
          </a:xfrm>
        </p:spPr>
        <p:txBody>
          <a:bodyPr>
            <a:noAutofit/>
          </a:bodyPr>
          <a:lstStyle/>
          <a:p>
            <a:pPr algn="just"/>
            <a:r>
              <a:rPr lang="en-US" sz="4000" dirty="0">
                <a:latin typeface="Amasis MT Pro Black" panose="02040A04050005020304" pitchFamily="18" charset="0"/>
              </a:rPr>
              <a:t>12. </a:t>
            </a:r>
            <a:r>
              <a:rPr lang="en-US" sz="4000" dirty="0" err="1">
                <a:latin typeface="Amasis MT Pro Black" panose="02040A04050005020304" pitchFamily="18" charset="0"/>
              </a:rPr>
              <a:t>Rexor’s</a:t>
            </a:r>
            <a:r>
              <a:rPr lang="en-US" sz="4000" dirty="0">
                <a:latin typeface="Amasis MT Pro Black" panose="02040A04050005020304" pitchFamily="18" charset="0"/>
              </a:rPr>
              <a:t> score is within 1 SD. To which of the following groups does he belong?</a:t>
            </a:r>
          </a:p>
        </p:txBody>
      </p:sp>
      <p:sp>
        <p:nvSpPr>
          <p:cNvPr id="3" name="Content Placeholder 2"/>
          <p:cNvSpPr>
            <a:spLocks noGrp="1"/>
          </p:cNvSpPr>
          <p:nvPr>
            <p:ph idx="1"/>
          </p:nvPr>
        </p:nvSpPr>
        <p:spPr>
          <a:xfrm>
            <a:off x="838200" y="3312159"/>
            <a:ext cx="10515600" cy="2915603"/>
          </a:xfrm>
        </p:spPr>
        <p:txBody>
          <a:bodyPr>
            <a:normAutofit/>
          </a:bodyPr>
          <a:lstStyle/>
          <a:p>
            <a:pPr marL="0" indent="0">
              <a:buNone/>
            </a:pPr>
            <a:r>
              <a:rPr lang="en-US" sz="4000" dirty="0">
                <a:latin typeface="Amasis MT Pro" panose="02040504050005020304" pitchFamily="18" charset="0"/>
              </a:rPr>
              <a:t>a. needs improvement</a:t>
            </a:r>
          </a:p>
          <a:p>
            <a:pPr marL="0" indent="0">
              <a:buNone/>
            </a:pPr>
            <a:r>
              <a:rPr lang="en-US" sz="4000" dirty="0">
                <a:latin typeface="Amasis MT Pro" panose="02040504050005020304" pitchFamily="18" charset="0"/>
              </a:rPr>
              <a:t>b. average</a:t>
            </a:r>
          </a:p>
          <a:p>
            <a:pPr marL="0" indent="0">
              <a:buNone/>
            </a:pPr>
            <a:r>
              <a:rPr lang="en-US" sz="4000" dirty="0">
                <a:latin typeface="Amasis MT Pro" panose="02040504050005020304" pitchFamily="18" charset="0"/>
              </a:rPr>
              <a:t>c. above average</a:t>
            </a:r>
          </a:p>
          <a:p>
            <a:pPr marL="0" indent="0">
              <a:buNone/>
            </a:pPr>
            <a:r>
              <a:rPr lang="en-US" sz="4000" dirty="0">
                <a:latin typeface="Amasis MT Pro" panose="02040504050005020304" pitchFamily="18" charset="0"/>
              </a:rPr>
              <a:t>d. below average</a:t>
            </a:r>
          </a:p>
        </p:txBody>
      </p:sp>
      <p:pic>
        <p:nvPicPr>
          <p:cNvPr id="6" name="Graphic 5" descr="Checkmark with solid fill">
            <a:extLst>
              <a:ext uri="{FF2B5EF4-FFF2-40B4-BE49-F238E27FC236}">
                <a16:creationId xmlns:a16="http://schemas.microsoft.com/office/drawing/2014/main" id="{A491D039-9E93-9A72-846A-FA252B5EF0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9760" y="3733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Chart&#10;&#10;Description automatically generated">
            <a:extLst>
              <a:ext uri="{FF2B5EF4-FFF2-40B4-BE49-F238E27FC236}">
                <a16:creationId xmlns:a16="http://schemas.microsoft.com/office/drawing/2014/main" id="{3C377946-D540-1028-66AE-A1F343D13795}"/>
              </a:ext>
            </a:extLst>
          </p:cNvPr>
          <p:cNvPicPr>
            <a:picLocks noChangeAspect="1"/>
          </p:cNvPicPr>
          <p:nvPr/>
        </p:nvPicPr>
        <p:blipFill>
          <a:blip r:embed="rId2"/>
          <a:stretch>
            <a:fillRect/>
          </a:stretch>
        </p:blipFill>
        <p:spPr>
          <a:xfrm>
            <a:off x="1230438" y="643466"/>
            <a:ext cx="9731123" cy="5571067"/>
          </a:xfrm>
          <a:prstGeom prst="rect">
            <a:avLst/>
          </a:prstGeom>
        </p:spPr>
      </p:pic>
    </p:spTree>
    <p:extLst>
      <p:ext uri="{BB962C8B-B14F-4D97-AF65-F5344CB8AC3E}">
        <p14:creationId xmlns:p14="http://schemas.microsoft.com/office/powerpoint/2010/main" val="3713165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852805"/>
            <a:ext cx="10515600" cy="1881505"/>
          </a:xfrm>
        </p:spPr>
        <p:txBody>
          <a:bodyPr>
            <a:normAutofit fontScale="90000"/>
          </a:bodyPr>
          <a:lstStyle/>
          <a:p>
            <a:pPr algn="just"/>
            <a:r>
              <a:rPr lang="en-US" dirty="0">
                <a:latin typeface="Amasis MT Pro Black" panose="02040A04050005020304" pitchFamily="18" charset="0"/>
              </a:rPr>
              <a:t>13. Which portfolio is most appropriate to show improvement in learning and transforming a student?</a:t>
            </a:r>
          </a:p>
        </p:txBody>
      </p:sp>
      <p:sp>
        <p:nvSpPr>
          <p:cNvPr id="3" name="Content Placeholder 2"/>
          <p:cNvSpPr>
            <a:spLocks noGrp="1"/>
          </p:cNvSpPr>
          <p:nvPr>
            <p:ph idx="1"/>
          </p:nvPr>
        </p:nvSpPr>
        <p:spPr>
          <a:xfrm>
            <a:off x="838200" y="3149600"/>
            <a:ext cx="10515600" cy="3027680"/>
          </a:xfrm>
        </p:spPr>
        <p:txBody>
          <a:bodyPr>
            <a:normAutofit/>
          </a:bodyPr>
          <a:lstStyle/>
          <a:p>
            <a:pPr marL="0" indent="0">
              <a:buNone/>
            </a:pPr>
            <a:r>
              <a:rPr lang="en-US" sz="4000" dirty="0">
                <a:latin typeface="Amasis MT Pro" panose="02040504050005020304" pitchFamily="18" charset="0"/>
              </a:rPr>
              <a:t>a. process portfolio</a:t>
            </a:r>
          </a:p>
          <a:p>
            <a:pPr marL="0" indent="0">
              <a:buNone/>
            </a:pPr>
            <a:r>
              <a:rPr lang="en-US" sz="4000" dirty="0">
                <a:latin typeface="Amasis MT Pro" panose="02040504050005020304" pitchFamily="18" charset="0"/>
              </a:rPr>
              <a:t>b. development portfolio</a:t>
            </a:r>
          </a:p>
          <a:p>
            <a:pPr marL="0" indent="0">
              <a:buNone/>
            </a:pPr>
            <a:r>
              <a:rPr lang="en-US" sz="4000" dirty="0">
                <a:latin typeface="Amasis MT Pro" panose="02040504050005020304" pitchFamily="18" charset="0"/>
              </a:rPr>
              <a:t>c. assessment portfolio</a:t>
            </a:r>
          </a:p>
          <a:p>
            <a:pPr marL="0" indent="0">
              <a:buNone/>
            </a:pPr>
            <a:r>
              <a:rPr lang="en-US" sz="4000" dirty="0">
                <a:latin typeface="Amasis MT Pro" panose="02040504050005020304" pitchFamily="18" charset="0"/>
              </a:rPr>
              <a:t>d. showcase portfolio</a:t>
            </a:r>
          </a:p>
        </p:txBody>
      </p:sp>
      <p:pic>
        <p:nvPicPr>
          <p:cNvPr id="4" name="Graphic 3" descr="Checkmark with solid fill">
            <a:extLst>
              <a:ext uri="{FF2B5EF4-FFF2-40B4-BE49-F238E27FC236}">
                <a16:creationId xmlns:a16="http://schemas.microsoft.com/office/drawing/2014/main" id="{5A883F12-D06E-EEA5-3129-8D71527533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8400" y="35001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ypes of Portfolios – All Saints' College Portfolios">
            <a:extLst>
              <a:ext uri="{FF2B5EF4-FFF2-40B4-BE49-F238E27FC236}">
                <a16:creationId xmlns:a16="http://schemas.microsoft.com/office/drawing/2014/main" id="{1BBFD66D-8A9B-D215-1EE2-70FDCA43E51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60246" y="643466"/>
            <a:ext cx="787150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156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548005"/>
            <a:ext cx="10515600" cy="2423160"/>
          </a:xfrm>
        </p:spPr>
        <p:txBody>
          <a:bodyPr>
            <a:normAutofit fontScale="90000"/>
          </a:bodyPr>
          <a:lstStyle/>
          <a:p>
            <a:pPr algn="just"/>
            <a:r>
              <a:rPr lang="en-US" dirty="0">
                <a:latin typeface="Amasis MT Pro Black" panose="02040A04050005020304" pitchFamily="18" charset="0"/>
              </a:rPr>
              <a:t>14. How are Massive Open Online Courses (MOOCs) delivered to learners of all kinds (students, retirees, those changing careers, etc.)?</a:t>
            </a:r>
          </a:p>
        </p:txBody>
      </p:sp>
      <p:sp>
        <p:nvSpPr>
          <p:cNvPr id="3" name="Content Placeholder 2"/>
          <p:cNvSpPr>
            <a:spLocks noGrp="1"/>
          </p:cNvSpPr>
          <p:nvPr>
            <p:ph idx="1"/>
          </p:nvPr>
        </p:nvSpPr>
        <p:spPr>
          <a:xfrm>
            <a:off x="716280" y="3307080"/>
            <a:ext cx="10515600" cy="2748280"/>
          </a:xfrm>
        </p:spPr>
        <p:txBody>
          <a:bodyPr>
            <a:normAutofit/>
          </a:bodyPr>
          <a:lstStyle/>
          <a:p>
            <a:pPr marL="0" indent="0">
              <a:buNone/>
            </a:pPr>
            <a:r>
              <a:rPr lang="en-US" sz="4000" dirty="0">
                <a:latin typeface="Amasis MT Pro" panose="02040504050005020304" pitchFamily="18" charset="0"/>
              </a:rPr>
              <a:t>a. through correspondence</a:t>
            </a:r>
          </a:p>
          <a:p>
            <a:pPr marL="0" indent="0">
              <a:buNone/>
            </a:pPr>
            <a:r>
              <a:rPr lang="en-US" sz="4000" dirty="0">
                <a:latin typeface="Amasis MT Pro" panose="02040504050005020304" pitchFamily="18" charset="0"/>
              </a:rPr>
              <a:t>b. through the internet</a:t>
            </a:r>
          </a:p>
          <a:p>
            <a:pPr marL="0" indent="0">
              <a:buNone/>
            </a:pPr>
            <a:r>
              <a:rPr lang="en-US" sz="4000" dirty="0">
                <a:latin typeface="Amasis MT Pro" panose="02040504050005020304" pitchFamily="18" charset="0"/>
              </a:rPr>
              <a:t>c. through classroom instruction</a:t>
            </a:r>
          </a:p>
          <a:p>
            <a:pPr marL="0" indent="0">
              <a:buNone/>
            </a:pPr>
            <a:r>
              <a:rPr lang="en-US" sz="4000" dirty="0">
                <a:latin typeface="Amasis MT Pro" panose="02040504050005020304" pitchFamily="18" charset="0"/>
              </a:rPr>
              <a:t>d. through field training</a:t>
            </a:r>
          </a:p>
        </p:txBody>
      </p:sp>
      <p:pic>
        <p:nvPicPr>
          <p:cNvPr id="4" name="Graphic 3" descr="Checkmark with solid fill">
            <a:extLst>
              <a:ext uri="{FF2B5EF4-FFF2-40B4-BE49-F238E27FC236}">
                <a16:creationId xmlns:a16="http://schemas.microsoft.com/office/drawing/2014/main" id="{21E82377-959D-15AC-D198-A708F5D91D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81040" y="3766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McGill joins ranks of universities teaching MOOCs - The McGill Tribune">
            <a:extLst>
              <a:ext uri="{FF2B5EF4-FFF2-40B4-BE49-F238E27FC236}">
                <a16:creationId xmlns:a16="http://schemas.microsoft.com/office/drawing/2014/main" id="{038A2C65-D515-3623-6231-DA4E1CC3FB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85014" y="643466"/>
            <a:ext cx="9021971"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70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2450"/>
            <a:ext cx="10515600" cy="2560955"/>
          </a:xfrm>
        </p:spPr>
        <p:txBody>
          <a:bodyPr>
            <a:normAutofit/>
          </a:bodyPr>
          <a:lstStyle/>
          <a:p>
            <a:pPr algn="just"/>
            <a:r>
              <a:rPr lang="en-US" sz="4000" dirty="0">
                <a:latin typeface="Amasis MT Pro Black" panose="02040A04050005020304" pitchFamily="18" charset="0"/>
              </a:rPr>
              <a:t>15. On cognitive principles in test construction, what ability is required to correctly answer filling the blanks questions?</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analytical thinking</a:t>
            </a:r>
          </a:p>
          <a:p>
            <a:pPr marL="0" indent="0">
              <a:buNone/>
            </a:pPr>
            <a:r>
              <a:rPr lang="en-US" sz="4000" dirty="0">
                <a:latin typeface="Amasis MT Pro" panose="02040504050005020304" pitchFamily="18" charset="0"/>
              </a:rPr>
              <a:t>b. creative imagination</a:t>
            </a:r>
          </a:p>
          <a:p>
            <a:pPr marL="0" indent="0">
              <a:buNone/>
            </a:pPr>
            <a:r>
              <a:rPr lang="en-US" sz="4000" dirty="0">
                <a:latin typeface="Amasis MT Pro" panose="02040504050005020304" pitchFamily="18" charset="0"/>
              </a:rPr>
              <a:t>c. application process</a:t>
            </a:r>
          </a:p>
          <a:p>
            <a:pPr marL="0" indent="0">
              <a:buNone/>
            </a:pPr>
            <a:r>
              <a:rPr lang="en-US" sz="4000" dirty="0">
                <a:latin typeface="Amasis MT Pro" panose="02040504050005020304" pitchFamily="18" charset="0"/>
              </a:rPr>
              <a:t>d. memory recall</a:t>
            </a:r>
          </a:p>
        </p:txBody>
      </p:sp>
      <p:pic>
        <p:nvPicPr>
          <p:cNvPr id="4" name="Graphic 3" descr="Checkmark with solid fill">
            <a:extLst>
              <a:ext uri="{FF2B5EF4-FFF2-40B4-BE49-F238E27FC236}">
                <a16:creationId xmlns:a16="http://schemas.microsoft.com/office/drawing/2014/main" id="{1FD184C2-D17D-D437-9466-92A1D264BB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6320" y="52628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3600" dirty="0"/>
              <a:t>“</a:t>
            </a:r>
            <a:r>
              <a:rPr lang="en-US" sz="3600" b="1" dirty="0"/>
              <a:t>Memory</a:t>
            </a:r>
            <a:r>
              <a:rPr lang="en-US" sz="3600" dirty="0"/>
              <a:t>” is a single term that reflects a number of different abilities: holding information briefly while working with it (working memory), remembering episodes of one’s life (episodic memory), and our general knowledge of facts of the world (semantic memory), among other types. Remembering episodes involves three processes: encoding information (learning it, by perceiving it and relating it to past knowledge), storing it (maintaining it over time), and then retrieving it (accessing the information when needed).</a:t>
            </a:r>
            <a:endParaRPr lang="en-PH" sz="3600" dirty="0"/>
          </a:p>
        </p:txBody>
      </p:sp>
    </p:spTree>
    <p:extLst>
      <p:ext uri="{BB962C8B-B14F-4D97-AF65-F5344CB8AC3E}">
        <p14:creationId xmlns:p14="http://schemas.microsoft.com/office/powerpoint/2010/main" val="3673177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1684"/>
            <a:ext cx="10515600" cy="2164715"/>
          </a:xfrm>
        </p:spPr>
        <p:txBody>
          <a:bodyPr>
            <a:normAutofit fontScale="90000"/>
          </a:bodyPr>
          <a:lstStyle/>
          <a:p>
            <a:pPr algn="just"/>
            <a:r>
              <a:rPr lang="en-US" dirty="0">
                <a:latin typeface="Amasis MT Pro Black" panose="02040A04050005020304" pitchFamily="18" charset="0"/>
              </a:rPr>
              <a:t>16. Regardless of the transition period, how many credit units for CPD is required of professional teachers every three years for renewal of license?</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10 credit units</a:t>
            </a:r>
          </a:p>
          <a:p>
            <a:pPr marL="0" indent="0">
              <a:buNone/>
            </a:pPr>
            <a:r>
              <a:rPr lang="en-US" sz="4000" dirty="0">
                <a:latin typeface="Amasis MT Pro" panose="02040504050005020304" pitchFamily="18" charset="0"/>
              </a:rPr>
              <a:t>b. 15 credit units</a:t>
            </a:r>
          </a:p>
          <a:p>
            <a:pPr marL="0" indent="0">
              <a:buNone/>
            </a:pPr>
            <a:r>
              <a:rPr lang="en-US" sz="4000" dirty="0">
                <a:latin typeface="Amasis MT Pro" panose="02040504050005020304" pitchFamily="18" charset="0"/>
              </a:rPr>
              <a:t>c. 45 credit units</a:t>
            </a:r>
          </a:p>
          <a:p>
            <a:pPr marL="0" indent="0">
              <a:buNone/>
            </a:pPr>
            <a:r>
              <a:rPr lang="en-US" sz="4000" dirty="0">
                <a:latin typeface="Amasis MT Pro" panose="02040504050005020304" pitchFamily="18" charset="0"/>
              </a:rPr>
              <a:t>d. 30 credit units</a:t>
            </a:r>
          </a:p>
        </p:txBody>
      </p:sp>
      <p:pic>
        <p:nvPicPr>
          <p:cNvPr id="4" name="Graphic 3" descr="Checkmark with solid fill">
            <a:extLst>
              <a:ext uri="{FF2B5EF4-FFF2-40B4-BE49-F238E27FC236}">
                <a16:creationId xmlns:a16="http://schemas.microsoft.com/office/drawing/2014/main" id="{63B3F3DC-2E79-E046-ED8C-B7CBA24D2C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12640" y="388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computer&#10;&#10;Description automatically generated with medium confidence">
            <a:extLst>
              <a:ext uri="{FF2B5EF4-FFF2-40B4-BE49-F238E27FC236}">
                <a16:creationId xmlns:a16="http://schemas.microsoft.com/office/drawing/2014/main" id="{5AE924F8-6EB5-1658-9CA1-5A268E9C1747}"/>
              </a:ext>
            </a:extLst>
          </p:cNvPr>
          <p:cNvPicPr>
            <a:picLocks noChangeAspect="1"/>
          </p:cNvPicPr>
          <p:nvPr/>
        </p:nvPicPr>
        <p:blipFill>
          <a:blip r:embed="rId2"/>
          <a:stretch>
            <a:fillRect/>
          </a:stretch>
        </p:blipFill>
        <p:spPr>
          <a:xfrm>
            <a:off x="785707" y="3429000"/>
            <a:ext cx="10905066" cy="2753528"/>
          </a:xfrm>
          <a:prstGeom prst="rect">
            <a:avLst/>
          </a:prstGeom>
        </p:spPr>
      </p:pic>
      <p:pic>
        <p:nvPicPr>
          <p:cNvPr id="8" name="Picture 7">
            <a:extLst>
              <a:ext uri="{FF2B5EF4-FFF2-40B4-BE49-F238E27FC236}">
                <a16:creationId xmlns:a16="http://schemas.microsoft.com/office/drawing/2014/main" id="{E52551BF-D9F5-2952-5F71-D80C02E77735}"/>
              </a:ext>
            </a:extLst>
          </p:cNvPr>
          <p:cNvPicPr>
            <a:picLocks noChangeAspect="1"/>
          </p:cNvPicPr>
          <p:nvPr/>
        </p:nvPicPr>
        <p:blipFill>
          <a:blip r:embed="rId3"/>
          <a:stretch>
            <a:fillRect/>
          </a:stretch>
        </p:blipFill>
        <p:spPr>
          <a:xfrm>
            <a:off x="785707" y="486319"/>
            <a:ext cx="10905066" cy="2602322"/>
          </a:xfrm>
          <a:prstGeom prst="rect">
            <a:avLst/>
          </a:prstGeom>
        </p:spPr>
      </p:pic>
    </p:spTree>
    <p:extLst>
      <p:ext uri="{BB962C8B-B14F-4D97-AF65-F5344CB8AC3E}">
        <p14:creationId xmlns:p14="http://schemas.microsoft.com/office/powerpoint/2010/main" val="360114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2529840"/>
          </a:xfrm>
        </p:spPr>
        <p:txBody>
          <a:bodyPr>
            <a:normAutofit fontScale="90000"/>
          </a:bodyPr>
          <a:lstStyle/>
          <a:p>
            <a:pPr algn="just"/>
            <a:r>
              <a:rPr lang="en-US" dirty="0">
                <a:latin typeface="Amasis MT Pro Black" panose="02040A04050005020304" pitchFamily="18" charset="0"/>
              </a:rPr>
              <a:t>17. What can be the instructional value of a web application that provides fun and excitement to early learners like one designed along an amusement park ride?</a:t>
            </a:r>
          </a:p>
        </p:txBody>
      </p:sp>
      <p:sp>
        <p:nvSpPr>
          <p:cNvPr id="3" name="Content Placeholder 2"/>
          <p:cNvSpPr>
            <a:spLocks noGrp="1"/>
          </p:cNvSpPr>
          <p:nvPr>
            <p:ph idx="1"/>
          </p:nvPr>
        </p:nvSpPr>
        <p:spPr>
          <a:xfrm>
            <a:off x="838200" y="3647440"/>
            <a:ext cx="10515600" cy="2529840"/>
          </a:xfrm>
        </p:spPr>
        <p:txBody>
          <a:bodyPr>
            <a:normAutofit lnSpcReduction="10000"/>
          </a:bodyPr>
          <a:lstStyle/>
          <a:p>
            <a:pPr marL="0" indent="0">
              <a:buNone/>
            </a:pPr>
            <a:r>
              <a:rPr lang="en-US" sz="4000" dirty="0">
                <a:latin typeface="Amasis MT Pro" panose="02040504050005020304" pitchFamily="18" charset="0"/>
              </a:rPr>
              <a:t>a. it is high order learning</a:t>
            </a:r>
          </a:p>
          <a:p>
            <a:pPr marL="0" indent="0">
              <a:buNone/>
            </a:pPr>
            <a:r>
              <a:rPr lang="en-US" sz="4000" dirty="0">
                <a:latin typeface="Amasis MT Pro" panose="02040504050005020304" pitchFamily="18" charset="0"/>
              </a:rPr>
              <a:t>b. it is good for all grade levels</a:t>
            </a:r>
          </a:p>
          <a:p>
            <a:pPr marL="0" indent="0">
              <a:buNone/>
            </a:pPr>
            <a:r>
              <a:rPr lang="en-US" sz="4000" dirty="0">
                <a:latin typeface="Amasis MT Pro" panose="02040504050005020304" pitchFamily="18" charset="0"/>
              </a:rPr>
              <a:t>c. it gives sophistication in design</a:t>
            </a:r>
          </a:p>
          <a:p>
            <a:pPr marL="0" indent="0">
              <a:buNone/>
            </a:pPr>
            <a:r>
              <a:rPr lang="en-US" sz="4000" dirty="0">
                <a:latin typeface="Amasis MT Pro" panose="02040504050005020304" pitchFamily="18" charset="0"/>
              </a:rPr>
              <a:t>d. it is motivating</a:t>
            </a:r>
          </a:p>
        </p:txBody>
      </p:sp>
      <p:pic>
        <p:nvPicPr>
          <p:cNvPr id="4" name="Graphic 3" descr="Checkmark with solid fill">
            <a:extLst>
              <a:ext uri="{FF2B5EF4-FFF2-40B4-BE49-F238E27FC236}">
                <a16:creationId xmlns:a16="http://schemas.microsoft.com/office/drawing/2014/main" id="{944CF824-FFB9-1434-D16B-6A395ADE11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6320" y="52628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dirty="0"/>
              <a:t>The social nature of </a:t>
            </a:r>
            <a:r>
              <a:rPr lang="en-US" sz="4400" b="1" dirty="0"/>
              <a:t>Web applications</a:t>
            </a:r>
            <a:r>
              <a:rPr lang="en-US" sz="4400" dirty="0"/>
              <a:t> have the potential to empower education. These applications provide a learning environment in which students can construct their learning, collaborate with others, generate ideas, edit and distribute their material, and more.</a:t>
            </a:r>
            <a:endParaRPr lang="en-PH" sz="4400" dirty="0"/>
          </a:p>
        </p:txBody>
      </p:sp>
    </p:spTree>
    <p:extLst>
      <p:ext uri="{BB962C8B-B14F-4D97-AF65-F5344CB8AC3E}">
        <p14:creationId xmlns:p14="http://schemas.microsoft.com/office/powerpoint/2010/main" val="3368481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2005"/>
            <a:ext cx="10515600" cy="1325563"/>
          </a:xfrm>
        </p:spPr>
        <p:txBody>
          <a:bodyPr>
            <a:normAutofit/>
          </a:bodyPr>
          <a:lstStyle/>
          <a:p>
            <a:pPr algn="just"/>
            <a:r>
              <a:rPr lang="en-US" sz="4000" dirty="0">
                <a:latin typeface="Amasis MT Pro Black" panose="02040A04050005020304" pitchFamily="18" charset="0"/>
              </a:rPr>
              <a:t>18. What kind of problems do action research address?</a:t>
            </a:r>
          </a:p>
        </p:txBody>
      </p:sp>
      <p:sp>
        <p:nvSpPr>
          <p:cNvPr id="3" name="Content Placeholder 2"/>
          <p:cNvSpPr>
            <a:spLocks noGrp="1"/>
          </p:cNvSpPr>
          <p:nvPr>
            <p:ph idx="1"/>
          </p:nvPr>
        </p:nvSpPr>
        <p:spPr>
          <a:xfrm>
            <a:off x="838200" y="2733039"/>
            <a:ext cx="10515600" cy="3037523"/>
          </a:xfrm>
        </p:spPr>
        <p:txBody>
          <a:bodyPr>
            <a:normAutofit/>
          </a:bodyPr>
          <a:lstStyle/>
          <a:p>
            <a:pPr marL="0" indent="0">
              <a:buNone/>
            </a:pPr>
            <a:r>
              <a:rPr lang="en-US" sz="4000" dirty="0">
                <a:latin typeface="Amasis MT Pro" panose="02040504050005020304" pitchFamily="18" charset="0"/>
              </a:rPr>
              <a:t>a. potential problems on school finance</a:t>
            </a:r>
          </a:p>
          <a:p>
            <a:pPr marL="0" indent="0">
              <a:buNone/>
            </a:pPr>
            <a:r>
              <a:rPr lang="en-US" sz="4000" dirty="0">
                <a:latin typeface="Amasis MT Pro" panose="02040504050005020304" pitchFamily="18" charset="0"/>
              </a:rPr>
              <a:t>b. cognitive problems on pedagogy</a:t>
            </a:r>
          </a:p>
          <a:p>
            <a:pPr marL="0" indent="0">
              <a:buNone/>
            </a:pPr>
            <a:r>
              <a:rPr lang="en-US" sz="4000" dirty="0">
                <a:latin typeface="Amasis MT Pro" panose="02040504050005020304" pitchFamily="18" charset="0"/>
              </a:rPr>
              <a:t>c. practical and resolvable problems</a:t>
            </a:r>
          </a:p>
          <a:p>
            <a:pPr marL="0" indent="0">
              <a:buNone/>
            </a:pPr>
            <a:r>
              <a:rPr lang="en-US" sz="4000" dirty="0">
                <a:latin typeface="Amasis MT Pro" panose="02040504050005020304" pitchFamily="18" charset="0"/>
              </a:rPr>
              <a:t>d. speculative problems on teaching</a:t>
            </a:r>
          </a:p>
        </p:txBody>
      </p:sp>
      <p:pic>
        <p:nvPicPr>
          <p:cNvPr id="4" name="Graphic 3" descr="Checkmark with solid fill">
            <a:extLst>
              <a:ext uri="{FF2B5EF4-FFF2-40B4-BE49-F238E27FC236}">
                <a16:creationId xmlns:a16="http://schemas.microsoft.com/office/drawing/2014/main" id="{42B413F3-73CB-4AB4-3DC8-2F842C0654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88400" y="37946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4400" dirty="0"/>
              <a:t>In schools, </a:t>
            </a:r>
            <a:r>
              <a:rPr lang="en-US" sz="4400" b="1" dirty="0"/>
              <a:t>action research</a:t>
            </a:r>
            <a:r>
              <a:rPr lang="en-US" sz="4400" dirty="0"/>
              <a:t> refers to a wide variety of evaluative, investigative, and analytical research methods designed to diagnose problems or weaknesses — whether organizational, academic, or instructional — and help educators develop practical solutions to address them quickly and efficiently.</a:t>
            </a:r>
            <a:endParaRPr lang="en-PH" sz="4400" dirty="0"/>
          </a:p>
        </p:txBody>
      </p:sp>
    </p:spTree>
    <p:extLst>
      <p:ext uri="{BB962C8B-B14F-4D97-AF65-F5344CB8AC3E}">
        <p14:creationId xmlns:p14="http://schemas.microsoft.com/office/powerpoint/2010/main" val="3183815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1205"/>
            <a:ext cx="10515600" cy="2042795"/>
          </a:xfrm>
        </p:spPr>
        <p:txBody>
          <a:bodyPr>
            <a:normAutofit fontScale="90000"/>
          </a:bodyPr>
          <a:lstStyle/>
          <a:p>
            <a:pPr algn="just"/>
            <a:r>
              <a:rPr lang="en-US" dirty="0">
                <a:latin typeface="Amasis MT Pro Black" panose="02040A04050005020304" pitchFamily="18" charset="0"/>
              </a:rPr>
              <a:t>19. On classroom activities, the following are appropriate for learners who have good spatial skills, but NOT to include:</a:t>
            </a:r>
          </a:p>
        </p:txBody>
      </p:sp>
      <p:sp>
        <p:nvSpPr>
          <p:cNvPr id="3" name="Content Placeholder 2"/>
          <p:cNvSpPr>
            <a:spLocks noGrp="1"/>
          </p:cNvSpPr>
          <p:nvPr>
            <p:ph idx="1"/>
          </p:nvPr>
        </p:nvSpPr>
        <p:spPr>
          <a:xfrm>
            <a:off x="838200" y="3343911"/>
            <a:ext cx="10515600" cy="2936240"/>
          </a:xfrm>
        </p:spPr>
        <p:txBody>
          <a:bodyPr>
            <a:normAutofit/>
          </a:bodyPr>
          <a:lstStyle/>
          <a:p>
            <a:pPr marL="0" indent="0">
              <a:buNone/>
            </a:pPr>
            <a:r>
              <a:rPr lang="en-US" sz="4000" dirty="0">
                <a:latin typeface="Amasis MT Pro" panose="02040504050005020304" pitchFamily="18" charset="0"/>
              </a:rPr>
              <a:t>a. community projects</a:t>
            </a:r>
          </a:p>
          <a:p>
            <a:pPr marL="0" indent="0">
              <a:buNone/>
            </a:pPr>
            <a:r>
              <a:rPr lang="en-US" sz="4000" dirty="0">
                <a:latin typeface="Amasis MT Pro" panose="02040504050005020304" pitchFamily="18" charset="0"/>
              </a:rPr>
              <a:t>b. concept maps</a:t>
            </a:r>
          </a:p>
          <a:p>
            <a:pPr marL="0" indent="0">
              <a:buNone/>
            </a:pPr>
            <a:r>
              <a:rPr lang="en-US" sz="4000" dirty="0">
                <a:latin typeface="Amasis MT Pro" panose="02040504050005020304" pitchFamily="18" charset="0"/>
              </a:rPr>
              <a:t>c. visual presentation</a:t>
            </a:r>
          </a:p>
          <a:p>
            <a:pPr marL="0" indent="0">
              <a:buNone/>
            </a:pPr>
            <a:r>
              <a:rPr lang="en-US" sz="4000" dirty="0">
                <a:latin typeface="Amasis MT Pro" panose="02040504050005020304" pitchFamily="18" charset="0"/>
              </a:rPr>
              <a:t>d. preparing graphs</a:t>
            </a:r>
          </a:p>
        </p:txBody>
      </p:sp>
      <p:pic>
        <p:nvPicPr>
          <p:cNvPr id="5" name="Graphic 4" descr="Checkmark with solid fill">
            <a:extLst>
              <a:ext uri="{FF2B5EF4-FFF2-40B4-BE49-F238E27FC236}">
                <a16:creationId xmlns:a16="http://schemas.microsoft.com/office/drawing/2014/main" id="{6353D068-BEDB-A18C-6498-D3EA3F1021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1152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b="1" dirty="0"/>
              <a:t>Spatial intelligence</a:t>
            </a:r>
            <a:r>
              <a:rPr lang="en-US" sz="4400" dirty="0"/>
              <a:t> is the concept of being able to successfully perceive and derive insight from visual data. This cognitive process is known as an aptitude for understanding visual information in the real and abstract word as well as an innate ability to envision information.</a:t>
            </a:r>
            <a:endParaRPr lang="en-PH" sz="4400" dirty="0"/>
          </a:p>
        </p:txBody>
      </p:sp>
    </p:spTree>
    <p:extLst>
      <p:ext uri="{BB962C8B-B14F-4D97-AF65-F5344CB8AC3E}">
        <p14:creationId xmlns:p14="http://schemas.microsoft.com/office/powerpoint/2010/main" val="670326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1974215"/>
          </a:xfrm>
        </p:spPr>
        <p:txBody>
          <a:bodyPr>
            <a:normAutofit fontScale="90000"/>
          </a:bodyPr>
          <a:lstStyle/>
          <a:p>
            <a:pPr algn="just"/>
            <a:r>
              <a:rPr lang="en-US" dirty="0">
                <a:latin typeface="Amasis MT Pro Black" panose="02040A04050005020304" pitchFamily="18" charset="0"/>
              </a:rPr>
              <a:t>20. What is being asked of students in a task to determine elements and explain them in relation to other parts or the whole?</a:t>
            </a:r>
          </a:p>
        </p:txBody>
      </p:sp>
      <p:sp>
        <p:nvSpPr>
          <p:cNvPr id="3" name="Content Placeholder 2"/>
          <p:cNvSpPr>
            <a:spLocks noGrp="1"/>
          </p:cNvSpPr>
          <p:nvPr>
            <p:ph idx="1"/>
          </p:nvPr>
        </p:nvSpPr>
        <p:spPr>
          <a:xfrm>
            <a:off x="838200" y="3149600"/>
            <a:ext cx="10515600" cy="2885440"/>
          </a:xfrm>
        </p:spPr>
        <p:txBody>
          <a:bodyPr>
            <a:normAutofit/>
          </a:bodyPr>
          <a:lstStyle/>
          <a:p>
            <a:pPr marL="0" indent="0">
              <a:buNone/>
            </a:pPr>
            <a:r>
              <a:rPr lang="en-US" sz="4000" dirty="0">
                <a:latin typeface="Amasis MT Pro" panose="02040504050005020304" pitchFamily="18" charset="0"/>
              </a:rPr>
              <a:t>a. analysis</a:t>
            </a:r>
          </a:p>
          <a:p>
            <a:pPr marL="0" indent="0">
              <a:buNone/>
            </a:pPr>
            <a:r>
              <a:rPr lang="en-US" sz="4000" dirty="0">
                <a:latin typeface="Amasis MT Pro" panose="02040504050005020304" pitchFamily="18" charset="0"/>
              </a:rPr>
              <a:t>b. assessing</a:t>
            </a:r>
          </a:p>
          <a:p>
            <a:pPr marL="0" indent="0">
              <a:buNone/>
            </a:pPr>
            <a:r>
              <a:rPr lang="en-US" sz="4000" dirty="0">
                <a:latin typeface="Amasis MT Pro" panose="02040504050005020304" pitchFamily="18" charset="0"/>
              </a:rPr>
              <a:t>c. recall</a:t>
            </a:r>
          </a:p>
          <a:p>
            <a:pPr marL="0" indent="0">
              <a:buNone/>
            </a:pPr>
            <a:r>
              <a:rPr lang="en-US" sz="4000" dirty="0">
                <a:latin typeface="Amasis MT Pro" panose="02040504050005020304" pitchFamily="18" charset="0"/>
              </a:rPr>
              <a:t>d. understanding</a:t>
            </a:r>
          </a:p>
        </p:txBody>
      </p:sp>
      <p:pic>
        <p:nvPicPr>
          <p:cNvPr id="4" name="Graphic 3" descr="Checkmark with solid fill">
            <a:extLst>
              <a:ext uri="{FF2B5EF4-FFF2-40B4-BE49-F238E27FC236}">
                <a16:creationId xmlns:a16="http://schemas.microsoft.com/office/drawing/2014/main" id="{1653EB32-3D66-19BB-F426-CB5FCEC9FE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0880" y="28700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dirty="0"/>
              <a:t>Simply put, </a:t>
            </a:r>
            <a:r>
              <a:rPr lang="en-US" sz="4400" b="1" dirty="0"/>
              <a:t>analysis</a:t>
            </a:r>
            <a:r>
              <a:rPr lang="en-US" sz="4400" dirty="0"/>
              <a:t> means breaking down the content. According to the dictionary, analyzing means “examine, methodically and in detail, in order to explain and interpret it.” Therefore, in order to analyze information, our students must first be able to read and comprehend it.</a:t>
            </a:r>
            <a:endParaRPr lang="en-PH" sz="4400" dirty="0"/>
          </a:p>
        </p:txBody>
      </p:sp>
    </p:spTree>
    <p:extLst>
      <p:ext uri="{BB962C8B-B14F-4D97-AF65-F5344CB8AC3E}">
        <p14:creationId xmlns:p14="http://schemas.microsoft.com/office/powerpoint/2010/main" val="957435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1958975"/>
          </a:xfrm>
        </p:spPr>
        <p:txBody>
          <a:bodyPr>
            <a:normAutofit/>
          </a:bodyPr>
          <a:lstStyle/>
          <a:p>
            <a:pPr algn="just"/>
            <a:r>
              <a:rPr lang="en-US" sz="4000" dirty="0">
                <a:latin typeface="Amasis MT Pro Black" panose="02040A04050005020304" pitchFamily="18" charset="0"/>
              </a:rPr>
              <a:t>21. On principles of teaching-and-learning, what do Cognitive theorists see as the way to develop learners?</a:t>
            </a:r>
          </a:p>
        </p:txBody>
      </p:sp>
      <p:sp>
        <p:nvSpPr>
          <p:cNvPr id="3" name="Content Placeholder 2"/>
          <p:cNvSpPr>
            <a:spLocks noGrp="1"/>
          </p:cNvSpPr>
          <p:nvPr>
            <p:ph idx="1"/>
          </p:nvPr>
        </p:nvSpPr>
        <p:spPr>
          <a:xfrm>
            <a:off x="838200" y="3073400"/>
            <a:ext cx="10515600" cy="2748280"/>
          </a:xfrm>
        </p:spPr>
        <p:txBody>
          <a:bodyPr>
            <a:normAutofit/>
          </a:bodyPr>
          <a:lstStyle/>
          <a:p>
            <a:pPr marL="0" indent="0">
              <a:buNone/>
            </a:pPr>
            <a:r>
              <a:rPr lang="en-US" sz="4000" dirty="0">
                <a:latin typeface="Amasis MT Pro" panose="02040504050005020304" pitchFamily="18" charset="0"/>
              </a:rPr>
              <a:t>a. learning by modelling of skills</a:t>
            </a:r>
          </a:p>
          <a:p>
            <a:pPr marL="0" indent="0">
              <a:buNone/>
            </a:pPr>
            <a:r>
              <a:rPr lang="en-US" sz="4000" dirty="0">
                <a:latin typeface="Amasis MT Pro" panose="02040504050005020304" pitchFamily="18" charset="0"/>
              </a:rPr>
              <a:t>b. learning by thinking</a:t>
            </a:r>
          </a:p>
          <a:p>
            <a:pPr marL="0" indent="0">
              <a:buNone/>
            </a:pPr>
            <a:r>
              <a:rPr lang="en-US" sz="4000" dirty="0">
                <a:latin typeface="Amasis MT Pro" panose="02040504050005020304" pitchFamily="18" charset="0"/>
              </a:rPr>
              <a:t>c. learning by perceiving the environment</a:t>
            </a:r>
          </a:p>
          <a:p>
            <a:pPr marL="0" indent="0">
              <a:buNone/>
            </a:pPr>
            <a:r>
              <a:rPr lang="en-US" sz="4000" dirty="0">
                <a:latin typeface="Amasis MT Pro" panose="02040504050005020304" pitchFamily="18" charset="0"/>
              </a:rPr>
              <a:t>d. learning by imitation of ideas</a:t>
            </a:r>
          </a:p>
        </p:txBody>
      </p:sp>
      <p:pic>
        <p:nvPicPr>
          <p:cNvPr id="4" name="Graphic 3" descr="Checkmark with solid fill">
            <a:extLst>
              <a:ext uri="{FF2B5EF4-FFF2-40B4-BE49-F238E27FC236}">
                <a16:creationId xmlns:a16="http://schemas.microsoft.com/office/drawing/2014/main" id="{FFA77948-2EC6-A7C5-5BF5-BCDDB509E3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23280" y="35331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b="1" dirty="0"/>
              <a:t>Cognitivism</a:t>
            </a:r>
            <a:r>
              <a:rPr lang="en-US" sz="4400" dirty="0"/>
              <a:t> is a learning theory that focusses on how information is received, organized, stored and retrieved by the mind. It uses the mind as an information processer, like a computer. Therefore, cognitivism looks beyond observable behavior, viewing learning as internal mental processes.</a:t>
            </a:r>
            <a:endParaRPr lang="en-PH" sz="4400" dirty="0"/>
          </a:p>
        </p:txBody>
      </p:sp>
    </p:spTree>
    <p:extLst>
      <p:ext uri="{BB962C8B-B14F-4D97-AF65-F5344CB8AC3E}">
        <p14:creationId xmlns:p14="http://schemas.microsoft.com/office/powerpoint/2010/main" val="22200309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3918"/>
            <a:ext cx="10515600" cy="1325563"/>
          </a:xfrm>
        </p:spPr>
        <p:txBody>
          <a:bodyPr>
            <a:normAutofit fontScale="90000"/>
          </a:bodyPr>
          <a:lstStyle/>
          <a:p>
            <a:pPr algn="just"/>
            <a:r>
              <a:rPr lang="en-US" dirty="0">
                <a:latin typeface="Amasis MT Pro Black" panose="02040A04050005020304" pitchFamily="18" charset="0"/>
              </a:rPr>
              <a:t>22. In the K to 12 Basic Education Curriculum, science is formally taught from:</a:t>
            </a:r>
          </a:p>
        </p:txBody>
      </p:sp>
      <p:sp>
        <p:nvSpPr>
          <p:cNvPr id="3" name="Content Placeholder 2"/>
          <p:cNvSpPr>
            <a:spLocks noGrp="1"/>
          </p:cNvSpPr>
          <p:nvPr>
            <p:ph idx="1"/>
          </p:nvPr>
        </p:nvSpPr>
        <p:spPr>
          <a:xfrm>
            <a:off x="838200" y="2936239"/>
            <a:ext cx="10515600" cy="3240723"/>
          </a:xfrm>
        </p:spPr>
        <p:txBody>
          <a:bodyPr>
            <a:normAutofit/>
          </a:bodyPr>
          <a:lstStyle/>
          <a:p>
            <a:pPr marL="0" indent="0">
              <a:buNone/>
            </a:pPr>
            <a:r>
              <a:rPr lang="en-US" sz="4000" dirty="0">
                <a:latin typeface="Amasis MT Pro" panose="02040504050005020304" pitchFamily="18" charset="0"/>
              </a:rPr>
              <a:t>a. Grade 4 to Grade 12</a:t>
            </a:r>
          </a:p>
          <a:p>
            <a:pPr marL="0" indent="0">
              <a:buNone/>
            </a:pPr>
            <a:r>
              <a:rPr lang="en-US" sz="4000" dirty="0">
                <a:latin typeface="Amasis MT Pro" panose="02040504050005020304" pitchFamily="18" charset="0"/>
              </a:rPr>
              <a:t>b. Grade 1 to Grade 10</a:t>
            </a:r>
          </a:p>
          <a:p>
            <a:pPr marL="0" indent="0">
              <a:buNone/>
            </a:pPr>
            <a:r>
              <a:rPr lang="en-US" sz="4000" dirty="0">
                <a:latin typeface="Amasis MT Pro" panose="02040504050005020304" pitchFamily="18" charset="0"/>
              </a:rPr>
              <a:t>c. K to Grade 12</a:t>
            </a:r>
          </a:p>
          <a:p>
            <a:pPr marL="0" indent="0">
              <a:buNone/>
            </a:pPr>
            <a:r>
              <a:rPr lang="en-US" sz="4000" dirty="0">
                <a:latin typeface="Amasis MT Pro" panose="02040504050005020304" pitchFamily="18" charset="0"/>
              </a:rPr>
              <a:t>d. Grade 3 to Grade 12</a:t>
            </a:r>
          </a:p>
        </p:txBody>
      </p:sp>
      <p:pic>
        <p:nvPicPr>
          <p:cNvPr id="4" name="Graphic 3" descr="Checkmark with solid fill">
            <a:extLst>
              <a:ext uri="{FF2B5EF4-FFF2-40B4-BE49-F238E27FC236}">
                <a16:creationId xmlns:a16="http://schemas.microsoft.com/office/drawing/2014/main" id="{942C8F4A-73FB-5050-5AFD-C76F9C3DA4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3760" y="4681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Table&#10;&#10;Description automatically generated with medium confidence">
            <a:extLst>
              <a:ext uri="{FF2B5EF4-FFF2-40B4-BE49-F238E27FC236}">
                <a16:creationId xmlns:a16="http://schemas.microsoft.com/office/drawing/2014/main" id="{6A37456D-C7FE-4C13-F956-74EEF0FCBB00}"/>
              </a:ext>
            </a:extLst>
          </p:cNvPr>
          <p:cNvPicPr>
            <a:picLocks noChangeAspect="1"/>
          </p:cNvPicPr>
          <p:nvPr/>
        </p:nvPicPr>
        <p:blipFill rotWithShape="1">
          <a:blip r:embed="rId2"/>
          <a:srcRect t="1884" b="5158"/>
          <a:stretch/>
        </p:blipFill>
        <p:spPr>
          <a:xfrm>
            <a:off x="20" y="1282"/>
            <a:ext cx="12191980" cy="6856718"/>
          </a:xfrm>
          <a:prstGeom prst="rect">
            <a:avLst/>
          </a:prstGeom>
        </p:spPr>
      </p:pic>
    </p:spTree>
    <p:extLst>
      <p:ext uri="{BB962C8B-B14F-4D97-AF65-F5344CB8AC3E}">
        <p14:creationId xmlns:p14="http://schemas.microsoft.com/office/powerpoint/2010/main" val="1689601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3925"/>
            <a:ext cx="10515600" cy="1325563"/>
          </a:xfrm>
        </p:spPr>
        <p:txBody>
          <a:bodyPr>
            <a:normAutofit fontScale="90000"/>
          </a:bodyPr>
          <a:lstStyle/>
          <a:p>
            <a:pPr algn="just"/>
            <a:r>
              <a:rPr lang="en-US" dirty="0">
                <a:latin typeface="Amasis MT Pro Black" panose="02040A04050005020304" pitchFamily="18" charset="0"/>
              </a:rPr>
              <a:t>23. You want to know who a good teacher is. In the Philippines which would you consult?</a:t>
            </a:r>
          </a:p>
        </p:txBody>
      </p:sp>
      <p:sp>
        <p:nvSpPr>
          <p:cNvPr id="3" name="Content Placeholder 2"/>
          <p:cNvSpPr>
            <a:spLocks noGrp="1"/>
          </p:cNvSpPr>
          <p:nvPr>
            <p:ph idx="1"/>
          </p:nvPr>
        </p:nvSpPr>
        <p:spPr>
          <a:xfrm>
            <a:off x="838200" y="3089592"/>
            <a:ext cx="10515600" cy="2844483"/>
          </a:xfrm>
        </p:spPr>
        <p:txBody>
          <a:bodyPr>
            <a:normAutofit fontScale="92500"/>
          </a:bodyPr>
          <a:lstStyle/>
          <a:p>
            <a:pPr marL="0" indent="0">
              <a:buNone/>
            </a:pPr>
            <a:r>
              <a:rPr lang="en-US" sz="4000" dirty="0">
                <a:latin typeface="Amasis MT Pro" panose="02040504050005020304" pitchFamily="18" charset="0"/>
              </a:rPr>
              <a:t>a. Philippine Professional Standards for Teachers</a:t>
            </a:r>
          </a:p>
          <a:p>
            <a:pPr marL="0" indent="0">
              <a:buNone/>
            </a:pPr>
            <a:r>
              <a:rPr lang="en-US" sz="4000" dirty="0">
                <a:latin typeface="Amasis MT Pro" panose="02040504050005020304" pitchFamily="18" charset="0"/>
              </a:rPr>
              <a:t>b. Professional Philippine Teacher Standards</a:t>
            </a:r>
          </a:p>
          <a:p>
            <a:pPr marL="0" indent="0">
              <a:buNone/>
            </a:pPr>
            <a:r>
              <a:rPr lang="en-US" sz="4000" dirty="0">
                <a:latin typeface="Amasis MT Pro" panose="02040504050005020304" pitchFamily="18" charset="0"/>
              </a:rPr>
              <a:t>c. National Competency-Based Teacher Standards</a:t>
            </a:r>
          </a:p>
          <a:p>
            <a:pPr marL="0" indent="0">
              <a:buNone/>
            </a:pPr>
            <a:r>
              <a:rPr lang="en-US" sz="4000" dirty="0">
                <a:latin typeface="Amasis MT Pro" panose="02040504050005020304" pitchFamily="18" charset="0"/>
              </a:rPr>
              <a:t>d. Professional Code of Ethics</a:t>
            </a:r>
          </a:p>
        </p:txBody>
      </p:sp>
      <p:pic>
        <p:nvPicPr>
          <p:cNvPr id="4" name="Graphic 3" descr="Checkmark with solid fill">
            <a:extLst>
              <a:ext uri="{FF2B5EF4-FFF2-40B4-BE49-F238E27FC236}">
                <a16:creationId xmlns:a16="http://schemas.microsoft.com/office/drawing/2014/main" id="{FDF895D5-6C30-AC1E-64DB-BE72229BFD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8480" y="27711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lnSpcReduction="10000"/>
          </a:bodyPr>
          <a:lstStyle/>
          <a:p>
            <a:pPr marL="0" indent="0" algn="just">
              <a:buNone/>
            </a:pPr>
            <a:r>
              <a:rPr lang="en-US" sz="4000" dirty="0"/>
              <a:t>The </a:t>
            </a:r>
            <a:r>
              <a:rPr lang="en-US" sz="4000" b="1" dirty="0"/>
              <a:t>Philippine Professional Standards for Teachers </a:t>
            </a:r>
            <a:r>
              <a:rPr lang="en-US" sz="4000" dirty="0"/>
              <a:t>defines teacher quality in the Philippines. The standards describe the expectations of teachers’ increasing levels of knowledge, practice and professional engagement. At the same time, the standards allow for teachers’ growing understanding, applied with increasing sophistication across a broader and more complex range of teaching/learning situations. </a:t>
            </a:r>
            <a:endParaRPr lang="en-PH" sz="4000" dirty="0"/>
          </a:p>
        </p:txBody>
      </p:sp>
    </p:spTree>
    <p:extLst>
      <p:ext uri="{BB962C8B-B14F-4D97-AF65-F5344CB8AC3E}">
        <p14:creationId xmlns:p14="http://schemas.microsoft.com/office/powerpoint/2010/main" val="2447732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935038"/>
            <a:ext cx="10515600" cy="1325563"/>
          </a:xfrm>
        </p:spPr>
        <p:txBody>
          <a:bodyPr>
            <a:normAutofit/>
          </a:bodyPr>
          <a:lstStyle/>
          <a:p>
            <a:pPr algn="just"/>
            <a:r>
              <a:rPr lang="en-US" sz="4000" dirty="0">
                <a:latin typeface="Amasis MT Pro Black" panose="02040A04050005020304" pitchFamily="18" charset="0"/>
              </a:rPr>
              <a:t>24. If I apply Vygotsky’s theory of learning, which will I do?</a:t>
            </a:r>
          </a:p>
        </p:txBody>
      </p:sp>
      <p:sp>
        <p:nvSpPr>
          <p:cNvPr id="3" name="Content Placeholder 2"/>
          <p:cNvSpPr>
            <a:spLocks noGrp="1"/>
          </p:cNvSpPr>
          <p:nvPr>
            <p:ph idx="1"/>
          </p:nvPr>
        </p:nvSpPr>
        <p:spPr>
          <a:xfrm>
            <a:off x="381000" y="3149598"/>
            <a:ext cx="11094720" cy="3250883"/>
          </a:xfrm>
        </p:spPr>
        <p:txBody>
          <a:bodyPr>
            <a:normAutofit/>
          </a:bodyPr>
          <a:lstStyle/>
          <a:p>
            <a:pPr marL="0" indent="0">
              <a:buNone/>
            </a:pPr>
            <a:r>
              <a:rPr lang="en-US" dirty="0">
                <a:latin typeface="Amasis MT Pro" panose="02040504050005020304" pitchFamily="18" charset="0"/>
              </a:rPr>
              <a:t>a. allow the child to choose his learning activity</a:t>
            </a:r>
          </a:p>
          <a:p>
            <a:pPr marL="0" indent="0">
              <a:buNone/>
            </a:pPr>
            <a:r>
              <a:rPr lang="en-US" dirty="0">
                <a:latin typeface="Amasis MT Pro" panose="02040504050005020304" pitchFamily="18" charset="0"/>
              </a:rPr>
              <a:t>b. establish classroom disciplining from the very start</a:t>
            </a:r>
          </a:p>
          <a:p>
            <a:pPr marL="0" indent="0">
              <a:buNone/>
            </a:pPr>
            <a:r>
              <a:rPr lang="en-US" dirty="0">
                <a:latin typeface="Amasis MT Pro" panose="02040504050005020304" pitchFamily="18" charset="0"/>
              </a:rPr>
              <a:t>c. assist the child where he needs assistance until he can be on his own</a:t>
            </a:r>
          </a:p>
          <a:p>
            <a:pPr marL="0" indent="0">
              <a:buNone/>
            </a:pPr>
            <a:r>
              <a:rPr lang="en-US" dirty="0">
                <a:latin typeface="Amasis MT Pro" panose="02040504050005020304" pitchFamily="18" charset="0"/>
              </a:rPr>
              <a:t>d. follow a logical arrangement of topics</a:t>
            </a:r>
          </a:p>
        </p:txBody>
      </p:sp>
      <p:pic>
        <p:nvPicPr>
          <p:cNvPr id="4" name="Graphic 3" descr="Checkmark with solid fill">
            <a:extLst>
              <a:ext uri="{FF2B5EF4-FFF2-40B4-BE49-F238E27FC236}">
                <a16:creationId xmlns:a16="http://schemas.microsoft.com/office/drawing/2014/main" id="{F6688E57-8520-AD76-AA77-790D66F353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30280" y="37793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Lev Vygotsky's Sociocultural Theory of Cognitive Development | Simply  Psychology">
            <a:extLst>
              <a:ext uri="{FF2B5EF4-FFF2-40B4-BE49-F238E27FC236}">
                <a16:creationId xmlns:a16="http://schemas.microsoft.com/office/drawing/2014/main" id="{9974EC70-B3BC-8165-31BB-43018A1E909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44440" y="643466"/>
            <a:ext cx="750312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4823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1525"/>
            <a:ext cx="10515600" cy="1768475"/>
          </a:xfrm>
        </p:spPr>
        <p:txBody>
          <a:bodyPr>
            <a:normAutofit fontScale="90000"/>
          </a:bodyPr>
          <a:lstStyle/>
          <a:p>
            <a:pPr algn="just"/>
            <a:r>
              <a:rPr lang="en-US" dirty="0">
                <a:latin typeface="Amasis MT Pro Black" panose="02040A04050005020304" pitchFamily="18" charset="0"/>
              </a:rPr>
              <a:t>25. Due to the advent of COVID 19, which initiative is required for curriculum change?</a:t>
            </a:r>
          </a:p>
        </p:txBody>
      </p:sp>
      <p:sp>
        <p:nvSpPr>
          <p:cNvPr id="3" name="Content Placeholder 2"/>
          <p:cNvSpPr>
            <a:spLocks noGrp="1"/>
          </p:cNvSpPr>
          <p:nvPr>
            <p:ph idx="1"/>
          </p:nvPr>
        </p:nvSpPr>
        <p:spPr>
          <a:xfrm>
            <a:off x="838200" y="3190239"/>
            <a:ext cx="10515600" cy="2986723"/>
          </a:xfrm>
        </p:spPr>
        <p:txBody>
          <a:bodyPr>
            <a:normAutofit/>
          </a:bodyPr>
          <a:lstStyle/>
          <a:p>
            <a:pPr marL="0" indent="0" algn="just">
              <a:buNone/>
            </a:pPr>
            <a:r>
              <a:rPr lang="en-US" sz="4000" dirty="0">
                <a:latin typeface="Amasis MT Pro" panose="02040504050005020304" pitchFamily="18" charset="0"/>
              </a:rPr>
              <a:t>a. curriculum implementation</a:t>
            </a:r>
          </a:p>
          <a:p>
            <a:pPr marL="0" indent="0" algn="just">
              <a:buNone/>
            </a:pPr>
            <a:r>
              <a:rPr lang="en-US" sz="4000" dirty="0">
                <a:latin typeface="Amasis MT Pro" panose="02040504050005020304" pitchFamily="18" charset="0"/>
              </a:rPr>
              <a:t>b. curriculum evaluation</a:t>
            </a:r>
          </a:p>
          <a:p>
            <a:pPr marL="0" indent="0" algn="just">
              <a:buNone/>
            </a:pPr>
            <a:r>
              <a:rPr lang="en-US" sz="4000" dirty="0">
                <a:latin typeface="Amasis MT Pro" panose="02040504050005020304" pitchFamily="18" charset="0"/>
              </a:rPr>
              <a:t>c. curriculum design</a:t>
            </a:r>
          </a:p>
          <a:p>
            <a:pPr marL="0" indent="0" algn="just">
              <a:buNone/>
            </a:pPr>
            <a:r>
              <a:rPr lang="en-US" sz="4000" dirty="0">
                <a:latin typeface="Amasis MT Pro" panose="02040504050005020304" pitchFamily="18" charset="0"/>
              </a:rPr>
              <a:t>d. curriculum modification</a:t>
            </a:r>
          </a:p>
        </p:txBody>
      </p:sp>
      <p:pic>
        <p:nvPicPr>
          <p:cNvPr id="4" name="Graphic 3" descr="Checkmark with solid fill">
            <a:extLst>
              <a:ext uri="{FF2B5EF4-FFF2-40B4-BE49-F238E27FC236}">
                <a16:creationId xmlns:a16="http://schemas.microsoft.com/office/drawing/2014/main" id="{5D972EAB-C87A-137E-97B3-23CDF43CBA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07200" y="4975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000" b="1" dirty="0"/>
              <a:t>Curricular accommodations or modifications</a:t>
            </a:r>
            <a:r>
              <a:rPr lang="en-US" sz="4000" dirty="0"/>
              <a:t> are alterations to the curriculum to better suit the needs of students who have some level of disadvantage. Learn the different types of accommodations and modifications that allow teachers to adjust the curriculum to better educate their students. </a:t>
            </a:r>
            <a:endParaRPr lang="en-PH" sz="4000" dirty="0"/>
          </a:p>
        </p:txBody>
      </p:sp>
    </p:spTree>
    <p:extLst>
      <p:ext uri="{BB962C8B-B14F-4D97-AF65-F5344CB8AC3E}">
        <p14:creationId xmlns:p14="http://schemas.microsoft.com/office/powerpoint/2010/main" val="41999902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8"/>
            <a:ext cx="10515600" cy="1758315"/>
          </a:xfrm>
        </p:spPr>
        <p:txBody>
          <a:bodyPr>
            <a:normAutofit fontScale="90000"/>
          </a:bodyPr>
          <a:lstStyle/>
          <a:p>
            <a:pPr algn="just"/>
            <a:r>
              <a:rPr lang="en-US" dirty="0">
                <a:latin typeface="Amasis MT Pro Black" panose="02040A04050005020304" pitchFamily="18" charset="0"/>
              </a:rPr>
              <a:t>26. In a lesson, when do teachers make ideas universally applicable to other ideas or situations?</a:t>
            </a:r>
          </a:p>
        </p:txBody>
      </p:sp>
      <p:sp>
        <p:nvSpPr>
          <p:cNvPr id="3" name="Content Placeholder 2"/>
          <p:cNvSpPr>
            <a:spLocks noGrp="1"/>
          </p:cNvSpPr>
          <p:nvPr>
            <p:ph idx="1"/>
          </p:nvPr>
        </p:nvSpPr>
        <p:spPr>
          <a:xfrm>
            <a:off x="838200" y="3044666"/>
            <a:ext cx="10515600" cy="2747963"/>
          </a:xfrm>
        </p:spPr>
        <p:txBody>
          <a:bodyPr>
            <a:normAutofit/>
          </a:bodyPr>
          <a:lstStyle/>
          <a:p>
            <a:pPr marL="0" indent="0">
              <a:buNone/>
            </a:pPr>
            <a:r>
              <a:rPr lang="en-US" sz="4000" dirty="0">
                <a:latin typeface="Amasis MT Pro" panose="02040504050005020304" pitchFamily="18" charset="0"/>
              </a:rPr>
              <a:t>a. summarization</a:t>
            </a:r>
          </a:p>
          <a:p>
            <a:pPr marL="0" indent="0">
              <a:buNone/>
            </a:pPr>
            <a:r>
              <a:rPr lang="en-US" sz="4000" dirty="0">
                <a:latin typeface="Amasis MT Pro" panose="02040504050005020304" pitchFamily="18" charset="0"/>
              </a:rPr>
              <a:t>b. generalization</a:t>
            </a:r>
          </a:p>
          <a:p>
            <a:pPr marL="0" indent="0">
              <a:buNone/>
            </a:pPr>
            <a:r>
              <a:rPr lang="en-US" sz="4000" dirty="0">
                <a:latin typeface="Amasis MT Pro" panose="02040504050005020304" pitchFamily="18" charset="0"/>
              </a:rPr>
              <a:t>c. comparison</a:t>
            </a:r>
          </a:p>
          <a:p>
            <a:pPr marL="0" indent="0">
              <a:buNone/>
            </a:pPr>
            <a:r>
              <a:rPr lang="en-US" sz="4000" dirty="0">
                <a:latin typeface="Amasis MT Pro" panose="02040504050005020304" pitchFamily="18" charset="0"/>
              </a:rPr>
              <a:t>d. abstraction</a:t>
            </a:r>
          </a:p>
        </p:txBody>
      </p:sp>
      <p:pic>
        <p:nvPicPr>
          <p:cNvPr id="4" name="Graphic 3" descr="Checkmark with solid fill">
            <a:extLst>
              <a:ext uri="{FF2B5EF4-FFF2-40B4-BE49-F238E27FC236}">
                <a16:creationId xmlns:a16="http://schemas.microsoft.com/office/drawing/2014/main" id="{846F882B-7808-A20B-0981-98E1060025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4160" y="4122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355600"/>
            <a:ext cx="10515600" cy="5974080"/>
          </a:xfrm>
        </p:spPr>
        <p:txBody>
          <a:bodyPr>
            <a:normAutofit fontScale="85000" lnSpcReduction="20000"/>
          </a:bodyPr>
          <a:lstStyle/>
          <a:p>
            <a:pPr marL="0" indent="0" algn="just">
              <a:buNone/>
            </a:pPr>
            <a:r>
              <a:rPr lang="en-US" sz="4000" dirty="0" err="1"/>
              <a:t>Herbartians</a:t>
            </a:r>
            <a:r>
              <a:rPr lang="en-US" sz="4000" dirty="0"/>
              <a:t> believe that it is important to organize lessons based on students’ interests and their stages of development.  The five steps of the Herbartian lesson plan are: preparation, presentation, comparison and abstraction, generalization or definition, and application.  The preparation stage is used to review concepts with students and discuss how the material being presented relates to previous knowledge or interests they have.  The presentation is specifically organized so that the material presented relates to previous knowledge or interests.  Comparison of the material being presented, and material previously learned is done in the comparison and abstraction stage.  A single definition expression the overall concept of the lesson is created in the generalization or definition stage.  Application then allows students to apply that definition to outside experiences.</a:t>
            </a:r>
            <a:endParaRPr lang="en-PH" sz="4000" dirty="0"/>
          </a:p>
        </p:txBody>
      </p:sp>
    </p:spTree>
    <p:extLst>
      <p:ext uri="{BB962C8B-B14F-4D97-AF65-F5344CB8AC3E}">
        <p14:creationId xmlns:p14="http://schemas.microsoft.com/office/powerpoint/2010/main" val="38458435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680720"/>
            <a:ext cx="10515600" cy="2225675"/>
          </a:xfrm>
        </p:spPr>
        <p:txBody>
          <a:bodyPr>
            <a:normAutofit fontScale="90000"/>
          </a:bodyPr>
          <a:lstStyle/>
          <a:p>
            <a:pPr algn="just"/>
            <a:r>
              <a:rPr lang="en-US" dirty="0">
                <a:latin typeface="Amasis MT Pro Black" panose="02040A04050005020304" pitchFamily="18" charset="0"/>
              </a:rPr>
              <a:t>27. What is the philosophical basis for education in recent years of General Education subjects in career studies in College level?</a:t>
            </a:r>
          </a:p>
        </p:txBody>
      </p:sp>
      <p:sp>
        <p:nvSpPr>
          <p:cNvPr id="3" name="Content Placeholder 2"/>
          <p:cNvSpPr>
            <a:spLocks noGrp="1"/>
          </p:cNvSpPr>
          <p:nvPr>
            <p:ph idx="1"/>
          </p:nvPr>
        </p:nvSpPr>
        <p:spPr>
          <a:xfrm>
            <a:off x="716280" y="3515360"/>
            <a:ext cx="10515600" cy="2540000"/>
          </a:xfrm>
        </p:spPr>
        <p:txBody>
          <a:bodyPr>
            <a:normAutofit lnSpcReduction="10000"/>
          </a:bodyPr>
          <a:lstStyle/>
          <a:p>
            <a:pPr marL="0" indent="0">
              <a:buNone/>
            </a:pPr>
            <a:r>
              <a:rPr lang="en-US" sz="4000" dirty="0">
                <a:latin typeface="Amasis MT Pro" panose="02040504050005020304" pitchFamily="18" charset="0"/>
              </a:rPr>
              <a:t>a. utilitarianism</a:t>
            </a:r>
          </a:p>
          <a:p>
            <a:pPr marL="0" indent="0">
              <a:buNone/>
            </a:pPr>
            <a:r>
              <a:rPr lang="en-US" sz="4000" dirty="0">
                <a:latin typeface="Amasis MT Pro" panose="02040504050005020304" pitchFamily="18" charset="0"/>
              </a:rPr>
              <a:t>b. traditionalism</a:t>
            </a:r>
          </a:p>
          <a:p>
            <a:pPr marL="0" indent="0">
              <a:buNone/>
            </a:pPr>
            <a:r>
              <a:rPr lang="en-US" sz="4000" dirty="0">
                <a:latin typeface="Amasis MT Pro" panose="02040504050005020304" pitchFamily="18" charset="0"/>
              </a:rPr>
              <a:t>b. essentialism</a:t>
            </a:r>
          </a:p>
          <a:p>
            <a:pPr marL="0" indent="0">
              <a:buNone/>
            </a:pPr>
            <a:r>
              <a:rPr lang="en-US" sz="4000" dirty="0">
                <a:latin typeface="Amasis MT Pro" panose="02040504050005020304" pitchFamily="18" charset="0"/>
              </a:rPr>
              <a:t>c. perennialism</a:t>
            </a:r>
          </a:p>
        </p:txBody>
      </p:sp>
      <p:pic>
        <p:nvPicPr>
          <p:cNvPr id="4" name="Graphic 3" descr="Checkmark with solid fill">
            <a:extLst>
              <a:ext uri="{FF2B5EF4-FFF2-40B4-BE49-F238E27FC236}">
                <a16:creationId xmlns:a16="http://schemas.microsoft.com/office/drawing/2014/main" id="{95B29718-E56E-5E89-9D19-50458AF929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1120" y="44170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000" b="1" dirty="0"/>
              <a:t>Essentialism and perennialism</a:t>
            </a:r>
            <a:r>
              <a:rPr lang="en-US" sz="4000" dirty="0"/>
              <a:t> are two great educational philosophies. Essentialism is an educational philosophy that aims to ensure that students systematically and disciplinedly acquire a common core of knowledge. In contrast, perennialism is an educational philosophy that says that one should teach the things that are of eternal importance to all people everywhere.</a:t>
            </a:r>
            <a:endParaRPr lang="en-PH" sz="4000" dirty="0"/>
          </a:p>
        </p:txBody>
      </p:sp>
    </p:spTree>
    <p:extLst>
      <p:ext uri="{BB962C8B-B14F-4D97-AF65-F5344CB8AC3E}">
        <p14:creationId xmlns:p14="http://schemas.microsoft.com/office/powerpoint/2010/main" val="3703039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8645"/>
            <a:ext cx="10515600" cy="2093595"/>
          </a:xfrm>
        </p:spPr>
        <p:txBody>
          <a:bodyPr>
            <a:normAutofit fontScale="90000"/>
          </a:bodyPr>
          <a:lstStyle/>
          <a:p>
            <a:pPr algn="just"/>
            <a:r>
              <a:rPr lang="en-US" dirty="0">
                <a:latin typeface="Amasis MT Pro Black" panose="02040A04050005020304" pitchFamily="18" charset="0"/>
              </a:rPr>
              <a:t>28. As a teacher, how will you best understand the need to nourish the child along the axiom “Man does not live by bread alone”?</a:t>
            </a:r>
          </a:p>
        </p:txBody>
      </p:sp>
      <p:sp>
        <p:nvSpPr>
          <p:cNvPr id="3" name="Content Placeholder 2"/>
          <p:cNvSpPr>
            <a:spLocks noGrp="1"/>
          </p:cNvSpPr>
          <p:nvPr>
            <p:ph idx="1"/>
          </p:nvPr>
        </p:nvSpPr>
        <p:spPr>
          <a:xfrm>
            <a:off x="838200" y="3301047"/>
            <a:ext cx="10515600" cy="2968308"/>
          </a:xfrm>
        </p:spPr>
        <p:txBody>
          <a:bodyPr>
            <a:normAutofit/>
          </a:bodyPr>
          <a:lstStyle/>
          <a:p>
            <a:pPr marL="0" indent="0">
              <a:buNone/>
            </a:pPr>
            <a:r>
              <a:rPr lang="en-US" sz="4000" dirty="0">
                <a:latin typeface="Amasis MT Pro" panose="02040504050005020304" pitchFamily="18" charset="0"/>
              </a:rPr>
              <a:t>a. need to enforce discipline</a:t>
            </a:r>
          </a:p>
          <a:p>
            <a:pPr marL="0" indent="0">
              <a:buNone/>
            </a:pPr>
            <a:r>
              <a:rPr lang="en-US" sz="4000" dirty="0">
                <a:latin typeface="Amasis MT Pro" panose="02040504050005020304" pitchFamily="18" charset="0"/>
              </a:rPr>
              <a:t>b. need to teach human values</a:t>
            </a:r>
          </a:p>
          <a:p>
            <a:pPr marL="0" indent="0">
              <a:buNone/>
            </a:pPr>
            <a:r>
              <a:rPr lang="en-US" sz="4000" dirty="0">
                <a:latin typeface="Amasis MT Pro" panose="02040504050005020304" pitchFamily="18" charset="0"/>
              </a:rPr>
              <a:t>c. need to follow the syllabi</a:t>
            </a:r>
          </a:p>
          <a:p>
            <a:pPr marL="0" indent="0">
              <a:buNone/>
            </a:pPr>
            <a:r>
              <a:rPr lang="en-US" sz="4000" dirty="0">
                <a:latin typeface="Amasis MT Pro" panose="02040504050005020304" pitchFamily="18" charset="0"/>
              </a:rPr>
              <a:t>d. need to teach the 3Rs</a:t>
            </a:r>
          </a:p>
        </p:txBody>
      </p:sp>
      <p:pic>
        <p:nvPicPr>
          <p:cNvPr id="4" name="Graphic 3" descr="Checkmark with solid fill">
            <a:extLst>
              <a:ext uri="{FF2B5EF4-FFF2-40B4-BE49-F238E27FC236}">
                <a16:creationId xmlns:a16="http://schemas.microsoft.com/office/drawing/2014/main" id="{F95E0944-AFC2-0A1D-E193-4EC5B971D3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7280" y="3705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dirty="0"/>
              <a:t>The proverb </a:t>
            </a:r>
            <a:r>
              <a:rPr lang="en-US" sz="4400" b="1" dirty="0"/>
              <a:t>man does not live by bread alone</a:t>
            </a:r>
            <a:r>
              <a:rPr lang="en-US" sz="4400" dirty="0"/>
              <a:t> means that human beings need more than the simple necessities to keep them biologically alive, they need things that feed them mentally, spiritually, aesthetically, and they need things that give their lives meaning.</a:t>
            </a:r>
            <a:endParaRPr lang="en-PH" sz="4400" dirty="0"/>
          </a:p>
        </p:txBody>
      </p:sp>
    </p:spTree>
    <p:extLst>
      <p:ext uri="{BB962C8B-B14F-4D97-AF65-F5344CB8AC3E}">
        <p14:creationId xmlns:p14="http://schemas.microsoft.com/office/powerpoint/2010/main" val="27582497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852805"/>
            <a:ext cx="10515600" cy="1325563"/>
          </a:xfrm>
        </p:spPr>
        <p:txBody>
          <a:bodyPr/>
          <a:lstStyle/>
          <a:p>
            <a:pPr algn="just"/>
            <a:r>
              <a:rPr lang="en-US" dirty="0">
                <a:latin typeface="Amasis MT Pro Black" panose="02040A04050005020304" pitchFamily="18" charset="0"/>
              </a:rPr>
              <a:t>29. What does “grading on the curve” mean?</a:t>
            </a:r>
          </a:p>
        </p:txBody>
      </p:sp>
      <p:sp>
        <p:nvSpPr>
          <p:cNvPr id="3" name="Content Placeholder 2"/>
          <p:cNvSpPr>
            <a:spLocks noGrp="1"/>
          </p:cNvSpPr>
          <p:nvPr>
            <p:ph idx="1"/>
          </p:nvPr>
        </p:nvSpPr>
        <p:spPr>
          <a:xfrm>
            <a:off x="838200" y="2946399"/>
            <a:ext cx="10515600" cy="3230563"/>
          </a:xfrm>
        </p:spPr>
        <p:txBody>
          <a:bodyPr>
            <a:normAutofit/>
          </a:bodyPr>
          <a:lstStyle/>
          <a:p>
            <a:pPr marL="0" indent="0">
              <a:buNone/>
            </a:pPr>
            <a:r>
              <a:rPr lang="en-US" sz="4000" dirty="0"/>
              <a:t>a. grading compared with achievement</a:t>
            </a:r>
          </a:p>
          <a:p>
            <a:pPr marL="0" indent="0">
              <a:buNone/>
            </a:pPr>
            <a:r>
              <a:rPr lang="en-US" sz="4000" dirty="0"/>
              <a:t>b. normal scale of grades of students</a:t>
            </a:r>
          </a:p>
          <a:p>
            <a:pPr marL="0" indent="0">
              <a:buNone/>
            </a:pPr>
            <a:r>
              <a:rPr lang="en-US" sz="4000" dirty="0"/>
              <a:t>c. achievement more important than grades</a:t>
            </a:r>
          </a:p>
          <a:p>
            <a:pPr marL="0" indent="0">
              <a:buNone/>
            </a:pPr>
            <a:r>
              <a:rPr lang="en-US" sz="4000" dirty="0"/>
              <a:t>d. grading more important than achievement</a:t>
            </a:r>
          </a:p>
        </p:txBody>
      </p:sp>
      <p:pic>
        <p:nvPicPr>
          <p:cNvPr id="4" name="Graphic 3" descr="Checkmark with solid fill">
            <a:extLst>
              <a:ext uri="{FF2B5EF4-FFF2-40B4-BE49-F238E27FC236}">
                <a16:creationId xmlns:a16="http://schemas.microsoft.com/office/drawing/2014/main" id="{18FF1FCE-8167-2101-2F40-6D86CFD4E3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4720" y="3299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b="1" dirty="0"/>
              <a:t>Grading on a curve</a:t>
            </a:r>
            <a:r>
              <a:rPr lang="en-US" sz="4400" dirty="0"/>
              <a:t> means adjusting student scores after an assignment. The idea of "the curve" goes back to a bell curve. In a typical class, professors can expect a majority of grades to fall near the class average, with a smaller number of A grades and failing grades</a:t>
            </a:r>
            <a:endParaRPr lang="en-PH" sz="4400" dirty="0"/>
          </a:p>
        </p:txBody>
      </p:sp>
    </p:spTree>
    <p:extLst>
      <p:ext uri="{BB962C8B-B14F-4D97-AF65-F5344CB8AC3E}">
        <p14:creationId xmlns:p14="http://schemas.microsoft.com/office/powerpoint/2010/main" val="2916193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1127125"/>
            <a:ext cx="10515600" cy="1325563"/>
          </a:xfrm>
        </p:spPr>
        <p:txBody>
          <a:bodyPr>
            <a:normAutofit/>
          </a:bodyPr>
          <a:lstStyle/>
          <a:p>
            <a:pPr algn="just"/>
            <a:r>
              <a:rPr lang="en-US" dirty="0">
                <a:latin typeface="Amasis MT Pro Black" panose="02040A04050005020304" pitchFamily="18" charset="0"/>
              </a:rPr>
              <a:t>30. Which is the best class performance on a 100-item test?</a:t>
            </a:r>
          </a:p>
        </p:txBody>
      </p:sp>
      <p:sp>
        <p:nvSpPr>
          <p:cNvPr id="3" name="Content Placeholder 2"/>
          <p:cNvSpPr>
            <a:spLocks noGrp="1"/>
          </p:cNvSpPr>
          <p:nvPr>
            <p:ph idx="1"/>
          </p:nvPr>
        </p:nvSpPr>
        <p:spPr>
          <a:xfrm>
            <a:off x="838200" y="3281679"/>
            <a:ext cx="10515600" cy="2895283"/>
          </a:xfrm>
        </p:spPr>
        <p:txBody>
          <a:bodyPr>
            <a:normAutofit/>
          </a:bodyPr>
          <a:lstStyle/>
          <a:p>
            <a:pPr marL="0" indent="0">
              <a:buNone/>
            </a:pPr>
            <a:r>
              <a:rPr lang="en-US" sz="4000" dirty="0">
                <a:latin typeface="Amasis MT Pro" panose="02040504050005020304" pitchFamily="18" charset="0"/>
              </a:rPr>
              <a:t>a. mean is 80 and SD is 2</a:t>
            </a:r>
          </a:p>
          <a:p>
            <a:pPr marL="0" indent="0">
              <a:buNone/>
            </a:pPr>
            <a:r>
              <a:rPr lang="en-US" sz="4000" dirty="0">
                <a:latin typeface="Amasis MT Pro" panose="02040504050005020304" pitchFamily="18" charset="0"/>
              </a:rPr>
              <a:t>b. mean is 82 and SD is 10</a:t>
            </a:r>
          </a:p>
          <a:p>
            <a:pPr marL="0" indent="0">
              <a:buNone/>
            </a:pPr>
            <a:r>
              <a:rPr lang="en-US" sz="4000" dirty="0">
                <a:latin typeface="Amasis MT Pro" panose="02040504050005020304" pitchFamily="18" charset="0"/>
              </a:rPr>
              <a:t>c. mean is 90 and SD is 2</a:t>
            </a:r>
          </a:p>
          <a:p>
            <a:pPr marL="0" indent="0">
              <a:buNone/>
            </a:pPr>
            <a:r>
              <a:rPr lang="en-US" sz="4000" dirty="0">
                <a:latin typeface="Amasis MT Pro" panose="02040504050005020304" pitchFamily="18" charset="0"/>
              </a:rPr>
              <a:t>d. mean is 80 and SD is 12</a:t>
            </a:r>
          </a:p>
        </p:txBody>
      </p:sp>
      <p:pic>
        <p:nvPicPr>
          <p:cNvPr id="4" name="Graphic 3" descr="Checkmark with solid fill">
            <a:extLst>
              <a:ext uri="{FF2B5EF4-FFF2-40B4-BE49-F238E27FC236}">
                <a16:creationId xmlns:a16="http://schemas.microsoft.com/office/drawing/2014/main" id="{F13636AA-0978-4555-A404-0C4C63CFCB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112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dirty="0"/>
              <a:t>The formula for calculating a </a:t>
            </a:r>
            <a:r>
              <a:rPr lang="en-US" sz="4400" b="1" dirty="0"/>
              <a:t>z-score</a:t>
            </a:r>
            <a:r>
              <a:rPr lang="en-US" sz="4400" dirty="0"/>
              <a:t> is </a:t>
            </a:r>
            <a:r>
              <a:rPr lang="en-US" sz="4400" dirty="0" err="1"/>
              <a:t>is</a:t>
            </a:r>
            <a:r>
              <a:rPr lang="en-US" sz="4400" dirty="0"/>
              <a:t>        z = (x-μ)/σ, where x is the raw score, μ is the population mean, and σ is the population standard deviation. As the formula shows, the z-score is simply the raw score minus the population mean, divided by the population standard deviation.</a:t>
            </a:r>
            <a:endParaRPr lang="en-PH" sz="4400" dirty="0"/>
          </a:p>
        </p:txBody>
      </p:sp>
    </p:spTree>
    <p:extLst>
      <p:ext uri="{BB962C8B-B14F-4D97-AF65-F5344CB8AC3E}">
        <p14:creationId xmlns:p14="http://schemas.microsoft.com/office/powerpoint/2010/main" val="2862351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16965"/>
            <a:ext cx="10515600" cy="1325563"/>
          </a:xfrm>
        </p:spPr>
        <p:txBody>
          <a:bodyPr>
            <a:normAutofit fontScale="90000"/>
          </a:bodyPr>
          <a:lstStyle/>
          <a:p>
            <a:pPr algn="just"/>
            <a:r>
              <a:rPr lang="en-US" dirty="0">
                <a:latin typeface="Amasis MT Pro Black" panose="02040A04050005020304" pitchFamily="18" charset="0"/>
              </a:rPr>
              <a:t>31. Among varied tasks, how can the virtual learning management system help instruction?</a:t>
            </a:r>
          </a:p>
        </p:txBody>
      </p:sp>
      <p:sp>
        <p:nvSpPr>
          <p:cNvPr id="3" name="Content Placeholder 2"/>
          <p:cNvSpPr>
            <a:spLocks noGrp="1"/>
          </p:cNvSpPr>
          <p:nvPr>
            <p:ph idx="1"/>
          </p:nvPr>
        </p:nvSpPr>
        <p:spPr>
          <a:xfrm>
            <a:off x="685800" y="3196431"/>
            <a:ext cx="10515600" cy="2438083"/>
          </a:xfrm>
        </p:spPr>
        <p:txBody>
          <a:bodyPr>
            <a:normAutofit lnSpcReduction="10000"/>
          </a:bodyPr>
          <a:lstStyle/>
          <a:p>
            <a:pPr marL="0" indent="0">
              <a:buNone/>
            </a:pPr>
            <a:r>
              <a:rPr lang="en-US" sz="4000" dirty="0"/>
              <a:t>a. through face-to-face learning</a:t>
            </a:r>
          </a:p>
          <a:p>
            <a:pPr marL="0" indent="0">
              <a:buNone/>
            </a:pPr>
            <a:r>
              <a:rPr lang="en-US" sz="4000" dirty="0"/>
              <a:t>b. through ending instructional tasks</a:t>
            </a:r>
          </a:p>
          <a:p>
            <a:pPr marL="0" indent="0">
              <a:buNone/>
            </a:pPr>
            <a:r>
              <a:rPr lang="en-US" sz="4000" dirty="0"/>
              <a:t>c. through digital game activities</a:t>
            </a:r>
          </a:p>
          <a:p>
            <a:pPr marL="0" indent="0">
              <a:buNone/>
            </a:pPr>
            <a:r>
              <a:rPr lang="en-US" sz="4000" dirty="0"/>
              <a:t>d. through posting assignments</a:t>
            </a:r>
          </a:p>
        </p:txBody>
      </p:sp>
      <p:pic>
        <p:nvPicPr>
          <p:cNvPr id="4" name="Graphic 3" descr="Checkmark with solid fill">
            <a:extLst>
              <a:ext uri="{FF2B5EF4-FFF2-40B4-BE49-F238E27FC236}">
                <a16:creationId xmlns:a16="http://schemas.microsoft.com/office/drawing/2014/main" id="{D84138A8-975C-E45A-99C9-C7E6A2C207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6960" y="41122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4400" b="1" dirty="0"/>
              <a:t>Game-based learning</a:t>
            </a:r>
            <a:r>
              <a:rPr lang="en-US" sz="4400" dirty="0"/>
              <a:t> is training that uses game elements to teach a specific skill or achieve a specific learning outcome. It takes your core content and objectives and makes it fun. </a:t>
            </a:r>
            <a:r>
              <a:rPr lang="en-US" sz="4400" b="1" dirty="0"/>
              <a:t>Gamification</a:t>
            </a:r>
            <a:r>
              <a:rPr lang="en-US" sz="4400" dirty="0"/>
              <a:t> is the application of game mechanics in a non-game context to promote desired behavior and drive learning outcomes.</a:t>
            </a:r>
            <a:endParaRPr lang="en-PH" sz="4400" dirty="0"/>
          </a:p>
        </p:txBody>
      </p:sp>
    </p:spTree>
    <p:extLst>
      <p:ext uri="{BB962C8B-B14F-4D97-AF65-F5344CB8AC3E}">
        <p14:creationId xmlns:p14="http://schemas.microsoft.com/office/powerpoint/2010/main" val="19763189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832485"/>
            <a:ext cx="10515600" cy="2020570"/>
          </a:xfrm>
        </p:spPr>
        <p:txBody>
          <a:bodyPr>
            <a:normAutofit fontScale="90000"/>
          </a:bodyPr>
          <a:lstStyle/>
          <a:p>
            <a:pPr algn="just"/>
            <a:r>
              <a:rPr lang="en-US" dirty="0">
                <a:latin typeface="Amasis MT Pro Black" panose="02040A04050005020304" pitchFamily="18" charset="0"/>
              </a:rPr>
              <a:t>32. Which of the following exemplifies differentiated instruction directed at heterogenous groups in a class?</a:t>
            </a:r>
          </a:p>
        </p:txBody>
      </p:sp>
      <p:sp>
        <p:nvSpPr>
          <p:cNvPr id="3" name="Content Placeholder 2"/>
          <p:cNvSpPr>
            <a:spLocks noGrp="1"/>
          </p:cNvSpPr>
          <p:nvPr>
            <p:ph idx="1"/>
          </p:nvPr>
        </p:nvSpPr>
        <p:spPr>
          <a:xfrm>
            <a:off x="716280" y="3185160"/>
            <a:ext cx="10515600" cy="2748280"/>
          </a:xfrm>
        </p:spPr>
        <p:txBody>
          <a:bodyPr>
            <a:normAutofit/>
          </a:bodyPr>
          <a:lstStyle/>
          <a:p>
            <a:pPr marL="0" indent="0">
              <a:buNone/>
            </a:pPr>
            <a:r>
              <a:rPr lang="en-US" sz="3600" dirty="0">
                <a:latin typeface="Amasis MT Pro" panose="02040504050005020304" pitchFamily="18" charset="0"/>
              </a:rPr>
              <a:t>a. different tasks, appropriate for each groups</a:t>
            </a:r>
          </a:p>
          <a:p>
            <a:pPr marL="0" indent="0">
              <a:buNone/>
            </a:pPr>
            <a:r>
              <a:rPr lang="en-US" sz="3600" dirty="0">
                <a:latin typeface="Amasis MT Pro" panose="02040504050005020304" pitchFamily="18" charset="0"/>
              </a:rPr>
              <a:t>b. divide class, same tasks</a:t>
            </a:r>
          </a:p>
          <a:p>
            <a:pPr marL="0" indent="0">
              <a:buNone/>
            </a:pPr>
            <a:r>
              <a:rPr lang="en-US" sz="3600" dirty="0">
                <a:latin typeface="Amasis MT Pro" panose="02040504050005020304" pitchFamily="18" charset="0"/>
              </a:rPr>
              <a:t>c. three different teachers to assess groups</a:t>
            </a:r>
          </a:p>
          <a:p>
            <a:pPr marL="0" indent="0">
              <a:buNone/>
            </a:pPr>
            <a:r>
              <a:rPr lang="en-US" sz="3600" dirty="0">
                <a:latin typeface="Amasis MT Pro" panose="02040504050005020304" pitchFamily="18" charset="0"/>
              </a:rPr>
              <a:t>d. same task for all groups</a:t>
            </a:r>
          </a:p>
        </p:txBody>
      </p:sp>
      <p:pic>
        <p:nvPicPr>
          <p:cNvPr id="4" name="Graphic 3" descr="Checkmark with solid fill">
            <a:extLst>
              <a:ext uri="{FF2B5EF4-FFF2-40B4-BE49-F238E27FC236}">
                <a16:creationId xmlns:a16="http://schemas.microsoft.com/office/drawing/2014/main" id="{FF021530-15E3-5C9A-B7AB-3EF1EA8399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1200" y="285305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What Is Differentiated Instruction? 10 Examples &amp; Non-Examples">
            <a:extLst>
              <a:ext uri="{FF2B5EF4-FFF2-40B4-BE49-F238E27FC236}">
                <a16:creationId xmlns:a16="http://schemas.microsoft.com/office/drawing/2014/main" id="{51B2E8D5-685A-4DDE-D826-44E133F654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6196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2165"/>
            <a:ext cx="10515600" cy="1928495"/>
          </a:xfrm>
        </p:spPr>
        <p:txBody>
          <a:bodyPr>
            <a:normAutofit fontScale="90000"/>
          </a:bodyPr>
          <a:lstStyle/>
          <a:p>
            <a:pPr algn="just"/>
            <a:r>
              <a:rPr lang="en-US" dirty="0">
                <a:latin typeface="Amasis MT Pro Black" panose="02040A04050005020304" pitchFamily="18" charset="0"/>
              </a:rPr>
              <a:t>33. Vygotsky says that learning occurs in a social context. Which learning activity is most appropriate?</a:t>
            </a:r>
          </a:p>
        </p:txBody>
      </p:sp>
      <p:sp>
        <p:nvSpPr>
          <p:cNvPr id="3" name="Content Placeholder 2"/>
          <p:cNvSpPr>
            <a:spLocks noGrp="1"/>
          </p:cNvSpPr>
          <p:nvPr>
            <p:ph idx="1"/>
          </p:nvPr>
        </p:nvSpPr>
        <p:spPr>
          <a:xfrm>
            <a:off x="838200" y="3159760"/>
            <a:ext cx="10515600" cy="2661920"/>
          </a:xfrm>
        </p:spPr>
        <p:txBody>
          <a:bodyPr>
            <a:normAutofit lnSpcReduction="10000"/>
          </a:bodyPr>
          <a:lstStyle/>
          <a:p>
            <a:pPr marL="0" indent="0">
              <a:buNone/>
            </a:pPr>
            <a:r>
              <a:rPr lang="en-US" sz="4000" dirty="0">
                <a:latin typeface="Amasis MT Pro" panose="02040504050005020304" pitchFamily="18" charset="0"/>
              </a:rPr>
              <a:t>a. research</a:t>
            </a:r>
          </a:p>
          <a:p>
            <a:pPr marL="0" indent="0">
              <a:buNone/>
            </a:pPr>
            <a:r>
              <a:rPr lang="en-US" sz="4000" dirty="0">
                <a:latin typeface="Amasis MT Pro" panose="02040504050005020304" pitchFamily="18" charset="0"/>
              </a:rPr>
              <a:t>b. peer discussion</a:t>
            </a:r>
          </a:p>
          <a:p>
            <a:pPr marL="0" indent="0">
              <a:buNone/>
            </a:pPr>
            <a:r>
              <a:rPr lang="en-US" sz="4000" dirty="0">
                <a:latin typeface="Amasis MT Pro" panose="02040504050005020304" pitchFamily="18" charset="0"/>
              </a:rPr>
              <a:t>c. individual PowerPoint presentation</a:t>
            </a:r>
          </a:p>
          <a:p>
            <a:pPr marL="0" indent="0">
              <a:buNone/>
            </a:pPr>
            <a:r>
              <a:rPr lang="en-US" sz="4000" dirty="0">
                <a:latin typeface="Amasis MT Pro" panose="02040504050005020304" pitchFamily="18" charset="0"/>
              </a:rPr>
              <a:t>d. journal entry</a:t>
            </a:r>
          </a:p>
        </p:txBody>
      </p:sp>
      <p:pic>
        <p:nvPicPr>
          <p:cNvPr id="4" name="Graphic 3" descr="Checkmark with solid fill">
            <a:extLst>
              <a:ext uri="{FF2B5EF4-FFF2-40B4-BE49-F238E27FC236}">
                <a16:creationId xmlns:a16="http://schemas.microsoft.com/office/drawing/2014/main" id="{1DF3D533-D739-8A45-28A4-22A73B5CD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4560" y="34290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lnSpcReduction="10000"/>
          </a:bodyPr>
          <a:lstStyle/>
          <a:p>
            <a:pPr marL="0" indent="0" algn="just">
              <a:buNone/>
            </a:pPr>
            <a:r>
              <a:rPr lang="en-US" sz="4800" b="1" dirty="0"/>
              <a:t>Vygotsky's sociocultural theory</a:t>
            </a:r>
            <a:r>
              <a:rPr lang="en-US" sz="4800" dirty="0"/>
              <a:t> asserts that learning is an essentially social process in which the support of parents, caregivers, peers and the wider society and culture plays a crucial role in the development of higher psychological functions.</a:t>
            </a:r>
            <a:endParaRPr lang="en-PH" sz="4800" dirty="0"/>
          </a:p>
        </p:txBody>
      </p:sp>
    </p:spTree>
    <p:extLst>
      <p:ext uri="{BB962C8B-B14F-4D97-AF65-F5344CB8AC3E}">
        <p14:creationId xmlns:p14="http://schemas.microsoft.com/office/powerpoint/2010/main" val="33722803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852805"/>
            <a:ext cx="10515600" cy="1325563"/>
          </a:xfrm>
        </p:spPr>
        <p:txBody>
          <a:bodyPr>
            <a:normAutofit fontScale="90000"/>
          </a:bodyPr>
          <a:lstStyle/>
          <a:p>
            <a:pPr algn="just"/>
            <a:r>
              <a:rPr lang="en-US" dirty="0">
                <a:latin typeface="Amasis MT Pro Black" panose="02040A04050005020304" pitchFamily="18" charset="0"/>
              </a:rPr>
              <a:t>34. Which is most likely the behavior if students whose minds are solely guided by the ID?</a:t>
            </a:r>
          </a:p>
        </p:txBody>
      </p:sp>
      <p:sp>
        <p:nvSpPr>
          <p:cNvPr id="3" name="Content Placeholder 2"/>
          <p:cNvSpPr>
            <a:spLocks noGrp="1"/>
          </p:cNvSpPr>
          <p:nvPr>
            <p:ph idx="1"/>
          </p:nvPr>
        </p:nvSpPr>
        <p:spPr>
          <a:xfrm>
            <a:off x="767080" y="2967831"/>
            <a:ext cx="10916920" cy="2895283"/>
          </a:xfrm>
        </p:spPr>
        <p:txBody>
          <a:bodyPr>
            <a:normAutofit fontScale="92500" lnSpcReduction="10000"/>
          </a:bodyPr>
          <a:lstStyle/>
          <a:p>
            <a:pPr marL="0" indent="0" algn="just">
              <a:buNone/>
            </a:pPr>
            <a:r>
              <a:rPr lang="en-US" sz="3600" dirty="0">
                <a:latin typeface="Amasis MT Pro" panose="02040504050005020304" pitchFamily="18" charset="0"/>
              </a:rPr>
              <a:t>a. students would discuss and ask questions a lot</a:t>
            </a:r>
          </a:p>
          <a:p>
            <a:pPr marL="0" indent="0" algn="just">
              <a:buNone/>
            </a:pPr>
            <a:r>
              <a:rPr lang="en-US" sz="3600" dirty="0">
                <a:latin typeface="Amasis MT Pro" panose="02040504050005020304" pitchFamily="18" charset="0"/>
              </a:rPr>
              <a:t>b. students would be very considerate and understanding with one another</a:t>
            </a:r>
          </a:p>
          <a:p>
            <a:pPr marL="0" indent="0" algn="just">
              <a:buNone/>
            </a:pPr>
            <a:r>
              <a:rPr lang="en-US" sz="3600" dirty="0">
                <a:latin typeface="Amasis MT Pro" panose="02040504050005020304" pitchFamily="18" charset="0"/>
              </a:rPr>
              <a:t>c. students would find it difficult to wait patiently for their turn at the canteen when hungry</a:t>
            </a:r>
          </a:p>
          <a:p>
            <a:pPr marL="0" indent="0" algn="just">
              <a:buNone/>
            </a:pPr>
            <a:r>
              <a:rPr lang="en-US" sz="3600" dirty="0">
                <a:latin typeface="Amasis MT Pro" panose="02040504050005020304" pitchFamily="18" charset="0"/>
              </a:rPr>
              <a:t>d. students would do more independent work</a:t>
            </a:r>
          </a:p>
        </p:txBody>
      </p:sp>
      <p:pic>
        <p:nvPicPr>
          <p:cNvPr id="4" name="Graphic 3" descr="Checkmark with solid fill">
            <a:extLst>
              <a:ext uri="{FF2B5EF4-FFF2-40B4-BE49-F238E27FC236}">
                <a16:creationId xmlns:a16="http://schemas.microsoft.com/office/drawing/2014/main" id="{C099D48F-670A-460E-79E8-CE3BABB2D8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76720" y="45389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Freeform: Shape 5128">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5122" name="Picture 2" descr="Id, Ego and Superego by Saul McLeod">
            <a:extLst>
              <a:ext uri="{FF2B5EF4-FFF2-40B4-BE49-F238E27FC236}">
                <a16:creationId xmlns:a16="http://schemas.microsoft.com/office/drawing/2014/main" id="{73A72516-EA32-E11E-706B-681B71732E3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48798" y="1201003"/>
            <a:ext cx="3354847" cy="410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70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1066165"/>
            <a:ext cx="10515600" cy="1890395"/>
          </a:xfrm>
        </p:spPr>
        <p:txBody>
          <a:bodyPr>
            <a:normAutofit fontScale="90000"/>
          </a:bodyPr>
          <a:lstStyle/>
          <a:p>
            <a:pPr algn="just"/>
            <a:r>
              <a:rPr lang="en-US" dirty="0">
                <a:latin typeface="Amasis MT Pro Black" panose="02040A04050005020304" pitchFamily="18" charset="0"/>
              </a:rPr>
              <a:t>35. What is the equivalent of Education as “learning in any place, anytime and anywhere?”</a:t>
            </a:r>
          </a:p>
        </p:txBody>
      </p:sp>
      <p:sp>
        <p:nvSpPr>
          <p:cNvPr id="3" name="Content Placeholder 2"/>
          <p:cNvSpPr>
            <a:spLocks noGrp="1"/>
          </p:cNvSpPr>
          <p:nvPr>
            <p:ph idx="1"/>
          </p:nvPr>
        </p:nvSpPr>
        <p:spPr>
          <a:xfrm>
            <a:off x="716280" y="3296919"/>
            <a:ext cx="10515600" cy="2747963"/>
          </a:xfrm>
        </p:spPr>
        <p:txBody>
          <a:bodyPr>
            <a:normAutofit/>
          </a:bodyPr>
          <a:lstStyle/>
          <a:p>
            <a:pPr marL="0" indent="0">
              <a:buNone/>
            </a:pPr>
            <a:r>
              <a:rPr lang="en-US" sz="4000" dirty="0">
                <a:latin typeface="Amasis MT Pro" panose="02040504050005020304" pitchFamily="18" charset="0"/>
              </a:rPr>
              <a:t>a. flexible learning</a:t>
            </a:r>
          </a:p>
          <a:p>
            <a:pPr marL="0" indent="0">
              <a:buNone/>
            </a:pPr>
            <a:r>
              <a:rPr lang="en-US" sz="4000" dirty="0">
                <a:latin typeface="Amasis MT Pro" panose="02040504050005020304" pitchFamily="18" charset="0"/>
              </a:rPr>
              <a:t>b. research-based instruction</a:t>
            </a:r>
          </a:p>
          <a:p>
            <a:pPr marL="0" indent="0">
              <a:buNone/>
            </a:pPr>
            <a:r>
              <a:rPr lang="en-US" sz="4000" dirty="0">
                <a:latin typeface="Amasis MT Pro" panose="02040504050005020304" pitchFamily="18" charset="0"/>
              </a:rPr>
              <a:t>c. constructive education</a:t>
            </a:r>
          </a:p>
          <a:p>
            <a:pPr marL="0" indent="0">
              <a:buNone/>
            </a:pPr>
            <a:r>
              <a:rPr lang="en-US" sz="4000" dirty="0">
                <a:latin typeface="Amasis MT Pro" panose="02040504050005020304" pitchFamily="18" charset="0"/>
              </a:rPr>
              <a:t>d. outcomes-based curriculum</a:t>
            </a:r>
          </a:p>
        </p:txBody>
      </p:sp>
      <p:pic>
        <p:nvPicPr>
          <p:cNvPr id="4" name="Graphic 3" descr="Checkmark with solid fill">
            <a:extLst>
              <a:ext uri="{FF2B5EF4-FFF2-40B4-BE49-F238E27FC236}">
                <a16:creationId xmlns:a16="http://schemas.microsoft.com/office/drawing/2014/main" id="{57392BB2-CFFC-CA91-50BA-90696F0EA2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86960" y="2987041"/>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6000" b="1" dirty="0"/>
              <a:t>Flexible learning</a:t>
            </a:r>
            <a:r>
              <a:rPr lang="en-US" sz="6000" dirty="0"/>
              <a:t> is a state of being in which learning, and teaching is increasingly freed from the limitations of the time, place and pace of study</a:t>
            </a:r>
            <a:endParaRPr lang="en-PH" sz="6000" dirty="0"/>
          </a:p>
        </p:txBody>
      </p:sp>
    </p:spTree>
    <p:extLst>
      <p:ext uri="{BB962C8B-B14F-4D97-AF65-F5344CB8AC3E}">
        <p14:creationId xmlns:p14="http://schemas.microsoft.com/office/powerpoint/2010/main" val="10054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9765"/>
            <a:ext cx="10515600" cy="2052320"/>
          </a:xfrm>
        </p:spPr>
        <p:txBody>
          <a:bodyPr>
            <a:normAutofit fontScale="90000"/>
          </a:bodyPr>
          <a:lstStyle/>
          <a:p>
            <a:pPr algn="just"/>
            <a:r>
              <a:rPr lang="en-US" dirty="0">
                <a:latin typeface="Amasis MT Pro Black" panose="02040A04050005020304" pitchFamily="18" charset="0"/>
              </a:rPr>
              <a:t>36. In Bloom and Anderson’s Taxonomy in the hierarchy of cognitive learning, which comes first and lowest as a cognitive activity?</a:t>
            </a:r>
          </a:p>
        </p:txBody>
      </p:sp>
      <p:sp>
        <p:nvSpPr>
          <p:cNvPr id="3" name="Content Placeholder 2"/>
          <p:cNvSpPr>
            <a:spLocks noGrp="1"/>
          </p:cNvSpPr>
          <p:nvPr>
            <p:ph idx="1"/>
          </p:nvPr>
        </p:nvSpPr>
        <p:spPr>
          <a:xfrm>
            <a:off x="838200" y="3210560"/>
            <a:ext cx="10515600" cy="3169920"/>
          </a:xfrm>
        </p:spPr>
        <p:txBody>
          <a:bodyPr>
            <a:normAutofit/>
          </a:bodyPr>
          <a:lstStyle/>
          <a:p>
            <a:pPr marL="0" indent="0">
              <a:buNone/>
            </a:pPr>
            <a:r>
              <a:rPr lang="en-US" sz="4000" dirty="0">
                <a:latin typeface="Amasis MT Pro" panose="02040504050005020304" pitchFamily="18" charset="0"/>
              </a:rPr>
              <a:t>a. applying </a:t>
            </a:r>
          </a:p>
          <a:p>
            <a:pPr marL="0" indent="0">
              <a:buNone/>
            </a:pPr>
            <a:r>
              <a:rPr lang="en-US" sz="4000" dirty="0">
                <a:latin typeface="Amasis MT Pro" panose="02040504050005020304" pitchFamily="18" charset="0"/>
              </a:rPr>
              <a:t>b. creating</a:t>
            </a:r>
          </a:p>
          <a:p>
            <a:pPr marL="0" indent="0">
              <a:buNone/>
            </a:pPr>
            <a:r>
              <a:rPr lang="en-US" sz="4000" dirty="0">
                <a:latin typeface="Amasis MT Pro" panose="02040504050005020304" pitchFamily="18" charset="0"/>
              </a:rPr>
              <a:t>c. analyzing</a:t>
            </a:r>
          </a:p>
          <a:p>
            <a:pPr marL="0" indent="0">
              <a:buNone/>
            </a:pPr>
            <a:r>
              <a:rPr lang="en-US" sz="4000" dirty="0">
                <a:latin typeface="Amasis MT Pro" panose="02040504050005020304" pitchFamily="18" charset="0"/>
              </a:rPr>
              <a:t>d. remembering</a:t>
            </a:r>
          </a:p>
        </p:txBody>
      </p:sp>
      <p:pic>
        <p:nvPicPr>
          <p:cNvPr id="4" name="Graphic 3" descr="Checkmark with solid fill">
            <a:extLst>
              <a:ext uri="{FF2B5EF4-FFF2-40B4-BE49-F238E27FC236}">
                <a16:creationId xmlns:a16="http://schemas.microsoft.com/office/drawing/2014/main" id="{2B3DA6E6-3A24-7767-9960-CB32CAE274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1040" y="49555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8" name="Picture 4" descr="Planning for Instruction – Tara Montague">
            <a:extLst>
              <a:ext uri="{FF2B5EF4-FFF2-40B4-BE49-F238E27FC236}">
                <a16:creationId xmlns:a16="http://schemas.microsoft.com/office/drawing/2014/main" id="{2944681C-9A16-7536-CB24-73F29EC490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18728" y="643466"/>
            <a:ext cx="735454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3604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995045"/>
            <a:ext cx="10515600" cy="1325563"/>
          </a:xfrm>
        </p:spPr>
        <p:txBody>
          <a:bodyPr>
            <a:noAutofit/>
          </a:bodyPr>
          <a:lstStyle/>
          <a:p>
            <a:pPr algn="just"/>
            <a:r>
              <a:rPr lang="en-US" sz="4000" dirty="0">
                <a:latin typeface="Amasis MT Pro Black" panose="02040A04050005020304" pitchFamily="18" charset="0"/>
              </a:rPr>
              <a:t>37. What can teacher Rosalie do to encourage class participation in her class?</a:t>
            </a:r>
          </a:p>
        </p:txBody>
      </p:sp>
      <p:sp>
        <p:nvSpPr>
          <p:cNvPr id="3" name="Content Placeholder 2"/>
          <p:cNvSpPr>
            <a:spLocks noGrp="1"/>
          </p:cNvSpPr>
          <p:nvPr>
            <p:ph idx="1"/>
          </p:nvPr>
        </p:nvSpPr>
        <p:spPr>
          <a:xfrm>
            <a:off x="838200" y="3210559"/>
            <a:ext cx="10515600" cy="2966403"/>
          </a:xfrm>
        </p:spPr>
        <p:txBody>
          <a:bodyPr>
            <a:normAutofit/>
          </a:bodyPr>
          <a:lstStyle/>
          <a:p>
            <a:pPr marL="0" indent="0" algn="just">
              <a:buNone/>
            </a:pPr>
            <a:r>
              <a:rPr lang="en-US" sz="4000" dirty="0">
                <a:latin typeface="Amasis MT Pro" panose="02040504050005020304" pitchFamily="18" charset="0"/>
              </a:rPr>
              <a:t>a. allow students to go out during class hours</a:t>
            </a:r>
          </a:p>
          <a:p>
            <a:pPr marL="0" indent="0" algn="just">
              <a:buNone/>
            </a:pPr>
            <a:r>
              <a:rPr lang="en-US" sz="4000" dirty="0">
                <a:latin typeface="Amasis MT Pro" panose="02040504050005020304" pitchFamily="18" charset="0"/>
              </a:rPr>
              <a:t>b. employ student-centered and fun learning</a:t>
            </a:r>
          </a:p>
          <a:p>
            <a:pPr marL="0" indent="0" algn="just">
              <a:buNone/>
            </a:pPr>
            <a:r>
              <a:rPr lang="en-US" sz="4000" dirty="0">
                <a:latin typeface="Amasis MT Pro" panose="02040504050005020304" pitchFamily="18" charset="0"/>
              </a:rPr>
              <a:t>c. ask help of teacher peers</a:t>
            </a:r>
          </a:p>
          <a:p>
            <a:pPr marL="0" indent="0" algn="just">
              <a:buNone/>
            </a:pPr>
            <a:r>
              <a:rPr lang="en-US" sz="4000" dirty="0">
                <a:latin typeface="Amasis MT Pro" panose="02040504050005020304" pitchFamily="18" charset="0"/>
              </a:rPr>
              <a:t>d. improve on hour-long lecture</a:t>
            </a:r>
          </a:p>
        </p:txBody>
      </p:sp>
      <p:pic>
        <p:nvPicPr>
          <p:cNvPr id="4" name="Graphic 3" descr="Checkmark with solid fill">
            <a:extLst>
              <a:ext uri="{FF2B5EF4-FFF2-40B4-BE49-F238E27FC236}">
                <a16:creationId xmlns:a16="http://schemas.microsoft.com/office/drawing/2014/main" id="{391E579D-E20A-3EB1-FF9B-B6261B94B4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76560" y="36550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lnSpcReduction="20000"/>
          </a:bodyPr>
          <a:lstStyle/>
          <a:p>
            <a:pPr marL="0" indent="0" algn="just">
              <a:buNone/>
            </a:pPr>
            <a:r>
              <a:rPr lang="en-US" sz="4400" b="1" dirty="0"/>
              <a:t>Student-centered classrooms</a:t>
            </a:r>
            <a:r>
              <a:rPr lang="en-US" sz="4400" dirty="0"/>
              <a:t> include students in planning, implementation, and assessments. Involving the learners in these decisions will place more work on them, which can be a good thing. Teachers must become comfortable with changing their leadership style from directive to consultative -- from "Do as I say" to "Based on your needs, let's co-develop and implement a plan of action."</a:t>
            </a:r>
            <a:endParaRPr lang="en-PH" sz="4400" dirty="0"/>
          </a:p>
        </p:txBody>
      </p:sp>
    </p:spTree>
    <p:extLst>
      <p:ext uri="{BB962C8B-B14F-4D97-AF65-F5344CB8AC3E}">
        <p14:creationId xmlns:p14="http://schemas.microsoft.com/office/powerpoint/2010/main" val="19603183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2805"/>
            <a:ext cx="10515600" cy="1896745"/>
          </a:xfrm>
        </p:spPr>
        <p:txBody>
          <a:bodyPr>
            <a:noAutofit/>
          </a:bodyPr>
          <a:lstStyle/>
          <a:p>
            <a:pPr algn="just"/>
            <a:r>
              <a:rPr lang="en-US" sz="3600" dirty="0">
                <a:latin typeface="Amasis MT Pro Black" panose="02040A04050005020304" pitchFamily="18" charset="0"/>
              </a:rPr>
              <a:t>38. Due to multiple intelligence and learning styles of learners, which approach works best in order to enhance learning of each and all students?</a:t>
            </a:r>
          </a:p>
        </p:txBody>
      </p:sp>
      <p:sp>
        <p:nvSpPr>
          <p:cNvPr id="3" name="Content Placeholder 2"/>
          <p:cNvSpPr>
            <a:spLocks noGrp="1"/>
          </p:cNvSpPr>
          <p:nvPr>
            <p:ph idx="1"/>
          </p:nvPr>
        </p:nvSpPr>
        <p:spPr>
          <a:xfrm>
            <a:off x="838200" y="3337560"/>
            <a:ext cx="10515600" cy="2748280"/>
          </a:xfrm>
        </p:spPr>
        <p:txBody>
          <a:bodyPr>
            <a:normAutofit/>
          </a:bodyPr>
          <a:lstStyle/>
          <a:p>
            <a:pPr marL="0" indent="0">
              <a:buNone/>
            </a:pPr>
            <a:r>
              <a:rPr lang="en-US" sz="3600" dirty="0">
                <a:latin typeface="Amasis MT Pro" panose="02040504050005020304" pitchFamily="18" charset="0"/>
              </a:rPr>
              <a:t>a. unilateral approach</a:t>
            </a:r>
          </a:p>
          <a:p>
            <a:pPr marL="0" indent="0">
              <a:buNone/>
            </a:pPr>
            <a:r>
              <a:rPr lang="en-US" sz="3600" dirty="0">
                <a:latin typeface="Amasis MT Pro" panose="02040504050005020304" pitchFamily="18" charset="0"/>
              </a:rPr>
              <a:t>b. horizontal approach</a:t>
            </a:r>
          </a:p>
          <a:p>
            <a:pPr marL="0" indent="0">
              <a:buNone/>
            </a:pPr>
            <a:r>
              <a:rPr lang="en-US" sz="3600" dirty="0">
                <a:latin typeface="Amasis MT Pro" panose="02040504050005020304" pitchFamily="18" charset="0"/>
              </a:rPr>
              <a:t>c. streamlined approach</a:t>
            </a:r>
          </a:p>
          <a:p>
            <a:pPr marL="0" indent="0">
              <a:buNone/>
            </a:pPr>
            <a:r>
              <a:rPr lang="en-US" sz="3600" dirty="0">
                <a:latin typeface="Amasis MT Pro" panose="02040504050005020304" pitchFamily="18" charset="0"/>
              </a:rPr>
              <a:t>d. differentiated approach</a:t>
            </a:r>
          </a:p>
        </p:txBody>
      </p:sp>
      <p:pic>
        <p:nvPicPr>
          <p:cNvPr id="4" name="Graphic 3" descr="Checkmark with solid fill">
            <a:extLst>
              <a:ext uri="{FF2B5EF4-FFF2-40B4-BE49-F238E27FC236}">
                <a16:creationId xmlns:a16="http://schemas.microsoft.com/office/drawing/2014/main" id="{99A988E7-1C5D-1477-3812-BE535D267E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4935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What Is Differentiated Instruction? 10 Examples &amp; Non-Examples">
            <a:extLst>
              <a:ext uri="{FF2B5EF4-FFF2-40B4-BE49-F238E27FC236}">
                <a16:creationId xmlns:a16="http://schemas.microsoft.com/office/drawing/2014/main" id="{4C51DB99-D88E-4222-A10A-2181CF8683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917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2144395"/>
          </a:xfrm>
        </p:spPr>
        <p:txBody>
          <a:bodyPr>
            <a:normAutofit fontScale="90000"/>
          </a:bodyPr>
          <a:lstStyle/>
          <a:p>
            <a:pPr algn="just"/>
            <a:r>
              <a:rPr lang="en-US" sz="4000" dirty="0">
                <a:latin typeface="Amasis MT Pro Black" panose="02040A04050005020304" pitchFamily="18" charset="0"/>
              </a:rPr>
              <a:t>39. Among the curricula which operates in the classroom, which curriculum is actually applied in the teaching-learning process?</a:t>
            </a:r>
          </a:p>
        </p:txBody>
      </p:sp>
      <p:sp>
        <p:nvSpPr>
          <p:cNvPr id="3" name="Content Placeholder 2"/>
          <p:cNvSpPr>
            <a:spLocks noGrp="1"/>
          </p:cNvSpPr>
          <p:nvPr>
            <p:ph idx="1"/>
          </p:nvPr>
        </p:nvSpPr>
        <p:spPr>
          <a:xfrm>
            <a:off x="838200" y="3220720"/>
            <a:ext cx="10515600" cy="2956560"/>
          </a:xfrm>
        </p:spPr>
        <p:txBody>
          <a:bodyPr>
            <a:normAutofit/>
          </a:bodyPr>
          <a:lstStyle/>
          <a:p>
            <a:pPr marL="0" indent="0">
              <a:buNone/>
            </a:pPr>
            <a:r>
              <a:rPr lang="en-US" sz="4000" dirty="0">
                <a:latin typeface="Amasis MT Pro" panose="02040504050005020304" pitchFamily="18" charset="0"/>
              </a:rPr>
              <a:t>a. taught curriculum</a:t>
            </a:r>
          </a:p>
          <a:p>
            <a:pPr marL="0" indent="0">
              <a:buNone/>
            </a:pPr>
            <a:r>
              <a:rPr lang="en-US" sz="4000" dirty="0">
                <a:latin typeface="Amasis MT Pro" panose="02040504050005020304" pitchFamily="18" charset="0"/>
              </a:rPr>
              <a:t>b. hidden curriculum</a:t>
            </a:r>
          </a:p>
          <a:p>
            <a:pPr marL="0" indent="0">
              <a:buNone/>
            </a:pPr>
            <a:r>
              <a:rPr lang="en-US" sz="4000" dirty="0">
                <a:latin typeface="Amasis MT Pro" panose="02040504050005020304" pitchFamily="18" charset="0"/>
              </a:rPr>
              <a:t>c. written curriculum</a:t>
            </a:r>
          </a:p>
          <a:p>
            <a:pPr marL="0" indent="0">
              <a:buNone/>
            </a:pPr>
            <a:r>
              <a:rPr lang="en-US" sz="4000" dirty="0">
                <a:latin typeface="Amasis MT Pro" panose="02040504050005020304" pitchFamily="18" charset="0"/>
              </a:rPr>
              <a:t>d. recommended curriculum</a:t>
            </a:r>
          </a:p>
        </p:txBody>
      </p:sp>
      <p:pic>
        <p:nvPicPr>
          <p:cNvPr id="4" name="Graphic 3" descr="Checkmark with solid fill">
            <a:extLst>
              <a:ext uri="{FF2B5EF4-FFF2-40B4-BE49-F238E27FC236}">
                <a16:creationId xmlns:a16="http://schemas.microsoft.com/office/drawing/2014/main" id="{D581E880-41EF-071E-46FC-71A2586656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384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CURRICULUM DEVELOPMENT: REFLECTION 2: TYPES OF CURRICULUM">
            <a:extLst>
              <a:ext uri="{FF2B5EF4-FFF2-40B4-BE49-F238E27FC236}">
                <a16:creationId xmlns:a16="http://schemas.microsoft.com/office/drawing/2014/main" id="{B602883D-CD44-1685-2A17-5729D8B6E63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0809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8"/>
            <a:ext cx="10515600" cy="1325563"/>
          </a:xfrm>
        </p:spPr>
        <p:txBody>
          <a:bodyPr>
            <a:normAutofit fontScale="90000"/>
          </a:bodyPr>
          <a:lstStyle/>
          <a:p>
            <a:pPr algn="just"/>
            <a:r>
              <a:rPr lang="en-US" dirty="0">
                <a:latin typeface="Amasis MT Pro Black" panose="02040A04050005020304" pitchFamily="18" charset="0"/>
              </a:rPr>
              <a:t>40. Among cognitive deficiencies, what is known as the difficulty in focusing or keeping attention in learning?</a:t>
            </a:r>
          </a:p>
        </p:txBody>
      </p:sp>
      <p:sp>
        <p:nvSpPr>
          <p:cNvPr id="3" name="Content Placeholder 2"/>
          <p:cNvSpPr>
            <a:spLocks noGrp="1"/>
          </p:cNvSpPr>
          <p:nvPr>
            <p:ph idx="1"/>
          </p:nvPr>
        </p:nvSpPr>
        <p:spPr>
          <a:xfrm>
            <a:off x="838200" y="2854959"/>
            <a:ext cx="10515600" cy="2966403"/>
          </a:xfrm>
        </p:spPr>
        <p:txBody>
          <a:bodyPr>
            <a:normAutofit/>
          </a:bodyPr>
          <a:lstStyle/>
          <a:p>
            <a:pPr marL="0" indent="0">
              <a:buNone/>
            </a:pPr>
            <a:r>
              <a:rPr lang="en-US" sz="4000" dirty="0">
                <a:latin typeface="Amasis MT Pro" panose="02040504050005020304" pitchFamily="18" charset="0"/>
              </a:rPr>
              <a:t>a. perception grasp disorder</a:t>
            </a:r>
          </a:p>
          <a:p>
            <a:pPr marL="0" indent="0">
              <a:buNone/>
            </a:pPr>
            <a:r>
              <a:rPr lang="en-US" sz="4000" dirty="0">
                <a:latin typeface="Amasis MT Pro" panose="02040504050005020304" pitchFamily="18" charset="0"/>
              </a:rPr>
              <a:t>b. language communication disorder</a:t>
            </a:r>
          </a:p>
          <a:p>
            <a:pPr marL="0" indent="0">
              <a:buNone/>
            </a:pPr>
            <a:r>
              <a:rPr lang="en-US" sz="4000" dirty="0">
                <a:latin typeface="Amasis MT Pro" panose="02040504050005020304" pitchFamily="18" charset="0"/>
              </a:rPr>
              <a:t>c. memory breadth disorder</a:t>
            </a:r>
          </a:p>
          <a:p>
            <a:pPr marL="0" indent="0">
              <a:buNone/>
            </a:pPr>
            <a:r>
              <a:rPr lang="en-US" sz="4000" dirty="0">
                <a:latin typeface="Amasis MT Pro" panose="02040504050005020304" pitchFamily="18" charset="0"/>
              </a:rPr>
              <a:t>d. attention deficit disorder</a:t>
            </a:r>
          </a:p>
        </p:txBody>
      </p:sp>
      <p:pic>
        <p:nvPicPr>
          <p:cNvPr id="4" name="Graphic 3" descr="Checkmark with solid fill">
            <a:extLst>
              <a:ext uri="{FF2B5EF4-FFF2-40B4-BE49-F238E27FC236}">
                <a16:creationId xmlns:a16="http://schemas.microsoft.com/office/drawing/2014/main" id="{13E6BB07-25D9-78EF-29F5-88E3EB0282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46101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218" name="Picture 2" descr="ADHD (attention deficit hyperactivity disorder): Symptoms, Causes, Treatment">
            <a:extLst>
              <a:ext uri="{FF2B5EF4-FFF2-40B4-BE49-F238E27FC236}">
                <a16:creationId xmlns:a16="http://schemas.microsoft.com/office/drawing/2014/main" id="{534629AF-2A0D-9DF5-F827-D8D3DE8F30E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22916" y="643466"/>
            <a:ext cx="834616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8348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1086485"/>
            <a:ext cx="10515600" cy="1325563"/>
          </a:xfrm>
        </p:spPr>
        <p:txBody>
          <a:bodyPr>
            <a:normAutofit fontScale="90000"/>
          </a:bodyPr>
          <a:lstStyle/>
          <a:p>
            <a:pPr algn="just"/>
            <a:r>
              <a:rPr lang="en-US" dirty="0">
                <a:latin typeface="Amasis MT Pro Black" panose="02040A04050005020304" pitchFamily="18" charset="0"/>
              </a:rPr>
              <a:t>41. If the scores of your test follow a negatively skewed score distribution, what went wrong?</a:t>
            </a:r>
          </a:p>
        </p:txBody>
      </p:sp>
      <p:sp>
        <p:nvSpPr>
          <p:cNvPr id="3" name="Content Placeholder 2"/>
          <p:cNvSpPr>
            <a:spLocks noGrp="1"/>
          </p:cNvSpPr>
          <p:nvPr>
            <p:ph idx="1"/>
          </p:nvPr>
        </p:nvSpPr>
        <p:spPr>
          <a:xfrm>
            <a:off x="838200" y="3230879"/>
            <a:ext cx="10515600" cy="2946083"/>
          </a:xfrm>
        </p:spPr>
        <p:txBody>
          <a:bodyPr>
            <a:normAutofit/>
          </a:bodyPr>
          <a:lstStyle/>
          <a:p>
            <a:pPr marL="0" indent="0">
              <a:buNone/>
            </a:pPr>
            <a:r>
              <a:rPr lang="en-US" sz="4000" dirty="0">
                <a:latin typeface="Amasis MT Pro" panose="02040504050005020304" pitchFamily="18" charset="0"/>
              </a:rPr>
              <a:t>a. items were wrong</a:t>
            </a:r>
          </a:p>
          <a:p>
            <a:pPr marL="0" indent="0">
              <a:buNone/>
            </a:pPr>
            <a:r>
              <a:rPr lang="en-US" sz="4000" dirty="0">
                <a:latin typeface="Amasis MT Pro" panose="02040504050005020304" pitchFamily="18" charset="0"/>
              </a:rPr>
              <a:t>b. items were not in order</a:t>
            </a:r>
          </a:p>
          <a:p>
            <a:pPr marL="0" indent="0">
              <a:buNone/>
            </a:pPr>
            <a:r>
              <a:rPr lang="en-US" sz="4000" dirty="0">
                <a:latin typeface="Amasis MT Pro" panose="02040504050005020304" pitchFamily="18" charset="0"/>
              </a:rPr>
              <a:t>c. items were easy</a:t>
            </a:r>
          </a:p>
          <a:p>
            <a:pPr marL="0" indent="0">
              <a:buNone/>
            </a:pPr>
            <a:r>
              <a:rPr lang="en-US" sz="4000" dirty="0">
                <a:latin typeface="Amasis MT Pro" panose="02040504050005020304" pitchFamily="18" charset="0"/>
              </a:rPr>
              <a:t>d. items were difficult</a:t>
            </a:r>
          </a:p>
        </p:txBody>
      </p:sp>
      <p:pic>
        <p:nvPicPr>
          <p:cNvPr id="4" name="Graphic 3" descr="Checkmark with solid fill">
            <a:extLst>
              <a:ext uri="{FF2B5EF4-FFF2-40B4-BE49-F238E27FC236}">
                <a16:creationId xmlns:a16="http://schemas.microsoft.com/office/drawing/2014/main" id="{58726556-F8A6-B2A2-5F20-6420CFB924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0160" y="4325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Skewness &amp; Kurtosis: Reference - ppt video online download">
            <a:extLst>
              <a:ext uri="{FF2B5EF4-FFF2-40B4-BE49-F238E27FC236}">
                <a16:creationId xmlns:a16="http://schemas.microsoft.com/office/drawing/2014/main" id="{9AE5432D-E72C-2D23-7752-39CC24832F1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3579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640" y="1066165"/>
            <a:ext cx="10515600" cy="1325563"/>
          </a:xfrm>
        </p:spPr>
        <p:txBody>
          <a:bodyPr>
            <a:normAutofit fontScale="90000"/>
          </a:bodyPr>
          <a:lstStyle/>
          <a:p>
            <a:pPr algn="just"/>
            <a:r>
              <a:rPr lang="en-US" dirty="0">
                <a:latin typeface="Amasis MT Pro Black" panose="02040A04050005020304" pitchFamily="18" charset="0"/>
              </a:rPr>
              <a:t>42. Which of the following shows a total physical environment that supports learning?</a:t>
            </a:r>
          </a:p>
        </p:txBody>
      </p:sp>
      <p:sp>
        <p:nvSpPr>
          <p:cNvPr id="3" name="Content Placeholder 2"/>
          <p:cNvSpPr>
            <a:spLocks noGrp="1"/>
          </p:cNvSpPr>
          <p:nvPr>
            <p:ph idx="1"/>
          </p:nvPr>
        </p:nvSpPr>
        <p:spPr>
          <a:xfrm>
            <a:off x="746760" y="3210561"/>
            <a:ext cx="10515600" cy="2966402"/>
          </a:xfrm>
        </p:spPr>
        <p:txBody>
          <a:bodyPr>
            <a:normAutofit/>
          </a:bodyPr>
          <a:lstStyle/>
          <a:p>
            <a:pPr marL="0" indent="0">
              <a:buNone/>
            </a:pPr>
            <a:r>
              <a:rPr lang="en-US" sz="3600" dirty="0">
                <a:latin typeface="Amasis MT Pro" panose="02040504050005020304" pitchFamily="18" charset="0"/>
              </a:rPr>
              <a:t>a. classroom with furniture</a:t>
            </a:r>
          </a:p>
          <a:p>
            <a:pPr marL="0" indent="0">
              <a:buNone/>
            </a:pPr>
            <a:r>
              <a:rPr lang="en-US" sz="3600" dirty="0">
                <a:latin typeface="Amasis MT Pro" panose="02040504050005020304" pitchFamily="18" charset="0"/>
              </a:rPr>
              <a:t>b. tall three-storied building</a:t>
            </a:r>
          </a:p>
          <a:p>
            <a:pPr marL="0" indent="0">
              <a:buNone/>
            </a:pPr>
            <a:r>
              <a:rPr lang="en-US" sz="3600" dirty="0">
                <a:latin typeface="Amasis MT Pro" panose="02040504050005020304" pitchFamily="18" charset="0"/>
              </a:rPr>
              <a:t>c. safe and secure building and classroom structures</a:t>
            </a:r>
          </a:p>
          <a:p>
            <a:pPr marL="0" indent="0">
              <a:buNone/>
            </a:pPr>
            <a:r>
              <a:rPr lang="en-US" sz="3600" dirty="0">
                <a:latin typeface="Amasis MT Pro" panose="02040504050005020304" pitchFamily="18" charset="0"/>
              </a:rPr>
              <a:t>d. bulletin boards in every building</a:t>
            </a:r>
          </a:p>
        </p:txBody>
      </p:sp>
      <p:pic>
        <p:nvPicPr>
          <p:cNvPr id="4" name="Graphic 3" descr="Checkmark with solid fill">
            <a:extLst>
              <a:ext uri="{FF2B5EF4-FFF2-40B4-BE49-F238E27FC236}">
                <a16:creationId xmlns:a16="http://schemas.microsoft.com/office/drawing/2014/main" id="{D9C105AA-AF37-5F71-A211-066F4A71B7A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8040" y="4122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92500"/>
          </a:bodyPr>
          <a:lstStyle/>
          <a:p>
            <a:pPr marL="0" indent="0" algn="just">
              <a:buNone/>
            </a:pPr>
            <a:r>
              <a:rPr lang="en-US" sz="5400" dirty="0"/>
              <a:t>“A </a:t>
            </a:r>
            <a:r>
              <a:rPr lang="en-US" sz="5400" b="1" dirty="0"/>
              <a:t>conducive environment for learning</a:t>
            </a:r>
            <a:r>
              <a:rPr lang="en-US" sz="5400" dirty="0"/>
              <a:t>, such as one with comfortable classroom set-ups, relevant use of teaching materials and interesting classroom activities, will further motivate the students to learn.</a:t>
            </a:r>
            <a:endParaRPr lang="en-PH" sz="5400" dirty="0"/>
          </a:p>
        </p:txBody>
      </p:sp>
    </p:spTree>
    <p:extLst>
      <p:ext uri="{BB962C8B-B14F-4D97-AF65-F5344CB8AC3E}">
        <p14:creationId xmlns:p14="http://schemas.microsoft.com/office/powerpoint/2010/main" val="40896170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903605"/>
            <a:ext cx="10515600" cy="2113915"/>
          </a:xfrm>
        </p:spPr>
        <p:txBody>
          <a:bodyPr>
            <a:normAutofit fontScale="90000"/>
          </a:bodyPr>
          <a:lstStyle/>
          <a:p>
            <a:pPr algn="just"/>
            <a:r>
              <a:rPr lang="en-US" dirty="0">
                <a:latin typeface="Amasis MT Pro Black" panose="02040A04050005020304" pitchFamily="18" charset="0"/>
              </a:rPr>
              <a:t>43. Among communication indicators, which can ensure effective communication between teacher and learners?</a:t>
            </a:r>
          </a:p>
        </p:txBody>
      </p:sp>
      <p:sp>
        <p:nvSpPr>
          <p:cNvPr id="3" name="Content Placeholder 2"/>
          <p:cNvSpPr>
            <a:spLocks noGrp="1"/>
          </p:cNvSpPr>
          <p:nvPr>
            <p:ph idx="1"/>
          </p:nvPr>
        </p:nvSpPr>
        <p:spPr>
          <a:xfrm>
            <a:off x="665480" y="3495040"/>
            <a:ext cx="10515600" cy="2748280"/>
          </a:xfrm>
        </p:spPr>
        <p:txBody>
          <a:bodyPr>
            <a:normAutofit lnSpcReduction="10000"/>
          </a:bodyPr>
          <a:lstStyle/>
          <a:p>
            <a:pPr marL="0" indent="0">
              <a:buNone/>
            </a:pPr>
            <a:r>
              <a:rPr lang="en-US" sz="4400" dirty="0">
                <a:latin typeface="Amasis MT Pro" panose="02040504050005020304" pitchFamily="18" charset="0"/>
              </a:rPr>
              <a:t>a. group dynamics</a:t>
            </a:r>
          </a:p>
          <a:p>
            <a:pPr marL="0" indent="0">
              <a:buNone/>
            </a:pPr>
            <a:r>
              <a:rPr lang="en-US" sz="4400" dirty="0">
                <a:latin typeface="Amasis MT Pro" panose="02040504050005020304" pitchFamily="18" charset="0"/>
              </a:rPr>
              <a:t>b. fun learning</a:t>
            </a:r>
          </a:p>
          <a:p>
            <a:pPr marL="0" indent="0">
              <a:buNone/>
            </a:pPr>
            <a:r>
              <a:rPr lang="en-US" sz="4400" dirty="0">
                <a:latin typeface="Amasis MT Pro" panose="02040504050005020304" pitchFamily="18" charset="0"/>
              </a:rPr>
              <a:t>c. two-way</a:t>
            </a:r>
          </a:p>
          <a:p>
            <a:pPr marL="0" indent="0">
              <a:buNone/>
            </a:pPr>
            <a:r>
              <a:rPr lang="en-US" sz="4400" dirty="0">
                <a:latin typeface="Amasis MT Pro" panose="02040504050005020304" pitchFamily="18" charset="0"/>
              </a:rPr>
              <a:t>d. technology-based</a:t>
            </a:r>
          </a:p>
        </p:txBody>
      </p:sp>
      <p:pic>
        <p:nvPicPr>
          <p:cNvPr id="4" name="Graphic 3" descr="Checkmark with solid fill">
            <a:extLst>
              <a:ext uri="{FF2B5EF4-FFF2-40B4-BE49-F238E27FC236}">
                <a16:creationId xmlns:a16="http://schemas.microsoft.com/office/drawing/2014/main" id="{B203DD4F-3FC1-7C45-155A-3959FFBC29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3920" y="45593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400" dirty="0"/>
              <a:t>In </a:t>
            </a:r>
            <a:r>
              <a:rPr lang="en-US" sz="4400" b="1" dirty="0"/>
              <a:t>two-way communication</a:t>
            </a:r>
            <a:r>
              <a:rPr lang="en-US" sz="4400" dirty="0"/>
              <a:t>, communication is negotiated. Both sender and receiver listen to each other, gather information and are willing to make changes to work together in harmony. Their intent is to negotiate a mutually satisfactory situation.</a:t>
            </a:r>
            <a:endParaRPr lang="en-PH" sz="4400" dirty="0"/>
          </a:p>
        </p:txBody>
      </p:sp>
    </p:spTree>
    <p:extLst>
      <p:ext uri="{BB962C8B-B14F-4D97-AF65-F5344CB8AC3E}">
        <p14:creationId xmlns:p14="http://schemas.microsoft.com/office/powerpoint/2010/main" val="8645046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1005205"/>
            <a:ext cx="10515600" cy="1325563"/>
          </a:xfrm>
        </p:spPr>
        <p:txBody>
          <a:bodyPr>
            <a:normAutofit fontScale="90000"/>
          </a:bodyPr>
          <a:lstStyle/>
          <a:p>
            <a:pPr algn="just"/>
            <a:r>
              <a:rPr lang="en-US" dirty="0">
                <a:latin typeface="Amasis MT Pro Black" panose="02040A04050005020304" pitchFamily="18" charset="0"/>
              </a:rPr>
              <a:t>44. What kind of presence is engaged in through the community of inquiry model?</a:t>
            </a:r>
          </a:p>
        </p:txBody>
      </p:sp>
      <p:sp>
        <p:nvSpPr>
          <p:cNvPr id="3" name="Content Placeholder 2"/>
          <p:cNvSpPr>
            <a:spLocks noGrp="1"/>
          </p:cNvSpPr>
          <p:nvPr>
            <p:ph idx="1"/>
          </p:nvPr>
        </p:nvSpPr>
        <p:spPr>
          <a:xfrm>
            <a:off x="767080" y="3104832"/>
            <a:ext cx="10515600" cy="2747963"/>
          </a:xfrm>
        </p:spPr>
        <p:txBody>
          <a:bodyPr>
            <a:normAutofit/>
          </a:bodyPr>
          <a:lstStyle/>
          <a:p>
            <a:pPr marL="0" indent="0">
              <a:buNone/>
            </a:pPr>
            <a:r>
              <a:rPr lang="en-US" sz="4000" dirty="0">
                <a:latin typeface="Amasis MT Pro" panose="02040504050005020304" pitchFamily="18" charset="0"/>
              </a:rPr>
              <a:t>a. social presence</a:t>
            </a:r>
          </a:p>
          <a:p>
            <a:pPr marL="0" indent="0">
              <a:buNone/>
            </a:pPr>
            <a:r>
              <a:rPr lang="en-US" sz="4000" dirty="0">
                <a:latin typeface="Amasis MT Pro" panose="02040504050005020304" pitchFamily="18" charset="0"/>
              </a:rPr>
              <a:t>b. psychological presence</a:t>
            </a:r>
          </a:p>
          <a:p>
            <a:pPr marL="0" indent="0">
              <a:buNone/>
            </a:pPr>
            <a:r>
              <a:rPr lang="en-US" sz="4000" dirty="0">
                <a:latin typeface="Amasis MT Pro" panose="02040504050005020304" pitchFamily="18" charset="0"/>
              </a:rPr>
              <a:t>c. individual presence</a:t>
            </a:r>
          </a:p>
          <a:p>
            <a:pPr marL="0" indent="0">
              <a:buNone/>
            </a:pPr>
            <a:r>
              <a:rPr lang="en-US" sz="4000" dirty="0">
                <a:latin typeface="Amasis MT Pro" panose="02040504050005020304" pitchFamily="18" charset="0"/>
              </a:rPr>
              <a:t>d. psycho-motor presence</a:t>
            </a:r>
          </a:p>
        </p:txBody>
      </p:sp>
      <p:pic>
        <p:nvPicPr>
          <p:cNvPr id="4" name="Graphic 3" descr="Checkmark with solid fill">
            <a:extLst>
              <a:ext uri="{FF2B5EF4-FFF2-40B4-BE49-F238E27FC236}">
                <a16:creationId xmlns:a16="http://schemas.microsoft.com/office/drawing/2014/main" id="{4F521D34-150D-01E4-0014-BB6963C00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65040" y="28829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5897880" y="254000"/>
            <a:ext cx="5816600" cy="6350000"/>
          </a:xfrm>
        </p:spPr>
        <p:txBody>
          <a:bodyPr>
            <a:normAutofit fontScale="62500" lnSpcReduction="20000"/>
          </a:bodyPr>
          <a:lstStyle/>
          <a:p>
            <a:pPr marL="0" indent="0" algn="just">
              <a:buNone/>
            </a:pPr>
            <a:r>
              <a:rPr lang="en-US" sz="4400" dirty="0"/>
              <a:t>Social Presence is the ability to project the self socially and emotionally, thereby being perceived as “a real person” in mediated communication.</a:t>
            </a:r>
          </a:p>
          <a:p>
            <a:pPr marL="0" indent="0" algn="just">
              <a:buNone/>
            </a:pPr>
            <a:r>
              <a:rPr lang="en-US" sz="4400" dirty="0"/>
              <a:t>It consists of:</a:t>
            </a:r>
          </a:p>
          <a:p>
            <a:pPr algn="just"/>
            <a:r>
              <a:rPr lang="en-US" sz="4400" dirty="0"/>
              <a:t>Communication between and with the instructor and all members of the class</a:t>
            </a:r>
          </a:p>
          <a:p>
            <a:pPr algn="just"/>
            <a:r>
              <a:rPr lang="en-US" sz="4400" dirty="0"/>
              <a:t>Interaction with the instructor and all members of the class</a:t>
            </a:r>
          </a:p>
          <a:p>
            <a:pPr algn="just"/>
            <a:r>
              <a:rPr lang="en-US" sz="4400" dirty="0"/>
              <a:t>Relation of a learning community throughout the term</a:t>
            </a:r>
          </a:p>
          <a:p>
            <a:pPr algn="just"/>
            <a:r>
              <a:rPr lang="en-US" sz="4400" dirty="0"/>
              <a:t>Moves from introduction to community to camaraderie</a:t>
            </a:r>
          </a:p>
          <a:p>
            <a:pPr algn="just"/>
            <a:r>
              <a:rPr lang="en-US" sz="4400" dirty="0"/>
              <a:t>Note: Social Presence is the main element needed before Cognitive and Teaching Presence can occur</a:t>
            </a:r>
            <a:endParaRPr lang="en-PH" sz="4400" dirty="0"/>
          </a:p>
        </p:txBody>
      </p:sp>
      <p:pic>
        <p:nvPicPr>
          <p:cNvPr id="4" name="Picture 3">
            <a:extLst>
              <a:ext uri="{FF2B5EF4-FFF2-40B4-BE49-F238E27FC236}">
                <a16:creationId xmlns:a16="http://schemas.microsoft.com/office/drawing/2014/main" id="{0F6AC830-577D-04BD-6536-CF6ECDE1E8DE}"/>
              </a:ext>
            </a:extLst>
          </p:cNvPr>
          <p:cNvPicPr>
            <a:picLocks noChangeAspect="1"/>
          </p:cNvPicPr>
          <p:nvPr/>
        </p:nvPicPr>
        <p:blipFill>
          <a:blip r:embed="rId2"/>
          <a:stretch>
            <a:fillRect/>
          </a:stretch>
        </p:blipFill>
        <p:spPr>
          <a:xfrm>
            <a:off x="281181" y="775861"/>
            <a:ext cx="5498189" cy="4862939"/>
          </a:xfrm>
          <a:prstGeom prst="rect">
            <a:avLst/>
          </a:prstGeom>
        </p:spPr>
      </p:pic>
    </p:spTree>
    <p:extLst>
      <p:ext uri="{BB962C8B-B14F-4D97-AF65-F5344CB8AC3E}">
        <p14:creationId xmlns:p14="http://schemas.microsoft.com/office/powerpoint/2010/main" val="29258218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4085"/>
            <a:ext cx="10515600" cy="1325563"/>
          </a:xfrm>
        </p:spPr>
        <p:txBody>
          <a:bodyPr>
            <a:normAutofit fontScale="90000"/>
          </a:bodyPr>
          <a:lstStyle/>
          <a:p>
            <a:pPr algn="just"/>
            <a:r>
              <a:rPr lang="en-US" dirty="0">
                <a:latin typeface="Amasis MT Pro Black" panose="02040A04050005020304" pitchFamily="18" charset="0"/>
              </a:rPr>
              <a:t>45. What are equivalent to standards under the Philippine Professional Standards for Teachers?</a:t>
            </a:r>
          </a:p>
        </p:txBody>
      </p:sp>
      <p:sp>
        <p:nvSpPr>
          <p:cNvPr id="3" name="Content Placeholder 2"/>
          <p:cNvSpPr>
            <a:spLocks noGrp="1"/>
          </p:cNvSpPr>
          <p:nvPr>
            <p:ph idx="1"/>
          </p:nvPr>
        </p:nvSpPr>
        <p:spPr>
          <a:xfrm>
            <a:off x="838200" y="3224371"/>
            <a:ext cx="10515600" cy="2747963"/>
          </a:xfrm>
        </p:spPr>
        <p:txBody>
          <a:bodyPr>
            <a:normAutofit/>
          </a:bodyPr>
          <a:lstStyle/>
          <a:p>
            <a:pPr marL="0" indent="0">
              <a:buNone/>
            </a:pPr>
            <a:r>
              <a:rPr lang="en-US" sz="4000" dirty="0">
                <a:latin typeface="Amasis MT Pro" panose="02040504050005020304" pitchFamily="18" charset="0"/>
              </a:rPr>
              <a:t>a. cost of higher education</a:t>
            </a:r>
          </a:p>
          <a:p>
            <a:pPr marL="0" indent="0">
              <a:buNone/>
            </a:pPr>
            <a:r>
              <a:rPr lang="en-US" sz="4000" dirty="0">
                <a:latin typeface="Amasis MT Pro" panose="02040504050005020304" pitchFamily="18" charset="0"/>
              </a:rPr>
              <a:t>b. levels of qualification</a:t>
            </a:r>
          </a:p>
          <a:p>
            <a:pPr marL="0" indent="0">
              <a:buNone/>
            </a:pPr>
            <a:r>
              <a:rPr lang="en-US" sz="4000" dirty="0">
                <a:latin typeface="Amasis MT Pro" panose="02040504050005020304" pitchFamily="18" charset="0"/>
              </a:rPr>
              <a:t>c. certificates of training</a:t>
            </a:r>
          </a:p>
          <a:p>
            <a:pPr marL="0" indent="0">
              <a:buNone/>
            </a:pPr>
            <a:r>
              <a:rPr lang="en-US" sz="4000" dirty="0">
                <a:latin typeface="Amasis MT Pro" panose="02040504050005020304" pitchFamily="18" charset="0"/>
              </a:rPr>
              <a:t>d. accreditation of schools</a:t>
            </a:r>
          </a:p>
        </p:txBody>
      </p:sp>
      <p:pic>
        <p:nvPicPr>
          <p:cNvPr id="4" name="Graphic 3" descr="Checkmark with solid fill">
            <a:extLst>
              <a:ext uri="{FF2B5EF4-FFF2-40B4-BE49-F238E27FC236}">
                <a16:creationId xmlns:a16="http://schemas.microsoft.com/office/drawing/2014/main" id="{9E0104F3-DDD3-6CE5-DA6E-4B9A034FF6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3683952"/>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2" descr="PPT - The Philippine Professional Standards for Teachers (DNCBTS)  PowerPoint Presentation - ID:9196582">
            <a:extLst>
              <a:ext uri="{FF2B5EF4-FFF2-40B4-BE49-F238E27FC236}">
                <a16:creationId xmlns:a16="http://schemas.microsoft.com/office/drawing/2014/main" id="{0A5672A1-D712-2295-B293-43BA2E92AC3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2513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2165"/>
            <a:ext cx="10515600" cy="1325563"/>
          </a:xfrm>
        </p:spPr>
        <p:txBody>
          <a:bodyPr>
            <a:normAutofit fontScale="90000"/>
          </a:bodyPr>
          <a:lstStyle/>
          <a:p>
            <a:pPr algn="just"/>
            <a:r>
              <a:rPr lang="en-US" dirty="0">
                <a:latin typeface="Amasis MT Pro Black" panose="02040A04050005020304" pitchFamily="18" charset="0"/>
              </a:rPr>
              <a:t>46. Which software is useful for text writing and organization in formulating articles or essays?</a:t>
            </a:r>
          </a:p>
        </p:txBody>
      </p:sp>
      <p:sp>
        <p:nvSpPr>
          <p:cNvPr id="3" name="Content Placeholder 2"/>
          <p:cNvSpPr>
            <a:spLocks noGrp="1"/>
          </p:cNvSpPr>
          <p:nvPr>
            <p:ph idx="1"/>
          </p:nvPr>
        </p:nvSpPr>
        <p:spPr>
          <a:xfrm>
            <a:off x="838200" y="2997199"/>
            <a:ext cx="10515600" cy="3179763"/>
          </a:xfrm>
        </p:spPr>
        <p:txBody>
          <a:bodyPr>
            <a:normAutofit/>
          </a:bodyPr>
          <a:lstStyle/>
          <a:p>
            <a:pPr marL="0" indent="0">
              <a:buNone/>
            </a:pPr>
            <a:r>
              <a:rPr lang="en-US" sz="4000" dirty="0">
                <a:latin typeface="Amasis MT Pro" panose="02040504050005020304" pitchFamily="18" charset="0"/>
              </a:rPr>
              <a:t>a. Microsoft Word</a:t>
            </a:r>
          </a:p>
          <a:p>
            <a:pPr marL="0" indent="0">
              <a:buNone/>
            </a:pPr>
            <a:r>
              <a:rPr lang="en-US" sz="4000" dirty="0">
                <a:latin typeface="Amasis MT Pro" panose="02040504050005020304" pitchFamily="18" charset="0"/>
              </a:rPr>
              <a:t>b. Database</a:t>
            </a:r>
          </a:p>
          <a:p>
            <a:pPr marL="0" indent="0">
              <a:buNone/>
            </a:pPr>
            <a:r>
              <a:rPr lang="en-US" sz="4000" dirty="0">
                <a:latin typeface="Amasis MT Pro" panose="02040504050005020304" pitchFamily="18" charset="0"/>
              </a:rPr>
              <a:t>c. PowerPoint</a:t>
            </a:r>
          </a:p>
          <a:p>
            <a:pPr marL="0" indent="0">
              <a:buNone/>
            </a:pPr>
            <a:r>
              <a:rPr lang="en-US" sz="4000" dirty="0">
                <a:latin typeface="Amasis MT Pro" panose="02040504050005020304" pitchFamily="18" charset="0"/>
              </a:rPr>
              <a:t>d. Spreadsheet</a:t>
            </a:r>
          </a:p>
          <a:p>
            <a:pPr marL="0" indent="0">
              <a:buNone/>
            </a:pPr>
            <a:endParaRPr lang="en-US" sz="4000" dirty="0">
              <a:latin typeface="Amasis MT Pro" panose="02040504050005020304" pitchFamily="18" charset="0"/>
            </a:endParaRPr>
          </a:p>
        </p:txBody>
      </p:sp>
      <p:pic>
        <p:nvPicPr>
          <p:cNvPr id="4" name="Graphic 3" descr="Checkmark with solid fill">
            <a:extLst>
              <a:ext uri="{FF2B5EF4-FFF2-40B4-BE49-F238E27FC236}">
                <a16:creationId xmlns:a16="http://schemas.microsoft.com/office/drawing/2014/main" id="{55C7F483-B9C9-39C8-BBAF-EF0776B1F6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800" y="2750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800" b="1" dirty="0"/>
              <a:t>Microsoft Word</a:t>
            </a:r>
            <a:r>
              <a:rPr lang="en-US" sz="4800" dirty="0"/>
              <a:t> is a word-processing program, designed to help you create professional-quality documents. With the finest document-formatting tools, Word helps you organize and write your documents more efficiently.</a:t>
            </a:r>
            <a:endParaRPr lang="en-PH" sz="4800" dirty="0"/>
          </a:p>
        </p:txBody>
      </p:sp>
    </p:spTree>
    <p:extLst>
      <p:ext uri="{BB962C8B-B14F-4D97-AF65-F5344CB8AC3E}">
        <p14:creationId xmlns:p14="http://schemas.microsoft.com/office/powerpoint/2010/main" val="12885204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1066165"/>
            <a:ext cx="10515600" cy="1325563"/>
          </a:xfrm>
        </p:spPr>
        <p:txBody>
          <a:bodyPr>
            <a:normAutofit fontScale="90000"/>
          </a:bodyPr>
          <a:lstStyle/>
          <a:p>
            <a:pPr algn="just"/>
            <a:r>
              <a:rPr lang="en-US" dirty="0">
                <a:latin typeface="Amasis MT Pro Black" panose="02040A04050005020304" pitchFamily="18" charset="0"/>
              </a:rPr>
              <a:t>47. How is the bi-semester grade per subject for Grades 1-to-10 computed?</a:t>
            </a:r>
          </a:p>
        </p:txBody>
      </p:sp>
      <p:sp>
        <p:nvSpPr>
          <p:cNvPr id="3" name="Content Placeholder 2"/>
          <p:cNvSpPr>
            <a:spLocks noGrp="1"/>
          </p:cNvSpPr>
          <p:nvPr>
            <p:ph idx="1"/>
          </p:nvPr>
        </p:nvSpPr>
        <p:spPr>
          <a:xfrm>
            <a:off x="706120" y="2916872"/>
            <a:ext cx="10515600" cy="2874963"/>
          </a:xfrm>
        </p:spPr>
        <p:txBody>
          <a:bodyPr>
            <a:normAutofit/>
          </a:bodyPr>
          <a:lstStyle/>
          <a:p>
            <a:pPr marL="0" indent="0" algn="just">
              <a:buNone/>
            </a:pPr>
            <a:r>
              <a:rPr lang="en-US" sz="4000" dirty="0">
                <a:latin typeface="Amasis MT Pro" panose="02040504050005020304" pitchFamily="18" charset="0"/>
              </a:rPr>
              <a:t>a. by grade average for 2 quarters</a:t>
            </a:r>
          </a:p>
          <a:p>
            <a:pPr marL="0" indent="0" algn="just">
              <a:buNone/>
            </a:pPr>
            <a:r>
              <a:rPr lang="en-US" sz="4000" dirty="0">
                <a:latin typeface="Amasis MT Pro" panose="02040504050005020304" pitchFamily="18" charset="0"/>
              </a:rPr>
              <a:t>b. by grade average the whole year</a:t>
            </a:r>
          </a:p>
          <a:p>
            <a:pPr marL="0" indent="0" algn="just">
              <a:buNone/>
            </a:pPr>
            <a:r>
              <a:rPr lang="en-US" sz="4000" dirty="0">
                <a:latin typeface="Amasis MT Pro" panose="02040504050005020304" pitchFamily="18" charset="0"/>
              </a:rPr>
              <a:t>c. by grade average each month</a:t>
            </a:r>
          </a:p>
          <a:p>
            <a:pPr marL="0" indent="0" algn="just">
              <a:buNone/>
            </a:pPr>
            <a:r>
              <a:rPr lang="en-US" sz="4000" dirty="0">
                <a:latin typeface="Amasis MT Pro" panose="02040504050005020304" pitchFamily="18" charset="0"/>
              </a:rPr>
              <a:t>d. by grade average each week</a:t>
            </a:r>
          </a:p>
        </p:txBody>
      </p:sp>
      <p:pic>
        <p:nvPicPr>
          <p:cNvPr id="4" name="Graphic 3" descr="Checkmark with solid fill">
            <a:extLst>
              <a:ext uri="{FF2B5EF4-FFF2-40B4-BE49-F238E27FC236}">
                <a16:creationId xmlns:a16="http://schemas.microsoft.com/office/drawing/2014/main" id="{9D3E3876-083F-0CFF-8906-F515B88909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78800" y="26085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290" name="Picture 2" descr="Curriculum &amp; Grading - K-12 Program">
            <a:extLst>
              <a:ext uri="{FF2B5EF4-FFF2-40B4-BE49-F238E27FC236}">
                <a16:creationId xmlns:a16="http://schemas.microsoft.com/office/drawing/2014/main" id="{02BEABED-5905-B40E-6548-490A3F09C4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793240"/>
            <a:ext cx="10905066" cy="327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1478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1116965"/>
            <a:ext cx="10515600" cy="1325563"/>
          </a:xfrm>
        </p:spPr>
        <p:txBody>
          <a:bodyPr>
            <a:normAutofit fontScale="90000"/>
          </a:bodyPr>
          <a:lstStyle/>
          <a:p>
            <a:pPr algn="just"/>
            <a:r>
              <a:rPr lang="en-US" dirty="0">
                <a:latin typeface="Amasis MT Pro Black" panose="02040A04050005020304" pitchFamily="18" charset="0"/>
              </a:rPr>
              <a:t>48. Which portfolio can demonstrate skills e.g. using the microscope?</a:t>
            </a:r>
          </a:p>
        </p:txBody>
      </p:sp>
      <p:sp>
        <p:nvSpPr>
          <p:cNvPr id="3" name="Content Placeholder 2"/>
          <p:cNvSpPr>
            <a:spLocks noGrp="1"/>
          </p:cNvSpPr>
          <p:nvPr>
            <p:ph idx="1"/>
          </p:nvPr>
        </p:nvSpPr>
        <p:spPr>
          <a:xfrm>
            <a:off x="838200" y="2906712"/>
            <a:ext cx="10515600" cy="2834323"/>
          </a:xfrm>
        </p:spPr>
        <p:txBody>
          <a:bodyPr>
            <a:normAutofit/>
          </a:bodyPr>
          <a:lstStyle/>
          <a:p>
            <a:pPr marL="0" indent="0" algn="just">
              <a:buNone/>
            </a:pPr>
            <a:r>
              <a:rPr lang="en-US" sz="4000" dirty="0">
                <a:latin typeface="Amasis MT Pro" panose="02040504050005020304" pitchFamily="18" charset="0"/>
              </a:rPr>
              <a:t>a. showcase portfolio</a:t>
            </a:r>
          </a:p>
          <a:p>
            <a:pPr marL="0" indent="0" algn="just">
              <a:buNone/>
            </a:pPr>
            <a:r>
              <a:rPr lang="en-US" sz="4000" dirty="0">
                <a:latin typeface="Amasis MT Pro" panose="02040504050005020304" pitchFamily="18" charset="0"/>
              </a:rPr>
              <a:t>b. process portfolio</a:t>
            </a:r>
          </a:p>
          <a:p>
            <a:pPr marL="0" indent="0" algn="just">
              <a:buNone/>
            </a:pPr>
            <a:r>
              <a:rPr lang="en-US" sz="4000" dirty="0">
                <a:latin typeface="Amasis MT Pro" panose="02040504050005020304" pitchFamily="18" charset="0"/>
              </a:rPr>
              <a:t>c. development portfolio</a:t>
            </a:r>
          </a:p>
          <a:p>
            <a:pPr marL="0" indent="0" algn="just">
              <a:buNone/>
            </a:pPr>
            <a:r>
              <a:rPr lang="en-US" sz="4000" dirty="0">
                <a:latin typeface="Amasis MT Pro" panose="02040504050005020304" pitchFamily="18" charset="0"/>
              </a:rPr>
              <a:t>d. assessment portfolio</a:t>
            </a:r>
          </a:p>
        </p:txBody>
      </p:sp>
      <p:pic>
        <p:nvPicPr>
          <p:cNvPr id="4" name="Graphic 3" descr="Checkmark with solid fill">
            <a:extLst>
              <a:ext uri="{FF2B5EF4-FFF2-40B4-BE49-F238E27FC236}">
                <a16:creationId xmlns:a16="http://schemas.microsoft.com/office/drawing/2014/main" id="{C7E8A57A-CECB-6E3C-60CD-8902800911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04560" y="4681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314" name="Picture 2" descr="Types of Portfolios – All Saints' College Portfolios">
            <a:extLst>
              <a:ext uri="{FF2B5EF4-FFF2-40B4-BE49-F238E27FC236}">
                <a16:creationId xmlns:a16="http://schemas.microsoft.com/office/drawing/2014/main" id="{0E98D1BB-5F9B-5144-4265-13D54E5773E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60246" y="643466"/>
            <a:ext cx="787150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6571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984885"/>
            <a:ext cx="10515600" cy="1649730"/>
          </a:xfrm>
        </p:spPr>
        <p:txBody>
          <a:bodyPr>
            <a:noAutofit/>
          </a:bodyPr>
          <a:lstStyle/>
          <a:p>
            <a:pPr algn="just"/>
            <a:r>
              <a:rPr lang="en-US" sz="3600" dirty="0">
                <a:latin typeface="Amasis MT Pro Black" panose="02040A04050005020304" pitchFamily="18" charset="0"/>
              </a:rPr>
              <a:t>49. What factor is given the most importance by Teacher Nikki who is teaching in a school for children in a poverty-stricken slum area?</a:t>
            </a:r>
          </a:p>
        </p:txBody>
      </p:sp>
      <p:sp>
        <p:nvSpPr>
          <p:cNvPr id="3" name="Content Placeholder 2"/>
          <p:cNvSpPr>
            <a:spLocks noGrp="1"/>
          </p:cNvSpPr>
          <p:nvPr>
            <p:ph idx="1"/>
          </p:nvPr>
        </p:nvSpPr>
        <p:spPr>
          <a:xfrm>
            <a:off x="726440" y="3307080"/>
            <a:ext cx="10515600" cy="2748280"/>
          </a:xfrm>
        </p:spPr>
        <p:txBody>
          <a:bodyPr>
            <a:normAutofit/>
          </a:bodyPr>
          <a:lstStyle/>
          <a:p>
            <a:pPr marL="0" indent="0">
              <a:buNone/>
            </a:pPr>
            <a:r>
              <a:rPr lang="en-US" sz="4000" dirty="0">
                <a:latin typeface="Amasis MT Pro" panose="02040504050005020304" pitchFamily="18" charset="0"/>
              </a:rPr>
              <a:t>a. children’s beliefs</a:t>
            </a:r>
          </a:p>
          <a:p>
            <a:pPr marL="0" indent="0">
              <a:buNone/>
            </a:pPr>
            <a:r>
              <a:rPr lang="en-US" sz="4000" dirty="0">
                <a:latin typeface="Amasis MT Pro" panose="02040504050005020304" pitchFamily="18" charset="0"/>
              </a:rPr>
              <a:t>b. children’s ethnicity</a:t>
            </a:r>
          </a:p>
          <a:p>
            <a:pPr marL="0" indent="0">
              <a:buNone/>
            </a:pPr>
            <a:r>
              <a:rPr lang="en-US" sz="4000" dirty="0">
                <a:latin typeface="Amasis MT Pro" panose="02040504050005020304" pitchFamily="18" charset="0"/>
              </a:rPr>
              <a:t>c. children’s race</a:t>
            </a:r>
          </a:p>
          <a:p>
            <a:pPr marL="0" indent="0">
              <a:buNone/>
            </a:pPr>
            <a:r>
              <a:rPr lang="en-US" sz="4000" dirty="0">
                <a:latin typeface="Amasis MT Pro" panose="02040504050005020304" pitchFamily="18" charset="0"/>
              </a:rPr>
              <a:t>d. children’s socio-economic status</a:t>
            </a:r>
          </a:p>
        </p:txBody>
      </p:sp>
      <p:pic>
        <p:nvPicPr>
          <p:cNvPr id="6" name="Graphic 5" descr="Checkmark with solid fill">
            <a:extLst>
              <a:ext uri="{FF2B5EF4-FFF2-40B4-BE49-F238E27FC236}">
                <a16:creationId xmlns:a16="http://schemas.microsoft.com/office/drawing/2014/main" id="{E732FA72-C08A-AB41-14FE-D840252B03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63280" y="51409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6000" b="1" dirty="0"/>
              <a:t>Socioeconomic status </a:t>
            </a:r>
            <a:r>
              <a:rPr lang="en-US" sz="6000" dirty="0"/>
              <a:t>was defined as having three dimensions: family income, parents' education level, and parents' occupational prestige. </a:t>
            </a:r>
            <a:endParaRPr lang="en-PH" sz="6000" dirty="0"/>
          </a:p>
        </p:txBody>
      </p:sp>
    </p:spTree>
    <p:extLst>
      <p:ext uri="{BB962C8B-B14F-4D97-AF65-F5344CB8AC3E}">
        <p14:creationId xmlns:p14="http://schemas.microsoft.com/office/powerpoint/2010/main" val="37381829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640" y="974725"/>
            <a:ext cx="10515600" cy="1325563"/>
          </a:xfrm>
        </p:spPr>
        <p:txBody>
          <a:bodyPr>
            <a:normAutofit fontScale="90000"/>
          </a:bodyPr>
          <a:lstStyle/>
          <a:p>
            <a:pPr algn="just"/>
            <a:r>
              <a:rPr lang="en-US" dirty="0">
                <a:latin typeface="Amasis MT Pro Black" panose="02040A04050005020304" pitchFamily="18" charset="0"/>
              </a:rPr>
              <a:t>50. Which of the following is significant/related to cognitive development in the child?</a:t>
            </a:r>
          </a:p>
        </p:txBody>
      </p:sp>
      <p:sp>
        <p:nvSpPr>
          <p:cNvPr id="3" name="Content Placeholder 2"/>
          <p:cNvSpPr>
            <a:spLocks noGrp="1"/>
          </p:cNvSpPr>
          <p:nvPr>
            <p:ph idx="1"/>
          </p:nvPr>
        </p:nvSpPr>
        <p:spPr>
          <a:xfrm>
            <a:off x="838200" y="3428999"/>
            <a:ext cx="10515600" cy="2747963"/>
          </a:xfrm>
        </p:spPr>
        <p:txBody>
          <a:bodyPr>
            <a:normAutofit fontScale="92500"/>
          </a:bodyPr>
          <a:lstStyle/>
          <a:p>
            <a:pPr marL="0" indent="0">
              <a:buNone/>
            </a:pPr>
            <a:r>
              <a:rPr lang="en-US" sz="4000" dirty="0">
                <a:latin typeface="Amasis MT Pro" panose="02040504050005020304" pitchFamily="18" charset="0"/>
              </a:rPr>
              <a:t>a. one involving memorizing a poem</a:t>
            </a:r>
          </a:p>
          <a:p>
            <a:pPr marL="0" indent="0">
              <a:buNone/>
            </a:pPr>
            <a:r>
              <a:rPr lang="en-US" sz="4000" dirty="0">
                <a:latin typeface="Amasis MT Pro" panose="02040504050005020304" pitchFamily="18" charset="0"/>
              </a:rPr>
              <a:t>b. one involving feelings for a mother</a:t>
            </a:r>
          </a:p>
          <a:p>
            <a:pPr marL="0" indent="0">
              <a:buNone/>
            </a:pPr>
            <a:r>
              <a:rPr lang="en-US" sz="4000" dirty="0">
                <a:latin typeface="Amasis MT Pro" panose="02040504050005020304" pitchFamily="18" charset="0"/>
              </a:rPr>
              <a:t>c. one involving physical enlargement of the brain</a:t>
            </a:r>
          </a:p>
          <a:p>
            <a:pPr marL="0" indent="0">
              <a:buNone/>
            </a:pPr>
            <a:r>
              <a:rPr lang="en-US" sz="4000" dirty="0">
                <a:latin typeface="Amasis MT Pro" panose="02040504050005020304" pitchFamily="18" charset="0"/>
              </a:rPr>
              <a:t>d. one involving increase in weight</a:t>
            </a:r>
          </a:p>
        </p:txBody>
      </p:sp>
      <p:pic>
        <p:nvPicPr>
          <p:cNvPr id="4" name="Graphic 3" descr="Checkmark with solid fill">
            <a:extLst>
              <a:ext uri="{FF2B5EF4-FFF2-40B4-BE49-F238E27FC236}">
                <a16:creationId xmlns:a16="http://schemas.microsoft.com/office/drawing/2014/main" id="{58F0C8FE-45D4-F6E8-2A30-81876BB133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10880" y="3157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77500" lnSpcReduction="20000"/>
          </a:bodyPr>
          <a:lstStyle/>
          <a:p>
            <a:pPr marL="0" indent="0" algn="just">
              <a:buNone/>
            </a:pPr>
            <a:r>
              <a:rPr lang="en-US" sz="6000" b="1" dirty="0"/>
              <a:t>Cognitive development</a:t>
            </a:r>
            <a:r>
              <a:rPr lang="en-US" sz="6000" dirty="0"/>
              <a:t> means how children think, explore and figure things out. It is the development of knowledge, skills, problem solving and dispositions, which help children to think about and understand the world around them. Brain development is part of cognitive development.</a:t>
            </a:r>
            <a:endParaRPr lang="en-PH" sz="6000" dirty="0"/>
          </a:p>
        </p:txBody>
      </p:sp>
    </p:spTree>
    <p:extLst>
      <p:ext uri="{BB962C8B-B14F-4D97-AF65-F5344CB8AC3E}">
        <p14:creationId xmlns:p14="http://schemas.microsoft.com/office/powerpoint/2010/main" val="37012209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60" y="1177925"/>
            <a:ext cx="10515600" cy="1325563"/>
          </a:xfrm>
        </p:spPr>
        <p:txBody>
          <a:bodyPr>
            <a:normAutofit fontScale="90000"/>
          </a:bodyPr>
          <a:lstStyle/>
          <a:p>
            <a:pPr algn="just"/>
            <a:r>
              <a:rPr lang="en-US" dirty="0">
                <a:latin typeface="Amasis MT Pro Black" panose="02040A04050005020304" pitchFamily="18" charset="0"/>
              </a:rPr>
              <a:t>51. How is referent power best exhibited by the teacher on the first day of school?</a:t>
            </a:r>
          </a:p>
        </p:txBody>
      </p:sp>
      <p:sp>
        <p:nvSpPr>
          <p:cNvPr id="3" name="Content Placeholder 2"/>
          <p:cNvSpPr>
            <a:spLocks noGrp="1"/>
          </p:cNvSpPr>
          <p:nvPr>
            <p:ph idx="1"/>
          </p:nvPr>
        </p:nvSpPr>
        <p:spPr>
          <a:xfrm>
            <a:off x="838200" y="3428999"/>
            <a:ext cx="10515600" cy="2747963"/>
          </a:xfrm>
        </p:spPr>
        <p:txBody>
          <a:bodyPr>
            <a:normAutofit/>
          </a:bodyPr>
          <a:lstStyle/>
          <a:p>
            <a:pPr marL="0" indent="0">
              <a:buNone/>
            </a:pPr>
            <a:r>
              <a:rPr lang="en-US" dirty="0">
                <a:latin typeface="Amasis MT Pro" panose="02040504050005020304" pitchFamily="18" charset="0"/>
              </a:rPr>
              <a:t>a. reminding your students your authority over them</a:t>
            </a:r>
          </a:p>
          <a:p>
            <a:pPr marL="0" indent="0">
              <a:buNone/>
            </a:pPr>
            <a:r>
              <a:rPr lang="en-US" dirty="0">
                <a:latin typeface="Amasis MT Pro" panose="02040504050005020304" pitchFamily="18" charset="0"/>
              </a:rPr>
              <a:t>b. giving students a sense of acceptance and belonging</a:t>
            </a:r>
          </a:p>
          <a:p>
            <a:pPr marL="0" indent="0">
              <a:buNone/>
            </a:pPr>
            <a:r>
              <a:rPr lang="en-US" dirty="0">
                <a:latin typeface="Amasis MT Pro" panose="02040504050005020304" pitchFamily="18" charset="0"/>
              </a:rPr>
              <a:t>c. making students feel you know what you are talking about</a:t>
            </a:r>
          </a:p>
          <a:p>
            <a:pPr marL="0" indent="0">
              <a:buNone/>
            </a:pPr>
            <a:r>
              <a:rPr lang="en-US" dirty="0">
                <a:latin typeface="Amasis MT Pro" panose="02040504050005020304" pitchFamily="18" charset="0"/>
              </a:rPr>
              <a:t>d. telling students, the importance of good grades</a:t>
            </a:r>
          </a:p>
        </p:txBody>
      </p:sp>
      <p:pic>
        <p:nvPicPr>
          <p:cNvPr id="4" name="Graphic 3" descr="Checkmark with solid fill">
            <a:extLst>
              <a:ext uri="{FF2B5EF4-FFF2-40B4-BE49-F238E27FC236}">
                <a16:creationId xmlns:a16="http://schemas.microsoft.com/office/drawing/2014/main" id="{71CA46CE-8B40-6F5E-3C96-9830003D95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65920" y="3553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338" name="Picture 2" descr="Lesson 3 - Power Types and Sources - GERMASSU">
            <a:extLst>
              <a:ext uri="{FF2B5EF4-FFF2-40B4-BE49-F238E27FC236}">
                <a16:creationId xmlns:a16="http://schemas.microsoft.com/office/drawing/2014/main" id="{0472733A-8EBF-21A3-F9BE-0CA624DB57E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0708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527685"/>
            <a:ext cx="10515600" cy="2367915"/>
          </a:xfrm>
        </p:spPr>
        <p:txBody>
          <a:bodyPr>
            <a:normAutofit fontScale="90000"/>
          </a:bodyPr>
          <a:lstStyle/>
          <a:p>
            <a:pPr algn="just"/>
            <a:r>
              <a:rPr lang="en-US" dirty="0">
                <a:latin typeface="Amasis MT Pro Black" panose="02040A04050005020304" pitchFamily="18" charset="0"/>
              </a:rPr>
              <a:t>52. Which of the following is the correct feature that characterize the Indigenous Peoples Education Curriculum?</a:t>
            </a:r>
          </a:p>
        </p:txBody>
      </p:sp>
      <p:sp>
        <p:nvSpPr>
          <p:cNvPr id="3" name="Content Placeholder 2"/>
          <p:cNvSpPr>
            <a:spLocks noGrp="1"/>
          </p:cNvSpPr>
          <p:nvPr>
            <p:ph idx="1"/>
          </p:nvPr>
        </p:nvSpPr>
        <p:spPr>
          <a:xfrm>
            <a:off x="838200" y="3159760"/>
            <a:ext cx="10515600" cy="3017520"/>
          </a:xfrm>
        </p:spPr>
        <p:txBody>
          <a:bodyPr>
            <a:normAutofit/>
          </a:bodyPr>
          <a:lstStyle/>
          <a:p>
            <a:pPr marL="0" indent="0">
              <a:buNone/>
            </a:pPr>
            <a:r>
              <a:rPr lang="en-US" sz="3600" dirty="0">
                <a:latin typeface="Amasis MT Pro" panose="02040504050005020304" pitchFamily="18" charset="0"/>
              </a:rPr>
              <a:t>a. stamped out cultural identity</a:t>
            </a:r>
          </a:p>
          <a:p>
            <a:pPr marL="0" indent="0">
              <a:buNone/>
            </a:pPr>
            <a:r>
              <a:rPr lang="en-US" sz="3600" dirty="0">
                <a:latin typeface="Amasis MT Pro" panose="02040504050005020304" pitchFamily="18" charset="0"/>
              </a:rPr>
              <a:t>b. reduced use of indigenous languages</a:t>
            </a:r>
          </a:p>
          <a:p>
            <a:pPr marL="0" indent="0">
              <a:buNone/>
            </a:pPr>
            <a:r>
              <a:rPr lang="en-US" sz="3600" dirty="0">
                <a:latin typeface="Amasis MT Pro" panose="02040504050005020304" pitchFamily="18" charset="0"/>
              </a:rPr>
              <a:t>c. exclusivist curriculum paradigm</a:t>
            </a:r>
          </a:p>
          <a:p>
            <a:pPr marL="0" indent="0">
              <a:buNone/>
            </a:pPr>
            <a:r>
              <a:rPr lang="en-US" sz="3600" dirty="0">
                <a:latin typeface="Amasis MT Pro" panose="02040504050005020304" pitchFamily="18" charset="0"/>
              </a:rPr>
              <a:t>d. anchored learning context on ancestral domain</a:t>
            </a:r>
          </a:p>
          <a:p>
            <a:pPr marL="0" indent="0">
              <a:buNone/>
            </a:pPr>
            <a:endParaRPr lang="en-US" sz="3600" dirty="0">
              <a:latin typeface="Amasis MT Pro" panose="02040504050005020304" pitchFamily="18" charset="0"/>
            </a:endParaRPr>
          </a:p>
        </p:txBody>
      </p:sp>
      <p:pic>
        <p:nvPicPr>
          <p:cNvPr id="4" name="Graphic 3" descr="Checkmark with solid fill">
            <a:extLst>
              <a:ext uri="{FF2B5EF4-FFF2-40B4-BE49-F238E27FC236}">
                <a16:creationId xmlns:a16="http://schemas.microsoft.com/office/drawing/2014/main" id="{06FEA3EE-EC96-302E-1C46-AA31AB9B1A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8160" y="47726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77500" lnSpcReduction="20000"/>
          </a:bodyPr>
          <a:lstStyle/>
          <a:p>
            <a:pPr marL="0" indent="0" algn="just">
              <a:buNone/>
            </a:pPr>
            <a:r>
              <a:rPr lang="en-US" sz="6000" b="1" dirty="0"/>
              <a:t>IPEd Curriculum Framework</a:t>
            </a:r>
            <a:r>
              <a:rPr lang="en-US" sz="6000" dirty="0"/>
              <a:t> seeks to provide guidance to schools and other education programs, both public and private, as they engage with indigenous communities in localizing, indigenizing, and enhancing the K to 12 Curriculum based on their respective educational and social contexts.</a:t>
            </a:r>
            <a:endParaRPr lang="en-PH" sz="6000" dirty="0"/>
          </a:p>
        </p:txBody>
      </p:sp>
    </p:spTree>
    <p:extLst>
      <p:ext uri="{BB962C8B-B14F-4D97-AF65-F5344CB8AC3E}">
        <p14:creationId xmlns:p14="http://schemas.microsoft.com/office/powerpoint/2010/main" val="17340245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3765"/>
            <a:ext cx="10515600" cy="1635125"/>
          </a:xfrm>
        </p:spPr>
        <p:txBody>
          <a:bodyPr>
            <a:normAutofit fontScale="90000"/>
          </a:bodyPr>
          <a:lstStyle/>
          <a:p>
            <a:pPr algn="just"/>
            <a:r>
              <a:rPr lang="en-US" dirty="0">
                <a:latin typeface="Amasis MT Pro Black" panose="02040A04050005020304" pitchFamily="18" charset="0"/>
              </a:rPr>
              <a:t>53. According to Maslow, what satisfaction is reached as the final result of psychological harmony with reality?</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self-esteem</a:t>
            </a:r>
          </a:p>
          <a:p>
            <a:pPr marL="0" indent="0">
              <a:buNone/>
            </a:pPr>
            <a:r>
              <a:rPr lang="en-US" sz="4000" dirty="0">
                <a:latin typeface="Amasis MT Pro" panose="02040504050005020304" pitchFamily="18" charset="0"/>
              </a:rPr>
              <a:t>b. ego-actualization</a:t>
            </a:r>
          </a:p>
          <a:p>
            <a:pPr marL="0" indent="0">
              <a:buNone/>
            </a:pPr>
            <a:r>
              <a:rPr lang="en-US" sz="4000" dirty="0">
                <a:latin typeface="Amasis MT Pro" panose="02040504050005020304" pitchFamily="18" charset="0"/>
              </a:rPr>
              <a:t>c. sovereignty</a:t>
            </a:r>
          </a:p>
          <a:p>
            <a:pPr marL="0" indent="0">
              <a:buNone/>
            </a:pPr>
            <a:r>
              <a:rPr lang="en-US" sz="4000" dirty="0">
                <a:latin typeface="Amasis MT Pro" panose="02040504050005020304" pitchFamily="18" charset="0"/>
              </a:rPr>
              <a:t>d. belongingness</a:t>
            </a:r>
          </a:p>
        </p:txBody>
      </p:sp>
      <p:pic>
        <p:nvPicPr>
          <p:cNvPr id="4" name="Graphic 3" descr="Checkmark with solid fill">
            <a:extLst>
              <a:ext uri="{FF2B5EF4-FFF2-40B4-BE49-F238E27FC236}">
                <a16:creationId xmlns:a16="http://schemas.microsoft.com/office/drawing/2014/main" id="{C29C7A75-09D3-DF20-DE30-9E09263F8A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81600" y="388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362" name="Picture 2" descr="Diagram&#10;&#10;Description automatically generated">
            <a:extLst>
              <a:ext uri="{FF2B5EF4-FFF2-40B4-BE49-F238E27FC236}">
                <a16:creationId xmlns:a16="http://schemas.microsoft.com/office/drawing/2014/main" id="{2C890BB6-F49C-CD21-E3ED-50DCF6341B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18728" y="643466"/>
            <a:ext cx="735454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7666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4245"/>
            <a:ext cx="10515600" cy="2022475"/>
          </a:xfrm>
        </p:spPr>
        <p:txBody>
          <a:bodyPr>
            <a:normAutofit fontScale="90000"/>
          </a:bodyPr>
          <a:lstStyle/>
          <a:p>
            <a:pPr algn="just"/>
            <a:r>
              <a:rPr lang="en-US" dirty="0">
                <a:latin typeface="Amasis MT Pro Black" panose="02040A04050005020304" pitchFamily="18" charset="0"/>
              </a:rPr>
              <a:t>54. When a student gathers data or information and arrives at a conclusion, what process of research is followed?</a:t>
            </a:r>
          </a:p>
        </p:txBody>
      </p:sp>
      <p:sp>
        <p:nvSpPr>
          <p:cNvPr id="3" name="Content Placeholder 2"/>
          <p:cNvSpPr>
            <a:spLocks noGrp="1"/>
          </p:cNvSpPr>
          <p:nvPr>
            <p:ph idx="1"/>
          </p:nvPr>
        </p:nvSpPr>
        <p:spPr>
          <a:xfrm>
            <a:off x="838200" y="3429000"/>
            <a:ext cx="10515600" cy="2509520"/>
          </a:xfrm>
        </p:spPr>
        <p:txBody>
          <a:bodyPr>
            <a:normAutofit lnSpcReduction="10000"/>
          </a:bodyPr>
          <a:lstStyle/>
          <a:p>
            <a:pPr marL="0" indent="0">
              <a:buNone/>
            </a:pPr>
            <a:r>
              <a:rPr lang="en-US" sz="4000" dirty="0">
                <a:latin typeface="Amasis MT Pro" panose="02040504050005020304" pitchFamily="18" charset="0"/>
              </a:rPr>
              <a:t>a. induction</a:t>
            </a:r>
          </a:p>
          <a:p>
            <a:pPr marL="0" indent="0">
              <a:buNone/>
            </a:pPr>
            <a:r>
              <a:rPr lang="en-US" sz="4000" dirty="0">
                <a:latin typeface="Amasis MT Pro" panose="02040504050005020304" pitchFamily="18" charset="0"/>
              </a:rPr>
              <a:t>b. deduction</a:t>
            </a:r>
          </a:p>
          <a:p>
            <a:pPr marL="0" indent="0">
              <a:buNone/>
            </a:pPr>
            <a:r>
              <a:rPr lang="en-US" sz="4000" dirty="0">
                <a:latin typeface="Amasis MT Pro" panose="02040504050005020304" pitchFamily="18" charset="0"/>
              </a:rPr>
              <a:t>c. implication</a:t>
            </a:r>
          </a:p>
          <a:p>
            <a:pPr marL="0" indent="0">
              <a:buNone/>
            </a:pPr>
            <a:r>
              <a:rPr lang="en-US" sz="4000" dirty="0">
                <a:latin typeface="Amasis MT Pro" panose="02040504050005020304" pitchFamily="18" charset="0"/>
              </a:rPr>
              <a:t>d. experiment</a:t>
            </a:r>
          </a:p>
        </p:txBody>
      </p:sp>
      <p:pic>
        <p:nvPicPr>
          <p:cNvPr id="4" name="Graphic 3" descr="Checkmark with solid fill">
            <a:extLst>
              <a:ext uri="{FF2B5EF4-FFF2-40B4-BE49-F238E27FC236}">
                <a16:creationId xmlns:a16="http://schemas.microsoft.com/office/drawing/2014/main" id="{FCDCBD49-28C4-4EEB-1DE4-935DE9C8E8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6000" y="3055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386" name="Picture 2" descr="The Difference Between Deductive and Inductive Reasoning - Daniel Miessler">
            <a:extLst>
              <a:ext uri="{FF2B5EF4-FFF2-40B4-BE49-F238E27FC236}">
                <a16:creationId xmlns:a16="http://schemas.microsoft.com/office/drawing/2014/main" id="{2F055E22-5E80-4A9F-B5EF-8F97FC77AF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18902" y="643466"/>
            <a:ext cx="6554196"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00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2325"/>
            <a:ext cx="10515600" cy="2066925"/>
          </a:xfrm>
        </p:spPr>
        <p:txBody>
          <a:bodyPr>
            <a:normAutofit fontScale="90000"/>
          </a:bodyPr>
          <a:lstStyle/>
          <a:p>
            <a:pPr algn="just"/>
            <a:r>
              <a:rPr lang="en-US" dirty="0">
                <a:latin typeface="Amasis MT Pro Black" panose="02040A04050005020304" pitchFamily="18" charset="0"/>
              </a:rPr>
              <a:t>55. What kind of assessment of learning can provide information about achievement levels across individual learner?</a:t>
            </a:r>
          </a:p>
        </p:txBody>
      </p:sp>
      <p:sp>
        <p:nvSpPr>
          <p:cNvPr id="3" name="Content Placeholder 2"/>
          <p:cNvSpPr>
            <a:spLocks noGrp="1"/>
          </p:cNvSpPr>
          <p:nvPr>
            <p:ph idx="1"/>
          </p:nvPr>
        </p:nvSpPr>
        <p:spPr>
          <a:xfrm>
            <a:off x="838200" y="3383915"/>
            <a:ext cx="10515600" cy="2651760"/>
          </a:xfrm>
        </p:spPr>
        <p:txBody>
          <a:bodyPr>
            <a:normAutofit lnSpcReduction="10000"/>
          </a:bodyPr>
          <a:lstStyle/>
          <a:p>
            <a:pPr marL="0" indent="0">
              <a:buNone/>
            </a:pPr>
            <a:r>
              <a:rPr lang="en-US" sz="4000" dirty="0">
                <a:latin typeface="Amasis MT Pro" panose="02040504050005020304" pitchFamily="18" charset="0"/>
              </a:rPr>
              <a:t>a. assessment of motivation</a:t>
            </a:r>
          </a:p>
          <a:p>
            <a:pPr marL="0" indent="0">
              <a:buNone/>
            </a:pPr>
            <a:r>
              <a:rPr lang="en-US" sz="4000" dirty="0">
                <a:latin typeface="Amasis MT Pro" panose="02040504050005020304" pitchFamily="18" charset="0"/>
              </a:rPr>
              <a:t>b. assessment of learning styles</a:t>
            </a:r>
          </a:p>
          <a:p>
            <a:pPr marL="0" indent="0">
              <a:buNone/>
            </a:pPr>
            <a:r>
              <a:rPr lang="en-US" sz="4000" dirty="0">
                <a:latin typeface="Amasis MT Pro" panose="02040504050005020304" pitchFamily="18" charset="0"/>
              </a:rPr>
              <a:t>c. assessment of performance</a:t>
            </a:r>
          </a:p>
          <a:p>
            <a:pPr marL="0" indent="0">
              <a:buNone/>
            </a:pPr>
            <a:r>
              <a:rPr lang="en-US" sz="4000" dirty="0">
                <a:latin typeface="Amasis MT Pro" panose="02040504050005020304" pitchFamily="18" charset="0"/>
              </a:rPr>
              <a:t>d. assessment of ethnicity</a:t>
            </a:r>
          </a:p>
        </p:txBody>
      </p:sp>
      <p:pic>
        <p:nvPicPr>
          <p:cNvPr id="4" name="Graphic 3" descr="Checkmark with solid fill">
            <a:extLst>
              <a:ext uri="{FF2B5EF4-FFF2-40B4-BE49-F238E27FC236}">
                <a16:creationId xmlns:a16="http://schemas.microsoft.com/office/drawing/2014/main" id="{06B4364E-9728-4F9F-A3A1-F6BB8EA6F2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06640" y="43459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410" name="Picture 2" descr="Performance Based Assessment What is Performance Based Assessment">
            <a:extLst>
              <a:ext uri="{FF2B5EF4-FFF2-40B4-BE49-F238E27FC236}">
                <a16:creationId xmlns:a16="http://schemas.microsoft.com/office/drawing/2014/main" id="{6351F83D-2914-2C50-6536-2E67DE5690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6598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1147445"/>
            <a:ext cx="10515600" cy="1325563"/>
          </a:xfrm>
        </p:spPr>
        <p:txBody>
          <a:bodyPr>
            <a:normAutofit fontScale="90000"/>
          </a:bodyPr>
          <a:lstStyle/>
          <a:p>
            <a:pPr algn="just"/>
            <a:r>
              <a:rPr lang="en-US" dirty="0">
                <a:latin typeface="Amasis MT Pro Black" panose="02040A04050005020304" pitchFamily="18" charset="0"/>
              </a:rPr>
              <a:t>56. Which task is appropriate for an outcome that demonstrate research writing?</a:t>
            </a:r>
          </a:p>
        </p:txBody>
      </p:sp>
      <p:sp>
        <p:nvSpPr>
          <p:cNvPr id="3" name="Content Placeholder 2"/>
          <p:cNvSpPr>
            <a:spLocks noGrp="1"/>
          </p:cNvSpPr>
          <p:nvPr>
            <p:ph idx="1"/>
          </p:nvPr>
        </p:nvSpPr>
        <p:spPr>
          <a:xfrm>
            <a:off x="838200" y="3332479"/>
            <a:ext cx="10515600" cy="2844483"/>
          </a:xfrm>
        </p:spPr>
        <p:txBody>
          <a:bodyPr>
            <a:normAutofit/>
          </a:bodyPr>
          <a:lstStyle/>
          <a:p>
            <a:pPr marL="0" indent="0" algn="just">
              <a:buNone/>
            </a:pPr>
            <a:r>
              <a:rPr lang="en-US" sz="4000" dirty="0">
                <a:latin typeface="Amasis MT Pro" panose="02040504050005020304" pitchFamily="18" charset="0"/>
              </a:rPr>
              <a:t>a. research data gathering</a:t>
            </a:r>
          </a:p>
          <a:p>
            <a:pPr marL="0" indent="0" algn="just">
              <a:buNone/>
            </a:pPr>
            <a:r>
              <a:rPr lang="en-US" sz="4000" dirty="0">
                <a:latin typeface="Amasis MT Pro" panose="02040504050005020304" pitchFamily="18" charset="0"/>
              </a:rPr>
              <a:t>b. research definition of terms</a:t>
            </a:r>
          </a:p>
          <a:p>
            <a:pPr marL="0" indent="0" algn="just">
              <a:buNone/>
            </a:pPr>
            <a:r>
              <a:rPr lang="en-US" sz="4000" dirty="0">
                <a:latin typeface="Amasis MT Pro" panose="02040504050005020304" pitchFamily="18" charset="0"/>
              </a:rPr>
              <a:t>c. research question formulation</a:t>
            </a:r>
          </a:p>
          <a:p>
            <a:pPr marL="0" indent="0" algn="just">
              <a:buNone/>
            </a:pPr>
            <a:r>
              <a:rPr lang="en-US" sz="4000" dirty="0">
                <a:latin typeface="Amasis MT Pro" panose="02040504050005020304" pitchFamily="18" charset="0"/>
              </a:rPr>
              <a:t>d. research project report</a:t>
            </a:r>
          </a:p>
        </p:txBody>
      </p:sp>
      <p:pic>
        <p:nvPicPr>
          <p:cNvPr id="4" name="Graphic 3" descr="Checkmark with solid fill">
            <a:extLst>
              <a:ext uri="{FF2B5EF4-FFF2-40B4-BE49-F238E27FC236}">
                <a16:creationId xmlns:a16="http://schemas.microsoft.com/office/drawing/2014/main" id="{3CEBFE42-31A7-0A4F-9FC2-5152623A32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3040" y="51282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434" name="Picture 2" descr="Diagram&#10;&#10;Description automatically generated">
            <a:extLst>
              <a:ext uri="{FF2B5EF4-FFF2-40B4-BE49-F238E27FC236}">
                <a16:creationId xmlns:a16="http://schemas.microsoft.com/office/drawing/2014/main" id="{F331748D-2240-C0EB-B44C-0EF111D19A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22916" y="643466"/>
            <a:ext cx="834616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4312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517525"/>
            <a:ext cx="10515600" cy="1325563"/>
          </a:xfrm>
        </p:spPr>
        <p:txBody>
          <a:bodyPr/>
          <a:lstStyle/>
          <a:p>
            <a:pPr algn="just"/>
            <a:r>
              <a:rPr lang="en-US" dirty="0">
                <a:latin typeface="Amasis MT Pro Black" panose="02040A04050005020304" pitchFamily="18" charset="0"/>
              </a:rPr>
              <a:t>57. What does evidence-based practice imply?</a:t>
            </a:r>
          </a:p>
        </p:txBody>
      </p:sp>
      <p:sp>
        <p:nvSpPr>
          <p:cNvPr id="3" name="Content Placeholder 2"/>
          <p:cNvSpPr>
            <a:spLocks noGrp="1"/>
          </p:cNvSpPr>
          <p:nvPr>
            <p:ph idx="1"/>
          </p:nvPr>
        </p:nvSpPr>
        <p:spPr>
          <a:xfrm>
            <a:off x="838200" y="2506662"/>
            <a:ext cx="10515600" cy="3304858"/>
          </a:xfrm>
        </p:spPr>
        <p:txBody>
          <a:bodyPr>
            <a:normAutofit/>
          </a:bodyPr>
          <a:lstStyle/>
          <a:p>
            <a:pPr marL="0" indent="0" algn="just">
              <a:buNone/>
            </a:pPr>
            <a:r>
              <a:rPr lang="en-US" dirty="0">
                <a:latin typeface="Amasis MT Pro" panose="02040504050005020304" pitchFamily="18" charset="0"/>
              </a:rPr>
              <a:t>a. base your intended research on a list of past researches</a:t>
            </a:r>
          </a:p>
          <a:p>
            <a:pPr marL="0" indent="0" algn="just">
              <a:buNone/>
            </a:pPr>
            <a:r>
              <a:rPr lang="en-US" dirty="0">
                <a:latin typeface="Amasis MT Pro" panose="02040504050005020304" pitchFamily="18" charset="0"/>
              </a:rPr>
              <a:t>b. instructional practice must be supported by rigorous research findings</a:t>
            </a:r>
          </a:p>
          <a:p>
            <a:pPr marL="0" indent="0" algn="just">
              <a:buNone/>
            </a:pPr>
            <a:r>
              <a:rPr lang="en-US" dirty="0">
                <a:latin typeface="Amasis MT Pro" panose="02040504050005020304" pitchFamily="18" charset="0"/>
              </a:rPr>
              <a:t>c. research is a criterion for teacher promotion</a:t>
            </a:r>
          </a:p>
          <a:p>
            <a:pPr marL="0" indent="0" algn="just">
              <a:buNone/>
            </a:pPr>
            <a:r>
              <a:rPr lang="en-US" dirty="0">
                <a:latin typeface="Amasis MT Pro" panose="02040504050005020304" pitchFamily="18" charset="0"/>
              </a:rPr>
              <a:t>d. teachers are engaged in research</a:t>
            </a:r>
          </a:p>
        </p:txBody>
      </p:sp>
      <p:pic>
        <p:nvPicPr>
          <p:cNvPr id="4" name="Graphic 3" descr="Checkmark with solid fill">
            <a:extLst>
              <a:ext uri="{FF2B5EF4-FFF2-40B4-BE49-F238E27FC236}">
                <a16:creationId xmlns:a16="http://schemas.microsoft.com/office/drawing/2014/main" id="{12B91187-EA28-0F71-FB60-0CBF09C6D8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53920" y="31369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fontScale="55000" lnSpcReduction="20000"/>
          </a:bodyPr>
          <a:lstStyle/>
          <a:p>
            <a:pPr marL="0" indent="0" algn="just">
              <a:buNone/>
            </a:pPr>
            <a:r>
              <a:rPr lang="en-US" sz="6000" b="1" dirty="0"/>
              <a:t>Evidence-based practices</a:t>
            </a:r>
            <a:r>
              <a:rPr lang="en-US" sz="6000" dirty="0"/>
              <a:t> in education are the same.  They are backed by rigorous, high-standard research, replicated with positive outcomes and backed by their effects of student outcomes.  EBPs take the guess work out of teaching by providing specific approaches and programs that improve student performance.  There is frustration in teaching when you cannot find a way to help your student learn.  You try one thing and then another and another and they are not having positive outcomes for your student.  EBPs have proven outcomes on students’ performance and can make finding and implementing an effective practice less frustrating.</a:t>
            </a:r>
            <a:endParaRPr lang="en-PH" sz="6000" dirty="0"/>
          </a:p>
        </p:txBody>
      </p:sp>
    </p:spTree>
    <p:extLst>
      <p:ext uri="{BB962C8B-B14F-4D97-AF65-F5344CB8AC3E}">
        <p14:creationId xmlns:p14="http://schemas.microsoft.com/office/powerpoint/2010/main" val="33560044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781685"/>
            <a:ext cx="10515600" cy="2032635"/>
          </a:xfrm>
        </p:spPr>
        <p:txBody>
          <a:bodyPr>
            <a:normAutofit/>
          </a:bodyPr>
          <a:lstStyle/>
          <a:p>
            <a:pPr algn="just"/>
            <a:r>
              <a:rPr lang="en-US" dirty="0">
                <a:latin typeface="Amasis MT Pro Black" panose="02040A04050005020304" pitchFamily="18" charset="0"/>
              </a:rPr>
              <a:t>58. What is the descriptor for a numerical grade of 80 as level of proficiency?</a:t>
            </a:r>
          </a:p>
        </p:txBody>
      </p:sp>
      <p:sp>
        <p:nvSpPr>
          <p:cNvPr id="3" name="Content Placeholder 2"/>
          <p:cNvSpPr>
            <a:spLocks noGrp="1"/>
          </p:cNvSpPr>
          <p:nvPr>
            <p:ph idx="1"/>
          </p:nvPr>
        </p:nvSpPr>
        <p:spPr>
          <a:xfrm>
            <a:off x="838200" y="3414712"/>
            <a:ext cx="10515600" cy="2661603"/>
          </a:xfrm>
        </p:spPr>
        <p:txBody>
          <a:bodyPr>
            <a:normAutofit lnSpcReduction="10000"/>
          </a:bodyPr>
          <a:lstStyle/>
          <a:p>
            <a:pPr marL="0" indent="0">
              <a:buNone/>
            </a:pPr>
            <a:r>
              <a:rPr lang="en-US" sz="4000" dirty="0"/>
              <a:t>a. satisfactory</a:t>
            </a:r>
          </a:p>
          <a:p>
            <a:pPr marL="0" indent="0">
              <a:buNone/>
            </a:pPr>
            <a:r>
              <a:rPr lang="en-US" sz="4000" dirty="0"/>
              <a:t>b. advanced</a:t>
            </a:r>
          </a:p>
          <a:p>
            <a:pPr marL="0" indent="0">
              <a:buNone/>
            </a:pPr>
            <a:r>
              <a:rPr lang="en-US" sz="4000" dirty="0"/>
              <a:t>c. very satisfactory</a:t>
            </a:r>
          </a:p>
          <a:p>
            <a:pPr marL="0" indent="0">
              <a:buNone/>
            </a:pPr>
            <a:r>
              <a:rPr lang="en-US" sz="4000" dirty="0"/>
              <a:t>d. outstanding</a:t>
            </a:r>
          </a:p>
        </p:txBody>
      </p:sp>
      <p:pic>
        <p:nvPicPr>
          <p:cNvPr id="4" name="Graphic 3" descr="Checkmark with solid fill">
            <a:extLst>
              <a:ext uri="{FF2B5EF4-FFF2-40B4-BE49-F238E27FC236}">
                <a16:creationId xmlns:a16="http://schemas.microsoft.com/office/drawing/2014/main" id="{C5767423-CB8B-5E3A-D1C3-9D8CB2BA81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0" y="3055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458" name="Picture 2" descr="DepEd K to 12 Grading System Steps for Computing Grades - TeacherPH">
            <a:extLst>
              <a:ext uri="{FF2B5EF4-FFF2-40B4-BE49-F238E27FC236}">
                <a16:creationId xmlns:a16="http://schemas.microsoft.com/office/drawing/2014/main" id="{4A2EE22D-8547-1675-6753-F73DBE2BAAA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847765"/>
            <a:ext cx="10905066" cy="3162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5755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822325"/>
            <a:ext cx="10515600" cy="1588135"/>
          </a:xfrm>
        </p:spPr>
        <p:txBody>
          <a:bodyPr>
            <a:normAutofit fontScale="90000"/>
          </a:bodyPr>
          <a:lstStyle/>
          <a:p>
            <a:pPr algn="just"/>
            <a:r>
              <a:rPr lang="en-US" dirty="0">
                <a:latin typeface="Amasis MT Pro Black" panose="02040A04050005020304" pitchFamily="18" charset="0"/>
              </a:rPr>
              <a:t>59. When is it best for teacher Anna to set up classroom routines, e.g., passing of paper, seeking permission in class, etc.?</a:t>
            </a:r>
          </a:p>
        </p:txBody>
      </p:sp>
      <p:sp>
        <p:nvSpPr>
          <p:cNvPr id="3" name="Content Placeholder 2"/>
          <p:cNvSpPr>
            <a:spLocks noGrp="1"/>
          </p:cNvSpPr>
          <p:nvPr>
            <p:ph idx="1"/>
          </p:nvPr>
        </p:nvSpPr>
        <p:spPr>
          <a:xfrm>
            <a:off x="756920" y="3220720"/>
            <a:ext cx="10515600" cy="2600960"/>
          </a:xfrm>
        </p:spPr>
        <p:txBody>
          <a:bodyPr>
            <a:normAutofit lnSpcReduction="10000"/>
          </a:bodyPr>
          <a:lstStyle/>
          <a:p>
            <a:pPr marL="0" indent="0">
              <a:buNone/>
            </a:pPr>
            <a:r>
              <a:rPr lang="en-US" sz="4000" dirty="0"/>
              <a:t>a. at the end of the year</a:t>
            </a:r>
          </a:p>
          <a:p>
            <a:pPr marL="0" indent="0">
              <a:buNone/>
            </a:pPr>
            <a:r>
              <a:rPr lang="en-US" sz="4000" dirty="0"/>
              <a:t>b. in the middle of the year</a:t>
            </a:r>
          </a:p>
          <a:p>
            <a:pPr marL="0" indent="0">
              <a:buNone/>
            </a:pPr>
            <a:r>
              <a:rPr lang="en-US" sz="4000" dirty="0"/>
              <a:t>c. at start of every class</a:t>
            </a:r>
          </a:p>
          <a:p>
            <a:pPr marL="0" indent="0">
              <a:buNone/>
            </a:pPr>
            <a:r>
              <a:rPr lang="en-US" sz="4000" dirty="0"/>
              <a:t>d. at the start of the year</a:t>
            </a:r>
          </a:p>
        </p:txBody>
      </p:sp>
      <p:pic>
        <p:nvPicPr>
          <p:cNvPr id="4" name="Graphic 3" descr="Checkmark with solid fill">
            <a:extLst>
              <a:ext uri="{FF2B5EF4-FFF2-40B4-BE49-F238E27FC236}">
                <a16:creationId xmlns:a16="http://schemas.microsoft.com/office/drawing/2014/main" id="{A1EE5C33-8DC5-02FD-82E5-24202DBA37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4720" y="4721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482" name="Picture 2" descr="Routines &amp; Procedures - My Classroom Management Plan">
            <a:extLst>
              <a:ext uri="{FF2B5EF4-FFF2-40B4-BE49-F238E27FC236}">
                <a16:creationId xmlns:a16="http://schemas.microsoft.com/office/drawing/2014/main" id="{E20CE96B-B15D-BE3B-21B1-B7519706EE7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27741" y="643466"/>
            <a:ext cx="413651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83225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966085"/>
          </a:xfrm>
        </p:spPr>
        <p:txBody>
          <a:bodyPr>
            <a:noAutofit/>
          </a:bodyPr>
          <a:lstStyle/>
          <a:p>
            <a:r>
              <a:rPr lang="en-US" sz="3200" dirty="0">
                <a:latin typeface="Amasis MT Pro Black" panose="02040A04050005020304" pitchFamily="18" charset="0"/>
              </a:rPr>
              <a:t>60. Which is true of a constructivist teaching learning process?</a:t>
            </a:r>
            <a:br>
              <a:rPr lang="en-US" sz="3200" dirty="0">
                <a:latin typeface="Amasis MT Pro Black" panose="02040A04050005020304" pitchFamily="18" charset="0"/>
              </a:rPr>
            </a:br>
            <a:r>
              <a:rPr lang="en-US" sz="3200" dirty="0">
                <a:latin typeface="Amasis MT Pro Black" panose="02040A04050005020304" pitchFamily="18" charset="0"/>
              </a:rPr>
              <a:t>I.  	based on students’ questions and interests</a:t>
            </a:r>
            <a:br>
              <a:rPr lang="en-US" sz="3200" dirty="0">
                <a:latin typeface="Amasis MT Pro Black" panose="02040A04050005020304" pitchFamily="18" charset="0"/>
              </a:rPr>
            </a:br>
            <a:r>
              <a:rPr lang="en-US" sz="3200" dirty="0">
                <a:latin typeface="Amasis MT Pro Black" panose="02040A04050005020304" pitchFamily="18" charset="0"/>
              </a:rPr>
              <a:t>II. 	interactive</a:t>
            </a:r>
            <a:br>
              <a:rPr lang="en-US" sz="3200" dirty="0">
                <a:latin typeface="Amasis MT Pro Black" panose="02040A04050005020304" pitchFamily="18" charset="0"/>
              </a:rPr>
            </a:br>
            <a:r>
              <a:rPr lang="en-US" sz="3200" dirty="0">
                <a:latin typeface="Amasis MT Pro Black" panose="02040A04050005020304" pitchFamily="18" charset="0"/>
              </a:rPr>
              <a:t>III. 	dialogue</a:t>
            </a:r>
            <a:br>
              <a:rPr lang="en-US" sz="3200" dirty="0">
                <a:latin typeface="Amasis MT Pro Black" panose="02040A04050005020304" pitchFamily="18" charset="0"/>
              </a:rPr>
            </a:br>
            <a:r>
              <a:rPr lang="en-US" sz="3200" dirty="0">
                <a:latin typeface="Amasis MT Pro Black" panose="02040A04050005020304" pitchFamily="18" charset="0"/>
              </a:rPr>
              <a:t>IV. 	group work</a:t>
            </a:r>
          </a:p>
        </p:txBody>
      </p:sp>
      <p:sp>
        <p:nvSpPr>
          <p:cNvPr id="3" name="Content Placeholder 2"/>
          <p:cNvSpPr>
            <a:spLocks noGrp="1"/>
          </p:cNvSpPr>
          <p:nvPr>
            <p:ph idx="1"/>
          </p:nvPr>
        </p:nvSpPr>
        <p:spPr>
          <a:xfrm>
            <a:off x="838200" y="3587115"/>
            <a:ext cx="10515600" cy="2590165"/>
          </a:xfrm>
        </p:spPr>
        <p:txBody>
          <a:bodyPr>
            <a:normAutofit/>
          </a:bodyPr>
          <a:lstStyle/>
          <a:p>
            <a:pPr marL="0" indent="0">
              <a:buNone/>
            </a:pPr>
            <a:r>
              <a:rPr lang="en-US" sz="3600" dirty="0">
                <a:latin typeface="Amasis MT Pro" panose="02040504050005020304" pitchFamily="18" charset="0"/>
              </a:rPr>
              <a:t>a. II and III</a:t>
            </a:r>
          </a:p>
          <a:p>
            <a:pPr marL="0" indent="0">
              <a:buNone/>
            </a:pPr>
            <a:r>
              <a:rPr lang="en-US" sz="3600" dirty="0">
                <a:latin typeface="Amasis MT Pro" panose="02040504050005020304" pitchFamily="18" charset="0"/>
              </a:rPr>
              <a:t>b. I and IV</a:t>
            </a:r>
          </a:p>
          <a:p>
            <a:pPr marL="0" indent="0">
              <a:buNone/>
            </a:pPr>
            <a:r>
              <a:rPr lang="en-US" sz="3600" dirty="0">
                <a:latin typeface="Amasis MT Pro" panose="02040504050005020304" pitchFamily="18" charset="0"/>
              </a:rPr>
              <a:t>c. I and II</a:t>
            </a:r>
          </a:p>
          <a:p>
            <a:pPr marL="0" indent="0">
              <a:buNone/>
            </a:pPr>
            <a:r>
              <a:rPr lang="en-US" sz="3600" dirty="0">
                <a:latin typeface="Amasis MT Pro" panose="02040504050005020304" pitchFamily="18" charset="0"/>
              </a:rPr>
              <a:t>d. I, II, III and IV</a:t>
            </a:r>
          </a:p>
        </p:txBody>
      </p:sp>
      <p:pic>
        <p:nvPicPr>
          <p:cNvPr id="4" name="Graphic 3" descr="Checkmark with solid fill">
            <a:extLst>
              <a:ext uri="{FF2B5EF4-FFF2-40B4-BE49-F238E27FC236}">
                <a16:creationId xmlns:a16="http://schemas.microsoft.com/office/drawing/2014/main" id="{4A354DC8-6236-71D4-11F8-D0DB5D8996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07840" y="5138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506" name="Picture 2" descr="Constructivism – Instructional Coaches Corner">
            <a:extLst>
              <a:ext uri="{FF2B5EF4-FFF2-40B4-BE49-F238E27FC236}">
                <a16:creationId xmlns:a16="http://schemas.microsoft.com/office/drawing/2014/main" id="{65E366AA-2B63-9AE6-A8C2-7DDF9A5295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16895" y="643466"/>
            <a:ext cx="575820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63178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3125"/>
            <a:ext cx="10515600" cy="1325563"/>
          </a:xfrm>
        </p:spPr>
        <p:txBody>
          <a:bodyPr>
            <a:normAutofit fontScale="90000"/>
          </a:bodyPr>
          <a:lstStyle/>
          <a:p>
            <a:pPr algn="just"/>
            <a:r>
              <a:rPr lang="en-US" dirty="0">
                <a:latin typeface="Amasis MT Pro Black" panose="02040A04050005020304" pitchFamily="18" charset="0"/>
              </a:rPr>
              <a:t>61. When will parents find reporting of grades of their children meaningful?</a:t>
            </a:r>
          </a:p>
        </p:txBody>
      </p:sp>
      <p:sp>
        <p:nvSpPr>
          <p:cNvPr id="3" name="Content Placeholder 2"/>
          <p:cNvSpPr>
            <a:spLocks noGrp="1"/>
          </p:cNvSpPr>
          <p:nvPr>
            <p:ph idx="1"/>
          </p:nvPr>
        </p:nvSpPr>
        <p:spPr>
          <a:xfrm>
            <a:off x="746760" y="3084671"/>
            <a:ext cx="10515600" cy="3149283"/>
          </a:xfrm>
        </p:spPr>
        <p:txBody>
          <a:bodyPr>
            <a:normAutofit/>
          </a:bodyPr>
          <a:lstStyle/>
          <a:p>
            <a:pPr marL="0" indent="0">
              <a:buNone/>
            </a:pPr>
            <a:r>
              <a:rPr lang="en-US" sz="3600" dirty="0">
                <a:latin typeface="Amasis MT Pro" panose="02040504050005020304" pitchFamily="18" charset="0"/>
              </a:rPr>
              <a:t>a. by distributing grade report cards</a:t>
            </a:r>
          </a:p>
          <a:p>
            <a:pPr marL="0" indent="0">
              <a:buNone/>
            </a:pPr>
            <a:r>
              <a:rPr lang="en-US" sz="3600" dirty="0">
                <a:latin typeface="Amasis MT Pro" panose="02040504050005020304" pitchFamily="18" charset="0"/>
              </a:rPr>
              <a:t>b. by comparing grades of individual students</a:t>
            </a:r>
          </a:p>
          <a:p>
            <a:pPr marL="0" indent="0">
              <a:buNone/>
            </a:pPr>
            <a:r>
              <a:rPr lang="en-US" sz="3600" dirty="0">
                <a:latin typeface="Amasis MT Pro" panose="02040504050005020304" pitchFamily="18" charset="0"/>
              </a:rPr>
              <a:t>c. by telling parents the limitations of their children</a:t>
            </a:r>
          </a:p>
          <a:p>
            <a:pPr marL="0" indent="0">
              <a:buNone/>
            </a:pPr>
            <a:r>
              <a:rPr lang="en-US" sz="3600" dirty="0">
                <a:latin typeface="Amasis MT Pro" panose="02040504050005020304" pitchFamily="18" charset="0"/>
              </a:rPr>
              <a:t>d. by explaining grades and performance of students</a:t>
            </a:r>
          </a:p>
        </p:txBody>
      </p:sp>
      <p:pic>
        <p:nvPicPr>
          <p:cNvPr id="4" name="Graphic 3" descr="Checkmark with solid fill">
            <a:extLst>
              <a:ext uri="{FF2B5EF4-FFF2-40B4-BE49-F238E27FC236}">
                <a16:creationId xmlns:a16="http://schemas.microsoft.com/office/drawing/2014/main" id="{12787BD4-9567-C682-EAF6-1CA51A3C45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8040" y="4659312"/>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ACBF5-A16C-1314-1F74-F11AA4CCF318}"/>
              </a:ext>
            </a:extLst>
          </p:cNvPr>
          <p:cNvSpPr>
            <a:spLocks noGrp="1"/>
          </p:cNvSpPr>
          <p:nvPr>
            <p:ph idx="1"/>
          </p:nvPr>
        </p:nvSpPr>
        <p:spPr>
          <a:xfrm>
            <a:off x="767080" y="1253331"/>
            <a:ext cx="10515600" cy="4351338"/>
          </a:xfrm>
        </p:spPr>
        <p:txBody>
          <a:bodyPr>
            <a:normAutofit/>
          </a:bodyPr>
          <a:lstStyle/>
          <a:p>
            <a:pPr marL="0" indent="0" algn="just">
              <a:buNone/>
            </a:pPr>
            <a:r>
              <a:rPr lang="en-US" sz="4800" b="1" dirty="0"/>
              <a:t>Report cards</a:t>
            </a:r>
            <a:r>
              <a:rPr lang="en-US" sz="4800" dirty="0"/>
              <a:t> are a great way for parents to know how their child is performing in school. "The purpose of report cards is to convey information from the school to parents about a student's educational progress."(Friedman,1995)</a:t>
            </a:r>
            <a:endParaRPr lang="en-PH" sz="4800" dirty="0"/>
          </a:p>
        </p:txBody>
      </p:sp>
    </p:spTree>
    <p:extLst>
      <p:ext uri="{BB962C8B-B14F-4D97-AF65-F5344CB8AC3E}">
        <p14:creationId xmlns:p14="http://schemas.microsoft.com/office/powerpoint/2010/main" val="38040453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2805"/>
            <a:ext cx="10515600" cy="1851025"/>
          </a:xfrm>
        </p:spPr>
        <p:txBody>
          <a:bodyPr>
            <a:noAutofit/>
          </a:bodyPr>
          <a:lstStyle/>
          <a:p>
            <a:pPr algn="just"/>
            <a:r>
              <a:rPr lang="en-US" sz="3600" dirty="0">
                <a:latin typeface="Amasis MT Pro Black" panose="02040A04050005020304" pitchFamily="18" charset="0"/>
              </a:rPr>
              <a:t>62. At what level of Kohlberg’s stages of moral development is taxi driver Ed returning the wallet of a passenger who left it in his cab?</a:t>
            </a:r>
          </a:p>
        </p:txBody>
      </p:sp>
      <p:sp>
        <p:nvSpPr>
          <p:cNvPr id="3" name="Content Placeholder 2"/>
          <p:cNvSpPr>
            <a:spLocks noGrp="1"/>
          </p:cNvSpPr>
          <p:nvPr>
            <p:ph idx="1"/>
          </p:nvPr>
        </p:nvSpPr>
        <p:spPr>
          <a:xfrm>
            <a:off x="838200" y="3078480"/>
            <a:ext cx="10515600" cy="3098800"/>
          </a:xfrm>
        </p:spPr>
        <p:txBody>
          <a:bodyPr>
            <a:normAutofit/>
          </a:bodyPr>
          <a:lstStyle/>
          <a:p>
            <a:pPr marL="0" indent="0">
              <a:buNone/>
            </a:pPr>
            <a:r>
              <a:rPr lang="en-US" dirty="0">
                <a:latin typeface="Amasis MT Pro" panose="02040504050005020304" pitchFamily="18" charset="0"/>
              </a:rPr>
              <a:t>a. preconventional for the reward money</a:t>
            </a:r>
          </a:p>
          <a:p>
            <a:pPr marL="0" indent="0">
              <a:buNone/>
            </a:pPr>
            <a:r>
              <a:rPr lang="en-US" dirty="0">
                <a:latin typeface="Amasis MT Pro" panose="02040504050005020304" pitchFamily="18" charset="0"/>
              </a:rPr>
              <a:t>b. preconventional for fear of punishment</a:t>
            </a:r>
          </a:p>
          <a:p>
            <a:pPr marL="0" indent="0">
              <a:buNone/>
            </a:pPr>
            <a:r>
              <a:rPr lang="en-US" dirty="0">
                <a:latin typeface="Amasis MT Pro" panose="02040504050005020304" pitchFamily="18" charset="0"/>
              </a:rPr>
              <a:t>c. conventional for social approval of what other people will say</a:t>
            </a:r>
          </a:p>
          <a:p>
            <a:pPr marL="0" indent="0">
              <a:buNone/>
            </a:pPr>
            <a:r>
              <a:rPr lang="en-US" dirty="0">
                <a:latin typeface="Amasis MT Pro" panose="02040504050005020304" pitchFamily="18" charset="0"/>
              </a:rPr>
              <a:t>d. post-conventional for the common good</a:t>
            </a:r>
          </a:p>
        </p:txBody>
      </p:sp>
      <p:pic>
        <p:nvPicPr>
          <p:cNvPr id="4" name="Graphic 3" descr="Checkmark with solid fill">
            <a:extLst>
              <a:ext uri="{FF2B5EF4-FFF2-40B4-BE49-F238E27FC236}">
                <a16:creationId xmlns:a16="http://schemas.microsoft.com/office/drawing/2014/main" id="{F74C44B6-CC71-DC7E-5D59-3E892AAB7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7760" y="43053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530" name="Picture 2" descr="Kohlberg's Theory of Moral Development | Cleverism">
            <a:extLst>
              <a:ext uri="{FF2B5EF4-FFF2-40B4-BE49-F238E27FC236}">
                <a16:creationId xmlns:a16="http://schemas.microsoft.com/office/drawing/2014/main" id="{DA56A01F-A733-B9ED-7832-6F069918F0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64075" y="643466"/>
            <a:ext cx="746385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4100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1045845"/>
            <a:ext cx="10515600" cy="1325563"/>
          </a:xfrm>
        </p:spPr>
        <p:txBody>
          <a:bodyPr>
            <a:normAutofit fontScale="90000"/>
          </a:bodyPr>
          <a:lstStyle/>
          <a:p>
            <a:pPr algn="just"/>
            <a:r>
              <a:rPr lang="en-US" dirty="0">
                <a:latin typeface="Amasis MT Pro Black" panose="02040A04050005020304" pitchFamily="18" charset="0"/>
              </a:rPr>
              <a:t>63. What cognitive process is required in writing a personality profile of a fellow classmate?</a:t>
            </a:r>
          </a:p>
        </p:txBody>
      </p:sp>
      <p:sp>
        <p:nvSpPr>
          <p:cNvPr id="3" name="Content Placeholder 2"/>
          <p:cNvSpPr>
            <a:spLocks noGrp="1"/>
          </p:cNvSpPr>
          <p:nvPr>
            <p:ph idx="1"/>
          </p:nvPr>
        </p:nvSpPr>
        <p:spPr>
          <a:xfrm>
            <a:off x="716280" y="3064351"/>
            <a:ext cx="10515600" cy="2844483"/>
          </a:xfrm>
        </p:spPr>
        <p:txBody>
          <a:bodyPr>
            <a:normAutofit/>
          </a:bodyPr>
          <a:lstStyle/>
          <a:p>
            <a:pPr marL="0" indent="0">
              <a:buNone/>
            </a:pPr>
            <a:r>
              <a:rPr lang="en-US" sz="4000" dirty="0">
                <a:latin typeface="Amasis MT Pro" panose="02040504050005020304" pitchFamily="18" charset="0"/>
              </a:rPr>
              <a:t>a. creating</a:t>
            </a:r>
          </a:p>
          <a:p>
            <a:pPr marL="0" indent="0">
              <a:buNone/>
            </a:pPr>
            <a:r>
              <a:rPr lang="en-US" sz="4000" dirty="0">
                <a:latin typeface="Amasis MT Pro" panose="02040504050005020304" pitchFamily="18" charset="0"/>
              </a:rPr>
              <a:t>b. applying</a:t>
            </a:r>
          </a:p>
          <a:p>
            <a:pPr marL="0" indent="0">
              <a:buNone/>
            </a:pPr>
            <a:r>
              <a:rPr lang="en-US" sz="4000" dirty="0">
                <a:latin typeface="Amasis MT Pro" panose="02040504050005020304" pitchFamily="18" charset="0"/>
              </a:rPr>
              <a:t>c. recalling</a:t>
            </a:r>
          </a:p>
          <a:p>
            <a:pPr marL="0" indent="0">
              <a:buNone/>
            </a:pPr>
            <a:r>
              <a:rPr lang="en-US" sz="4000" dirty="0">
                <a:latin typeface="Amasis MT Pro" panose="02040504050005020304" pitchFamily="18" charset="0"/>
              </a:rPr>
              <a:t>d. analyzing</a:t>
            </a:r>
          </a:p>
        </p:txBody>
      </p:sp>
      <p:pic>
        <p:nvPicPr>
          <p:cNvPr id="4" name="Graphic 3" descr="Checkmark with solid fill">
            <a:extLst>
              <a:ext uri="{FF2B5EF4-FFF2-40B4-BE49-F238E27FC236}">
                <a16:creationId xmlns:a16="http://schemas.microsoft.com/office/drawing/2014/main" id="{8862787D-7C71-2ABA-6CE6-33D460F401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68320" y="27711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62" name="Rectangle 2355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61" name="Freeform: Shape 2356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63" name="Rectangle 2356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5" name="Rectangle 2356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7" name="Freeform: Shape 2356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569" name="Isosceles Triangle 2356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4" name="Picture 2" descr="Bloom's Taxonomy | Center for Teaching | Vanderbilt University">
            <a:extLst>
              <a:ext uri="{FF2B5EF4-FFF2-40B4-BE49-F238E27FC236}">
                <a16:creationId xmlns:a16="http://schemas.microsoft.com/office/drawing/2014/main" id="{0F1F5F1B-5EF1-B775-F798-8EE5D687354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3942" y="643467"/>
            <a:ext cx="9904115"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3571" name="Isosceles Triangle 2357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13552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1365"/>
            <a:ext cx="10515600" cy="1325563"/>
          </a:xfrm>
        </p:spPr>
        <p:txBody>
          <a:bodyPr>
            <a:normAutofit fontScale="90000"/>
          </a:bodyPr>
          <a:lstStyle/>
          <a:p>
            <a:pPr algn="just"/>
            <a:r>
              <a:rPr lang="en-US" dirty="0">
                <a:latin typeface="Amasis MT Pro Black" panose="02040A04050005020304" pitchFamily="18" charset="0"/>
              </a:rPr>
              <a:t>64. What is meant by action research following a cyclical process?</a:t>
            </a:r>
          </a:p>
        </p:txBody>
      </p:sp>
      <p:sp>
        <p:nvSpPr>
          <p:cNvPr id="3" name="Content Placeholder 2"/>
          <p:cNvSpPr>
            <a:spLocks noGrp="1"/>
          </p:cNvSpPr>
          <p:nvPr>
            <p:ph idx="1"/>
          </p:nvPr>
        </p:nvSpPr>
        <p:spPr>
          <a:xfrm>
            <a:off x="838200" y="2560319"/>
            <a:ext cx="10515600" cy="3616643"/>
          </a:xfrm>
        </p:spPr>
        <p:txBody>
          <a:bodyPr>
            <a:normAutofit/>
          </a:bodyPr>
          <a:lstStyle/>
          <a:p>
            <a:pPr marL="0" indent="0">
              <a:buNone/>
            </a:pPr>
            <a:r>
              <a:rPr lang="en-US" sz="3600" dirty="0"/>
              <a:t>a. problems occur again and again like a cycle</a:t>
            </a:r>
          </a:p>
          <a:p>
            <a:pPr marL="0" indent="0">
              <a:buNone/>
            </a:pPr>
            <a:r>
              <a:rPr lang="en-US" sz="3600" dirty="0"/>
              <a:t>b. teachers form a circle during meetings</a:t>
            </a:r>
          </a:p>
          <a:p>
            <a:pPr marL="0" indent="0">
              <a:buNone/>
            </a:pPr>
            <a:r>
              <a:rPr lang="en-US" sz="3600" dirty="0"/>
              <a:t>c. the circle of participants change from time to time</a:t>
            </a:r>
          </a:p>
          <a:p>
            <a:pPr marL="0" indent="0">
              <a:buNone/>
            </a:pPr>
            <a:r>
              <a:rPr lang="en-US" sz="3600" dirty="0"/>
              <a:t>d. effort is continuing until problem is resolved</a:t>
            </a:r>
          </a:p>
          <a:p>
            <a:pPr marL="0" indent="0">
              <a:buNone/>
            </a:pPr>
            <a:endParaRPr lang="en-US" sz="3600" dirty="0"/>
          </a:p>
        </p:txBody>
      </p:sp>
      <p:pic>
        <p:nvPicPr>
          <p:cNvPr id="4" name="Graphic 3" descr="Checkmark with solid fill">
            <a:extLst>
              <a:ext uri="{FF2B5EF4-FFF2-40B4-BE49-F238E27FC236}">
                <a16:creationId xmlns:a16="http://schemas.microsoft.com/office/drawing/2014/main" id="{D7F0E61E-E54A-F880-7886-E658917DCC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1200" y="4122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578" name="Picture 2" descr="IDEA: Action research | SmartPrimaryEd">
            <a:extLst>
              <a:ext uri="{FF2B5EF4-FFF2-40B4-BE49-F238E27FC236}">
                <a16:creationId xmlns:a16="http://schemas.microsoft.com/office/drawing/2014/main" id="{512C8F41-34A9-0ABC-6D40-A4AA7E9304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52342" y="643466"/>
            <a:ext cx="7087316"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4588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1015365"/>
            <a:ext cx="10515600" cy="1325563"/>
          </a:xfrm>
        </p:spPr>
        <p:txBody>
          <a:bodyPr>
            <a:normAutofit fontScale="90000"/>
          </a:bodyPr>
          <a:lstStyle/>
          <a:p>
            <a:pPr algn="just"/>
            <a:r>
              <a:rPr lang="en-US" dirty="0">
                <a:latin typeface="Amasis MT Pro Black" panose="02040A04050005020304" pitchFamily="18" charset="0"/>
              </a:rPr>
              <a:t>65. During the COVID virtual learning, what is missed by learners?</a:t>
            </a:r>
          </a:p>
        </p:txBody>
      </p:sp>
      <p:sp>
        <p:nvSpPr>
          <p:cNvPr id="3" name="Content Placeholder 2"/>
          <p:cNvSpPr>
            <a:spLocks noGrp="1"/>
          </p:cNvSpPr>
          <p:nvPr>
            <p:ph idx="1"/>
          </p:nvPr>
        </p:nvSpPr>
        <p:spPr>
          <a:xfrm>
            <a:off x="838200" y="3007359"/>
            <a:ext cx="10515600" cy="3169603"/>
          </a:xfrm>
        </p:spPr>
        <p:txBody>
          <a:bodyPr>
            <a:normAutofit/>
          </a:bodyPr>
          <a:lstStyle/>
          <a:p>
            <a:pPr marL="0" indent="0">
              <a:buNone/>
            </a:pPr>
            <a:r>
              <a:rPr lang="en-US" sz="4000" dirty="0">
                <a:latin typeface="Amasis MT Pro" panose="02040504050005020304" pitchFamily="18" charset="0"/>
              </a:rPr>
              <a:t>a. cyber interchange</a:t>
            </a:r>
          </a:p>
          <a:p>
            <a:pPr marL="0" indent="0">
              <a:buNone/>
            </a:pPr>
            <a:r>
              <a:rPr lang="en-US" sz="4000" dirty="0">
                <a:latin typeface="Amasis MT Pro" panose="02040504050005020304" pitchFamily="18" charset="0"/>
              </a:rPr>
              <a:t>b. face-to-face teaching-learning</a:t>
            </a:r>
          </a:p>
          <a:p>
            <a:pPr marL="0" indent="0">
              <a:buNone/>
            </a:pPr>
            <a:r>
              <a:rPr lang="en-US" sz="4000" dirty="0">
                <a:latin typeface="Amasis MT Pro" panose="02040504050005020304" pitchFamily="18" charset="0"/>
              </a:rPr>
              <a:t>c. on-line instruction</a:t>
            </a:r>
          </a:p>
          <a:p>
            <a:pPr marL="0" indent="0">
              <a:buNone/>
            </a:pPr>
            <a:r>
              <a:rPr lang="en-US" sz="4000" dirty="0">
                <a:latin typeface="Amasis MT Pro" panose="02040504050005020304" pitchFamily="18" charset="0"/>
              </a:rPr>
              <a:t>d. virtual interaction</a:t>
            </a:r>
          </a:p>
        </p:txBody>
      </p:sp>
      <p:pic>
        <p:nvPicPr>
          <p:cNvPr id="4" name="Graphic 3" descr="Checkmark with solid fill">
            <a:extLst>
              <a:ext uri="{FF2B5EF4-FFF2-40B4-BE49-F238E27FC236}">
                <a16:creationId xmlns:a16="http://schemas.microsoft.com/office/drawing/2014/main" id="{BB1123C9-514B-DA6A-C87D-D882C7F657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55280" y="34290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602" name="Picture 2" descr="The Face-to-Face Model of Blended Learning Explained - ViewSonic Library">
            <a:extLst>
              <a:ext uri="{FF2B5EF4-FFF2-40B4-BE49-F238E27FC236}">
                <a16:creationId xmlns:a16="http://schemas.microsoft.com/office/drawing/2014/main" id="{370125AC-7881-E3A7-E473-28108291DE3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06243" y="643466"/>
            <a:ext cx="837951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0834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832485"/>
            <a:ext cx="10515600" cy="1325563"/>
          </a:xfrm>
        </p:spPr>
        <p:txBody>
          <a:bodyPr>
            <a:normAutofit fontScale="90000"/>
          </a:bodyPr>
          <a:lstStyle/>
          <a:p>
            <a:pPr algn="just"/>
            <a:r>
              <a:rPr lang="en-US" dirty="0">
                <a:latin typeface="Amasis MT Pro Black" panose="02040A04050005020304" pitchFamily="18" charset="0"/>
              </a:rPr>
              <a:t>66. Which of the following expresses spirituality among professional teachers?</a:t>
            </a:r>
          </a:p>
        </p:txBody>
      </p:sp>
      <p:sp>
        <p:nvSpPr>
          <p:cNvPr id="3" name="Content Placeholder 2"/>
          <p:cNvSpPr>
            <a:spLocks noGrp="1"/>
          </p:cNvSpPr>
          <p:nvPr>
            <p:ph idx="1"/>
          </p:nvPr>
        </p:nvSpPr>
        <p:spPr>
          <a:xfrm>
            <a:off x="838200" y="2793999"/>
            <a:ext cx="10515600" cy="3382963"/>
          </a:xfrm>
        </p:spPr>
        <p:txBody>
          <a:bodyPr/>
          <a:lstStyle/>
          <a:p>
            <a:pPr marL="0" indent="0">
              <a:buNone/>
            </a:pPr>
            <a:r>
              <a:rPr lang="en-US" dirty="0">
                <a:latin typeface="Amasis MT Pro" panose="02040504050005020304" pitchFamily="18" charset="0"/>
              </a:rPr>
              <a:t>a. advocacy for universal values, e.g., love, services, freedom, etc.</a:t>
            </a:r>
          </a:p>
          <a:p>
            <a:pPr marL="0" indent="0">
              <a:buNone/>
            </a:pPr>
            <a:r>
              <a:rPr lang="en-US" dirty="0">
                <a:latin typeface="Amasis MT Pro" panose="02040504050005020304" pitchFamily="18" charset="0"/>
              </a:rPr>
              <a:t>b. performing civic duties, e.g., voting on election day</a:t>
            </a:r>
          </a:p>
          <a:p>
            <a:pPr marL="0" indent="0">
              <a:buNone/>
            </a:pPr>
            <a:r>
              <a:rPr lang="en-US" dirty="0">
                <a:latin typeface="Amasis MT Pro" panose="02040504050005020304" pitchFamily="18" charset="0"/>
              </a:rPr>
              <a:t>c. regularity in church duties e.g., mass, rosary, praying, etc.</a:t>
            </a:r>
          </a:p>
          <a:p>
            <a:pPr marL="0" indent="0">
              <a:buNone/>
            </a:pPr>
            <a:r>
              <a:rPr lang="en-US" dirty="0">
                <a:latin typeface="Amasis MT Pro" panose="02040504050005020304" pitchFamily="18" charset="0"/>
              </a:rPr>
              <a:t>d. conformity with school rules e.g., uniform dress attire</a:t>
            </a:r>
          </a:p>
        </p:txBody>
      </p:sp>
      <p:pic>
        <p:nvPicPr>
          <p:cNvPr id="4" name="Graphic 3" descr="Checkmark with solid fill">
            <a:extLst>
              <a:ext uri="{FF2B5EF4-FFF2-40B4-BE49-F238E27FC236}">
                <a16:creationId xmlns:a16="http://schemas.microsoft.com/office/drawing/2014/main" id="{24719D36-0B57-6DBD-036C-43374966F5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64520" y="2435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626" name="Picture 2" descr="What Is Spirituality? | Taking Charge of Your Health &amp; Wellbeing">
            <a:extLst>
              <a:ext uri="{FF2B5EF4-FFF2-40B4-BE49-F238E27FC236}">
                <a16:creationId xmlns:a16="http://schemas.microsoft.com/office/drawing/2014/main" id="{767996D5-2158-6956-4202-EE49F90D94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69508" y="643466"/>
            <a:ext cx="905298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1640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2485"/>
            <a:ext cx="10515600" cy="1851660"/>
          </a:xfrm>
        </p:spPr>
        <p:txBody>
          <a:bodyPr>
            <a:normAutofit fontScale="90000"/>
          </a:bodyPr>
          <a:lstStyle/>
          <a:p>
            <a:pPr algn="just"/>
            <a:r>
              <a:rPr lang="en-US" dirty="0">
                <a:latin typeface="Amasis MT Pro Black" panose="02040A04050005020304" pitchFamily="18" charset="0"/>
              </a:rPr>
              <a:t>67. In the 4 factors of Bandura’s social learning theory, what influence do teachers and parents have on the young?</a:t>
            </a:r>
          </a:p>
        </p:txBody>
      </p:sp>
      <p:sp>
        <p:nvSpPr>
          <p:cNvPr id="3" name="Content Placeholder 2"/>
          <p:cNvSpPr>
            <a:spLocks noGrp="1"/>
          </p:cNvSpPr>
          <p:nvPr>
            <p:ph idx="1"/>
          </p:nvPr>
        </p:nvSpPr>
        <p:spPr>
          <a:xfrm>
            <a:off x="838200" y="3352800"/>
            <a:ext cx="10515600" cy="2824480"/>
          </a:xfrm>
        </p:spPr>
        <p:txBody>
          <a:bodyPr>
            <a:normAutofit/>
          </a:bodyPr>
          <a:lstStyle/>
          <a:p>
            <a:pPr marL="0" indent="0">
              <a:buNone/>
            </a:pPr>
            <a:r>
              <a:rPr lang="en-US" sz="4000" dirty="0">
                <a:latin typeface="Amasis MT Pro" panose="02040504050005020304" pitchFamily="18" charset="0"/>
              </a:rPr>
              <a:t>a. social persuasion</a:t>
            </a:r>
          </a:p>
          <a:p>
            <a:pPr marL="0" indent="0">
              <a:buNone/>
            </a:pPr>
            <a:r>
              <a:rPr lang="en-US" sz="4000" dirty="0">
                <a:latin typeface="Amasis MT Pro" panose="02040504050005020304" pitchFamily="18" charset="0"/>
              </a:rPr>
              <a:t>b. mastery experience</a:t>
            </a:r>
          </a:p>
          <a:p>
            <a:pPr marL="0" indent="0">
              <a:buNone/>
            </a:pPr>
            <a:r>
              <a:rPr lang="en-US" sz="4000" dirty="0">
                <a:latin typeface="Amasis MT Pro" panose="02040504050005020304" pitchFamily="18" charset="0"/>
              </a:rPr>
              <a:t>c. emotional states</a:t>
            </a:r>
          </a:p>
          <a:p>
            <a:pPr marL="0" indent="0">
              <a:buNone/>
            </a:pPr>
            <a:r>
              <a:rPr lang="en-US" sz="4000" dirty="0">
                <a:latin typeface="Amasis MT Pro" panose="02040504050005020304" pitchFamily="18" charset="0"/>
              </a:rPr>
              <a:t>d. vicarious experience</a:t>
            </a:r>
          </a:p>
        </p:txBody>
      </p:sp>
      <p:pic>
        <p:nvPicPr>
          <p:cNvPr id="4" name="Graphic 3" descr="Checkmark with solid fill">
            <a:extLst>
              <a:ext uri="{FF2B5EF4-FFF2-40B4-BE49-F238E27FC236}">
                <a16:creationId xmlns:a16="http://schemas.microsoft.com/office/drawing/2014/main" id="{E32883DB-72BC-93C1-F43C-28AA0BC661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600" y="511111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650" name="Picture 2" descr="Bandura's Social Learning Theory in Education - Education Corner">
            <a:extLst>
              <a:ext uri="{FF2B5EF4-FFF2-40B4-BE49-F238E27FC236}">
                <a16:creationId xmlns:a16="http://schemas.microsoft.com/office/drawing/2014/main" id="{43E72238-2399-FDEE-AD3C-62EA43C0EEA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7700" y="643466"/>
            <a:ext cx="835660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01977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1685"/>
            <a:ext cx="10515600" cy="1325563"/>
          </a:xfrm>
        </p:spPr>
        <p:txBody>
          <a:bodyPr>
            <a:normAutofit fontScale="90000"/>
          </a:bodyPr>
          <a:lstStyle/>
          <a:p>
            <a:pPr algn="just"/>
            <a:r>
              <a:rPr lang="en-US" dirty="0">
                <a:latin typeface="Amasis MT Pro Black" panose="02040A04050005020304" pitchFamily="18" charset="0"/>
              </a:rPr>
              <a:t>68. In a multiple-choice test, what are the choices that correspond to the list of concepts?</a:t>
            </a:r>
          </a:p>
        </p:txBody>
      </p:sp>
      <p:sp>
        <p:nvSpPr>
          <p:cNvPr id="3" name="Content Placeholder 2"/>
          <p:cNvSpPr>
            <a:spLocks noGrp="1"/>
          </p:cNvSpPr>
          <p:nvPr>
            <p:ph idx="1"/>
          </p:nvPr>
        </p:nvSpPr>
        <p:spPr>
          <a:xfrm>
            <a:off x="838200" y="2905759"/>
            <a:ext cx="10515600" cy="3271203"/>
          </a:xfrm>
        </p:spPr>
        <p:txBody>
          <a:bodyPr>
            <a:normAutofit/>
          </a:bodyPr>
          <a:lstStyle/>
          <a:p>
            <a:pPr marL="0" indent="0">
              <a:buNone/>
            </a:pPr>
            <a:r>
              <a:rPr lang="en-US" sz="4000" dirty="0">
                <a:latin typeface="Amasis MT Pro" panose="02040504050005020304" pitchFamily="18" charset="0"/>
              </a:rPr>
              <a:t>a. decoys</a:t>
            </a:r>
          </a:p>
          <a:p>
            <a:pPr marL="0" indent="0">
              <a:buNone/>
            </a:pPr>
            <a:r>
              <a:rPr lang="en-US" sz="4000" dirty="0">
                <a:latin typeface="Amasis MT Pro" panose="02040504050005020304" pitchFamily="18" charset="0"/>
              </a:rPr>
              <a:t>b. contrasts </a:t>
            </a:r>
          </a:p>
          <a:p>
            <a:pPr marL="0" indent="0">
              <a:buNone/>
            </a:pPr>
            <a:r>
              <a:rPr lang="en-US" sz="4000" dirty="0">
                <a:latin typeface="Amasis MT Pro" panose="02040504050005020304" pitchFamily="18" charset="0"/>
              </a:rPr>
              <a:t>c. opposites</a:t>
            </a:r>
          </a:p>
          <a:p>
            <a:pPr marL="0" indent="0">
              <a:buNone/>
            </a:pPr>
            <a:r>
              <a:rPr lang="en-US" sz="4000" dirty="0">
                <a:latin typeface="Amasis MT Pro" panose="02040504050005020304" pitchFamily="18" charset="0"/>
              </a:rPr>
              <a:t>d. alternatives</a:t>
            </a:r>
          </a:p>
        </p:txBody>
      </p:sp>
      <p:pic>
        <p:nvPicPr>
          <p:cNvPr id="4" name="Graphic 3" descr="Checkmark with solid fill">
            <a:extLst>
              <a:ext uri="{FF2B5EF4-FFF2-40B4-BE49-F238E27FC236}">
                <a16:creationId xmlns:a16="http://schemas.microsoft.com/office/drawing/2014/main" id="{6C3FA5A2-238E-7B4F-05E2-6089E3BD08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3200" y="46913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674" name="Picture 2" descr="How do I craft a great multiple choice question? : CourseArc">
            <a:extLst>
              <a:ext uri="{FF2B5EF4-FFF2-40B4-BE49-F238E27FC236}">
                <a16:creationId xmlns:a16="http://schemas.microsoft.com/office/drawing/2014/main" id="{E28E17ED-3F67-F62D-A761-0EF1F0EBB52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55920" y="643466"/>
            <a:ext cx="5996874" cy="55710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9688038-ADE0-1D89-4EDB-F44AD55F01F2}"/>
              </a:ext>
            </a:extLst>
          </p:cNvPr>
          <p:cNvSpPr txBox="1"/>
          <p:nvPr/>
        </p:nvSpPr>
        <p:spPr>
          <a:xfrm>
            <a:off x="386080" y="705333"/>
            <a:ext cx="4622800" cy="5509200"/>
          </a:xfrm>
          <a:prstGeom prst="rect">
            <a:avLst/>
          </a:prstGeom>
          <a:noFill/>
        </p:spPr>
        <p:txBody>
          <a:bodyPr wrap="square" rtlCol="0">
            <a:spAutoFit/>
          </a:bodyPr>
          <a:lstStyle/>
          <a:p>
            <a:pPr algn="just"/>
            <a:r>
              <a:rPr lang="en-US" sz="3200" dirty="0"/>
              <a:t>A multiple-choice item consists of a problem, known as the stem, and a list of suggested solutions, known as alternatives. The alternatives consist of one correct or best alternative, which is the answer, and incorrect or inferior alternatives, known as distractors.</a:t>
            </a:r>
            <a:endParaRPr lang="en-PH" sz="3200" dirty="0"/>
          </a:p>
        </p:txBody>
      </p:sp>
    </p:spTree>
    <p:extLst>
      <p:ext uri="{BB962C8B-B14F-4D97-AF65-F5344CB8AC3E}">
        <p14:creationId xmlns:p14="http://schemas.microsoft.com/office/powerpoint/2010/main" val="255051339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86485"/>
            <a:ext cx="10515600" cy="1325563"/>
          </a:xfrm>
        </p:spPr>
        <p:txBody>
          <a:bodyPr>
            <a:normAutofit fontScale="90000"/>
          </a:bodyPr>
          <a:lstStyle/>
          <a:p>
            <a:pPr algn="just"/>
            <a:r>
              <a:rPr lang="en-US" dirty="0">
                <a:latin typeface="Amasis MT Pro Black" panose="02040A04050005020304" pitchFamily="18" charset="0"/>
              </a:rPr>
              <a:t>69. What is most important in monitoring progress of the curriculum?</a:t>
            </a:r>
          </a:p>
        </p:txBody>
      </p:sp>
      <p:sp>
        <p:nvSpPr>
          <p:cNvPr id="3" name="Content Placeholder 2"/>
          <p:cNvSpPr>
            <a:spLocks noGrp="1"/>
          </p:cNvSpPr>
          <p:nvPr>
            <p:ph idx="1"/>
          </p:nvPr>
        </p:nvSpPr>
        <p:spPr>
          <a:xfrm>
            <a:off x="838200" y="3352799"/>
            <a:ext cx="10515600" cy="2824163"/>
          </a:xfrm>
        </p:spPr>
        <p:txBody>
          <a:bodyPr/>
          <a:lstStyle/>
          <a:p>
            <a:pPr marL="0" indent="0">
              <a:buNone/>
            </a:pPr>
            <a:r>
              <a:rPr lang="en-US" dirty="0">
                <a:latin typeface="Amasis MT Pro" panose="02040504050005020304" pitchFamily="18" charset="0"/>
              </a:rPr>
              <a:t>a. observing if learning outcomes are accomplished</a:t>
            </a:r>
          </a:p>
          <a:p>
            <a:pPr marL="0" indent="0">
              <a:buNone/>
            </a:pPr>
            <a:r>
              <a:rPr lang="en-US" dirty="0">
                <a:latin typeface="Amasis MT Pro" panose="02040504050005020304" pitchFamily="18" charset="0"/>
              </a:rPr>
              <a:t>b. grading of project and assignment outputs</a:t>
            </a:r>
          </a:p>
          <a:p>
            <a:pPr marL="0" indent="0">
              <a:buNone/>
            </a:pPr>
            <a:r>
              <a:rPr lang="en-US" dirty="0">
                <a:latin typeface="Amasis MT Pro" panose="02040504050005020304" pitchFamily="18" charset="0"/>
              </a:rPr>
              <a:t>c. determining the outstanding teachers in the school</a:t>
            </a:r>
          </a:p>
          <a:p>
            <a:pPr marL="0" indent="0">
              <a:buNone/>
            </a:pPr>
            <a:r>
              <a:rPr lang="en-US" dirty="0">
                <a:latin typeface="Amasis MT Pro" panose="02040504050005020304" pitchFamily="18" charset="0"/>
              </a:rPr>
              <a:t>d. limiting absences of students and teachers</a:t>
            </a:r>
          </a:p>
        </p:txBody>
      </p:sp>
      <p:pic>
        <p:nvPicPr>
          <p:cNvPr id="4" name="Graphic 3" descr="Checkmark with solid fill">
            <a:extLst>
              <a:ext uri="{FF2B5EF4-FFF2-40B4-BE49-F238E27FC236}">
                <a16:creationId xmlns:a16="http://schemas.microsoft.com/office/drawing/2014/main" id="{5ACBB278-8EEB-D671-E8A6-B664A2943D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56320" y="2895599"/>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7" name="Rectangle 29702">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29708" name="Freeform: Shape 29704">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9698" name="Picture 2" descr="Curriculum monitoring">
            <a:extLst>
              <a:ext uri="{FF2B5EF4-FFF2-40B4-BE49-F238E27FC236}">
                <a16:creationId xmlns:a16="http://schemas.microsoft.com/office/drawing/2014/main" id="{F0781C48-6BE2-A24B-C78E-210A797944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42288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8485"/>
            <a:ext cx="10515600" cy="2215515"/>
          </a:xfrm>
        </p:spPr>
        <p:txBody>
          <a:bodyPr>
            <a:normAutofit fontScale="90000"/>
          </a:bodyPr>
          <a:lstStyle/>
          <a:p>
            <a:pPr algn="just"/>
            <a:r>
              <a:rPr lang="en-US" dirty="0">
                <a:latin typeface="Amasis MT Pro Black" panose="02040A04050005020304" pitchFamily="18" charset="0"/>
              </a:rPr>
              <a:t>70. What factor should teacher </a:t>
            </a:r>
            <a:r>
              <a:rPr lang="en-US" dirty="0" err="1">
                <a:latin typeface="Amasis MT Pro Black" panose="02040A04050005020304" pitchFamily="18" charset="0"/>
              </a:rPr>
              <a:t>Cess</a:t>
            </a:r>
            <a:r>
              <a:rPr lang="en-US" dirty="0">
                <a:latin typeface="Amasis MT Pro Black" panose="02040A04050005020304" pitchFamily="18" charset="0"/>
              </a:rPr>
              <a:t> be careful about when she is teaching in a school for children in a poverty-stricken slum area?</a:t>
            </a:r>
          </a:p>
        </p:txBody>
      </p:sp>
      <p:sp>
        <p:nvSpPr>
          <p:cNvPr id="3" name="Content Placeholder 2"/>
          <p:cNvSpPr>
            <a:spLocks noGrp="1"/>
          </p:cNvSpPr>
          <p:nvPr>
            <p:ph idx="1"/>
          </p:nvPr>
        </p:nvSpPr>
        <p:spPr>
          <a:xfrm>
            <a:off x="838200" y="3302000"/>
            <a:ext cx="10515600" cy="2875280"/>
          </a:xfrm>
        </p:spPr>
        <p:txBody>
          <a:bodyPr>
            <a:normAutofit/>
          </a:bodyPr>
          <a:lstStyle/>
          <a:p>
            <a:pPr marL="0" indent="0">
              <a:buNone/>
            </a:pPr>
            <a:r>
              <a:rPr lang="en-US" sz="4000" dirty="0">
                <a:latin typeface="Amasis MT Pro" panose="02040504050005020304" pitchFamily="18" charset="0"/>
              </a:rPr>
              <a:t>a. children’s beliefs</a:t>
            </a:r>
          </a:p>
          <a:p>
            <a:pPr marL="0" indent="0">
              <a:buNone/>
            </a:pPr>
            <a:r>
              <a:rPr lang="en-US" sz="4000" dirty="0">
                <a:latin typeface="Amasis MT Pro" panose="02040504050005020304" pitchFamily="18" charset="0"/>
              </a:rPr>
              <a:t>b. children’s socio-economic status</a:t>
            </a:r>
          </a:p>
          <a:p>
            <a:pPr marL="0" indent="0">
              <a:buNone/>
            </a:pPr>
            <a:r>
              <a:rPr lang="en-US" sz="4000" dirty="0">
                <a:latin typeface="Amasis MT Pro" panose="02040504050005020304" pitchFamily="18" charset="0"/>
              </a:rPr>
              <a:t>c. children’s ethnicity</a:t>
            </a:r>
          </a:p>
          <a:p>
            <a:pPr marL="0" indent="0">
              <a:buNone/>
            </a:pPr>
            <a:r>
              <a:rPr lang="en-US" sz="4000" dirty="0">
                <a:latin typeface="Amasis MT Pro" panose="02040504050005020304" pitchFamily="18" charset="0"/>
              </a:rPr>
              <a:t>d. children’s race</a:t>
            </a:r>
          </a:p>
        </p:txBody>
      </p:sp>
      <p:pic>
        <p:nvPicPr>
          <p:cNvPr id="4" name="Graphic 3" descr="Checkmark with solid fill">
            <a:extLst>
              <a:ext uri="{FF2B5EF4-FFF2-40B4-BE49-F238E27FC236}">
                <a16:creationId xmlns:a16="http://schemas.microsoft.com/office/drawing/2014/main" id="{EA836CCD-C7AE-CACD-0546-7710C62D53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12480" y="36855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7" name="Rectangle 30726">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30729" name="Freeform: Shape 3072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30722" name="Picture 2" descr="Socioeconomic status scales">
            <a:extLst>
              <a:ext uri="{FF2B5EF4-FFF2-40B4-BE49-F238E27FC236}">
                <a16:creationId xmlns:a16="http://schemas.microsoft.com/office/drawing/2014/main" id="{8A2118AD-E7BC-C69A-1768-4F3081C08DC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95288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431800"/>
            <a:ext cx="10515600" cy="2082800"/>
          </a:xfrm>
        </p:spPr>
        <p:txBody>
          <a:bodyPr>
            <a:normAutofit fontScale="90000"/>
          </a:bodyPr>
          <a:lstStyle/>
          <a:p>
            <a:pPr algn="just"/>
            <a:r>
              <a:rPr lang="en-US" dirty="0">
                <a:latin typeface="Amasis MT Pro Black" panose="02040A04050005020304" pitchFamily="18" charset="0"/>
              </a:rPr>
              <a:t>71. Which of the following has higher importance than the rest as to best practice of a professional teacher?</a:t>
            </a:r>
          </a:p>
        </p:txBody>
      </p:sp>
      <p:sp>
        <p:nvSpPr>
          <p:cNvPr id="3" name="Content Placeholder 2"/>
          <p:cNvSpPr>
            <a:spLocks noGrp="1"/>
          </p:cNvSpPr>
          <p:nvPr>
            <p:ph idx="1"/>
          </p:nvPr>
        </p:nvSpPr>
        <p:spPr>
          <a:xfrm>
            <a:off x="594360" y="2820036"/>
            <a:ext cx="10515600" cy="3180080"/>
          </a:xfrm>
        </p:spPr>
        <p:txBody>
          <a:bodyPr>
            <a:normAutofit/>
          </a:bodyPr>
          <a:lstStyle/>
          <a:p>
            <a:pPr marL="0" indent="0">
              <a:buNone/>
            </a:pPr>
            <a:r>
              <a:rPr lang="en-US" sz="4000" dirty="0">
                <a:latin typeface="Amasis MT Pro" panose="02040504050005020304" pitchFamily="18" charset="0"/>
              </a:rPr>
              <a:t>a. competency supported by continuing growth</a:t>
            </a:r>
          </a:p>
          <a:p>
            <a:pPr marL="0" indent="0">
              <a:buNone/>
            </a:pPr>
            <a:r>
              <a:rPr lang="en-US" sz="4000" dirty="0">
                <a:latin typeface="Amasis MT Pro" panose="02040504050005020304" pitchFamily="18" charset="0"/>
              </a:rPr>
              <a:t>b. appearance as a teacher in dress and attire</a:t>
            </a:r>
          </a:p>
          <a:p>
            <a:pPr marL="0" indent="0">
              <a:buNone/>
            </a:pPr>
            <a:r>
              <a:rPr lang="en-US" sz="4000" dirty="0">
                <a:latin typeface="Amasis MT Pro" panose="02040504050005020304" pitchFamily="18" charset="0"/>
              </a:rPr>
              <a:t>c. loyalty to the school by years of service</a:t>
            </a:r>
          </a:p>
          <a:p>
            <a:pPr marL="0" indent="0">
              <a:buNone/>
            </a:pPr>
            <a:r>
              <a:rPr lang="en-US" sz="4000" dirty="0">
                <a:latin typeface="Amasis MT Pro" panose="02040504050005020304" pitchFamily="18" charset="0"/>
              </a:rPr>
              <a:t>d. regularity in class attendance</a:t>
            </a:r>
          </a:p>
        </p:txBody>
      </p:sp>
      <p:pic>
        <p:nvPicPr>
          <p:cNvPr id="4" name="Graphic 3" descr="Checkmark with solid fill">
            <a:extLst>
              <a:ext uri="{FF2B5EF4-FFF2-40B4-BE49-F238E27FC236}">
                <a16:creationId xmlns:a16="http://schemas.microsoft.com/office/drawing/2014/main" id="{608CF0EA-4DCA-7B89-8C5E-FD26EB6994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25146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1" name="Rectangle 31750">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31753" name="Freeform: Shape 31752">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31746" name="Picture 2" descr="PPT - Republic Act No. 10912 PowerPoint Presentation, free download -  ID:9452774">
            <a:extLst>
              <a:ext uri="{FF2B5EF4-FFF2-40B4-BE49-F238E27FC236}">
                <a16:creationId xmlns:a16="http://schemas.microsoft.com/office/drawing/2014/main" id="{51EC8438-96CD-15E4-89ED-2772D6E2244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16953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2485"/>
            <a:ext cx="10515600" cy="1555115"/>
          </a:xfrm>
        </p:spPr>
        <p:txBody>
          <a:bodyPr>
            <a:noAutofit/>
          </a:bodyPr>
          <a:lstStyle/>
          <a:p>
            <a:pPr algn="just"/>
            <a:r>
              <a:rPr lang="en-US" sz="4000" dirty="0">
                <a:latin typeface="Amasis MT Pro Black" panose="02040A04050005020304" pitchFamily="18" charset="0"/>
              </a:rPr>
              <a:t>72. What kind of parents can most likely foster a sense of responsibility among children?</a:t>
            </a:r>
          </a:p>
        </p:txBody>
      </p:sp>
      <p:sp>
        <p:nvSpPr>
          <p:cNvPr id="3" name="Content Placeholder 2"/>
          <p:cNvSpPr>
            <a:spLocks noGrp="1"/>
          </p:cNvSpPr>
          <p:nvPr>
            <p:ph idx="1"/>
          </p:nvPr>
        </p:nvSpPr>
        <p:spPr>
          <a:xfrm>
            <a:off x="838200" y="3037839"/>
            <a:ext cx="10515600" cy="3139123"/>
          </a:xfrm>
        </p:spPr>
        <p:txBody>
          <a:bodyPr>
            <a:normAutofit/>
          </a:bodyPr>
          <a:lstStyle/>
          <a:p>
            <a:pPr marL="0" indent="0">
              <a:buNone/>
            </a:pPr>
            <a:r>
              <a:rPr lang="en-US" sz="4000" dirty="0">
                <a:latin typeface="Amasis MT Pro" panose="02040504050005020304" pitchFamily="18" charset="0"/>
              </a:rPr>
              <a:t>a. permissive</a:t>
            </a:r>
          </a:p>
          <a:p>
            <a:pPr marL="0" indent="0">
              <a:buNone/>
            </a:pPr>
            <a:r>
              <a:rPr lang="en-US" sz="4000" dirty="0">
                <a:latin typeface="Amasis MT Pro" panose="02040504050005020304" pitchFamily="18" charset="0"/>
              </a:rPr>
              <a:t>b. autocratic</a:t>
            </a:r>
          </a:p>
          <a:p>
            <a:pPr marL="0" indent="0">
              <a:buNone/>
            </a:pPr>
            <a:r>
              <a:rPr lang="en-US" sz="4000" dirty="0">
                <a:latin typeface="Amasis MT Pro" panose="02040504050005020304" pitchFamily="18" charset="0"/>
              </a:rPr>
              <a:t>c. democratic</a:t>
            </a:r>
          </a:p>
          <a:p>
            <a:pPr marL="0" indent="0">
              <a:buNone/>
            </a:pPr>
            <a:r>
              <a:rPr lang="en-US" sz="4000" dirty="0">
                <a:latin typeface="Amasis MT Pro" panose="02040504050005020304" pitchFamily="18" charset="0"/>
              </a:rPr>
              <a:t>d. neglecting</a:t>
            </a:r>
          </a:p>
        </p:txBody>
      </p:sp>
      <p:pic>
        <p:nvPicPr>
          <p:cNvPr id="4" name="Graphic 3" descr="Checkmark with solid fill">
            <a:extLst>
              <a:ext uri="{FF2B5EF4-FFF2-40B4-BE49-F238E27FC236}">
                <a16:creationId xmlns:a16="http://schemas.microsoft.com/office/drawing/2014/main" id="{A2E35332-D9DB-D3D7-5337-42BD2B864B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3200" y="41502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5" name="Rectangle 32774">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32777" name="Freeform: Shape 32776">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32770" name="Picture 2" descr="A psychologist shares the 4 types of parenting—here's the most successful  style">
            <a:extLst>
              <a:ext uri="{FF2B5EF4-FFF2-40B4-BE49-F238E27FC236}">
                <a16:creationId xmlns:a16="http://schemas.microsoft.com/office/drawing/2014/main" id="{4051F2A1-D477-F842-C930-9BA44813EC8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107459" y="643468"/>
            <a:ext cx="5708324"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78888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525"/>
            <a:ext cx="10515600" cy="2005965"/>
          </a:xfrm>
        </p:spPr>
        <p:txBody>
          <a:bodyPr>
            <a:noAutofit/>
          </a:bodyPr>
          <a:lstStyle/>
          <a:p>
            <a:pPr algn="just"/>
            <a:r>
              <a:rPr lang="en-US" sz="3200" dirty="0">
                <a:latin typeface="Amasis MT Pro Black" panose="02040A04050005020304" pitchFamily="18" charset="0"/>
              </a:rPr>
              <a:t>73. Which research finding regarding use of the mother tongue as language of instruction is TRUE? The use of mother tongue _____ the learning of the second language.</a:t>
            </a:r>
          </a:p>
        </p:txBody>
      </p:sp>
      <p:sp>
        <p:nvSpPr>
          <p:cNvPr id="3" name="Content Placeholder 2"/>
          <p:cNvSpPr>
            <a:spLocks noGrp="1"/>
          </p:cNvSpPr>
          <p:nvPr>
            <p:ph idx="1"/>
          </p:nvPr>
        </p:nvSpPr>
        <p:spPr>
          <a:xfrm>
            <a:off x="838200" y="2926080"/>
            <a:ext cx="10515600" cy="3251200"/>
          </a:xfrm>
        </p:spPr>
        <p:txBody>
          <a:bodyPr>
            <a:normAutofit/>
          </a:bodyPr>
          <a:lstStyle/>
          <a:p>
            <a:pPr marL="0" indent="0" algn="just">
              <a:buNone/>
            </a:pPr>
            <a:r>
              <a:rPr lang="en-US" sz="3200" dirty="0">
                <a:latin typeface="Amasis MT Pro" panose="02040504050005020304" pitchFamily="18" charset="0"/>
              </a:rPr>
              <a:t>a. enhance</a:t>
            </a:r>
          </a:p>
          <a:p>
            <a:pPr marL="0" indent="0" algn="just">
              <a:buNone/>
            </a:pPr>
            <a:r>
              <a:rPr lang="en-US" sz="3200" dirty="0">
                <a:latin typeface="Amasis MT Pro" panose="02040504050005020304" pitchFamily="18" charset="0"/>
              </a:rPr>
              <a:t>b. delays</a:t>
            </a:r>
          </a:p>
          <a:p>
            <a:pPr marL="0" indent="0" algn="just">
              <a:buNone/>
            </a:pPr>
            <a:r>
              <a:rPr lang="en-US" sz="3200" dirty="0">
                <a:latin typeface="Amasis MT Pro" panose="02040504050005020304" pitchFamily="18" charset="0"/>
              </a:rPr>
              <a:t>c. does not affect</a:t>
            </a:r>
          </a:p>
          <a:p>
            <a:pPr marL="0" indent="0" algn="just">
              <a:buNone/>
            </a:pPr>
            <a:r>
              <a:rPr lang="en-US" sz="3200" dirty="0">
                <a:latin typeface="Amasis MT Pro" panose="02040504050005020304" pitchFamily="18" charset="0"/>
              </a:rPr>
              <a:t>d. hampers</a:t>
            </a:r>
          </a:p>
        </p:txBody>
      </p:sp>
      <p:pic>
        <p:nvPicPr>
          <p:cNvPr id="4" name="Graphic 3" descr="Checkmark with solid fill">
            <a:extLst>
              <a:ext uri="{FF2B5EF4-FFF2-40B4-BE49-F238E27FC236}">
                <a16:creationId xmlns:a16="http://schemas.microsoft.com/office/drawing/2014/main" id="{15ACE349-0F91-6810-C654-9959FB6511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65120" y="2598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799" name="Rectangle 33798">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33801" name="Freeform: Shape 3380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33794" name="Picture 2" descr="The Curriculum: Languages Area (Mother Tongue) - ppt video online download">
            <a:extLst>
              <a:ext uri="{FF2B5EF4-FFF2-40B4-BE49-F238E27FC236}">
                <a16:creationId xmlns:a16="http://schemas.microsoft.com/office/drawing/2014/main" id="{29F8A593-DD73-F2DA-1257-65E6038B60C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36945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913765"/>
            <a:ext cx="10515600" cy="1636395"/>
          </a:xfrm>
        </p:spPr>
        <p:txBody>
          <a:bodyPr>
            <a:normAutofit fontScale="90000"/>
          </a:bodyPr>
          <a:lstStyle/>
          <a:p>
            <a:pPr algn="just"/>
            <a:r>
              <a:rPr lang="en-US" dirty="0">
                <a:latin typeface="Amasis MT Pro Black" panose="02040A04050005020304" pitchFamily="18" charset="0"/>
              </a:rPr>
              <a:t>74. What is the main objective of action research in instruction and school management?</a:t>
            </a:r>
          </a:p>
        </p:txBody>
      </p:sp>
      <p:sp>
        <p:nvSpPr>
          <p:cNvPr id="3" name="Content Placeholder 2"/>
          <p:cNvSpPr>
            <a:spLocks noGrp="1"/>
          </p:cNvSpPr>
          <p:nvPr>
            <p:ph idx="1"/>
          </p:nvPr>
        </p:nvSpPr>
        <p:spPr>
          <a:xfrm>
            <a:off x="706120" y="3291839"/>
            <a:ext cx="10515600" cy="2885123"/>
          </a:xfrm>
        </p:spPr>
        <p:txBody>
          <a:bodyPr>
            <a:normAutofit/>
          </a:bodyPr>
          <a:lstStyle/>
          <a:p>
            <a:pPr marL="0" indent="0">
              <a:buNone/>
            </a:pPr>
            <a:r>
              <a:rPr lang="en-US" sz="3600" dirty="0">
                <a:latin typeface="Amasis MT Pro" panose="02040504050005020304" pitchFamily="18" charset="0"/>
              </a:rPr>
              <a:t>a. it aims at strengthening authority of principals</a:t>
            </a:r>
          </a:p>
          <a:p>
            <a:pPr marL="0" indent="0">
              <a:buNone/>
            </a:pPr>
            <a:r>
              <a:rPr lang="en-US" sz="3600" dirty="0">
                <a:latin typeface="Amasis MT Pro" panose="02040504050005020304" pitchFamily="18" charset="0"/>
              </a:rPr>
              <a:t>b. it seeks to solve instructional and school problems</a:t>
            </a:r>
          </a:p>
          <a:p>
            <a:pPr marL="0" indent="0">
              <a:buNone/>
            </a:pPr>
            <a:r>
              <a:rPr lang="en-US" sz="3600" dirty="0">
                <a:latin typeface="Amasis MT Pro" panose="02040504050005020304" pitchFamily="18" charset="0"/>
              </a:rPr>
              <a:t>c. it aims at increasing the work of teachers</a:t>
            </a:r>
          </a:p>
          <a:p>
            <a:pPr marL="0" indent="0">
              <a:buNone/>
            </a:pPr>
            <a:r>
              <a:rPr lang="en-US" sz="3600" dirty="0">
                <a:latin typeface="Amasis MT Pro" panose="02040504050005020304" pitchFamily="18" charset="0"/>
              </a:rPr>
              <a:t>d. it seeks to make students loyal to the school</a:t>
            </a:r>
          </a:p>
        </p:txBody>
      </p:sp>
      <p:pic>
        <p:nvPicPr>
          <p:cNvPr id="4" name="Graphic 3" descr="Checkmark with solid fill">
            <a:extLst>
              <a:ext uri="{FF2B5EF4-FFF2-40B4-BE49-F238E27FC236}">
                <a16:creationId xmlns:a16="http://schemas.microsoft.com/office/drawing/2014/main" id="{2136FEF9-6FDC-F7B7-A602-46E462FF59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28680" y="36449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818" name="Picture 2" descr="How Action Research Can Improve Your Teaching - The Art of Education  University">
            <a:extLst>
              <a:ext uri="{FF2B5EF4-FFF2-40B4-BE49-F238E27FC236}">
                <a16:creationId xmlns:a16="http://schemas.microsoft.com/office/drawing/2014/main" id="{27C83AB7-89F2-FA16-7A5D-D3F6093EC40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44175" y="643466"/>
            <a:ext cx="430364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052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781685"/>
            <a:ext cx="10515600" cy="1325563"/>
          </a:xfrm>
        </p:spPr>
        <p:txBody>
          <a:bodyPr>
            <a:normAutofit fontScale="90000"/>
          </a:bodyPr>
          <a:lstStyle/>
          <a:p>
            <a:pPr algn="just"/>
            <a:r>
              <a:rPr lang="en-US" dirty="0">
                <a:latin typeface="Amasis MT Pro Black" panose="02040A04050005020304" pitchFamily="18" charset="0"/>
              </a:rPr>
              <a:t>75. Which of the following shows the teacher’s respect for human dignity?</a:t>
            </a:r>
          </a:p>
        </p:txBody>
      </p:sp>
      <p:sp>
        <p:nvSpPr>
          <p:cNvPr id="3" name="Content Placeholder 2"/>
          <p:cNvSpPr>
            <a:spLocks noGrp="1"/>
          </p:cNvSpPr>
          <p:nvPr>
            <p:ph idx="1"/>
          </p:nvPr>
        </p:nvSpPr>
        <p:spPr>
          <a:xfrm>
            <a:off x="726440" y="2927032"/>
            <a:ext cx="10515600" cy="3149283"/>
          </a:xfrm>
        </p:spPr>
        <p:txBody>
          <a:bodyPr>
            <a:normAutofit/>
          </a:bodyPr>
          <a:lstStyle/>
          <a:p>
            <a:pPr marL="0" indent="0">
              <a:buNone/>
            </a:pPr>
            <a:r>
              <a:rPr lang="en-US" sz="4000" dirty="0">
                <a:latin typeface="Amasis MT Pro" panose="02040504050005020304" pitchFamily="18" charset="0"/>
              </a:rPr>
              <a:t>a. joining professional associations</a:t>
            </a:r>
          </a:p>
          <a:p>
            <a:pPr marL="0" indent="0">
              <a:buNone/>
            </a:pPr>
            <a:r>
              <a:rPr lang="en-US" sz="4000" dirty="0">
                <a:latin typeface="Amasis MT Pro" panose="02040504050005020304" pitchFamily="18" charset="0"/>
              </a:rPr>
              <a:t>b. using social media</a:t>
            </a:r>
          </a:p>
          <a:p>
            <a:pPr marL="0" indent="0">
              <a:buNone/>
            </a:pPr>
            <a:r>
              <a:rPr lang="en-US" sz="4000" dirty="0">
                <a:latin typeface="Amasis MT Pro" panose="02040504050005020304" pitchFamily="18" charset="0"/>
              </a:rPr>
              <a:t>c. working with people of different views</a:t>
            </a:r>
          </a:p>
          <a:p>
            <a:pPr marL="0" indent="0">
              <a:buNone/>
            </a:pPr>
            <a:r>
              <a:rPr lang="en-US" sz="4000" dirty="0">
                <a:latin typeface="Amasis MT Pro" panose="02040504050005020304" pitchFamily="18" charset="0"/>
              </a:rPr>
              <a:t>d. practicing diligence and industry</a:t>
            </a:r>
          </a:p>
        </p:txBody>
      </p:sp>
      <p:pic>
        <p:nvPicPr>
          <p:cNvPr id="4" name="Graphic 3" descr="Checkmark with solid fill">
            <a:extLst>
              <a:ext uri="{FF2B5EF4-FFF2-40B4-BE49-F238E27FC236}">
                <a16:creationId xmlns:a16="http://schemas.microsoft.com/office/drawing/2014/main" id="{C269524C-DE04-7815-BFE7-8DDBC3FAFC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2800" y="4044473"/>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E3CB7-A123-246B-C18F-368D4ABF5EBE}"/>
              </a:ext>
            </a:extLst>
          </p:cNvPr>
          <p:cNvSpPr>
            <a:spLocks noGrp="1"/>
          </p:cNvSpPr>
          <p:nvPr>
            <p:ph idx="1"/>
          </p:nvPr>
        </p:nvSpPr>
        <p:spPr>
          <a:xfrm>
            <a:off x="838200" y="1253331"/>
            <a:ext cx="10515600" cy="4351338"/>
          </a:xfrm>
        </p:spPr>
        <p:txBody>
          <a:bodyPr>
            <a:normAutofit/>
          </a:bodyPr>
          <a:lstStyle/>
          <a:p>
            <a:pPr marL="0" indent="0" algn="just">
              <a:buNone/>
            </a:pPr>
            <a:r>
              <a:rPr lang="en-US" sz="4800" b="1" dirty="0"/>
              <a:t>Human dignity</a:t>
            </a:r>
            <a:r>
              <a:rPr lang="en-US" sz="4800" dirty="0"/>
              <a:t> is the recognition that human beings possess a special value intrinsic to their humanity and as such are worthy of respect simply because they are human beings.</a:t>
            </a:r>
            <a:endParaRPr lang="en-PH" sz="4800" dirty="0"/>
          </a:p>
        </p:txBody>
      </p:sp>
    </p:spTree>
    <p:extLst>
      <p:ext uri="{BB962C8B-B14F-4D97-AF65-F5344CB8AC3E}">
        <p14:creationId xmlns:p14="http://schemas.microsoft.com/office/powerpoint/2010/main" val="96120136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923925"/>
            <a:ext cx="10515600" cy="1325563"/>
          </a:xfrm>
        </p:spPr>
        <p:txBody>
          <a:bodyPr>
            <a:normAutofit fontScale="90000"/>
          </a:bodyPr>
          <a:lstStyle/>
          <a:p>
            <a:pPr algn="just"/>
            <a:r>
              <a:rPr lang="en-US" sz="4000" dirty="0">
                <a:latin typeface="Amasis MT Pro Black" panose="02040A04050005020304" pitchFamily="18" charset="0"/>
              </a:rPr>
              <a:t>76. Which of the following will most likely help students internalizing classroom rules?</a:t>
            </a:r>
          </a:p>
        </p:txBody>
      </p:sp>
      <p:sp>
        <p:nvSpPr>
          <p:cNvPr id="3" name="Content Placeholder 2"/>
          <p:cNvSpPr>
            <a:spLocks noGrp="1"/>
          </p:cNvSpPr>
          <p:nvPr>
            <p:ph idx="1"/>
          </p:nvPr>
        </p:nvSpPr>
        <p:spPr>
          <a:xfrm>
            <a:off x="838200" y="2895599"/>
            <a:ext cx="10515600" cy="3281363"/>
          </a:xfrm>
        </p:spPr>
        <p:txBody>
          <a:bodyPr>
            <a:normAutofit/>
          </a:bodyPr>
          <a:lstStyle/>
          <a:p>
            <a:pPr marL="0" indent="0" algn="just">
              <a:buNone/>
            </a:pPr>
            <a:r>
              <a:rPr lang="en-US" sz="3600" dirty="0">
                <a:latin typeface="Amasis MT Pro" panose="02040504050005020304" pitchFamily="18" charset="0"/>
              </a:rPr>
              <a:t>a. teacher explaining the rules to students to follow</a:t>
            </a:r>
          </a:p>
          <a:p>
            <a:pPr marL="0" indent="0" algn="just">
              <a:buNone/>
            </a:pPr>
            <a:r>
              <a:rPr lang="en-US" sz="3600" dirty="0">
                <a:latin typeface="Amasis MT Pro" panose="02040504050005020304" pitchFamily="18" charset="0"/>
              </a:rPr>
              <a:t>b. student participation in setting rules</a:t>
            </a:r>
          </a:p>
          <a:p>
            <a:pPr marL="0" indent="0" algn="just">
              <a:buNone/>
            </a:pPr>
            <a:r>
              <a:rPr lang="en-US" sz="3600" dirty="0">
                <a:latin typeface="Amasis MT Pro" panose="02040504050005020304" pitchFamily="18" charset="0"/>
              </a:rPr>
              <a:t>c. students following teacher’s rules</a:t>
            </a:r>
          </a:p>
          <a:p>
            <a:pPr marL="0" indent="0" algn="just">
              <a:buNone/>
            </a:pPr>
            <a:r>
              <a:rPr lang="en-US" sz="3600" dirty="0">
                <a:latin typeface="Amasis MT Pro" panose="02040504050005020304" pitchFamily="18" charset="0"/>
              </a:rPr>
              <a:t>d. teacher formulation the rules</a:t>
            </a:r>
          </a:p>
        </p:txBody>
      </p:sp>
      <p:pic>
        <p:nvPicPr>
          <p:cNvPr id="4" name="Graphic 3" descr="Checkmark with solid fill">
            <a:extLst>
              <a:ext uri="{FF2B5EF4-FFF2-40B4-BE49-F238E27FC236}">
                <a16:creationId xmlns:a16="http://schemas.microsoft.com/office/drawing/2014/main" id="{0C07B811-CE24-8FE7-F5D4-36DADEC038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42960" y="3197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E3CB7-A123-246B-C18F-368D4ABF5EBE}"/>
              </a:ext>
            </a:extLst>
          </p:cNvPr>
          <p:cNvSpPr>
            <a:spLocks noGrp="1"/>
          </p:cNvSpPr>
          <p:nvPr>
            <p:ph idx="1"/>
          </p:nvPr>
        </p:nvSpPr>
        <p:spPr>
          <a:xfrm>
            <a:off x="838200" y="1253331"/>
            <a:ext cx="10515600" cy="4351338"/>
          </a:xfrm>
        </p:spPr>
        <p:txBody>
          <a:bodyPr>
            <a:normAutofit fontScale="92500"/>
          </a:bodyPr>
          <a:lstStyle/>
          <a:p>
            <a:pPr marL="0" indent="0" algn="just">
              <a:buNone/>
            </a:pPr>
            <a:r>
              <a:rPr lang="en-US" sz="4800" b="1" dirty="0"/>
              <a:t>Developing rules</a:t>
            </a:r>
            <a:r>
              <a:rPr lang="en-US" sz="4800" dirty="0"/>
              <a:t> alongside students is when teachers facilitate a conversation with and among the students to determine moral expectations for the classroom. This tool is helpful because it fosters student ownership in the classroom and responsibility among the students for their behaviors.</a:t>
            </a:r>
            <a:endParaRPr lang="en-PH" sz="4800" dirty="0"/>
          </a:p>
        </p:txBody>
      </p:sp>
    </p:spTree>
    <p:extLst>
      <p:ext uri="{BB962C8B-B14F-4D97-AF65-F5344CB8AC3E}">
        <p14:creationId xmlns:p14="http://schemas.microsoft.com/office/powerpoint/2010/main" val="19373952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2317115"/>
          </a:xfrm>
        </p:spPr>
        <p:txBody>
          <a:bodyPr>
            <a:normAutofit fontScale="90000"/>
          </a:bodyPr>
          <a:lstStyle/>
          <a:p>
            <a:pPr algn="just"/>
            <a:r>
              <a:rPr lang="en-US" dirty="0">
                <a:latin typeface="Amasis MT Pro Black" panose="02040A04050005020304" pitchFamily="18" charset="0"/>
              </a:rPr>
              <a:t>77. On classroom activities, the following are appropriate for learners who have good logical-mathematical skills, but NOT to include</a:t>
            </a:r>
          </a:p>
        </p:txBody>
      </p:sp>
      <p:sp>
        <p:nvSpPr>
          <p:cNvPr id="3" name="Content Placeholder 2"/>
          <p:cNvSpPr>
            <a:spLocks noGrp="1"/>
          </p:cNvSpPr>
          <p:nvPr>
            <p:ph idx="1"/>
          </p:nvPr>
        </p:nvSpPr>
        <p:spPr>
          <a:xfrm>
            <a:off x="838200" y="3220720"/>
            <a:ext cx="10515600" cy="2956560"/>
          </a:xfrm>
        </p:spPr>
        <p:txBody>
          <a:bodyPr>
            <a:normAutofit/>
          </a:bodyPr>
          <a:lstStyle/>
          <a:p>
            <a:pPr marL="0" indent="0">
              <a:buNone/>
            </a:pPr>
            <a:r>
              <a:rPr lang="en-US" sz="3600" dirty="0">
                <a:latin typeface="Amasis MT Pro" panose="02040504050005020304" pitchFamily="18" charset="0"/>
              </a:rPr>
              <a:t>a. storytelling</a:t>
            </a:r>
          </a:p>
          <a:p>
            <a:pPr marL="0" indent="0">
              <a:buNone/>
            </a:pPr>
            <a:r>
              <a:rPr lang="en-US" sz="3600" dirty="0">
                <a:latin typeface="Amasis MT Pro" panose="02040504050005020304" pitchFamily="18" charset="0"/>
              </a:rPr>
              <a:t>b. number games</a:t>
            </a:r>
          </a:p>
          <a:p>
            <a:pPr marL="0" indent="0">
              <a:buNone/>
            </a:pPr>
            <a:r>
              <a:rPr lang="en-US" sz="3600" dirty="0">
                <a:latin typeface="Amasis MT Pro" panose="02040504050005020304" pitchFamily="18" charset="0"/>
              </a:rPr>
              <a:t>c. experiments</a:t>
            </a:r>
          </a:p>
          <a:p>
            <a:pPr marL="0" indent="0">
              <a:buNone/>
            </a:pPr>
            <a:r>
              <a:rPr lang="en-US" sz="3600" dirty="0">
                <a:latin typeface="Amasis MT Pro" panose="02040504050005020304" pitchFamily="18" charset="0"/>
              </a:rPr>
              <a:t>d. calculations</a:t>
            </a:r>
          </a:p>
        </p:txBody>
      </p:sp>
      <p:pic>
        <p:nvPicPr>
          <p:cNvPr id="4" name="Graphic 3" descr="Checkmark with solid fill">
            <a:extLst>
              <a:ext uri="{FF2B5EF4-FFF2-40B4-BE49-F238E27FC236}">
                <a16:creationId xmlns:a16="http://schemas.microsoft.com/office/drawing/2014/main" id="{D0790DB6-6E43-9BF8-B2D9-47DFBDFCC4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98240" y="2945766"/>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E3CB7-A123-246B-C18F-368D4ABF5EBE}"/>
              </a:ext>
            </a:extLst>
          </p:cNvPr>
          <p:cNvSpPr>
            <a:spLocks noGrp="1"/>
          </p:cNvSpPr>
          <p:nvPr>
            <p:ph idx="1"/>
          </p:nvPr>
        </p:nvSpPr>
        <p:spPr>
          <a:xfrm>
            <a:off x="838200" y="1253331"/>
            <a:ext cx="10515600" cy="4351338"/>
          </a:xfrm>
        </p:spPr>
        <p:txBody>
          <a:bodyPr>
            <a:normAutofit lnSpcReduction="10000"/>
          </a:bodyPr>
          <a:lstStyle/>
          <a:p>
            <a:pPr marL="0" indent="0" algn="just">
              <a:buNone/>
            </a:pPr>
            <a:r>
              <a:rPr lang="en-US" sz="4800" b="1" dirty="0"/>
              <a:t>Logical-Mathematical Intelligence</a:t>
            </a:r>
            <a:r>
              <a:rPr lang="en-US" sz="4800" dirty="0"/>
              <a:t> is the ability to analyze situations or problems logically, identify solutions, conduct scientific research, and easily solve logical/mathematical operations. It is one of the eight multiple intelligence types proposed by Howard Gardner.</a:t>
            </a:r>
            <a:endParaRPr lang="en-PH" sz="4800" dirty="0"/>
          </a:p>
        </p:txBody>
      </p:sp>
    </p:spTree>
    <p:extLst>
      <p:ext uri="{BB962C8B-B14F-4D97-AF65-F5344CB8AC3E}">
        <p14:creationId xmlns:p14="http://schemas.microsoft.com/office/powerpoint/2010/main" val="38585094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761365"/>
            <a:ext cx="10515600" cy="1866900"/>
          </a:xfrm>
        </p:spPr>
        <p:txBody>
          <a:bodyPr>
            <a:normAutofit fontScale="90000"/>
          </a:bodyPr>
          <a:lstStyle/>
          <a:p>
            <a:pPr algn="just"/>
            <a:r>
              <a:rPr lang="en-US" dirty="0">
                <a:latin typeface="Amasis MT Pro Black" panose="02040A04050005020304" pitchFamily="18" charset="0"/>
              </a:rPr>
              <a:t>78. In addition to showing grades of students to their parents, which can be shown to demonstrate performance?</a:t>
            </a:r>
          </a:p>
        </p:txBody>
      </p:sp>
      <p:sp>
        <p:nvSpPr>
          <p:cNvPr id="3" name="Content Placeholder 2"/>
          <p:cNvSpPr>
            <a:spLocks noGrp="1"/>
          </p:cNvSpPr>
          <p:nvPr>
            <p:ph idx="1"/>
          </p:nvPr>
        </p:nvSpPr>
        <p:spPr>
          <a:xfrm>
            <a:off x="655320" y="3134360"/>
            <a:ext cx="10515600" cy="2748280"/>
          </a:xfrm>
        </p:spPr>
        <p:txBody>
          <a:bodyPr>
            <a:normAutofit/>
          </a:bodyPr>
          <a:lstStyle/>
          <a:p>
            <a:pPr marL="0" indent="0" algn="just">
              <a:buNone/>
            </a:pPr>
            <a:r>
              <a:rPr lang="en-US" sz="4000" dirty="0">
                <a:latin typeface="Amasis MT Pro" panose="02040504050005020304" pitchFamily="18" charset="0"/>
              </a:rPr>
              <a:t>a. teacher’s syllabus</a:t>
            </a:r>
          </a:p>
          <a:p>
            <a:pPr marL="0" indent="0" algn="just">
              <a:buNone/>
            </a:pPr>
            <a:r>
              <a:rPr lang="en-US" sz="4000" dirty="0">
                <a:latin typeface="Amasis MT Pro" panose="02040504050005020304" pitchFamily="18" charset="0"/>
              </a:rPr>
              <a:t>b. memorandum of the principal</a:t>
            </a:r>
          </a:p>
          <a:p>
            <a:pPr marL="0" indent="0" algn="just">
              <a:buNone/>
            </a:pPr>
            <a:r>
              <a:rPr lang="en-US" sz="4000" dirty="0">
                <a:latin typeface="Amasis MT Pro" panose="02040504050005020304" pitchFamily="18" charset="0"/>
              </a:rPr>
              <a:t>c. copy of curriculum</a:t>
            </a:r>
          </a:p>
          <a:p>
            <a:pPr marL="0" indent="0" algn="just">
              <a:buNone/>
            </a:pPr>
            <a:r>
              <a:rPr lang="en-US" sz="4000" dirty="0">
                <a:latin typeface="Amasis MT Pro" panose="02040504050005020304" pitchFamily="18" charset="0"/>
              </a:rPr>
              <a:t>d. written work</a:t>
            </a:r>
          </a:p>
        </p:txBody>
      </p:sp>
      <p:pic>
        <p:nvPicPr>
          <p:cNvPr id="4" name="Graphic 3" descr="Checkmark with solid fill">
            <a:extLst>
              <a:ext uri="{FF2B5EF4-FFF2-40B4-BE49-F238E27FC236}">
                <a16:creationId xmlns:a16="http://schemas.microsoft.com/office/drawing/2014/main" id="{E198A89D-B41E-847F-3001-BB97B8DED9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94480" y="49682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5842" name="Picture 2" descr="DepEd K to 12 Grading System Steps for Computing Grades - TeacherPH">
            <a:extLst>
              <a:ext uri="{FF2B5EF4-FFF2-40B4-BE49-F238E27FC236}">
                <a16:creationId xmlns:a16="http://schemas.microsoft.com/office/drawing/2014/main" id="{F15062B0-503F-448B-8F25-C22BA7BF86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765977"/>
            <a:ext cx="10905066" cy="3326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20850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598805"/>
            <a:ext cx="10515600" cy="1944370"/>
          </a:xfrm>
        </p:spPr>
        <p:txBody>
          <a:bodyPr>
            <a:normAutofit fontScale="90000"/>
          </a:bodyPr>
          <a:lstStyle/>
          <a:p>
            <a:pPr algn="just"/>
            <a:r>
              <a:rPr lang="en-US" dirty="0">
                <a:latin typeface="Amasis MT Pro Black" panose="02040A04050005020304" pitchFamily="18" charset="0"/>
              </a:rPr>
              <a:t>79. On the reasoning process, which is used for pure philosophy that is a deductive, rather than an inductive science?</a:t>
            </a:r>
          </a:p>
        </p:txBody>
      </p:sp>
      <p:sp>
        <p:nvSpPr>
          <p:cNvPr id="3" name="Content Placeholder 2"/>
          <p:cNvSpPr>
            <a:spLocks noGrp="1"/>
          </p:cNvSpPr>
          <p:nvPr>
            <p:ph idx="1"/>
          </p:nvPr>
        </p:nvSpPr>
        <p:spPr>
          <a:xfrm>
            <a:off x="838200" y="3200400"/>
            <a:ext cx="10515600" cy="2976880"/>
          </a:xfrm>
        </p:spPr>
        <p:txBody>
          <a:bodyPr>
            <a:normAutofit/>
          </a:bodyPr>
          <a:lstStyle/>
          <a:p>
            <a:pPr marL="0" indent="0">
              <a:buNone/>
            </a:pPr>
            <a:r>
              <a:rPr lang="en-US" sz="4000" dirty="0">
                <a:latin typeface="Amasis MT Pro" panose="02040504050005020304" pitchFamily="18" charset="0"/>
              </a:rPr>
              <a:t>a. it starts from prior ideas in the mind</a:t>
            </a:r>
          </a:p>
          <a:p>
            <a:pPr marL="0" indent="0">
              <a:buNone/>
            </a:pPr>
            <a:r>
              <a:rPr lang="en-US" sz="4000" dirty="0">
                <a:latin typeface="Amasis MT Pro" panose="02040504050005020304" pitchFamily="18" charset="0"/>
              </a:rPr>
              <a:t>b. it starts with the real outside the mind</a:t>
            </a:r>
          </a:p>
          <a:p>
            <a:pPr marL="0" indent="0">
              <a:buNone/>
            </a:pPr>
            <a:r>
              <a:rPr lang="en-US" sz="4000" dirty="0">
                <a:latin typeface="Amasis MT Pro" panose="02040504050005020304" pitchFamily="18" charset="0"/>
              </a:rPr>
              <a:t>c. it relates external reality to mental reality</a:t>
            </a:r>
          </a:p>
          <a:p>
            <a:pPr marL="0" indent="0">
              <a:buNone/>
            </a:pPr>
            <a:r>
              <a:rPr lang="en-US" sz="4000" dirty="0">
                <a:latin typeface="Amasis MT Pro" panose="02040504050005020304" pitchFamily="18" charset="0"/>
              </a:rPr>
              <a:t>d. it starts from the real to the mental</a:t>
            </a:r>
          </a:p>
        </p:txBody>
      </p:sp>
      <p:pic>
        <p:nvPicPr>
          <p:cNvPr id="4" name="Graphic 3" descr="Checkmark with solid fill">
            <a:extLst>
              <a:ext uri="{FF2B5EF4-FFF2-40B4-BE49-F238E27FC236}">
                <a16:creationId xmlns:a16="http://schemas.microsoft.com/office/drawing/2014/main" id="{63486670-D4A8-D55E-E731-6C1D184917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7680" y="28625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6866" name="Picture 2" descr="The Difference Between Deductive and Inductive Reasoning - Daniel Miessler">
            <a:extLst>
              <a:ext uri="{FF2B5EF4-FFF2-40B4-BE49-F238E27FC236}">
                <a16:creationId xmlns:a16="http://schemas.microsoft.com/office/drawing/2014/main" id="{DC98DFC7-460D-C800-F197-1157E9D84CD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18902" y="643466"/>
            <a:ext cx="6554196"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3351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903605"/>
            <a:ext cx="10515600" cy="1788795"/>
          </a:xfrm>
        </p:spPr>
        <p:txBody>
          <a:bodyPr>
            <a:normAutofit fontScale="90000"/>
          </a:bodyPr>
          <a:lstStyle/>
          <a:p>
            <a:pPr algn="just"/>
            <a:r>
              <a:rPr lang="en-US" dirty="0">
                <a:latin typeface="Amasis MT Pro Black" panose="02040A04050005020304" pitchFamily="18" charset="0"/>
              </a:rPr>
              <a:t>80. What kind of assessment is the complied materials like reflections, photos, school leaflets, etc. from internship of senior students?</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portfolio</a:t>
            </a:r>
          </a:p>
          <a:p>
            <a:pPr marL="0" indent="0">
              <a:buNone/>
            </a:pPr>
            <a:r>
              <a:rPr lang="en-US" sz="4000" dirty="0">
                <a:latin typeface="Amasis MT Pro" panose="02040504050005020304" pitchFamily="18" charset="0"/>
              </a:rPr>
              <a:t>b. project</a:t>
            </a:r>
          </a:p>
          <a:p>
            <a:pPr marL="0" indent="0">
              <a:buNone/>
            </a:pPr>
            <a:r>
              <a:rPr lang="en-US" sz="4000" dirty="0">
                <a:latin typeface="Amasis MT Pro" panose="02040504050005020304" pitchFamily="18" charset="0"/>
              </a:rPr>
              <a:t>c. essay</a:t>
            </a:r>
          </a:p>
          <a:p>
            <a:pPr marL="0" indent="0">
              <a:buNone/>
            </a:pPr>
            <a:r>
              <a:rPr lang="en-US" sz="4000" dirty="0">
                <a:latin typeface="Amasis MT Pro" panose="02040504050005020304" pitchFamily="18" charset="0"/>
              </a:rPr>
              <a:t>d. test</a:t>
            </a:r>
          </a:p>
        </p:txBody>
      </p:sp>
      <p:pic>
        <p:nvPicPr>
          <p:cNvPr id="4" name="Graphic 3" descr="Checkmark with solid fill">
            <a:extLst>
              <a:ext uri="{FF2B5EF4-FFF2-40B4-BE49-F238E27FC236}">
                <a16:creationId xmlns:a16="http://schemas.microsoft.com/office/drawing/2014/main" id="{E1BC4CF6-B94D-50C7-5A4E-A6B933A8E2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3280" y="3126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5" name="Rectangle 37894">
            <a:extLst>
              <a:ext uri="{FF2B5EF4-FFF2-40B4-BE49-F238E27FC236}">
                <a16:creationId xmlns:a16="http://schemas.microsoft.com/office/drawing/2014/main" id="{7742A528-B5BC-48B8-92DE-9C2B44451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892" name="Picture 4" descr="Getting Started with Portfolios Mathematics Definition A portfolio">
            <a:extLst>
              <a:ext uri="{FF2B5EF4-FFF2-40B4-BE49-F238E27FC236}">
                <a16:creationId xmlns:a16="http://schemas.microsoft.com/office/drawing/2014/main" id="{CCF050EC-448D-3F49-A571-BFDC22847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857250"/>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8725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272155"/>
          </a:xfrm>
        </p:spPr>
        <p:txBody>
          <a:bodyPr>
            <a:noAutofit/>
          </a:bodyPr>
          <a:lstStyle/>
          <a:p>
            <a:r>
              <a:rPr lang="en-US" sz="2800" dirty="0">
                <a:latin typeface="Amasis MT Pro Black" panose="02040A04050005020304" pitchFamily="18" charset="0"/>
              </a:rPr>
              <a:t>81. RA 10157 states: “Mother Tongue shall be the primary medium of instruction in kindergarten.” </a:t>
            </a:r>
            <a:br>
              <a:rPr lang="en-US" sz="2800" dirty="0">
                <a:latin typeface="Amasis MT Pro Black" panose="02040A04050005020304" pitchFamily="18" charset="0"/>
              </a:rPr>
            </a:br>
            <a:r>
              <a:rPr lang="en-US" sz="2800" dirty="0">
                <a:latin typeface="Amasis MT Pro Black" panose="02040A04050005020304" pitchFamily="18" charset="0"/>
              </a:rPr>
              <a:t>Which are exceptions?</a:t>
            </a:r>
            <a:br>
              <a:rPr lang="en-US" sz="2800" dirty="0">
                <a:latin typeface="Amasis MT Pro Black" panose="02040A04050005020304" pitchFamily="18" charset="0"/>
              </a:rPr>
            </a:br>
            <a:r>
              <a:rPr lang="en-US" sz="2800" dirty="0">
                <a:latin typeface="Amasis MT Pro Black" panose="02040A04050005020304" pitchFamily="18" charset="0"/>
              </a:rPr>
              <a:t>I.  	when the teacher does not speak the mother tongue of the learners</a:t>
            </a:r>
            <a:br>
              <a:rPr lang="en-US" sz="2800" dirty="0">
                <a:latin typeface="Amasis MT Pro Black" panose="02040A04050005020304" pitchFamily="18" charset="0"/>
              </a:rPr>
            </a:br>
            <a:r>
              <a:rPr lang="en-US" sz="2800" dirty="0">
                <a:latin typeface="Amasis MT Pro Black" panose="02040A04050005020304" pitchFamily="18" charset="0"/>
              </a:rPr>
              <a:t>II. 	when the K-pupils speak different mother tongues</a:t>
            </a:r>
            <a:br>
              <a:rPr lang="en-US" sz="2800" dirty="0">
                <a:latin typeface="Amasis MT Pro Black" panose="02040A04050005020304" pitchFamily="18" charset="0"/>
              </a:rPr>
            </a:br>
            <a:r>
              <a:rPr lang="en-US" sz="2800" dirty="0">
                <a:latin typeface="Amasis MT Pro Black" panose="02040A04050005020304" pitchFamily="18" charset="0"/>
              </a:rPr>
              <a:t>III. 	when resources in the MT are not available</a:t>
            </a:r>
            <a:br>
              <a:rPr lang="en-US" sz="2800" dirty="0">
                <a:latin typeface="Amasis MT Pro Black" panose="02040A04050005020304" pitchFamily="18" charset="0"/>
              </a:rPr>
            </a:br>
            <a:r>
              <a:rPr lang="en-US" sz="2800" dirty="0">
                <a:latin typeface="Amasis MT Pro Black" panose="02040A04050005020304" pitchFamily="18" charset="0"/>
              </a:rPr>
              <a:t>IV. 	when teachers are not yet trained</a:t>
            </a:r>
          </a:p>
        </p:txBody>
      </p:sp>
      <p:sp>
        <p:nvSpPr>
          <p:cNvPr id="3" name="Content Placeholder 2"/>
          <p:cNvSpPr>
            <a:spLocks noGrp="1"/>
          </p:cNvSpPr>
          <p:nvPr>
            <p:ph idx="1"/>
          </p:nvPr>
        </p:nvSpPr>
        <p:spPr>
          <a:xfrm>
            <a:off x="838200" y="4064001"/>
            <a:ext cx="10515600" cy="2255520"/>
          </a:xfrm>
        </p:spPr>
        <p:txBody>
          <a:bodyPr>
            <a:normAutofit fontScale="97500"/>
          </a:bodyPr>
          <a:lstStyle/>
          <a:p>
            <a:pPr marL="0" indent="0">
              <a:buNone/>
            </a:pPr>
            <a:r>
              <a:rPr lang="en-US" dirty="0">
                <a:latin typeface="Amasis MT Pro" panose="02040504050005020304" pitchFamily="18" charset="0"/>
              </a:rPr>
              <a:t>a. I, II, III and IV</a:t>
            </a:r>
          </a:p>
          <a:p>
            <a:pPr marL="0" indent="0">
              <a:buNone/>
            </a:pPr>
            <a:r>
              <a:rPr lang="en-US" dirty="0">
                <a:latin typeface="Amasis MT Pro" panose="02040504050005020304" pitchFamily="18" charset="0"/>
              </a:rPr>
              <a:t>b. III only</a:t>
            </a:r>
          </a:p>
          <a:p>
            <a:pPr marL="0" indent="0">
              <a:buNone/>
            </a:pPr>
            <a:r>
              <a:rPr lang="en-US" dirty="0">
                <a:latin typeface="Amasis MT Pro" panose="02040504050005020304" pitchFamily="18" charset="0"/>
              </a:rPr>
              <a:t>c. I and II</a:t>
            </a:r>
          </a:p>
          <a:p>
            <a:pPr marL="0" indent="0">
              <a:buNone/>
            </a:pPr>
            <a:r>
              <a:rPr lang="en-US" dirty="0">
                <a:latin typeface="Amasis MT Pro" panose="02040504050005020304" pitchFamily="18" charset="0"/>
              </a:rPr>
              <a:t>d. II only</a:t>
            </a:r>
          </a:p>
        </p:txBody>
      </p:sp>
      <p:pic>
        <p:nvPicPr>
          <p:cNvPr id="4" name="Graphic 3" descr="Checkmark with solid fill">
            <a:extLst>
              <a:ext uri="{FF2B5EF4-FFF2-40B4-BE49-F238E27FC236}">
                <a16:creationId xmlns:a16="http://schemas.microsoft.com/office/drawing/2014/main" id="{7D8E7096-B071-55A1-6CF3-11BA88A314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3920" y="3606801"/>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8914" name="Picture 2" descr="The What, Why and How of Mother Tongue-Based Multilingual Education - ppt  video online download">
            <a:extLst>
              <a:ext uri="{FF2B5EF4-FFF2-40B4-BE49-F238E27FC236}">
                <a16:creationId xmlns:a16="http://schemas.microsoft.com/office/drawing/2014/main" id="{CE252D45-0A15-312B-3E3B-5535F3AE1C6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58850" y="643466"/>
            <a:ext cx="787429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1220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680720"/>
            <a:ext cx="10515600" cy="2205990"/>
          </a:xfrm>
        </p:spPr>
        <p:txBody>
          <a:bodyPr>
            <a:normAutofit fontScale="90000"/>
          </a:bodyPr>
          <a:lstStyle/>
          <a:p>
            <a:pPr algn="just"/>
            <a:r>
              <a:rPr lang="en-US" dirty="0">
                <a:latin typeface="Amasis MT Pro Black" panose="02040A04050005020304" pitchFamily="18" charset="0"/>
              </a:rPr>
              <a:t>82. Does assessment FOR learning occur when the teacher gives instruction to ensure that the intended learning outcomes are attained?</a:t>
            </a:r>
          </a:p>
        </p:txBody>
      </p:sp>
      <p:sp>
        <p:nvSpPr>
          <p:cNvPr id="3" name="Content Placeholder 2"/>
          <p:cNvSpPr>
            <a:spLocks noGrp="1"/>
          </p:cNvSpPr>
          <p:nvPr>
            <p:ph idx="1"/>
          </p:nvPr>
        </p:nvSpPr>
        <p:spPr>
          <a:xfrm>
            <a:off x="838200" y="3291840"/>
            <a:ext cx="10515600" cy="2885440"/>
          </a:xfrm>
        </p:spPr>
        <p:txBody>
          <a:bodyPr>
            <a:normAutofit/>
          </a:bodyPr>
          <a:lstStyle/>
          <a:p>
            <a:pPr marL="0" indent="0">
              <a:buNone/>
            </a:pPr>
            <a:r>
              <a:rPr lang="en-US" sz="4000" dirty="0">
                <a:latin typeface="Amasis MT Pro" panose="02040504050005020304" pitchFamily="18" charset="0"/>
              </a:rPr>
              <a:t>a. Yes</a:t>
            </a:r>
          </a:p>
          <a:p>
            <a:pPr marL="0" indent="0">
              <a:buNone/>
            </a:pPr>
            <a:r>
              <a:rPr lang="en-US" sz="4000" dirty="0">
                <a:latin typeface="Amasis MT Pro" panose="02040504050005020304" pitchFamily="18" charset="0"/>
              </a:rPr>
              <a:t>b. Partially yes</a:t>
            </a:r>
          </a:p>
          <a:p>
            <a:pPr marL="0" indent="0">
              <a:buNone/>
            </a:pPr>
            <a:r>
              <a:rPr lang="en-US" sz="4000" dirty="0">
                <a:latin typeface="Amasis MT Pro" panose="02040504050005020304" pitchFamily="18" charset="0"/>
              </a:rPr>
              <a:t>c. No</a:t>
            </a:r>
          </a:p>
          <a:p>
            <a:pPr marL="0" indent="0">
              <a:buNone/>
            </a:pPr>
            <a:r>
              <a:rPr lang="en-US" sz="4000" dirty="0">
                <a:latin typeface="Amasis MT Pro" panose="02040504050005020304" pitchFamily="18" charset="0"/>
              </a:rPr>
              <a:t>d. Partially no</a:t>
            </a:r>
          </a:p>
        </p:txBody>
      </p:sp>
      <p:pic>
        <p:nvPicPr>
          <p:cNvPr id="4" name="Graphic 3" descr="Checkmark with solid fill">
            <a:extLst>
              <a:ext uri="{FF2B5EF4-FFF2-40B4-BE49-F238E27FC236}">
                <a16:creationId xmlns:a16="http://schemas.microsoft.com/office/drawing/2014/main" id="{18FABCD9-E5B8-4F9A-6D0D-0CFCD2A020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46960" y="3056891"/>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938" name="Picture 2" descr="Assessment for learning: Confused? (article) on Behance">
            <a:extLst>
              <a:ext uri="{FF2B5EF4-FFF2-40B4-BE49-F238E27FC236}">
                <a16:creationId xmlns:a16="http://schemas.microsoft.com/office/drawing/2014/main" id="{3B4B4345-0189-F412-68B4-DF0E8E7A39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99628" y="643466"/>
            <a:ext cx="8192744"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24946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1685"/>
            <a:ext cx="10515600" cy="1557020"/>
          </a:xfrm>
        </p:spPr>
        <p:txBody>
          <a:bodyPr>
            <a:normAutofit fontScale="90000"/>
          </a:bodyPr>
          <a:lstStyle/>
          <a:p>
            <a:pPr algn="just"/>
            <a:r>
              <a:rPr lang="en-US" dirty="0">
                <a:latin typeface="Amasis MT Pro Black" panose="02040A04050005020304" pitchFamily="18" charset="0"/>
              </a:rPr>
              <a:t>83. For what response is continuing professional education or CPE installed for every professional teacher?</a:t>
            </a:r>
          </a:p>
        </p:txBody>
      </p:sp>
      <p:sp>
        <p:nvSpPr>
          <p:cNvPr id="3" name="Content Placeholder 2"/>
          <p:cNvSpPr>
            <a:spLocks noGrp="1"/>
          </p:cNvSpPr>
          <p:nvPr>
            <p:ph idx="1"/>
          </p:nvPr>
        </p:nvSpPr>
        <p:spPr>
          <a:xfrm>
            <a:off x="838200" y="3037840"/>
            <a:ext cx="10515600" cy="3139440"/>
          </a:xfrm>
        </p:spPr>
        <p:txBody>
          <a:bodyPr>
            <a:normAutofit/>
          </a:bodyPr>
          <a:lstStyle/>
          <a:p>
            <a:pPr marL="0" indent="0">
              <a:buNone/>
            </a:pPr>
            <a:r>
              <a:rPr lang="en-US" sz="4000" dirty="0">
                <a:latin typeface="Amasis MT Pro" panose="02040504050005020304" pitchFamily="18" charset="0"/>
              </a:rPr>
              <a:t>a. past ideas and practices</a:t>
            </a:r>
          </a:p>
          <a:p>
            <a:pPr marL="0" indent="0">
              <a:buNone/>
            </a:pPr>
            <a:r>
              <a:rPr lang="en-US" sz="4000" dirty="0">
                <a:latin typeface="Amasis MT Pro" panose="02040504050005020304" pitchFamily="18" charset="0"/>
              </a:rPr>
              <a:t>b. monitoring of educational programs</a:t>
            </a:r>
          </a:p>
          <a:p>
            <a:pPr marL="0" indent="0">
              <a:buNone/>
            </a:pPr>
            <a:r>
              <a:rPr lang="en-US" sz="4000" dirty="0">
                <a:latin typeface="Amasis MT Pro" panose="02040504050005020304" pitchFamily="18" charset="0"/>
              </a:rPr>
              <a:t>c. new trends and reforms</a:t>
            </a:r>
          </a:p>
          <a:p>
            <a:pPr marL="0" indent="0">
              <a:buNone/>
            </a:pPr>
            <a:r>
              <a:rPr lang="en-US" sz="4000" dirty="0">
                <a:latin typeface="Amasis MT Pro" panose="02040504050005020304" pitchFamily="18" charset="0"/>
              </a:rPr>
              <a:t>d. review of academic achievement</a:t>
            </a:r>
          </a:p>
        </p:txBody>
      </p:sp>
      <p:pic>
        <p:nvPicPr>
          <p:cNvPr id="4" name="Graphic 3" descr="Checkmark with solid fill">
            <a:extLst>
              <a:ext uri="{FF2B5EF4-FFF2-40B4-BE49-F238E27FC236}">
                <a16:creationId xmlns:a16="http://schemas.microsoft.com/office/drawing/2014/main" id="{235CBD46-B5C6-3F14-F32B-B04120AA1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960" y="41503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62" name="Picture 2" descr="CPD Law Amendments: Effective March 1, 2019 | PRC">
            <a:extLst>
              <a:ext uri="{FF2B5EF4-FFF2-40B4-BE49-F238E27FC236}">
                <a16:creationId xmlns:a16="http://schemas.microsoft.com/office/drawing/2014/main" id="{D46D3F60-E898-9118-A017-A8FF8B5DA9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3325" y="643466"/>
            <a:ext cx="1064535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0124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05"/>
            <a:ext cx="10515600" cy="1325563"/>
          </a:xfrm>
        </p:spPr>
        <p:txBody>
          <a:bodyPr>
            <a:normAutofit fontScale="90000"/>
          </a:bodyPr>
          <a:lstStyle/>
          <a:p>
            <a:pPr algn="just"/>
            <a:r>
              <a:rPr lang="en-US" dirty="0">
                <a:latin typeface="Amasis MT Pro Black" panose="02040A04050005020304" pitchFamily="18" charset="0"/>
              </a:rPr>
              <a:t>84. On learning deficiencies, what is known as a learning disability in number operation?</a:t>
            </a:r>
          </a:p>
        </p:txBody>
      </p:sp>
      <p:sp>
        <p:nvSpPr>
          <p:cNvPr id="3" name="Content Placeholder 2"/>
          <p:cNvSpPr>
            <a:spLocks noGrp="1"/>
          </p:cNvSpPr>
          <p:nvPr>
            <p:ph idx="1"/>
          </p:nvPr>
        </p:nvSpPr>
        <p:spPr>
          <a:xfrm>
            <a:off x="838200" y="2926079"/>
            <a:ext cx="10515600" cy="3250883"/>
          </a:xfrm>
        </p:spPr>
        <p:txBody>
          <a:bodyPr>
            <a:normAutofit/>
          </a:bodyPr>
          <a:lstStyle/>
          <a:p>
            <a:pPr marL="0" indent="0">
              <a:buNone/>
            </a:pPr>
            <a:r>
              <a:rPr lang="en-US" sz="4000" dirty="0">
                <a:latin typeface="Amasis MT Pro" panose="02040504050005020304" pitchFamily="18" charset="0"/>
              </a:rPr>
              <a:t>a. dyscalculia</a:t>
            </a:r>
          </a:p>
          <a:p>
            <a:pPr marL="0" indent="0">
              <a:buNone/>
            </a:pPr>
            <a:r>
              <a:rPr lang="en-US" sz="4000" dirty="0">
                <a:latin typeface="Amasis MT Pro" panose="02040504050005020304" pitchFamily="18" charset="0"/>
              </a:rPr>
              <a:t>b. dysgraphia</a:t>
            </a:r>
          </a:p>
          <a:p>
            <a:pPr marL="0" indent="0">
              <a:buNone/>
            </a:pPr>
            <a:r>
              <a:rPr lang="en-US" sz="4000" dirty="0">
                <a:latin typeface="Amasis MT Pro" panose="02040504050005020304" pitchFamily="18" charset="0"/>
              </a:rPr>
              <a:t>c. dyslexia</a:t>
            </a:r>
          </a:p>
          <a:p>
            <a:pPr marL="0" indent="0">
              <a:buNone/>
            </a:pPr>
            <a:r>
              <a:rPr lang="en-US" sz="4000" dirty="0">
                <a:latin typeface="Amasis MT Pro" panose="02040504050005020304" pitchFamily="18" charset="0"/>
              </a:rPr>
              <a:t>d. dyspepsia</a:t>
            </a:r>
          </a:p>
        </p:txBody>
      </p:sp>
      <p:pic>
        <p:nvPicPr>
          <p:cNvPr id="4" name="Graphic 3" descr="Checkmark with solid fill">
            <a:extLst>
              <a:ext uri="{FF2B5EF4-FFF2-40B4-BE49-F238E27FC236}">
                <a16:creationId xmlns:a16="http://schemas.microsoft.com/office/drawing/2014/main" id="{A9497EB1-02A0-3EC0-A243-E26053F5BB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91280" y="26085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986" name="Picture 2" descr="Timeline&#10;&#10;Description automatically generated with low confidence">
            <a:extLst>
              <a:ext uri="{FF2B5EF4-FFF2-40B4-BE49-F238E27FC236}">
                <a16:creationId xmlns:a16="http://schemas.microsoft.com/office/drawing/2014/main" id="{DAD6B9E6-4E5B-0A82-E24E-B9230A5B9D6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17430" y="643466"/>
            <a:ext cx="555713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9051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60" y="771525"/>
            <a:ext cx="10515600" cy="1325563"/>
          </a:xfrm>
        </p:spPr>
        <p:txBody>
          <a:bodyPr>
            <a:normAutofit fontScale="90000"/>
          </a:bodyPr>
          <a:lstStyle/>
          <a:p>
            <a:pPr algn="just"/>
            <a:r>
              <a:rPr lang="en-US" dirty="0">
                <a:latin typeface="Amasis MT Pro Black" panose="02040A04050005020304" pitchFamily="18" charset="0"/>
              </a:rPr>
              <a:t>85. On periods of development, what feature characterizes the child in infancy stage?</a:t>
            </a:r>
          </a:p>
        </p:txBody>
      </p:sp>
      <p:sp>
        <p:nvSpPr>
          <p:cNvPr id="3" name="Content Placeholder 2"/>
          <p:cNvSpPr>
            <a:spLocks noGrp="1"/>
          </p:cNvSpPr>
          <p:nvPr>
            <p:ph idx="1"/>
          </p:nvPr>
        </p:nvSpPr>
        <p:spPr>
          <a:xfrm>
            <a:off x="838200" y="2987039"/>
            <a:ext cx="10515600" cy="3189923"/>
          </a:xfrm>
        </p:spPr>
        <p:txBody>
          <a:bodyPr>
            <a:normAutofit/>
          </a:bodyPr>
          <a:lstStyle/>
          <a:p>
            <a:pPr marL="0" indent="0">
              <a:buNone/>
            </a:pPr>
            <a:r>
              <a:rPr lang="en-US" sz="4000" dirty="0">
                <a:latin typeface="Amasis MT Pro" panose="02040504050005020304" pitchFamily="18" charset="0"/>
              </a:rPr>
              <a:t>a. social attachment </a:t>
            </a:r>
          </a:p>
          <a:p>
            <a:pPr marL="0" indent="0">
              <a:buNone/>
            </a:pPr>
            <a:r>
              <a:rPr lang="en-US" sz="4000" dirty="0">
                <a:latin typeface="Amasis MT Pro" panose="02040504050005020304" pitchFamily="18" charset="0"/>
              </a:rPr>
              <a:t>b. well established language</a:t>
            </a:r>
          </a:p>
          <a:p>
            <a:pPr marL="0" indent="0">
              <a:buNone/>
            </a:pPr>
            <a:r>
              <a:rPr lang="en-US" sz="4000" dirty="0">
                <a:latin typeface="Amasis MT Pro" panose="02040504050005020304" pitchFamily="18" charset="0"/>
              </a:rPr>
              <a:t>c. team play</a:t>
            </a:r>
          </a:p>
          <a:p>
            <a:pPr marL="0" indent="0">
              <a:buNone/>
            </a:pPr>
            <a:r>
              <a:rPr lang="en-US" sz="4000" dirty="0">
                <a:latin typeface="Amasis MT Pro" panose="02040504050005020304" pitchFamily="18" charset="0"/>
              </a:rPr>
              <a:t>d. puberty</a:t>
            </a:r>
          </a:p>
        </p:txBody>
      </p:sp>
      <p:pic>
        <p:nvPicPr>
          <p:cNvPr id="4" name="Graphic 3" descr="Checkmark with solid fill">
            <a:extLst>
              <a:ext uri="{FF2B5EF4-FFF2-40B4-BE49-F238E27FC236}">
                <a16:creationId xmlns:a16="http://schemas.microsoft.com/office/drawing/2014/main" id="{C716E028-99C7-34FA-74D3-F6EEED93F7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44160" y="2750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3010" name="Picture 2" descr="Attachment Theory: Bowlby and Ainsworth's Theory Explained">
            <a:extLst>
              <a:ext uri="{FF2B5EF4-FFF2-40B4-BE49-F238E27FC236}">
                <a16:creationId xmlns:a16="http://schemas.microsoft.com/office/drawing/2014/main" id="{78DF3F5B-1154-E887-137F-6622E1655A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7700" y="643466"/>
            <a:ext cx="835660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28945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7520"/>
            <a:ext cx="10515600" cy="2545715"/>
          </a:xfrm>
        </p:spPr>
        <p:txBody>
          <a:bodyPr>
            <a:normAutofit fontScale="90000"/>
          </a:bodyPr>
          <a:lstStyle/>
          <a:p>
            <a:r>
              <a:rPr lang="en-US" dirty="0">
                <a:latin typeface="Amasis MT Pro Black" panose="02040A04050005020304" pitchFamily="18" charset="0"/>
              </a:rPr>
              <a:t>86. To ensure lesson mastery, which one/s should teacher use?</a:t>
            </a:r>
            <a:br>
              <a:rPr lang="en-US" dirty="0">
                <a:latin typeface="Amasis MT Pro Black" panose="02040A04050005020304" pitchFamily="18" charset="0"/>
              </a:rPr>
            </a:br>
            <a:r>
              <a:rPr lang="en-US" dirty="0">
                <a:latin typeface="Amasis MT Pro Black" panose="02040A04050005020304" pitchFamily="18" charset="0"/>
              </a:rPr>
              <a:t>I. Formative tests</a:t>
            </a:r>
            <a:br>
              <a:rPr lang="en-US" dirty="0">
                <a:latin typeface="Amasis MT Pro Black" panose="02040A04050005020304" pitchFamily="18" charset="0"/>
              </a:rPr>
            </a:br>
            <a:r>
              <a:rPr lang="en-US" dirty="0">
                <a:latin typeface="Amasis MT Pro Black" panose="02040A04050005020304" pitchFamily="18" charset="0"/>
              </a:rPr>
              <a:t>II. Summative tests</a:t>
            </a:r>
            <a:br>
              <a:rPr lang="en-US" dirty="0">
                <a:latin typeface="Amasis MT Pro Black" panose="02040A04050005020304" pitchFamily="18" charset="0"/>
              </a:rPr>
            </a:br>
            <a:r>
              <a:rPr lang="en-US" dirty="0">
                <a:latin typeface="Amasis MT Pro Black" panose="02040A04050005020304" pitchFamily="18" charset="0"/>
              </a:rPr>
              <a:t>III. Diagnostic tests</a:t>
            </a:r>
          </a:p>
        </p:txBody>
      </p:sp>
      <p:sp>
        <p:nvSpPr>
          <p:cNvPr id="3" name="Content Placeholder 2"/>
          <p:cNvSpPr>
            <a:spLocks noGrp="1"/>
          </p:cNvSpPr>
          <p:nvPr>
            <p:ph idx="1"/>
          </p:nvPr>
        </p:nvSpPr>
        <p:spPr>
          <a:xfrm>
            <a:off x="838200" y="3342005"/>
            <a:ext cx="10515600" cy="3038475"/>
          </a:xfrm>
        </p:spPr>
        <p:txBody>
          <a:bodyPr>
            <a:normAutofit/>
          </a:bodyPr>
          <a:lstStyle/>
          <a:p>
            <a:pPr marL="0" indent="0">
              <a:buNone/>
            </a:pPr>
            <a:r>
              <a:rPr lang="en-US" sz="4000" dirty="0"/>
              <a:t>a. I and II</a:t>
            </a:r>
          </a:p>
          <a:p>
            <a:pPr marL="0" indent="0">
              <a:buNone/>
            </a:pPr>
            <a:r>
              <a:rPr lang="en-US" sz="4000" dirty="0"/>
              <a:t>b. II and III</a:t>
            </a:r>
          </a:p>
          <a:p>
            <a:pPr marL="0" indent="0">
              <a:buNone/>
            </a:pPr>
            <a:r>
              <a:rPr lang="en-US" sz="4000" dirty="0"/>
              <a:t>c. I and III</a:t>
            </a:r>
          </a:p>
          <a:p>
            <a:pPr marL="0" indent="0">
              <a:buNone/>
            </a:pPr>
            <a:r>
              <a:rPr lang="en-US" sz="4000" dirty="0"/>
              <a:t>d. I, II and III</a:t>
            </a:r>
          </a:p>
        </p:txBody>
      </p:sp>
      <p:pic>
        <p:nvPicPr>
          <p:cNvPr id="4" name="Graphic 3" descr="Checkmark with solid fill">
            <a:extLst>
              <a:ext uri="{FF2B5EF4-FFF2-40B4-BE49-F238E27FC236}">
                <a16:creationId xmlns:a16="http://schemas.microsoft.com/office/drawing/2014/main" id="{39069274-3EF0-574B-D924-0870663E7D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440" y="5077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4034" name="Picture 2" descr="Assessment OF/FOR/AS learning throughout and beyond a programme | Download  Scientific Diagram">
            <a:extLst>
              <a:ext uri="{FF2B5EF4-FFF2-40B4-BE49-F238E27FC236}">
                <a16:creationId xmlns:a16="http://schemas.microsoft.com/office/drawing/2014/main" id="{8F034A88-F8FD-1248-4C86-5CB38C8494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2778" y="643466"/>
            <a:ext cx="836644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9904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4565"/>
            <a:ext cx="10515600" cy="1681480"/>
          </a:xfrm>
        </p:spPr>
        <p:txBody>
          <a:bodyPr>
            <a:normAutofit fontScale="90000"/>
          </a:bodyPr>
          <a:lstStyle/>
          <a:p>
            <a:pPr algn="just"/>
            <a:r>
              <a:rPr lang="en-US" dirty="0">
                <a:latin typeface="Amasis MT Pro Black" panose="02040A04050005020304" pitchFamily="18" charset="0"/>
              </a:rPr>
              <a:t>87. What variation of storytelling involves children telling a story with the use of materials, sets and props?</a:t>
            </a:r>
          </a:p>
        </p:txBody>
      </p:sp>
      <p:sp>
        <p:nvSpPr>
          <p:cNvPr id="3" name="Content Placeholder 2"/>
          <p:cNvSpPr>
            <a:spLocks noGrp="1"/>
          </p:cNvSpPr>
          <p:nvPr>
            <p:ph idx="1"/>
          </p:nvPr>
        </p:nvSpPr>
        <p:spPr>
          <a:xfrm>
            <a:off x="838200" y="3332480"/>
            <a:ext cx="10515600" cy="2844800"/>
          </a:xfrm>
        </p:spPr>
        <p:txBody>
          <a:bodyPr>
            <a:normAutofit/>
          </a:bodyPr>
          <a:lstStyle/>
          <a:p>
            <a:pPr marL="0" indent="0">
              <a:buNone/>
            </a:pPr>
            <a:r>
              <a:rPr lang="en-US" sz="4000" dirty="0">
                <a:latin typeface="Amasis MT Pro" panose="02040504050005020304" pitchFamily="18" charset="0"/>
              </a:rPr>
              <a:t>a. story enactment</a:t>
            </a:r>
          </a:p>
          <a:p>
            <a:pPr marL="0" indent="0">
              <a:buNone/>
            </a:pPr>
            <a:r>
              <a:rPr lang="en-US" sz="4000" dirty="0">
                <a:latin typeface="Amasis MT Pro" panose="02040504050005020304" pitchFamily="18" charset="0"/>
              </a:rPr>
              <a:t>b. puppet stories</a:t>
            </a:r>
          </a:p>
          <a:p>
            <a:pPr marL="0" indent="0">
              <a:buNone/>
            </a:pPr>
            <a:r>
              <a:rPr lang="en-US" sz="4000" dirty="0">
                <a:latin typeface="Amasis MT Pro" panose="02040504050005020304" pitchFamily="18" charset="0"/>
              </a:rPr>
              <a:t>c. flannel board stories</a:t>
            </a:r>
          </a:p>
          <a:p>
            <a:pPr marL="0" indent="0">
              <a:buNone/>
            </a:pPr>
            <a:r>
              <a:rPr lang="en-US" sz="4000" dirty="0">
                <a:latin typeface="Amasis MT Pro" panose="02040504050005020304" pitchFamily="18" charset="0"/>
              </a:rPr>
              <a:t>d. lap board stories</a:t>
            </a:r>
          </a:p>
        </p:txBody>
      </p:sp>
      <p:pic>
        <p:nvPicPr>
          <p:cNvPr id="4" name="Graphic 3" descr="Checkmark with solid fill">
            <a:extLst>
              <a:ext uri="{FF2B5EF4-FFF2-40B4-BE49-F238E27FC236}">
                <a16:creationId xmlns:a16="http://schemas.microsoft.com/office/drawing/2014/main" id="{6BEB1753-8E32-6BCC-342B-C4428B5D53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5968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7" name="Rectangle 45062">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68" name="Freeform: Shape 45064">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45058" name="Picture 2" descr="Enact that story as a play">
            <a:extLst>
              <a:ext uri="{FF2B5EF4-FFF2-40B4-BE49-F238E27FC236}">
                <a16:creationId xmlns:a16="http://schemas.microsoft.com/office/drawing/2014/main" id="{381B4B4F-4ED7-CCD4-FDC6-040987B6AEF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841844" y="1469009"/>
            <a:ext cx="4768755" cy="3571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4106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16530"/>
          </a:xfrm>
        </p:spPr>
        <p:txBody>
          <a:bodyPr>
            <a:noAutofit/>
          </a:bodyPr>
          <a:lstStyle/>
          <a:p>
            <a:pPr algn="just"/>
            <a:r>
              <a:rPr lang="en-US" sz="3200" dirty="0">
                <a:latin typeface="Amasis MT Pro Black" panose="02040A04050005020304" pitchFamily="18" charset="0"/>
              </a:rPr>
              <a:t>88. Situation: In a multiple-choice test item with A, B, C, and D as option and with C as the correct answer, out of 50 students nobody chose A, 15 chose B, 10 chose C and 25 chose D. Which is the most effective distracter?</a:t>
            </a:r>
          </a:p>
        </p:txBody>
      </p:sp>
      <p:sp>
        <p:nvSpPr>
          <p:cNvPr id="3" name="Content Placeholder 2"/>
          <p:cNvSpPr>
            <a:spLocks noGrp="1"/>
          </p:cNvSpPr>
          <p:nvPr>
            <p:ph idx="1"/>
          </p:nvPr>
        </p:nvSpPr>
        <p:spPr>
          <a:xfrm>
            <a:off x="838200" y="3215640"/>
            <a:ext cx="10515600" cy="2961640"/>
          </a:xfrm>
        </p:spPr>
        <p:txBody>
          <a:bodyPr>
            <a:normAutofit/>
          </a:bodyPr>
          <a:lstStyle/>
          <a:p>
            <a:pPr marL="0" indent="0">
              <a:buNone/>
            </a:pPr>
            <a:r>
              <a:rPr lang="en-US" sz="4000" dirty="0">
                <a:latin typeface="Amasis MT Pro" panose="02040504050005020304" pitchFamily="18" charset="0"/>
              </a:rPr>
              <a:t>a. A</a:t>
            </a:r>
          </a:p>
          <a:p>
            <a:pPr marL="0" indent="0">
              <a:buNone/>
            </a:pPr>
            <a:r>
              <a:rPr lang="en-US" sz="4000" dirty="0">
                <a:latin typeface="Amasis MT Pro" panose="02040504050005020304" pitchFamily="18" charset="0"/>
              </a:rPr>
              <a:t>b. D</a:t>
            </a:r>
          </a:p>
          <a:p>
            <a:pPr marL="0" indent="0">
              <a:buNone/>
            </a:pPr>
            <a:r>
              <a:rPr lang="en-US" sz="4000" dirty="0">
                <a:latin typeface="Amasis MT Pro" panose="02040504050005020304" pitchFamily="18" charset="0"/>
              </a:rPr>
              <a:t>c. C</a:t>
            </a:r>
          </a:p>
          <a:p>
            <a:pPr marL="0" indent="0">
              <a:buNone/>
            </a:pPr>
            <a:r>
              <a:rPr lang="en-US" sz="4000" dirty="0">
                <a:latin typeface="Amasis MT Pro" panose="02040504050005020304" pitchFamily="18" charset="0"/>
              </a:rPr>
              <a:t>d. B</a:t>
            </a:r>
          </a:p>
        </p:txBody>
      </p:sp>
      <p:pic>
        <p:nvPicPr>
          <p:cNvPr id="4" name="Graphic 3" descr="Checkmark with solid fill">
            <a:extLst>
              <a:ext uri="{FF2B5EF4-FFF2-40B4-BE49-F238E27FC236}">
                <a16:creationId xmlns:a16="http://schemas.microsoft.com/office/drawing/2014/main" id="{66049184-FE68-ED3F-ED9F-F26F248D2A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200" y="35941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3FC47-C3B9-281C-6F4C-5AB5333914B8}"/>
              </a:ext>
            </a:extLst>
          </p:cNvPr>
          <p:cNvSpPr>
            <a:spLocks noGrp="1"/>
          </p:cNvSpPr>
          <p:nvPr>
            <p:ph idx="1"/>
          </p:nvPr>
        </p:nvSpPr>
        <p:spPr>
          <a:xfrm>
            <a:off x="726440" y="1114425"/>
            <a:ext cx="10515600" cy="4351338"/>
          </a:xfrm>
        </p:spPr>
        <p:txBody>
          <a:bodyPr>
            <a:normAutofit fontScale="92500"/>
          </a:bodyPr>
          <a:lstStyle/>
          <a:p>
            <a:pPr marL="0" indent="0" algn="just">
              <a:buNone/>
            </a:pPr>
            <a:r>
              <a:rPr lang="en-US" sz="4400" b="0" i="0" dirty="0">
                <a:solidFill>
                  <a:srgbClr val="202124"/>
                </a:solidFill>
                <a:effectLst/>
                <a:latin typeface="arial" panose="020B0604020202020204" pitchFamily="34" charset="0"/>
              </a:rPr>
              <a:t>When </a:t>
            </a:r>
            <a:r>
              <a:rPr lang="en-US" sz="4400" b="1" i="0" dirty="0">
                <a:solidFill>
                  <a:srgbClr val="202124"/>
                </a:solidFill>
                <a:effectLst/>
                <a:latin typeface="arial" panose="020B0604020202020204" pitchFamily="34" charset="0"/>
              </a:rPr>
              <a:t>distractors</a:t>
            </a:r>
            <a:r>
              <a:rPr lang="en-US" sz="4400" b="0" i="0" dirty="0">
                <a:solidFill>
                  <a:srgbClr val="202124"/>
                </a:solidFill>
                <a:effectLst/>
                <a:latin typeface="arial" panose="020B0604020202020204" pitchFamily="34" charset="0"/>
              </a:rPr>
              <a:t> are ineffective and obviously incorrect as opposed to being more disguised, then they become ineffective in assessing student knowledge. An effective distractor will attract test takers with a lower overall score than those with a higher overall score.</a:t>
            </a:r>
            <a:endParaRPr lang="en-PH" sz="4400" dirty="0"/>
          </a:p>
        </p:txBody>
      </p:sp>
    </p:spTree>
    <p:extLst>
      <p:ext uri="{BB962C8B-B14F-4D97-AF65-F5344CB8AC3E}">
        <p14:creationId xmlns:p14="http://schemas.microsoft.com/office/powerpoint/2010/main" val="145326169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781685"/>
            <a:ext cx="10515600" cy="1866265"/>
          </a:xfrm>
        </p:spPr>
        <p:txBody>
          <a:bodyPr>
            <a:normAutofit fontScale="90000"/>
          </a:bodyPr>
          <a:lstStyle/>
          <a:p>
            <a:pPr algn="just"/>
            <a:r>
              <a:rPr lang="en-US" dirty="0">
                <a:latin typeface="Amasis MT Pro Black" panose="02040A04050005020304" pitchFamily="18" charset="0"/>
              </a:rPr>
              <a:t>89. What reason will you give to justify the fact that the philosophy is a deductive, rather than an inductive science?</a:t>
            </a:r>
          </a:p>
        </p:txBody>
      </p:sp>
      <p:sp>
        <p:nvSpPr>
          <p:cNvPr id="3" name="Content Placeholder 2"/>
          <p:cNvSpPr>
            <a:spLocks noGrp="1"/>
          </p:cNvSpPr>
          <p:nvPr>
            <p:ph idx="1"/>
          </p:nvPr>
        </p:nvSpPr>
        <p:spPr>
          <a:xfrm>
            <a:off x="665480" y="3414395"/>
            <a:ext cx="10515600" cy="2661920"/>
          </a:xfrm>
        </p:spPr>
        <p:txBody>
          <a:bodyPr>
            <a:normAutofit lnSpcReduction="10000"/>
          </a:bodyPr>
          <a:lstStyle/>
          <a:p>
            <a:pPr marL="0" indent="0">
              <a:buNone/>
            </a:pPr>
            <a:r>
              <a:rPr lang="en-US" sz="4000" dirty="0">
                <a:latin typeface="Amasis MT Pro" panose="02040504050005020304" pitchFamily="18" charset="0"/>
              </a:rPr>
              <a:t>a. it starts from the real to the mental</a:t>
            </a:r>
          </a:p>
          <a:p>
            <a:pPr marL="0" indent="0">
              <a:buNone/>
            </a:pPr>
            <a:r>
              <a:rPr lang="en-US" sz="4000" dirty="0">
                <a:latin typeface="Amasis MT Pro" panose="02040504050005020304" pitchFamily="18" charset="0"/>
              </a:rPr>
              <a:t>b. it starts with the real outside mind</a:t>
            </a:r>
          </a:p>
          <a:p>
            <a:pPr marL="0" indent="0">
              <a:buNone/>
            </a:pPr>
            <a:r>
              <a:rPr lang="en-US" sz="4000" dirty="0">
                <a:latin typeface="Amasis MT Pro" panose="02040504050005020304" pitchFamily="18" charset="0"/>
              </a:rPr>
              <a:t>c. it starts from prior ideas in the mind</a:t>
            </a:r>
          </a:p>
          <a:p>
            <a:pPr marL="0" indent="0">
              <a:buNone/>
            </a:pPr>
            <a:r>
              <a:rPr lang="en-US" sz="4000" dirty="0">
                <a:latin typeface="Amasis MT Pro" panose="02040504050005020304" pitchFamily="18" charset="0"/>
              </a:rPr>
              <a:t>d. it relates external reality to mental ability</a:t>
            </a:r>
          </a:p>
        </p:txBody>
      </p:sp>
      <p:pic>
        <p:nvPicPr>
          <p:cNvPr id="4" name="Graphic 3" descr="Checkmark with solid fill">
            <a:extLst>
              <a:ext uri="{FF2B5EF4-FFF2-40B4-BE49-F238E27FC236}">
                <a16:creationId xmlns:a16="http://schemas.microsoft.com/office/drawing/2014/main" id="{69F0BF56-3093-AA44-C48F-640084ADB9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83040" y="428815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3FC47-C3B9-281C-6F4C-5AB5333914B8}"/>
              </a:ext>
            </a:extLst>
          </p:cNvPr>
          <p:cNvSpPr>
            <a:spLocks noGrp="1"/>
          </p:cNvSpPr>
          <p:nvPr>
            <p:ph idx="1"/>
          </p:nvPr>
        </p:nvSpPr>
        <p:spPr>
          <a:xfrm>
            <a:off x="726440" y="1114425"/>
            <a:ext cx="10515600" cy="4351338"/>
          </a:xfrm>
        </p:spPr>
        <p:txBody>
          <a:bodyPr>
            <a:normAutofit lnSpcReduction="10000"/>
          </a:bodyPr>
          <a:lstStyle/>
          <a:p>
            <a:pPr marL="0" indent="0" algn="just">
              <a:buNone/>
            </a:pPr>
            <a:r>
              <a:rPr lang="en-US" sz="4800" b="0" i="0" dirty="0">
                <a:solidFill>
                  <a:srgbClr val="202124"/>
                </a:solidFill>
                <a:effectLst/>
                <a:latin typeface="arial" panose="020B0604020202020204" pitchFamily="34" charset="0"/>
              </a:rPr>
              <a:t>Both deduction and induction are a type of inference, which means reaching a conclusion based on evidence and reasoning. Deduction moves from idea to observation, while induction moves from observation to idea.</a:t>
            </a:r>
            <a:endParaRPr lang="en-PH" sz="4800" dirty="0"/>
          </a:p>
        </p:txBody>
      </p:sp>
    </p:spTree>
    <p:extLst>
      <p:ext uri="{BB962C8B-B14F-4D97-AF65-F5344CB8AC3E}">
        <p14:creationId xmlns:p14="http://schemas.microsoft.com/office/powerpoint/2010/main" val="6008429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 y="934085"/>
            <a:ext cx="10515600" cy="1325563"/>
          </a:xfrm>
        </p:spPr>
        <p:txBody>
          <a:bodyPr>
            <a:normAutofit/>
          </a:bodyPr>
          <a:lstStyle/>
          <a:p>
            <a:pPr algn="just"/>
            <a:r>
              <a:rPr lang="en-US" dirty="0">
                <a:latin typeface="Amasis MT Pro Black" panose="02040A04050005020304" pitchFamily="18" charset="0"/>
              </a:rPr>
              <a:t>90. What are characteristics of a good classroom layout, structure?</a:t>
            </a:r>
          </a:p>
        </p:txBody>
      </p:sp>
      <p:sp>
        <p:nvSpPr>
          <p:cNvPr id="3" name="Content Placeholder 2"/>
          <p:cNvSpPr>
            <a:spLocks noGrp="1"/>
          </p:cNvSpPr>
          <p:nvPr>
            <p:ph idx="1"/>
          </p:nvPr>
        </p:nvSpPr>
        <p:spPr>
          <a:xfrm>
            <a:off x="838200" y="2875279"/>
            <a:ext cx="10515600" cy="2854643"/>
          </a:xfrm>
        </p:spPr>
        <p:txBody>
          <a:bodyPr>
            <a:normAutofit fontScale="92500"/>
          </a:bodyPr>
          <a:lstStyle/>
          <a:p>
            <a:pPr marL="0" indent="0">
              <a:buNone/>
            </a:pPr>
            <a:r>
              <a:rPr lang="en-US" sz="4000" dirty="0">
                <a:latin typeface="Amasis MT Pro" panose="02040504050005020304" pitchFamily="18" charset="0"/>
              </a:rPr>
              <a:t>a. it is made of concrete not wood material</a:t>
            </a:r>
          </a:p>
          <a:p>
            <a:pPr marL="0" indent="0">
              <a:buNone/>
            </a:pPr>
            <a:r>
              <a:rPr lang="en-US" sz="4000" dirty="0">
                <a:latin typeface="Amasis MT Pro" panose="02040504050005020304" pitchFamily="18" charset="0"/>
              </a:rPr>
              <a:t>b. it ensures a clean, safe and secure environment</a:t>
            </a:r>
          </a:p>
          <a:p>
            <a:pPr marL="0" indent="0">
              <a:buNone/>
            </a:pPr>
            <a:r>
              <a:rPr lang="en-US" sz="4000" dirty="0">
                <a:latin typeface="Amasis MT Pro" panose="02040504050005020304" pitchFamily="18" charset="0"/>
              </a:rPr>
              <a:t>c. it fits the aesthetic taste of the principal</a:t>
            </a:r>
          </a:p>
          <a:p>
            <a:pPr marL="0" indent="0">
              <a:buNone/>
            </a:pPr>
            <a:r>
              <a:rPr lang="en-US" sz="4000" dirty="0">
                <a:latin typeface="Amasis MT Pro" panose="02040504050005020304" pitchFamily="18" charset="0"/>
              </a:rPr>
              <a:t>d. it accommodates desk and chairs</a:t>
            </a:r>
          </a:p>
        </p:txBody>
      </p:sp>
      <p:pic>
        <p:nvPicPr>
          <p:cNvPr id="4" name="Graphic 3" descr="Checkmark with solid fill">
            <a:extLst>
              <a:ext uri="{FF2B5EF4-FFF2-40B4-BE49-F238E27FC236}">
                <a16:creationId xmlns:a16="http://schemas.microsoft.com/office/drawing/2014/main" id="{DA45E580-6629-ECBE-ADBB-AE2864FF6C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32283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3FC47-C3B9-281C-6F4C-5AB5333914B8}"/>
              </a:ext>
            </a:extLst>
          </p:cNvPr>
          <p:cNvSpPr>
            <a:spLocks noGrp="1"/>
          </p:cNvSpPr>
          <p:nvPr>
            <p:ph idx="1"/>
          </p:nvPr>
        </p:nvSpPr>
        <p:spPr>
          <a:xfrm>
            <a:off x="726440" y="1114425"/>
            <a:ext cx="10515600" cy="4351338"/>
          </a:xfrm>
        </p:spPr>
        <p:txBody>
          <a:bodyPr>
            <a:normAutofit/>
          </a:bodyPr>
          <a:lstStyle/>
          <a:p>
            <a:pPr marL="0" indent="0" algn="just">
              <a:buNone/>
            </a:pPr>
            <a:r>
              <a:rPr lang="en-US" sz="4800" b="0" i="0" dirty="0">
                <a:solidFill>
                  <a:srgbClr val="202124"/>
                </a:solidFill>
                <a:effectLst/>
                <a:latin typeface="arial" panose="020B0604020202020204" pitchFamily="34" charset="0"/>
              </a:rPr>
              <a:t>“A </a:t>
            </a:r>
            <a:r>
              <a:rPr lang="en-US" sz="4800" b="1" i="0" dirty="0">
                <a:solidFill>
                  <a:srgbClr val="202124"/>
                </a:solidFill>
                <a:effectLst/>
                <a:latin typeface="arial" panose="020B0604020202020204" pitchFamily="34" charset="0"/>
              </a:rPr>
              <a:t>conducive environment for learning</a:t>
            </a:r>
            <a:r>
              <a:rPr lang="en-US" sz="4800" b="0" i="0" dirty="0">
                <a:solidFill>
                  <a:srgbClr val="202124"/>
                </a:solidFill>
                <a:effectLst/>
                <a:latin typeface="arial" panose="020B0604020202020204" pitchFamily="34" charset="0"/>
              </a:rPr>
              <a:t>, such as one with comfortable classroom set-ups, relevant use of teaching materials and interesting classroom activities, will further motivate the students to learn.</a:t>
            </a:r>
            <a:endParaRPr lang="en-PH" sz="4800" dirty="0"/>
          </a:p>
        </p:txBody>
      </p:sp>
    </p:spTree>
    <p:extLst>
      <p:ext uri="{BB962C8B-B14F-4D97-AF65-F5344CB8AC3E}">
        <p14:creationId xmlns:p14="http://schemas.microsoft.com/office/powerpoint/2010/main" val="163957311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9121"/>
            <a:ext cx="10515600" cy="2376805"/>
          </a:xfrm>
        </p:spPr>
        <p:txBody>
          <a:bodyPr>
            <a:normAutofit fontScale="90000"/>
          </a:bodyPr>
          <a:lstStyle/>
          <a:p>
            <a:pPr algn="just"/>
            <a:r>
              <a:rPr lang="en-US" dirty="0">
                <a:latin typeface="Amasis MT Pro Black" panose="02040A04050005020304" pitchFamily="18" charset="0"/>
              </a:rPr>
              <a:t>91. What is the philosophy behind Philippine schools that seek to promote democratic opportunities for all and humanistic education through lifelong learning?</a:t>
            </a:r>
          </a:p>
        </p:txBody>
      </p:sp>
      <p:sp>
        <p:nvSpPr>
          <p:cNvPr id="3" name="Content Placeholder 2"/>
          <p:cNvSpPr>
            <a:spLocks noGrp="1"/>
          </p:cNvSpPr>
          <p:nvPr>
            <p:ph idx="1"/>
          </p:nvPr>
        </p:nvSpPr>
        <p:spPr>
          <a:xfrm>
            <a:off x="838200" y="3332480"/>
            <a:ext cx="10515600" cy="2844799"/>
          </a:xfrm>
        </p:spPr>
        <p:txBody>
          <a:bodyPr>
            <a:normAutofit/>
          </a:bodyPr>
          <a:lstStyle/>
          <a:p>
            <a:pPr marL="0" indent="0">
              <a:buNone/>
            </a:pPr>
            <a:r>
              <a:rPr lang="en-US" sz="4000" dirty="0">
                <a:latin typeface="Amasis MT Pro" panose="02040504050005020304" pitchFamily="18" charset="0"/>
              </a:rPr>
              <a:t>a. perennialism</a:t>
            </a:r>
          </a:p>
          <a:p>
            <a:pPr marL="0" indent="0">
              <a:buNone/>
            </a:pPr>
            <a:r>
              <a:rPr lang="en-US" sz="4000" dirty="0">
                <a:latin typeface="Amasis MT Pro" panose="02040504050005020304" pitchFamily="18" charset="0"/>
              </a:rPr>
              <a:t>b. classical education</a:t>
            </a:r>
          </a:p>
          <a:p>
            <a:pPr marL="0" indent="0">
              <a:buNone/>
            </a:pPr>
            <a:r>
              <a:rPr lang="en-US" sz="4000" dirty="0">
                <a:latin typeface="Amasis MT Pro" panose="02040504050005020304" pitchFamily="18" charset="0"/>
              </a:rPr>
              <a:t>c. positivism</a:t>
            </a:r>
          </a:p>
          <a:p>
            <a:pPr marL="0" indent="0">
              <a:buNone/>
            </a:pPr>
            <a:r>
              <a:rPr lang="en-US" sz="4000" dirty="0">
                <a:latin typeface="Amasis MT Pro" panose="02040504050005020304" pitchFamily="18" charset="0"/>
              </a:rPr>
              <a:t>d. progressivism</a:t>
            </a:r>
          </a:p>
        </p:txBody>
      </p:sp>
      <p:pic>
        <p:nvPicPr>
          <p:cNvPr id="4" name="Graphic 3" descr="Checkmark with solid fill">
            <a:extLst>
              <a:ext uri="{FF2B5EF4-FFF2-40B4-BE49-F238E27FC236}">
                <a16:creationId xmlns:a16="http://schemas.microsoft.com/office/drawing/2014/main" id="{4DE2D831-6229-F73B-E1FE-22ADE1AF66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00880" y="515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6082" name="Picture 2" descr="Educational Progressivism - ppt download">
            <a:extLst>
              <a:ext uri="{FF2B5EF4-FFF2-40B4-BE49-F238E27FC236}">
                <a16:creationId xmlns:a16="http://schemas.microsoft.com/office/drawing/2014/main" id="{193FE832-2FCE-B3F9-4EEB-A3F37D7916B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39469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31135"/>
          </a:xfrm>
        </p:spPr>
        <p:txBody>
          <a:bodyPr>
            <a:normAutofit/>
          </a:bodyPr>
          <a:lstStyle/>
          <a:p>
            <a:pPr algn="just"/>
            <a:r>
              <a:rPr lang="en-US" dirty="0">
                <a:latin typeface="Amasis MT Pro Black" panose="02040A04050005020304" pitchFamily="18" charset="0"/>
              </a:rPr>
              <a:t>92. Complete the analogy.</a:t>
            </a:r>
            <a:br>
              <a:rPr lang="en-US" dirty="0">
                <a:latin typeface="Amasis MT Pro Black" panose="02040A04050005020304" pitchFamily="18" charset="0"/>
              </a:rPr>
            </a:br>
            <a:r>
              <a:rPr lang="en-US" dirty="0">
                <a:latin typeface="Amasis MT Pro Black" panose="02040A04050005020304" pitchFamily="18" charset="0"/>
              </a:rPr>
              <a:t>School heads: National competency-based standards for school</a:t>
            </a:r>
            <a:br>
              <a:rPr lang="en-US" dirty="0">
                <a:latin typeface="Amasis MT Pro Black" panose="02040A04050005020304" pitchFamily="18" charset="0"/>
              </a:rPr>
            </a:br>
            <a:r>
              <a:rPr lang="en-US" dirty="0">
                <a:latin typeface="Amasis MT Pro Black" panose="02040A04050005020304" pitchFamily="18" charset="0"/>
              </a:rPr>
              <a:t>Head::teachers: ____________________</a:t>
            </a:r>
          </a:p>
        </p:txBody>
      </p:sp>
      <p:sp>
        <p:nvSpPr>
          <p:cNvPr id="3" name="Content Placeholder 2"/>
          <p:cNvSpPr>
            <a:spLocks noGrp="1"/>
          </p:cNvSpPr>
          <p:nvPr>
            <p:ph idx="1"/>
          </p:nvPr>
        </p:nvSpPr>
        <p:spPr>
          <a:xfrm>
            <a:off x="838200" y="3096260"/>
            <a:ext cx="10515600" cy="3081020"/>
          </a:xfrm>
        </p:spPr>
        <p:txBody>
          <a:bodyPr>
            <a:normAutofit fontScale="92500"/>
          </a:bodyPr>
          <a:lstStyle/>
          <a:p>
            <a:pPr marL="0" indent="0" algn="just">
              <a:buNone/>
            </a:pPr>
            <a:r>
              <a:rPr lang="en-US" sz="4000" dirty="0">
                <a:latin typeface="Amasis MT Pro" panose="02040504050005020304" pitchFamily="18" charset="0"/>
              </a:rPr>
              <a:t>a. National competency-based teacher standards</a:t>
            </a:r>
          </a:p>
          <a:p>
            <a:pPr marL="0" indent="0" algn="just">
              <a:buNone/>
            </a:pPr>
            <a:r>
              <a:rPr lang="en-US" sz="4000" dirty="0">
                <a:latin typeface="Amasis MT Pro" panose="02040504050005020304" pitchFamily="18" charset="0"/>
              </a:rPr>
              <a:t>b. Professional Philippine standards for teachers</a:t>
            </a:r>
          </a:p>
          <a:p>
            <a:pPr marL="0" indent="0" algn="just">
              <a:buNone/>
            </a:pPr>
            <a:r>
              <a:rPr lang="en-US" sz="4000" dirty="0">
                <a:latin typeface="Amasis MT Pro" panose="02040504050005020304" pitchFamily="18" charset="0"/>
              </a:rPr>
              <a:t>c. National competency-based teaching standards</a:t>
            </a:r>
          </a:p>
          <a:p>
            <a:pPr marL="0" indent="0" algn="just">
              <a:buNone/>
            </a:pPr>
            <a:r>
              <a:rPr lang="en-US" sz="4000" dirty="0">
                <a:latin typeface="Amasis MT Pro" panose="02040504050005020304" pitchFamily="18" charset="0"/>
              </a:rPr>
              <a:t>d. Philippine professional standards for teachers</a:t>
            </a:r>
          </a:p>
        </p:txBody>
      </p:sp>
      <p:pic>
        <p:nvPicPr>
          <p:cNvPr id="4" name="Graphic 3" descr="Checkmark with solid fill">
            <a:extLst>
              <a:ext uri="{FF2B5EF4-FFF2-40B4-BE49-F238E27FC236}">
                <a16:creationId xmlns:a16="http://schemas.microsoft.com/office/drawing/2014/main" id="{C5D46799-78B3-3FC6-A3C2-04D625BA75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76560" y="4721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7108" name="Picture 4" descr="Philippine Professional Standards for Teachers (PPST) - TeacherPH">
            <a:extLst>
              <a:ext uri="{FF2B5EF4-FFF2-40B4-BE49-F238E27FC236}">
                <a16:creationId xmlns:a16="http://schemas.microsoft.com/office/drawing/2014/main" id="{3F8A7971-5F17-90D3-7D3D-DA2712726C1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0222" y="643466"/>
            <a:ext cx="10611556"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4986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1269365"/>
            <a:ext cx="10515600" cy="1325563"/>
          </a:xfrm>
        </p:spPr>
        <p:txBody>
          <a:bodyPr>
            <a:normAutofit/>
          </a:bodyPr>
          <a:lstStyle/>
          <a:p>
            <a:pPr algn="just"/>
            <a:r>
              <a:rPr lang="en-US" dirty="0">
                <a:latin typeface="Amasis MT Pro Black" panose="02040A04050005020304" pitchFamily="18" charset="0"/>
              </a:rPr>
              <a:t>93. Which contributes to balance in sexuality in male and female?</a:t>
            </a:r>
          </a:p>
        </p:txBody>
      </p:sp>
      <p:sp>
        <p:nvSpPr>
          <p:cNvPr id="3" name="Content Placeholder 2"/>
          <p:cNvSpPr>
            <a:spLocks noGrp="1"/>
          </p:cNvSpPr>
          <p:nvPr>
            <p:ph idx="1"/>
          </p:nvPr>
        </p:nvSpPr>
        <p:spPr>
          <a:xfrm>
            <a:off x="838200" y="3322319"/>
            <a:ext cx="10515600" cy="2854643"/>
          </a:xfrm>
        </p:spPr>
        <p:txBody>
          <a:bodyPr>
            <a:normAutofit/>
          </a:bodyPr>
          <a:lstStyle/>
          <a:p>
            <a:pPr marL="0" indent="0">
              <a:buNone/>
            </a:pPr>
            <a:r>
              <a:rPr lang="en-US" sz="4000" dirty="0">
                <a:latin typeface="Amasis MT Pro" panose="02040504050005020304" pitchFamily="18" charset="0"/>
              </a:rPr>
              <a:t>a. myelin sheet</a:t>
            </a:r>
          </a:p>
          <a:p>
            <a:pPr marL="0" indent="0">
              <a:buNone/>
            </a:pPr>
            <a:r>
              <a:rPr lang="en-US" sz="4000" dirty="0">
                <a:latin typeface="Amasis MT Pro" panose="02040504050005020304" pitchFamily="18" charset="0"/>
              </a:rPr>
              <a:t>b. blood vessels</a:t>
            </a:r>
          </a:p>
          <a:p>
            <a:pPr marL="0" indent="0">
              <a:buNone/>
            </a:pPr>
            <a:r>
              <a:rPr lang="en-US" sz="4000" dirty="0">
                <a:latin typeface="Amasis MT Pro" panose="02040504050005020304" pitchFamily="18" charset="0"/>
              </a:rPr>
              <a:t>c. hormones</a:t>
            </a:r>
          </a:p>
          <a:p>
            <a:pPr marL="0" indent="0">
              <a:buNone/>
            </a:pPr>
            <a:r>
              <a:rPr lang="en-US" sz="4000" dirty="0">
                <a:latin typeface="Amasis MT Pro" panose="02040504050005020304" pitchFamily="18" charset="0"/>
              </a:rPr>
              <a:t>d. chromosomes</a:t>
            </a:r>
          </a:p>
        </p:txBody>
      </p:sp>
      <p:pic>
        <p:nvPicPr>
          <p:cNvPr id="4" name="Graphic 3" descr="Checkmark with solid fill">
            <a:extLst>
              <a:ext uri="{FF2B5EF4-FFF2-40B4-BE49-F238E27FC236}">
                <a16:creationId xmlns:a16="http://schemas.microsoft.com/office/drawing/2014/main" id="{9C365FC7-0482-F8F6-99FC-479E4F54E3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9520" y="44373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130" name="Picture 2" descr="Male and female hormones, their production source and main function (14). |  Download Table">
            <a:extLst>
              <a:ext uri="{FF2B5EF4-FFF2-40B4-BE49-F238E27FC236}">
                <a16:creationId xmlns:a16="http://schemas.microsoft.com/office/drawing/2014/main" id="{6F80308E-1EA1-2D5E-0274-EC46066E00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910"/>
          <a:stretch/>
        </p:blipFill>
        <p:spPr bwMode="auto">
          <a:xfrm>
            <a:off x="952064" y="643466"/>
            <a:ext cx="1028787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87396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94635"/>
          </a:xfrm>
        </p:spPr>
        <p:txBody>
          <a:bodyPr>
            <a:normAutofit fontScale="90000"/>
          </a:bodyPr>
          <a:lstStyle/>
          <a:p>
            <a:pPr algn="just"/>
            <a:r>
              <a:rPr lang="en-US" dirty="0">
                <a:latin typeface="Amasis MT Pro Black" panose="02040A04050005020304" pitchFamily="18" charset="0"/>
              </a:rPr>
              <a:t>94. What role is the library or learning resource center fulfilling by helping students and teachers find resource materials in other schools which are part of their consortium of schools?</a:t>
            </a:r>
          </a:p>
        </p:txBody>
      </p:sp>
      <p:sp>
        <p:nvSpPr>
          <p:cNvPr id="3" name="Content Placeholder 2"/>
          <p:cNvSpPr>
            <a:spLocks noGrp="1"/>
          </p:cNvSpPr>
          <p:nvPr>
            <p:ph idx="1"/>
          </p:nvPr>
        </p:nvSpPr>
        <p:spPr>
          <a:xfrm>
            <a:off x="838200" y="3428999"/>
            <a:ext cx="10515600" cy="3042285"/>
          </a:xfrm>
        </p:spPr>
        <p:txBody>
          <a:bodyPr>
            <a:normAutofit/>
          </a:bodyPr>
          <a:lstStyle/>
          <a:p>
            <a:pPr marL="0" indent="0">
              <a:buNone/>
            </a:pPr>
            <a:r>
              <a:rPr lang="en-US" sz="4000" dirty="0">
                <a:latin typeface="Amasis MT Pro" panose="02040504050005020304" pitchFamily="18" charset="0"/>
              </a:rPr>
              <a:t>a. coordinating</a:t>
            </a:r>
          </a:p>
          <a:p>
            <a:pPr marL="0" indent="0">
              <a:buNone/>
            </a:pPr>
            <a:r>
              <a:rPr lang="en-US" sz="4000" dirty="0">
                <a:latin typeface="Amasis MT Pro" panose="02040504050005020304" pitchFamily="18" charset="0"/>
              </a:rPr>
              <a:t>b. training</a:t>
            </a:r>
          </a:p>
          <a:p>
            <a:pPr marL="0" indent="0">
              <a:buNone/>
            </a:pPr>
            <a:r>
              <a:rPr lang="en-US" sz="4000" dirty="0">
                <a:latin typeface="Amasis MT Pro" panose="02040504050005020304" pitchFamily="18" charset="0"/>
              </a:rPr>
              <a:t>c. instructing</a:t>
            </a:r>
          </a:p>
          <a:p>
            <a:pPr marL="0" indent="0">
              <a:buNone/>
            </a:pPr>
            <a:r>
              <a:rPr lang="en-US" sz="4000" dirty="0">
                <a:latin typeface="Amasis MT Pro" panose="02040504050005020304" pitchFamily="18" charset="0"/>
              </a:rPr>
              <a:t>d. researching</a:t>
            </a:r>
          </a:p>
        </p:txBody>
      </p:sp>
      <p:pic>
        <p:nvPicPr>
          <p:cNvPr id="4" name="Graphic 3" descr="Checkmark with solid fill">
            <a:extLst>
              <a:ext uri="{FF2B5EF4-FFF2-40B4-BE49-F238E27FC236}">
                <a16:creationId xmlns:a16="http://schemas.microsoft.com/office/drawing/2014/main" id="{ABA78897-A99A-E45A-F732-349D382525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6080" y="31597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87A72-7324-6608-3160-A68A3C70B8B8}"/>
              </a:ext>
            </a:extLst>
          </p:cNvPr>
          <p:cNvSpPr>
            <a:spLocks noGrp="1"/>
          </p:cNvSpPr>
          <p:nvPr>
            <p:ph idx="1"/>
          </p:nvPr>
        </p:nvSpPr>
        <p:spPr>
          <a:xfrm>
            <a:off x="838200" y="1327785"/>
            <a:ext cx="10515600" cy="4351338"/>
          </a:xfrm>
        </p:spPr>
        <p:txBody>
          <a:bodyPr>
            <a:normAutofit/>
          </a:bodyPr>
          <a:lstStyle/>
          <a:p>
            <a:pPr marL="0" indent="0" algn="just">
              <a:buNone/>
            </a:pPr>
            <a:r>
              <a:rPr lang="en-US" sz="4400" dirty="0"/>
              <a:t>A </a:t>
            </a:r>
            <a:r>
              <a:rPr lang="en-US" sz="4400" b="1" dirty="0"/>
              <a:t>learning resource center (LRC)</a:t>
            </a:r>
            <a:r>
              <a:rPr lang="en-US" sz="4400" dirty="0"/>
              <a:t> is a facility within a school, staffed by a specialist, containing several information sources to facilitate education for students and staff. It differs from a regular school library in its additional focus on multimedia resources and information technology.</a:t>
            </a:r>
            <a:endParaRPr lang="en-PH" sz="4400" dirty="0"/>
          </a:p>
        </p:txBody>
      </p:sp>
    </p:spTree>
    <p:extLst>
      <p:ext uri="{BB962C8B-B14F-4D97-AF65-F5344CB8AC3E}">
        <p14:creationId xmlns:p14="http://schemas.microsoft.com/office/powerpoint/2010/main" val="406147844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420" y="396240"/>
            <a:ext cx="11059160" cy="2950845"/>
          </a:xfrm>
        </p:spPr>
        <p:txBody>
          <a:bodyPr>
            <a:normAutofit fontScale="90000"/>
          </a:bodyPr>
          <a:lstStyle/>
          <a:p>
            <a:pPr algn="just"/>
            <a:r>
              <a:rPr lang="en-US" dirty="0">
                <a:latin typeface="Amasis MT Pro Black" panose="02040A04050005020304" pitchFamily="18" charset="0"/>
              </a:rPr>
              <a:t>95. Which of the following comments by the teacher can likely motivate learners to try harder rather than give up on learning?</a:t>
            </a:r>
            <a:br>
              <a:rPr lang="en-US" dirty="0">
                <a:latin typeface="Amasis MT Pro Black" panose="02040A04050005020304" pitchFamily="18" charset="0"/>
              </a:rPr>
            </a:br>
            <a:endParaRPr lang="en-US" dirty="0">
              <a:latin typeface="Amasis MT Pro Black" panose="02040A04050005020304" pitchFamily="18" charset="0"/>
            </a:endParaRPr>
          </a:p>
        </p:txBody>
      </p:sp>
      <p:sp>
        <p:nvSpPr>
          <p:cNvPr id="3" name="Content Placeholder 2"/>
          <p:cNvSpPr>
            <a:spLocks noGrp="1"/>
          </p:cNvSpPr>
          <p:nvPr>
            <p:ph idx="1"/>
          </p:nvPr>
        </p:nvSpPr>
        <p:spPr>
          <a:xfrm>
            <a:off x="665480" y="3713480"/>
            <a:ext cx="10515600" cy="2748280"/>
          </a:xfrm>
        </p:spPr>
        <p:txBody>
          <a:bodyPr>
            <a:normAutofit/>
          </a:bodyPr>
          <a:lstStyle/>
          <a:p>
            <a:pPr marL="0" indent="0">
              <a:buNone/>
            </a:pPr>
            <a:r>
              <a:rPr lang="en-US" sz="2400" dirty="0">
                <a:latin typeface="Amasis MT Pro" panose="02040504050005020304" pitchFamily="18" charset="0"/>
              </a:rPr>
              <a:t>a. “Ok lang kung </a:t>
            </a:r>
            <a:r>
              <a:rPr lang="en-US" sz="2400" dirty="0" err="1">
                <a:latin typeface="Amasis MT Pro" panose="02040504050005020304" pitchFamily="18" charset="0"/>
              </a:rPr>
              <a:t>hindi</a:t>
            </a:r>
            <a:r>
              <a:rPr lang="en-US" sz="2400" dirty="0">
                <a:latin typeface="Amasis MT Pro" panose="02040504050005020304" pitchFamily="18" charset="0"/>
              </a:rPr>
              <a:t> natin </a:t>
            </a:r>
            <a:r>
              <a:rPr lang="en-US" sz="2400" dirty="0" err="1">
                <a:latin typeface="Amasis MT Pro" panose="02040504050005020304" pitchFamily="18" charset="0"/>
              </a:rPr>
              <a:t>maunawaan</a:t>
            </a:r>
            <a:r>
              <a:rPr lang="en-US" sz="2400" dirty="0">
                <a:latin typeface="Amasis MT Pro" panose="02040504050005020304" pitchFamily="18" charset="0"/>
              </a:rPr>
              <a:t>, </a:t>
            </a:r>
            <a:r>
              <a:rPr lang="en-US" sz="2400" dirty="0" err="1">
                <a:latin typeface="Amasis MT Pro" panose="02040504050005020304" pitchFamily="18" charset="0"/>
              </a:rPr>
              <a:t>bahala</a:t>
            </a:r>
            <a:r>
              <a:rPr lang="en-US" sz="2400" dirty="0">
                <a:latin typeface="Amasis MT Pro" panose="02040504050005020304" pitchFamily="18" charset="0"/>
              </a:rPr>
              <a:t> </a:t>
            </a:r>
            <a:r>
              <a:rPr lang="en-US" sz="2400" dirty="0" err="1">
                <a:latin typeface="Amasis MT Pro" panose="02040504050005020304" pitchFamily="18" charset="0"/>
              </a:rPr>
              <a:t>na</a:t>
            </a:r>
            <a:r>
              <a:rPr lang="en-US" sz="2400" dirty="0">
                <a:latin typeface="Amasis MT Pro" panose="02040504050005020304" pitchFamily="18" charset="0"/>
              </a:rPr>
              <a:t> ang </a:t>
            </a:r>
            <a:r>
              <a:rPr lang="en-US" sz="2400" dirty="0" err="1">
                <a:latin typeface="Amasis MT Pro" panose="02040504050005020304" pitchFamily="18" charset="0"/>
              </a:rPr>
              <a:t>diyos</a:t>
            </a:r>
            <a:r>
              <a:rPr lang="en-US" sz="2400" dirty="0">
                <a:latin typeface="Amasis MT Pro" panose="02040504050005020304" pitchFamily="18" charset="0"/>
              </a:rPr>
              <a:t> </a:t>
            </a:r>
            <a:r>
              <a:rPr lang="en-US" sz="2400" dirty="0" err="1">
                <a:latin typeface="Amasis MT Pro" panose="02040504050005020304" pitchFamily="18" charset="0"/>
              </a:rPr>
              <a:t>sa</a:t>
            </a:r>
            <a:r>
              <a:rPr lang="en-US" sz="2400" dirty="0">
                <a:latin typeface="Amasis MT Pro" panose="02040504050005020304" pitchFamily="18" charset="0"/>
              </a:rPr>
              <a:t> </a:t>
            </a:r>
            <a:r>
              <a:rPr lang="en-US" sz="2400" dirty="0" err="1">
                <a:latin typeface="Amasis MT Pro" panose="02040504050005020304" pitchFamily="18" charset="0"/>
              </a:rPr>
              <a:t>atin</a:t>
            </a:r>
            <a:r>
              <a:rPr lang="en-US" sz="2400" dirty="0">
                <a:latin typeface="Amasis MT Pro" panose="02040504050005020304" pitchFamily="18" charset="0"/>
              </a:rPr>
              <a:t>”</a:t>
            </a:r>
          </a:p>
          <a:p>
            <a:pPr marL="0" indent="0">
              <a:buNone/>
            </a:pPr>
            <a:r>
              <a:rPr lang="en-US" sz="2400" dirty="0">
                <a:latin typeface="Amasis MT Pro" panose="02040504050005020304" pitchFamily="18" charset="0"/>
              </a:rPr>
              <a:t>b. “</a:t>
            </a:r>
            <a:r>
              <a:rPr lang="en-US" sz="2400" dirty="0" err="1">
                <a:latin typeface="Amasis MT Pro" panose="02040504050005020304" pitchFamily="18" charset="0"/>
              </a:rPr>
              <a:t>Hayaan</a:t>
            </a:r>
            <a:r>
              <a:rPr lang="en-US" sz="2400" dirty="0">
                <a:latin typeface="Amasis MT Pro" panose="02040504050005020304" pitchFamily="18" charset="0"/>
              </a:rPr>
              <a:t> lang </a:t>
            </a:r>
            <a:r>
              <a:rPr lang="en-US" sz="2400" dirty="0" err="1">
                <a:latin typeface="Amasis MT Pro" panose="02040504050005020304" pitchFamily="18" charset="0"/>
              </a:rPr>
              <a:t>nating</a:t>
            </a:r>
            <a:r>
              <a:rPr lang="en-US" sz="2400" dirty="0">
                <a:latin typeface="Amasis MT Pro" panose="02040504050005020304" pitchFamily="18" charset="0"/>
              </a:rPr>
              <a:t> </a:t>
            </a:r>
            <a:r>
              <a:rPr lang="en-US" sz="2400" dirty="0" err="1">
                <a:latin typeface="Amasis MT Pro" panose="02040504050005020304" pitchFamily="18" charset="0"/>
              </a:rPr>
              <a:t>mang-unawa</a:t>
            </a:r>
            <a:r>
              <a:rPr lang="en-US" sz="2400" dirty="0">
                <a:latin typeface="Amasis MT Pro" panose="02040504050005020304" pitchFamily="18" charset="0"/>
              </a:rPr>
              <a:t> ang </a:t>
            </a:r>
            <a:r>
              <a:rPr lang="en-US" sz="2400" dirty="0" err="1">
                <a:latin typeface="Amasis MT Pro" panose="02040504050005020304" pitchFamily="18" charset="0"/>
              </a:rPr>
              <a:t>magagaling</a:t>
            </a:r>
            <a:r>
              <a:rPr lang="en-US" sz="2400" dirty="0">
                <a:latin typeface="Amasis MT Pro" panose="02040504050005020304" pitchFamily="18" charset="0"/>
              </a:rPr>
              <a:t> </a:t>
            </a:r>
            <a:r>
              <a:rPr lang="en-US" sz="2400" dirty="0" err="1">
                <a:latin typeface="Amasis MT Pro" panose="02040504050005020304" pitchFamily="18" charset="0"/>
              </a:rPr>
              <a:t>sa</a:t>
            </a:r>
            <a:r>
              <a:rPr lang="en-US" sz="2400" dirty="0">
                <a:latin typeface="Amasis MT Pro" panose="02040504050005020304" pitchFamily="18" charset="0"/>
              </a:rPr>
              <a:t> </a:t>
            </a:r>
            <a:r>
              <a:rPr lang="en-US" sz="2400" dirty="0" err="1">
                <a:latin typeface="Amasis MT Pro" panose="02040504050005020304" pitchFamily="18" charset="0"/>
              </a:rPr>
              <a:t>atin</a:t>
            </a:r>
            <a:r>
              <a:rPr lang="en-US" sz="2400" dirty="0">
                <a:latin typeface="Amasis MT Pro" panose="02040504050005020304" pitchFamily="18" charset="0"/>
              </a:rPr>
              <a:t>”</a:t>
            </a:r>
          </a:p>
          <a:p>
            <a:pPr marL="0" indent="0">
              <a:buNone/>
            </a:pPr>
            <a:r>
              <a:rPr lang="en-US" sz="2400" dirty="0">
                <a:latin typeface="Amasis MT Pro" panose="02040504050005020304" pitchFamily="18" charset="0"/>
              </a:rPr>
              <a:t>c. “</a:t>
            </a:r>
            <a:r>
              <a:rPr lang="en-US" sz="2400" dirty="0" err="1">
                <a:latin typeface="Amasis MT Pro" panose="02040504050005020304" pitchFamily="18" charset="0"/>
              </a:rPr>
              <a:t>Bigyan</a:t>
            </a:r>
            <a:r>
              <a:rPr lang="en-US" sz="2400" dirty="0">
                <a:latin typeface="Amasis MT Pro" panose="02040504050005020304" pitchFamily="18" charset="0"/>
              </a:rPr>
              <a:t> natin ng </a:t>
            </a:r>
            <a:r>
              <a:rPr lang="en-US" sz="2400" dirty="0" err="1">
                <a:latin typeface="Amasis MT Pro" panose="02040504050005020304" pitchFamily="18" charset="0"/>
              </a:rPr>
              <a:t>panahon</a:t>
            </a:r>
            <a:r>
              <a:rPr lang="en-US" sz="2400" dirty="0">
                <a:latin typeface="Amasis MT Pro" panose="02040504050005020304" pitchFamily="18" charset="0"/>
              </a:rPr>
              <a:t>, at </a:t>
            </a:r>
            <a:r>
              <a:rPr lang="en-US" sz="2400" dirty="0" err="1">
                <a:latin typeface="Amasis MT Pro" panose="02040504050005020304" pitchFamily="18" charset="0"/>
              </a:rPr>
              <a:t>lalaban</a:t>
            </a:r>
            <a:r>
              <a:rPr lang="en-US" sz="2400" dirty="0">
                <a:latin typeface="Amasis MT Pro" panose="02040504050005020304" pitchFamily="18" charset="0"/>
              </a:rPr>
              <a:t> din ang </a:t>
            </a:r>
            <a:r>
              <a:rPr lang="en-US" sz="2400" dirty="0" err="1">
                <a:latin typeface="Amasis MT Pro" panose="02040504050005020304" pitchFamily="18" charset="0"/>
              </a:rPr>
              <a:t>ating</a:t>
            </a:r>
            <a:r>
              <a:rPr lang="en-US" sz="2400" dirty="0">
                <a:latin typeface="Amasis MT Pro" panose="02040504050005020304" pitchFamily="18" charset="0"/>
              </a:rPr>
              <a:t> pang </a:t>
            </a:r>
            <a:r>
              <a:rPr lang="en-US" sz="2400" dirty="0" err="1">
                <a:latin typeface="Amasis MT Pro" panose="02040504050005020304" pitchFamily="18" charset="0"/>
              </a:rPr>
              <a:t>unawa</a:t>
            </a:r>
            <a:r>
              <a:rPr lang="en-US" sz="2400" dirty="0">
                <a:latin typeface="Amasis MT Pro" panose="02040504050005020304" pitchFamily="18" charset="0"/>
              </a:rPr>
              <a:t> ng </a:t>
            </a:r>
            <a:r>
              <a:rPr lang="en-US" sz="2400" dirty="0" err="1">
                <a:latin typeface="Amasis MT Pro" panose="02040504050005020304" pitchFamily="18" charset="0"/>
              </a:rPr>
              <a:t>paksa</a:t>
            </a:r>
            <a:r>
              <a:rPr lang="en-US" sz="2400" dirty="0">
                <a:latin typeface="Amasis MT Pro" panose="02040504050005020304" pitchFamily="18" charset="0"/>
              </a:rPr>
              <a:t>”</a:t>
            </a:r>
          </a:p>
          <a:p>
            <a:pPr marL="0" indent="0">
              <a:buNone/>
            </a:pPr>
            <a:r>
              <a:rPr lang="en-US" sz="2400" dirty="0">
                <a:latin typeface="Amasis MT Pro" panose="02040504050005020304" pitchFamily="18" charset="0"/>
              </a:rPr>
              <a:t>d. “</a:t>
            </a:r>
            <a:r>
              <a:rPr lang="en-US" sz="2400" dirty="0" err="1">
                <a:latin typeface="Amasis MT Pro" panose="02040504050005020304" pitchFamily="18" charset="0"/>
              </a:rPr>
              <a:t>Kapag</a:t>
            </a:r>
            <a:r>
              <a:rPr lang="en-US" sz="2400" dirty="0">
                <a:latin typeface="Amasis MT Pro" panose="02040504050005020304" pitchFamily="18" charset="0"/>
              </a:rPr>
              <a:t> </a:t>
            </a:r>
            <a:r>
              <a:rPr lang="en-US" sz="2400" dirty="0" err="1">
                <a:latin typeface="Amasis MT Pro" panose="02040504050005020304" pitchFamily="18" charset="0"/>
              </a:rPr>
              <a:t>mahirap</a:t>
            </a:r>
            <a:r>
              <a:rPr lang="en-US" sz="2400" dirty="0">
                <a:latin typeface="Amasis MT Pro" panose="02040504050005020304" pitchFamily="18" charset="0"/>
              </a:rPr>
              <a:t> ang </a:t>
            </a:r>
            <a:r>
              <a:rPr lang="en-US" sz="2400" dirty="0" err="1">
                <a:latin typeface="Amasis MT Pro" panose="02040504050005020304" pitchFamily="18" charset="0"/>
              </a:rPr>
              <a:t>paksa</a:t>
            </a:r>
            <a:r>
              <a:rPr lang="en-US" sz="2400" dirty="0">
                <a:latin typeface="Amasis MT Pro" panose="02040504050005020304" pitchFamily="18" charset="0"/>
              </a:rPr>
              <a:t>, </a:t>
            </a:r>
            <a:r>
              <a:rPr lang="en-US" sz="2400" dirty="0" err="1">
                <a:latin typeface="Amasis MT Pro" panose="02040504050005020304" pitchFamily="18" charset="0"/>
              </a:rPr>
              <a:t>mahirap</a:t>
            </a:r>
            <a:r>
              <a:rPr lang="en-US" sz="2400" dirty="0">
                <a:latin typeface="Amasis MT Pro" panose="02040504050005020304" pitchFamily="18" charset="0"/>
              </a:rPr>
              <a:t> din </a:t>
            </a:r>
            <a:r>
              <a:rPr lang="en-US" sz="2400" dirty="0" err="1">
                <a:latin typeface="Amasis MT Pro" panose="02040504050005020304" pitchFamily="18" charset="0"/>
              </a:rPr>
              <a:t>matutunan</a:t>
            </a:r>
            <a:r>
              <a:rPr lang="en-US" sz="2400" dirty="0">
                <a:latin typeface="Amasis MT Pro" panose="02040504050005020304" pitchFamily="18" charset="0"/>
              </a:rPr>
              <a:t> </a:t>
            </a:r>
            <a:r>
              <a:rPr lang="en-US" sz="2400" dirty="0" err="1">
                <a:latin typeface="Amasis MT Pro" panose="02040504050005020304" pitchFamily="18" charset="0"/>
              </a:rPr>
              <a:t>ito</a:t>
            </a:r>
            <a:r>
              <a:rPr lang="en-US" sz="2400" dirty="0">
                <a:latin typeface="Amasis MT Pro" panose="02040504050005020304" pitchFamily="18" charset="0"/>
              </a:rPr>
              <a:t>”</a:t>
            </a:r>
          </a:p>
        </p:txBody>
      </p:sp>
      <p:pic>
        <p:nvPicPr>
          <p:cNvPr id="4" name="Graphic 3" descr="Checkmark with solid fill">
            <a:extLst>
              <a:ext uri="{FF2B5EF4-FFF2-40B4-BE49-F238E27FC236}">
                <a16:creationId xmlns:a16="http://schemas.microsoft.com/office/drawing/2014/main" id="{CC287E7A-6E89-9ADD-562C-99D828DAF5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3880" y="4274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9154" name="Picture 2" descr="How to Motivate Struggling Students: 5 Tips">
            <a:extLst>
              <a:ext uri="{FF2B5EF4-FFF2-40B4-BE49-F238E27FC236}">
                <a16:creationId xmlns:a16="http://schemas.microsoft.com/office/drawing/2014/main" id="{7BF2C735-A332-4283-693E-5C9BBD346A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36567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8485"/>
            <a:ext cx="10515600" cy="2020570"/>
          </a:xfrm>
        </p:spPr>
        <p:txBody>
          <a:bodyPr>
            <a:normAutofit fontScale="90000"/>
          </a:bodyPr>
          <a:lstStyle/>
          <a:p>
            <a:pPr algn="just"/>
            <a:r>
              <a:rPr lang="en-US" dirty="0">
                <a:latin typeface="Amasis MT Pro Black" panose="02040A04050005020304" pitchFamily="18" charset="0"/>
              </a:rPr>
              <a:t>96. Which item in newspapers demonstrates critical thinking worthwhile for instruction on current issues and events?</a:t>
            </a:r>
          </a:p>
        </p:txBody>
      </p:sp>
      <p:sp>
        <p:nvSpPr>
          <p:cNvPr id="3" name="Content Placeholder 2"/>
          <p:cNvSpPr>
            <a:spLocks noGrp="1"/>
          </p:cNvSpPr>
          <p:nvPr>
            <p:ph idx="1"/>
          </p:nvPr>
        </p:nvSpPr>
        <p:spPr>
          <a:xfrm>
            <a:off x="838200" y="3190875"/>
            <a:ext cx="10515600" cy="3302000"/>
          </a:xfrm>
        </p:spPr>
        <p:txBody>
          <a:bodyPr>
            <a:normAutofit/>
          </a:bodyPr>
          <a:lstStyle/>
          <a:p>
            <a:pPr marL="0" indent="0">
              <a:buNone/>
            </a:pPr>
            <a:r>
              <a:rPr lang="en-US" sz="4000" dirty="0">
                <a:latin typeface="Amasis MT Pro" panose="02040504050005020304" pitchFamily="18" charset="0"/>
              </a:rPr>
              <a:t>a. society page</a:t>
            </a:r>
          </a:p>
          <a:p>
            <a:pPr marL="0" indent="0">
              <a:buNone/>
            </a:pPr>
            <a:r>
              <a:rPr lang="en-US" sz="4000" dirty="0">
                <a:latin typeface="Amasis MT Pro" panose="02040504050005020304" pitchFamily="18" charset="0"/>
              </a:rPr>
              <a:t>b. opinion page</a:t>
            </a:r>
          </a:p>
          <a:p>
            <a:pPr marL="0" indent="0">
              <a:buNone/>
            </a:pPr>
            <a:r>
              <a:rPr lang="en-US" sz="4000" dirty="0">
                <a:latin typeface="Amasis MT Pro" panose="02040504050005020304" pitchFamily="18" charset="0"/>
              </a:rPr>
              <a:t>c. entertainment page</a:t>
            </a:r>
          </a:p>
          <a:p>
            <a:pPr marL="0" indent="0">
              <a:buNone/>
            </a:pPr>
            <a:r>
              <a:rPr lang="en-US" sz="4000" dirty="0">
                <a:latin typeface="Amasis MT Pro" panose="02040504050005020304" pitchFamily="18" charset="0"/>
              </a:rPr>
              <a:t>d. news page</a:t>
            </a:r>
          </a:p>
        </p:txBody>
      </p:sp>
      <p:pic>
        <p:nvPicPr>
          <p:cNvPr id="4" name="Graphic 3" descr="Checkmark with solid fill">
            <a:extLst>
              <a:ext uri="{FF2B5EF4-FFF2-40B4-BE49-F238E27FC236}">
                <a16:creationId xmlns:a16="http://schemas.microsoft.com/office/drawing/2014/main" id="{C4EA6531-5AC0-BD59-259B-AB5F6B4C34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9120" y="3553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0178" name="Picture 2" descr="Newspaper where 5 gunned down thanks public, affirms mission: 'We are  journalists' - ABC News">
            <a:extLst>
              <a:ext uri="{FF2B5EF4-FFF2-40B4-BE49-F238E27FC236}">
                <a16:creationId xmlns:a16="http://schemas.microsoft.com/office/drawing/2014/main" id="{C8C13049-8AC7-79FE-C6B3-24E2BE03FF3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06159" y="643466"/>
            <a:ext cx="757968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2557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62120"/>
          </a:xfrm>
        </p:spPr>
        <p:txBody>
          <a:bodyPr>
            <a:noAutofit/>
          </a:bodyPr>
          <a:lstStyle/>
          <a:p>
            <a:r>
              <a:rPr lang="en-US" sz="3200" dirty="0">
                <a:latin typeface="Amasis MT Pro Black" panose="02040A04050005020304" pitchFamily="18" charset="0"/>
              </a:rPr>
              <a:t>97. Based on the enhanced basic education Act of 2013, which does basic education in the Philippines encompass?</a:t>
            </a:r>
            <a:br>
              <a:rPr lang="en-US" sz="3200" dirty="0">
                <a:latin typeface="Amasis MT Pro Black" panose="02040A04050005020304" pitchFamily="18" charset="0"/>
              </a:rPr>
            </a:br>
            <a:r>
              <a:rPr lang="en-US" sz="3200" dirty="0">
                <a:latin typeface="Amasis MT Pro Black" panose="02040A04050005020304" pitchFamily="18" charset="0"/>
              </a:rPr>
              <a:t>I. kindergarten</a:t>
            </a:r>
            <a:br>
              <a:rPr lang="en-US" sz="3200" dirty="0">
                <a:latin typeface="Amasis MT Pro Black" panose="02040A04050005020304" pitchFamily="18" charset="0"/>
              </a:rPr>
            </a:br>
            <a:r>
              <a:rPr lang="en-US" sz="3200" dirty="0">
                <a:latin typeface="Amasis MT Pro Black" panose="02040A04050005020304" pitchFamily="18" charset="0"/>
              </a:rPr>
              <a:t>II. elementary</a:t>
            </a:r>
            <a:br>
              <a:rPr lang="en-US" sz="3200" dirty="0">
                <a:latin typeface="Amasis MT Pro Black" panose="02040A04050005020304" pitchFamily="18" charset="0"/>
              </a:rPr>
            </a:br>
            <a:r>
              <a:rPr lang="en-US" sz="3200" dirty="0">
                <a:latin typeface="Amasis MT Pro Black" panose="02040A04050005020304" pitchFamily="18" charset="0"/>
              </a:rPr>
              <a:t>III. secondary</a:t>
            </a:r>
            <a:br>
              <a:rPr lang="en-US" sz="3200" dirty="0">
                <a:latin typeface="Amasis MT Pro Black" panose="02040A04050005020304" pitchFamily="18" charset="0"/>
              </a:rPr>
            </a:br>
            <a:r>
              <a:rPr lang="en-US" sz="3200" dirty="0">
                <a:latin typeface="Amasis MT Pro Black" panose="02040A04050005020304" pitchFamily="18" charset="0"/>
              </a:rPr>
              <a:t>IV. alternative learning system</a:t>
            </a:r>
            <a:br>
              <a:rPr lang="en-US" sz="3200" dirty="0">
                <a:latin typeface="Amasis MT Pro Black" panose="02040A04050005020304" pitchFamily="18" charset="0"/>
              </a:rPr>
            </a:br>
            <a:endParaRPr lang="en-US" sz="3200" dirty="0">
              <a:latin typeface="Amasis MT Pro Black" panose="02040A04050005020304" pitchFamily="18" charset="0"/>
            </a:endParaRPr>
          </a:p>
        </p:txBody>
      </p:sp>
      <p:sp>
        <p:nvSpPr>
          <p:cNvPr id="3" name="Content Placeholder 2"/>
          <p:cNvSpPr>
            <a:spLocks noGrp="1"/>
          </p:cNvSpPr>
          <p:nvPr>
            <p:ph idx="1"/>
          </p:nvPr>
        </p:nvSpPr>
        <p:spPr>
          <a:xfrm>
            <a:off x="838200" y="4155440"/>
            <a:ext cx="10515600" cy="2021840"/>
          </a:xfrm>
        </p:spPr>
        <p:txBody>
          <a:bodyPr>
            <a:normAutofit fontScale="92500" lnSpcReduction="10000"/>
          </a:bodyPr>
          <a:lstStyle/>
          <a:p>
            <a:pPr marL="0" indent="0">
              <a:buNone/>
            </a:pPr>
            <a:r>
              <a:rPr lang="en-US" sz="3200" dirty="0">
                <a:latin typeface="Amasis MT Pro" panose="02040504050005020304" pitchFamily="18" charset="0"/>
              </a:rPr>
              <a:t>a. I and II</a:t>
            </a:r>
          </a:p>
          <a:p>
            <a:pPr marL="0" indent="0">
              <a:buNone/>
            </a:pPr>
            <a:r>
              <a:rPr lang="en-US" sz="3200" dirty="0">
                <a:latin typeface="Amasis MT Pro" panose="02040504050005020304" pitchFamily="18" charset="0"/>
              </a:rPr>
              <a:t>b. I, II and III</a:t>
            </a:r>
          </a:p>
          <a:p>
            <a:pPr marL="0" indent="0">
              <a:buNone/>
            </a:pPr>
            <a:r>
              <a:rPr lang="en-US" sz="3200" dirty="0">
                <a:latin typeface="Amasis MT Pro" panose="02040504050005020304" pitchFamily="18" charset="0"/>
              </a:rPr>
              <a:t>c. II and III</a:t>
            </a:r>
          </a:p>
          <a:p>
            <a:pPr marL="0" indent="0">
              <a:buNone/>
            </a:pPr>
            <a:r>
              <a:rPr lang="en-US" sz="3200" dirty="0">
                <a:latin typeface="Amasis MT Pro" panose="02040504050005020304" pitchFamily="18" charset="0"/>
              </a:rPr>
              <a:t>d. I, II, III and IV</a:t>
            </a:r>
          </a:p>
        </p:txBody>
      </p:sp>
      <p:pic>
        <p:nvPicPr>
          <p:cNvPr id="4" name="Graphic 3" descr="Checkmark with solid fill">
            <a:extLst>
              <a:ext uri="{FF2B5EF4-FFF2-40B4-BE49-F238E27FC236}">
                <a16:creationId xmlns:a16="http://schemas.microsoft.com/office/drawing/2014/main" id="{53C4CE5D-C613-5208-32D9-041A9FD1E9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0" y="52628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02" name="Picture 2" descr="EDGAR E. GARCIA DepED-Bataan. - ppt download">
            <a:extLst>
              <a:ext uri="{FF2B5EF4-FFF2-40B4-BE49-F238E27FC236}">
                <a16:creationId xmlns:a16="http://schemas.microsoft.com/office/drawing/2014/main" id="{B05CEE3D-E8C6-E8C9-2148-31645BC8894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21079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3445"/>
            <a:ext cx="10515600" cy="1325563"/>
          </a:xfrm>
        </p:spPr>
        <p:txBody>
          <a:bodyPr>
            <a:normAutofit/>
          </a:bodyPr>
          <a:lstStyle/>
          <a:p>
            <a:pPr algn="just"/>
            <a:r>
              <a:rPr lang="en-US" sz="4000" dirty="0">
                <a:latin typeface="Amasis MT Pro Black" panose="02040A04050005020304" pitchFamily="18" charset="0"/>
              </a:rPr>
              <a:t>98. What is the appropriate aim of action research in school?</a:t>
            </a:r>
          </a:p>
        </p:txBody>
      </p:sp>
      <p:sp>
        <p:nvSpPr>
          <p:cNvPr id="3" name="Content Placeholder 2"/>
          <p:cNvSpPr>
            <a:spLocks noGrp="1"/>
          </p:cNvSpPr>
          <p:nvPr>
            <p:ph idx="1"/>
          </p:nvPr>
        </p:nvSpPr>
        <p:spPr>
          <a:xfrm>
            <a:off x="838200" y="2957512"/>
            <a:ext cx="10515600" cy="3007043"/>
          </a:xfrm>
        </p:spPr>
        <p:txBody>
          <a:bodyPr>
            <a:normAutofit/>
          </a:bodyPr>
          <a:lstStyle/>
          <a:p>
            <a:pPr marL="0" indent="0">
              <a:buNone/>
            </a:pPr>
            <a:r>
              <a:rPr lang="en-US" sz="3200" dirty="0">
                <a:latin typeface="Amasis MT Pro" panose="02040504050005020304" pitchFamily="18" charset="0"/>
              </a:rPr>
              <a:t>a. advance the physical sports program</a:t>
            </a:r>
          </a:p>
          <a:p>
            <a:pPr marL="0" indent="0">
              <a:buNone/>
            </a:pPr>
            <a:r>
              <a:rPr lang="en-US" sz="3200" dirty="0">
                <a:latin typeface="Amasis MT Pro" panose="02040504050005020304" pitchFamily="18" charset="0"/>
              </a:rPr>
              <a:t>b. identify leaders in school clubs</a:t>
            </a:r>
          </a:p>
          <a:p>
            <a:pPr marL="0" indent="0">
              <a:buNone/>
            </a:pPr>
            <a:r>
              <a:rPr lang="en-US" sz="3200" dirty="0">
                <a:latin typeface="Amasis MT Pro" panose="02040504050005020304" pitchFamily="18" charset="0"/>
              </a:rPr>
              <a:t>c. resolve current issues in the school</a:t>
            </a:r>
          </a:p>
          <a:p>
            <a:pPr marL="0" indent="0">
              <a:buNone/>
            </a:pPr>
            <a:r>
              <a:rPr lang="en-US" sz="3200" dirty="0">
                <a:latin typeface="Amasis MT Pro" panose="02040504050005020304" pitchFamily="18" charset="0"/>
              </a:rPr>
              <a:t>d. blame students for bullying and other misdemeanor</a:t>
            </a:r>
          </a:p>
        </p:txBody>
      </p:sp>
      <p:pic>
        <p:nvPicPr>
          <p:cNvPr id="4" name="Graphic 3" descr="Checkmark with solid fill">
            <a:extLst>
              <a:ext uri="{FF2B5EF4-FFF2-40B4-BE49-F238E27FC236}">
                <a16:creationId xmlns:a16="http://schemas.microsoft.com/office/drawing/2014/main" id="{41E1B134-1211-25E3-311B-C06DBCA16C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7760" y="37769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2231" name="Straight Connector 52230">
            <a:extLst>
              <a:ext uri="{FF2B5EF4-FFF2-40B4-BE49-F238E27FC236}">
                <a16:creationId xmlns:a16="http://schemas.microsoft.com/office/drawing/2014/main" id="{22F6364A-B358-4BEE-B158-0734D2C938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8202" y="1570814"/>
            <a:ext cx="0" cy="3710227"/>
          </a:xfrm>
          <a:prstGeom prst="line">
            <a:avLst/>
          </a:prstGeom>
          <a:ln w="19050">
            <a:solidFill>
              <a:srgbClr val="FFAE49"/>
            </a:solidFill>
          </a:ln>
        </p:spPr>
        <p:style>
          <a:lnRef idx="1">
            <a:schemeClr val="accent1"/>
          </a:lnRef>
          <a:fillRef idx="0">
            <a:schemeClr val="accent1"/>
          </a:fillRef>
          <a:effectRef idx="0">
            <a:schemeClr val="accent1"/>
          </a:effectRef>
          <a:fontRef idx="minor">
            <a:schemeClr val="tx1"/>
          </a:fontRef>
        </p:style>
      </p:cxnSp>
      <p:pic>
        <p:nvPicPr>
          <p:cNvPr id="52226" name="Picture 2" descr="Action research">
            <a:extLst>
              <a:ext uri="{FF2B5EF4-FFF2-40B4-BE49-F238E27FC236}">
                <a16:creationId xmlns:a16="http://schemas.microsoft.com/office/drawing/2014/main" id="{BE0D3FB8-73A5-AFA1-A776-BE7DFDE6C32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1860" y="1123527"/>
            <a:ext cx="6139733" cy="46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7302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2325"/>
            <a:ext cx="10515600" cy="1681480"/>
          </a:xfrm>
        </p:spPr>
        <p:txBody>
          <a:bodyPr>
            <a:normAutofit fontScale="90000"/>
          </a:bodyPr>
          <a:lstStyle/>
          <a:p>
            <a:pPr algn="just"/>
            <a:r>
              <a:rPr lang="en-US" dirty="0">
                <a:latin typeface="Amasis MT Pro Black" panose="02040A04050005020304" pitchFamily="18" charset="0"/>
              </a:rPr>
              <a:t>99. The following describes a learner with initiative that is appropriate for 21st century learning EXCEPT:</a:t>
            </a:r>
          </a:p>
        </p:txBody>
      </p:sp>
      <p:sp>
        <p:nvSpPr>
          <p:cNvPr id="3" name="Content Placeholder 2"/>
          <p:cNvSpPr>
            <a:spLocks noGrp="1"/>
          </p:cNvSpPr>
          <p:nvPr>
            <p:ph idx="1"/>
          </p:nvPr>
        </p:nvSpPr>
        <p:spPr>
          <a:xfrm>
            <a:off x="838200" y="3108960"/>
            <a:ext cx="10515600" cy="3068320"/>
          </a:xfrm>
        </p:spPr>
        <p:txBody>
          <a:bodyPr>
            <a:normAutofit/>
          </a:bodyPr>
          <a:lstStyle/>
          <a:p>
            <a:pPr marL="0" indent="0">
              <a:buNone/>
            </a:pPr>
            <a:r>
              <a:rPr lang="en-US" sz="4000" dirty="0">
                <a:latin typeface="Amasis MT Pro" panose="02040504050005020304" pitchFamily="18" charset="0"/>
              </a:rPr>
              <a:t>a. inventiveness</a:t>
            </a:r>
          </a:p>
          <a:p>
            <a:pPr marL="0" indent="0">
              <a:buNone/>
            </a:pPr>
            <a:r>
              <a:rPr lang="en-US" sz="4000" dirty="0">
                <a:latin typeface="Amasis MT Pro" panose="02040504050005020304" pitchFamily="18" charset="0"/>
              </a:rPr>
              <a:t>b. drive</a:t>
            </a:r>
          </a:p>
          <a:p>
            <a:pPr marL="0" indent="0">
              <a:buNone/>
            </a:pPr>
            <a:r>
              <a:rPr lang="en-US" sz="4000" dirty="0">
                <a:latin typeface="Amasis MT Pro" panose="02040504050005020304" pitchFamily="18" charset="0"/>
              </a:rPr>
              <a:t>c. indolence</a:t>
            </a:r>
          </a:p>
          <a:p>
            <a:pPr marL="0" indent="0">
              <a:buNone/>
            </a:pPr>
            <a:r>
              <a:rPr lang="en-US" sz="4000" dirty="0">
                <a:latin typeface="Amasis MT Pro" panose="02040504050005020304" pitchFamily="18" charset="0"/>
              </a:rPr>
              <a:t>d. ambition</a:t>
            </a:r>
          </a:p>
        </p:txBody>
      </p:sp>
      <p:pic>
        <p:nvPicPr>
          <p:cNvPr id="4" name="Graphic 3" descr="Checkmark with solid fill">
            <a:extLst>
              <a:ext uri="{FF2B5EF4-FFF2-40B4-BE49-F238E27FC236}">
                <a16:creationId xmlns:a16="http://schemas.microsoft.com/office/drawing/2014/main" id="{56342AF4-089A-53B4-51A0-4CDA0C018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25520" y="41859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3250" name="Picture 2" descr="Inspiring Students through Meaningful Learning that Meets their Needs —  Sackville 20/20">
            <a:extLst>
              <a:ext uri="{FF2B5EF4-FFF2-40B4-BE49-F238E27FC236}">
                <a16:creationId xmlns:a16="http://schemas.microsoft.com/office/drawing/2014/main" id="{1D0B4CEE-6B57-F74C-72E6-B9BB7715BB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24316" y="643466"/>
            <a:ext cx="5743368"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009590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5925"/>
            <a:ext cx="10515600" cy="2468880"/>
          </a:xfrm>
        </p:spPr>
        <p:txBody>
          <a:bodyPr>
            <a:noAutofit/>
          </a:bodyPr>
          <a:lstStyle/>
          <a:p>
            <a:pPr algn="just"/>
            <a:r>
              <a:rPr lang="en-US" sz="3600" dirty="0">
                <a:latin typeface="Amasis MT Pro Black" panose="02040A04050005020304" pitchFamily="18" charset="0"/>
              </a:rPr>
              <a:t>100. What roles does a teacher do when he/she draws out the capacity of learners to assimilate organize and produce ideas, while controlling the pace (slow or fact) of learning?</a:t>
            </a:r>
          </a:p>
        </p:txBody>
      </p:sp>
      <p:sp>
        <p:nvSpPr>
          <p:cNvPr id="3" name="Content Placeholder 2"/>
          <p:cNvSpPr>
            <a:spLocks noGrp="1"/>
          </p:cNvSpPr>
          <p:nvPr>
            <p:ph idx="1"/>
          </p:nvPr>
        </p:nvSpPr>
        <p:spPr>
          <a:xfrm>
            <a:off x="838200" y="3200400"/>
            <a:ext cx="10515600" cy="2976880"/>
          </a:xfrm>
        </p:spPr>
        <p:txBody>
          <a:bodyPr>
            <a:normAutofit/>
          </a:bodyPr>
          <a:lstStyle/>
          <a:p>
            <a:pPr marL="0" indent="0">
              <a:buNone/>
            </a:pPr>
            <a:r>
              <a:rPr lang="en-US" sz="4000" dirty="0">
                <a:latin typeface="Amasis MT Pro" panose="02040504050005020304" pitchFamily="18" charset="0"/>
              </a:rPr>
              <a:t>a. facilitator</a:t>
            </a:r>
          </a:p>
          <a:p>
            <a:pPr marL="0" indent="0">
              <a:buNone/>
            </a:pPr>
            <a:r>
              <a:rPr lang="en-US" sz="4000" dirty="0">
                <a:latin typeface="Amasis MT Pro" panose="02040504050005020304" pitchFamily="18" charset="0"/>
              </a:rPr>
              <a:t>b. lecturer</a:t>
            </a:r>
          </a:p>
          <a:p>
            <a:pPr marL="0" indent="0">
              <a:buNone/>
            </a:pPr>
            <a:r>
              <a:rPr lang="en-US" sz="4000" dirty="0">
                <a:latin typeface="Amasis MT Pro" panose="02040504050005020304" pitchFamily="18" charset="0"/>
              </a:rPr>
              <a:t>c. tutor</a:t>
            </a:r>
          </a:p>
          <a:p>
            <a:pPr marL="0" indent="0">
              <a:buNone/>
            </a:pPr>
            <a:r>
              <a:rPr lang="en-US" sz="4000" dirty="0">
                <a:latin typeface="Amasis MT Pro" panose="02040504050005020304" pitchFamily="18" charset="0"/>
              </a:rPr>
              <a:t>d. adviser</a:t>
            </a:r>
          </a:p>
        </p:txBody>
      </p:sp>
      <p:pic>
        <p:nvPicPr>
          <p:cNvPr id="4" name="Graphic 3" descr="Checkmark with solid fill">
            <a:extLst>
              <a:ext uri="{FF2B5EF4-FFF2-40B4-BE49-F238E27FC236}">
                <a16:creationId xmlns:a16="http://schemas.microsoft.com/office/drawing/2014/main" id="{E055C925-5C3C-60F6-BC7B-F807A373D8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4584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4274" name="Picture 2" descr="Role of Teacher as a Facilitator in Assessment for Learning - Education  Summary">
            <a:extLst>
              <a:ext uri="{FF2B5EF4-FFF2-40B4-BE49-F238E27FC236}">
                <a16:creationId xmlns:a16="http://schemas.microsoft.com/office/drawing/2014/main" id="{896E166A-9B78-EA2E-49C9-45D185FFB4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125235" y="643466"/>
            <a:ext cx="394152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63618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3765"/>
            <a:ext cx="10515600" cy="1325563"/>
          </a:xfrm>
        </p:spPr>
        <p:txBody>
          <a:bodyPr>
            <a:normAutofit fontScale="90000"/>
          </a:bodyPr>
          <a:lstStyle/>
          <a:p>
            <a:pPr algn="just"/>
            <a:r>
              <a:rPr lang="en-US" dirty="0">
                <a:latin typeface="Amasis MT Pro Black" panose="02040A04050005020304" pitchFamily="18" charset="0"/>
              </a:rPr>
              <a:t>101. How will you characterize a filling the blanks question has too many blanks?</a:t>
            </a:r>
          </a:p>
        </p:txBody>
      </p:sp>
      <p:sp>
        <p:nvSpPr>
          <p:cNvPr id="3" name="Content Placeholder 2"/>
          <p:cNvSpPr>
            <a:spLocks noGrp="1"/>
          </p:cNvSpPr>
          <p:nvPr>
            <p:ph idx="1"/>
          </p:nvPr>
        </p:nvSpPr>
        <p:spPr>
          <a:xfrm>
            <a:off x="838200" y="2956559"/>
            <a:ext cx="10515600" cy="3220403"/>
          </a:xfrm>
        </p:spPr>
        <p:txBody>
          <a:bodyPr>
            <a:normAutofit/>
          </a:bodyPr>
          <a:lstStyle/>
          <a:p>
            <a:pPr marL="0" indent="0">
              <a:buNone/>
            </a:pPr>
            <a:r>
              <a:rPr lang="en-US" sz="4000" dirty="0">
                <a:latin typeface="Amasis MT Pro" panose="02040504050005020304" pitchFamily="18" charset="0"/>
              </a:rPr>
              <a:t>a. over mutilated</a:t>
            </a:r>
          </a:p>
          <a:p>
            <a:pPr marL="0" indent="0">
              <a:buNone/>
            </a:pPr>
            <a:r>
              <a:rPr lang="en-US" sz="4000" dirty="0">
                <a:latin typeface="Amasis MT Pro" panose="02040504050005020304" pitchFamily="18" charset="0"/>
              </a:rPr>
              <a:t>b. unrealistic</a:t>
            </a:r>
          </a:p>
          <a:p>
            <a:pPr marL="0" indent="0">
              <a:buNone/>
            </a:pPr>
            <a:r>
              <a:rPr lang="en-US" sz="4000" dirty="0">
                <a:latin typeface="Amasis MT Pro" panose="02040504050005020304" pitchFamily="18" charset="0"/>
              </a:rPr>
              <a:t>c. simple</a:t>
            </a:r>
          </a:p>
          <a:p>
            <a:pPr marL="0" indent="0">
              <a:buNone/>
            </a:pPr>
            <a:r>
              <a:rPr lang="en-US" sz="4000" dirty="0">
                <a:latin typeface="Amasis MT Pro" panose="02040504050005020304" pitchFamily="18" charset="0"/>
              </a:rPr>
              <a:t>d. implausible</a:t>
            </a:r>
          </a:p>
        </p:txBody>
      </p:sp>
      <p:pic>
        <p:nvPicPr>
          <p:cNvPr id="4" name="Graphic 3" descr="Checkmark with solid fill">
            <a:extLst>
              <a:ext uri="{FF2B5EF4-FFF2-40B4-BE49-F238E27FC236}">
                <a16:creationId xmlns:a16="http://schemas.microsoft.com/office/drawing/2014/main" id="{54D34795-1CAB-D9E1-4502-D67D4E8B5C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2960" y="261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5300" name="Picture 4" descr="Completion type of Test">
            <a:extLst>
              <a:ext uri="{FF2B5EF4-FFF2-40B4-BE49-F238E27FC236}">
                <a16:creationId xmlns:a16="http://schemas.microsoft.com/office/drawing/2014/main" id="{8CE9F76A-A631-6494-739C-5ABDD7A2C48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3940" y="643466"/>
            <a:ext cx="990411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99026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520" y="476885"/>
            <a:ext cx="10515600" cy="1931035"/>
          </a:xfrm>
        </p:spPr>
        <p:txBody>
          <a:bodyPr>
            <a:normAutofit/>
          </a:bodyPr>
          <a:lstStyle/>
          <a:p>
            <a:pPr algn="just"/>
            <a:r>
              <a:rPr lang="en-US" dirty="0">
                <a:latin typeface="Amasis MT Pro Black" panose="02040A04050005020304" pitchFamily="18" charset="0"/>
              </a:rPr>
              <a:t>102. How does a purely behaviorist teacher explain the observation of a child enjoying school?</a:t>
            </a:r>
          </a:p>
        </p:txBody>
      </p:sp>
      <p:sp>
        <p:nvSpPr>
          <p:cNvPr id="3" name="Content Placeholder 2"/>
          <p:cNvSpPr>
            <a:spLocks noGrp="1"/>
          </p:cNvSpPr>
          <p:nvPr>
            <p:ph idx="1"/>
          </p:nvPr>
        </p:nvSpPr>
        <p:spPr>
          <a:xfrm>
            <a:off x="604520" y="2876232"/>
            <a:ext cx="10515600" cy="3504883"/>
          </a:xfrm>
        </p:spPr>
        <p:txBody>
          <a:bodyPr>
            <a:normAutofit/>
          </a:bodyPr>
          <a:lstStyle/>
          <a:p>
            <a:pPr marL="0" indent="0">
              <a:buNone/>
            </a:pPr>
            <a:r>
              <a:rPr lang="en-US" sz="4000" dirty="0">
                <a:latin typeface="Amasis MT Pro" panose="02040504050005020304" pitchFamily="18" charset="0"/>
              </a:rPr>
              <a:t>a. he taught life skills</a:t>
            </a:r>
          </a:p>
          <a:p>
            <a:pPr marL="0" indent="0">
              <a:buNone/>
            </a:pPr>
            <a:r>
              <a:rPr lang="en-US" sz="4000" dirty="0">
                <a:latin typeface="Amasis MT Pro" panose="02040504050005020304" pitchFamily="18" charset="0"/>
              </a:rPr>
              <a:t>b. he feels he belongs</a:t>
            </a:r>
          </a:p>
          <a:p>
            <a:pPr marL="0" indent="0">
              <a:buNone/>
            </a:pPr>
            <a:r>
              <a:rPr lang="en-US" sz="4000" dirty="0">
                <a:latin typeface="Amasis MT Pro" panose="02040504050005020304" pitchFamily="18" charset="0"/>
              </a:rPr>
              <a:t>c. he is rewarded for his good performance</a:t>
            </a:r>
          </a:p>
          <a:p>
            <a:pPr marL="0" indent="0">
              <a:buNone/>
            </a:pPr>
            <a:r>
              <a:rPr lang="en-US" sz="4000" dirty="0">
                <a:latin typeface="Amasis MT Pro" panose="02040504050005020304" pitchFamily="18" charset="0"/>
              </a:rPr>
              <a:t>d. learning is highly personalized</a:t>
            </a:r>
          </a:p>
        </p:txBody>
      </p:sp>
      <p:pic>
        <p:nvPicPr>
          <p:cNvPr id="4" name="Graphic 3" descr="Checkmark with solid fill">
            <a:extLst>
              <a:ext uri="{FF2B5EF4-FFF2-40B4-BE49-F238E27FC236}">
                <a16:creationId xmlns:a16="http://schemas.microsoft.com/office/drawing/2014/main" id="{1FD431DE-E3D3-5BD2-4BFC-942210EC08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8880" y="39700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6322" name="Picture 2" descr="What Is Behaviorism in Psychology? Definition, Theories">
            <a:extLst>
              <a:ext uri="{FF2B5EF4-FFF2-40B4-BE49-F238E27FC236}">
                <a16:creationId xmlns:a16="http://schemas.microsoft.com/office/drawing/2014/main" id="{853DCC5B-F141-A3C9-3EBC-1BA56CADC4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2884" y="643466"/>
            <a:ext cx="742623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30845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680720"/>
            <a:ext cx="10515600" cy="1881505"/>
          </a:xfrm>
        </p:spPr>
        <p:txBody>
          <a:bodyPr>
            <a:normAutofit fontScale="90000"/>
          </a:bodyPr>
          <a:lstStyle/>
          <a:p>
            <a:pPr algn="just"/>
            <a:r>
              <a:rPr lang="en-US" dirty="0">
                <a:latin typeface="Amasis MT Pro Black" panose="02040A04050005020304" pitchFamily="18" charset="0"/>
              </a:rPr>
              <a:t>103. In designing a curriculum which is the component that regulates weekly, semestral land annual schedules for curriculum implementation?</a:t>
            </a:r>
          </a:p>
        </p:txBody>
      </p:sp>
      <p:sp>
        <p:nvSpPr>
          <p:cNvPr id="3" name="Content Placeholder 2"/>
          <p:cNvSpPr>
            <a:spLocks noGrp="1"/>
          </p:cNvSpPr>
          <p:nvPr>
            <p:ph idx="1"/>
          </p:nvPr>
        </p:nvSpPr>
        <p:spPr>
          <a:xfrm>
            <a:off x="838200" y="3200400"/>
            <a:ext cx="10515600" cy="2976880"/>
          </a:xfrm>
        </p:spPr>
        <p:txBody>
          <a:bodyPr>
            <a:normAutofit/>
          </a:bodyPr>
          <a:lstStyle/>
          <a:p>
            <a:pPr marL="0" indent="0">
              <a:buNone/>
            </a:pPr>
            <a:r>
              <a:rPr lang="en-US" sz="4000" dirty="0">
                <a:latin typeface="Amasis MT Pro" panose="02040504050005020304" pitchFamily="18" charset="0"/>
              </a:rPr>
              <a:t>a. time-frame</a:t>
            </a:r>
          </a:p>
          <a:p>
            <a:pPr marL="0" indent="0">
              <a:buNone/>
            </a:pPr>
            <a:r>
              <a:rPr lang="en-US" sz="4000" dirty="0">
                <a:latin typeface="Amasis MT Pro" panose="02040504050005020304" pitchFamily="18" charset="0"/>
              </a:rPr>
              <a:t>b. assessment</a:t>
            </a:r>
          </a:p>
          <a:p>
            <a:pPr marL="0" indent="0">
              <a:buNone/>
            </a:pPr>
            <a:r>
              <a:rPr lang="en-US" sz="4000" dirty="0">
                <a:latin typeface="Amasis MT Pro" panose="02040504050005020304" pitchFamily="18" charset="0"/>
              </a:rPr>
              <a:t>c. subject matter</a:t>
            </a:r>
          </a:p>
          <a:p>
            <a:pPr marL="0" indent="0">
              <a:buNone/>
            </a:pPr>
            <a:r>
              <a:rPr lang="en-US" sz="4000" dirty="0">
                <a:latin typeface="Amasis MT Pro" panose="02040504050005020304" pitchFamily="18" charset="0"/>
              </a:rPr>
              <a:t>d. learning outcomes</a:t>
            </a:r>
          </a:p>
        </p:txBody>
      </p:sp>
      <p:pic>
        <p:nvPicPr>
          <p:cNvPr id="4" name="Graphic 3" descr="Checkmark with solid fill">
            <a:extLst>
              <a:ext uri="{FF2B5EF4-FFF2-40B4-BE49-F238E27FC236}">
                <a16:creationId xmlns:a16="http://schemas.microsoft.com/office/drawing/2014/main" id="{DC764C62-8CC1-8546-34DF-BECD2C5FCA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5224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7346" name="Picture 2" descr="Educational Psychology Interactive: Academic Learning Time">
            <a:extLst>
              <a:ext uri="{FF2B5EF4-FFF2-40B4-BE49-F238E27FC236}">
                <a16:creationId xmlns:a16="http://schemas.microsoft.com/office/drawing/2014/main" id="{8C658549-D9C0-5054-E8FB-F8CFC4E829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43272" y="643466"/>
            <a:ext cx="7305455"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95944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378075"/>
          </a:xfrm>
        </p:spPr>
        <p:txBody>
          <a:bodyPr>
            <a:normAutofit fontScale="90000"/>
          </a:bodyPr>
          <a:lstStyle/>
          <a:p>
            <a:pPr algn="just"/>
            <a:r>
              <a:rPr lang="en-US" dirty="0">
                <a:latin typeface="Amasis MT Pro Black" panose="02040A04050005020304" pitchFamily="18" charset="0"/>
              </a:rPr>
              <a:t>104. As teachers, what kind of web application or app do we need in order to be more efficient and productive in our use of platforms on the internet?</a:t>
            </a:r>
          </a:p>
        </p:txBody>
      </p:sp>
      <p:sp>
        <p:nvSpPr>
          <p:cNvPr id="3" name="Content Placeholder 2"/>
          <p:cNvSpPr>
            <a:spLocks noGrp="1"/>
          </p:cNvSpPr>
          <p:nvPr>
            <p:ph idx="1"/>
          </p:nvPr>
        </p:nvSpPr>
        <p:spPr>
          <a:xfrm>
            <a:off x="838200" y="3180080"/>
            <a:ext cx="10515600" cy="2997200"/>
          </a:xfrm>
        </p:spPr>
        <p:txBody>
          <a:bodyPr>
            <a:normAutofit/>
          </a:bodyPr>
          <a:lstStyle/>
          <a:p>
            <a:pPr marL="0" indent="0">
              <a:buNone/>
            </a:pPr>
            <a:r>
              <a:rPr lang="en-US" sz="4000" dirty="0">
                <a:latin typeface="Amasis MT Pro" panose="02040504050005020304" pitchFamily="18" charset="0"/>
              </a:rPr>
              <a:t>a. financial app</a:t>
            </a:r>
          </a:p>
          <a:p>
            <a:pPr marL="0" indent="0">
              <a:buNone/>
            </a:pPr>
            <a:r>
              <a:rPr lang="en-US" sz="4000" dirty="0">
                <a:latin typeface="Amasis MT Pro" panose="02040504050005020304" pitchFamily="18" charset="0"/>
              </a:rPr>
              <a:t>b. instructional app</a:t>
            </a:r>
          </a:p>
          <a:p>
            <a:pPr marL="0" indent="0">
              <a:buNone/>
            </a:pPr>
            <a:r>
              <a:rPr lang="en-US" sz="4000" dirty="0">
                <a:latin typeface="Amasis MT Pro" panose="02040504050005020304" pitchFamily="18" charset="0"/>
              </a:rPr>
              <a:t>c. management app</a:t>
            </a:r>
          </a:p>
          <a:p>
            <a:pPr marL="0" indent="0">
              <a:buNone/>
            </a:pPr>
            <a:r>
              <a:rPr lang="en-US" sz="4000" dirty="0">
                <a:latin typeface="Amasis MT Pro" panose="02040504050005020304" pitchFamily="18" charset="0"/>
              </a:rPr>
              <a:t>d. inventory app</a:t>
            </a:r>
          </a:p>
        </p:txBody>
      </p:sp>
      <p:pic>
        <p:nvPicPr>
          <p:cNvPr id="4" name="Graphic 3" descr="Checkmark with solid fill">
            <a:extLst>
              <a:ext uri="{FF2B5EF4-FFF2-40B4-BE49-F238E27FC236}">
                <a16:creationId xmlns:a16="http://schemas.microsoft.com/office/drawing/2014/main" id="{D64073E9-D297-526C-B9D2-467D774A51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81600" y="36144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5F731-730F-BCBA-3E49-EE0DABDEBACE}"/>
              </a:ext>
            </a:extLst>
          </p:cNvPr>
          <p:cNvSpPr>
            <a:spLocks noGrp="1"/>
          </p:cNvSpPr>
          <p:nvPr>
            <p:ph idx="1"/>
          </p:nvPr>
        </p:nvSpPr>
        <p:spPr>
          <a:xfrm>
            <a:off x="838200" y="1175385"/>
            <a:ext cx="10515600" cy="4351338"/>
          </a:xfrm>
        </p:spPr>
        <p:txBody>
          <a:bodyPr>
            <a:normAutofit/>
          </a:bodyPr>
          <a:lstStyle/>
          <a:p>
            <a:pPr marL="0" indent="0" algn="just">
              <a:buNone/>
            </a:pPr>
            <a:r>
              <a:rPr lang="en-US" sz="4400" dirty="0"/>
              <a:t>Teacher-support instructional applications: Software or applications specifically designed to support teachers in instructional processes. Examples include attendance software; grading applications; testing systems; student work or portfolio systems; lesson planning software.</a:t>
            </a:r>
            <a:endParaRPr lang="en-PH" sz="4400" dirty="0"/>
          </a:p>
        </p:txBody>
      </p:sp>
    </p:spTree>
    <p:extLst>
      <p:ext uri="{BB962C8B-B14F-4D97-AF65-F5344CB8AC3E}">
        <p14:creationId xmlns:p14="http://schemas.microsoft.com/office/powerpoint/2010/main" val="353871428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3445"/>
            <a:ext cx="10515600" cy="1325563"/>
          </a:xfrm>
        </p:spPr>
        <p:txBody>
          <a:bodyPr>
            <a:normAutofit fontScale="90000"/>
          </a:bodyPr>
          <a:lstStyle/>
          <a:p>
            <a:pPr algn="just"/>
            <a:r>
              <a:rPr lang="en-US" dirty="0">
                <a:latin typeface="Amasis MT Pro Black" panose="02040A04050005020304" pitchFamily="18" charset="0"/>
              </a:rPr>
              <a:t>105. In Freud’s theory of psychoanalysis, which best represents the super-ego among students?</a:t>
            </a:r>
          </a:p>
        </p:txBody>
      </p:sp>
      <p:sp>
        <p:nvSpPr>
          <p:cNvPr id="3" name="Content Placeholder 2"/>
          <p:cNvSpPr>
            <a:spLocks noGrp="1"/>
          </p:cNvSpPr>
          <p:nvPr>
            <p:ph idx="1"/>
          </p:nvPr>
        </p:nvSpPr>
        <p:spPr>
          <a:xfrm>
            <a:off x="838200" y="3129279"/>
            <a:ext cx="10515600" cy="3047683"/>
          </a:xfrm>
        </p:spPr>
        <p:txBody>
          <a:bodyPr>
            <a:normAutofit/>
          </a:bodyPr>
          <a:lstStyle/>
          <a:p>
            <a:pPr marL="0" indent="0">
              <a:buNone/>
            </a:pPr>
            <a:r>
              <a:rPr lang="en-US" sz="4000" dirty="0">
                <a:latin typeface="Amasis MT Pro" panose="02040504050005020304" pitchFamily="18" charset="0"/>
              </a:rPr>
              <a:t>a. their ideals in life</a:t>
            </a:r>
          </a:p>
          <a:p>
            <a:pPr marL="0" indent="0">
              <a:buNone/>
            </a:pPr>
            <a:r>
              <a:rPr lang="en-US" sz="4000" dirty="0">
                <a:latin typeface="Amasis MT Pro" panose="02040504050005020304" pitchFamily="18" charset="0"/>
              </a:rPr>
              <a:t>b. their industry in work </a:t>
            </a:r>
          </a:p>
          <a:p>
            <a:pPr marL="0" indent="0">
              <a:buNone/>
            </a:pPr>
            <a:r>
              <a:rPr lang="en-US" sz="4000" dirty="0">
                <a:latin typeface="Amasis MT Pro" panose="02040504050005020304" pitchFamily="18" charset="0"/>
              </a:rPr>
              <a:t>c. their self-esteem </a:t>
            </a:r>
          </a:p>
          <a:p>
            <a:pPr marL="0" indent="0">
              <a:buNone/>
            </a:pPr>
            <a:r>
              <a:rPr lang="en-US" sz="4000" dirty="0">
                <a:latin typeface="Amasis MT Pro" panose="02040504050005020304" pitchFamily="18" charset="0"/>
              </a:rPr>
              <a:t>d. their self-confidence</a:t>
            </a:r>
          </a:p>
        </p:txBody>
      </p:sp>
      <p:pic>
        <p:nvPicPr>
          <p:cNvPr id="4" name="Graphic 3" descr="Checkmark with solid fill">
            <a:extLst>
              <a:ext uri="{FF2B5EF4-FFF2-40B4-BE49-F238E27FC236}">
                <a16:creationId xmlns:a16="http://schemas.microsoft.com/office/drawing/2014/main" id="{95B044A2-8F41-3704-5A14-45F144C1F3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81600" y="28422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8370" name="Picture 2" descr="Id, Ego And Superego | Social work theories, Learning psychology, Social  work exam">
            <a:extLst>
              <a:ext uri="{FF2B5EF4-FFF2-40B4-BE49-F238E27FC236}">
                <a16:creationId xmlns:a16="http://schemas.microsoft.com/office/drawing/2014/main" id="{E824786B-E5C4-4D85-025E-CF320F0F2D7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22916" y="643466"/>
            <a:ext cx="834616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02801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640" y="852805"/>
            <a:ext cx="10515600" cy="1743075"/>
          </a:xfrm>
        </p:spPr>
        <p:txBody>
          <a:bodyPr>
            <a:normAutofit fontScale="90000"/>
          </a:bodyPr>
          <a:lstStyle/>
          <a:p>
            <a:pPr algn="just"/>
            <a:r>
              <a:rPr lang="en-US" dirty="0">
                <a:latin typeface="Amasis MT Pro Black" panose="02040A04050005020304" pitchFamily="18" charset="0"/>
              </a:rPr>
              <a:t>106. In modern times, what is one important contribution of machines to the educational work of teachers and schools?</a:t>
            </a:r>
          </a:p>
        </p:txBody>
      </p:sp>
      <p:sp>
        <p:nvSpPr>
          <p:cNvPr id="3" name="Content Placeholder 2"/>
          <p:cNvSpPr>
            <a:spLocks noGrp="1"/>
          </p:cNvSpPr>
          <p:nvPr>
            <p:ph idx="1"/>
          </p:nvPr>
        </p:nvSpPr>
        <p:spPr>
          <a:xfrm>
            <a:off x="838200" y="3429000"/>
            <a:ext cx="10515600" cy="2748280"/>
          </a:xfrm>
        </p:spPr>
        <p:txBody>
          <a:bodyPr>
            <a:normAutofit lnSpcReduction="10000"/>
          </a:bodyPr>
          <a:lstStyle/>
          <a:p>
            <a:pPr marL="0" indent="0" algn="just">
              <a:buNone/>
            </a:pPr>
            <a:r>
              <a:rPr lang="en-US" sz="4400" dirty="0">
                <a:latin typeface="Amasis MT Pro" panose="02040504050005020304" pitchFamily="18" charset="0"/>
              </a:rPr>
              <a:t>a. to demonstrate caring for children</a:t>
            </a:r>
          </a:p>
          <a:p>
            <a:pPr marL="0" indent="0" algn="just">
              <a:buNone/>
            </a:pPr>
            <a:r>
              <a:rPr lang="en-US" sz="4400" dirty="0">
                <a:latin typeface="Amasis MT Pro" panose="02040504050005020304" pitchFamily="18" charset="0"/>
              </a:rPr>
              <a:t>b. to enhance teaching and learning</a:t>
            </a:r>
          </a:p>
          <a:p>
            <a:pPr marL="0" indent="0" algn="just">
              <a:buNone/>
            </a:pPr>
            <a:r>
              <a:rPr lang="en-US" sz="4400" dirty="0">
                <a:latin typeface="Amasis MT Pro" panose="02040504050005020304" pitchFamily="18" charset="0"/>
              </a:rPr>
              <a:t>c. to demonstrate caring for children</a:t>
            </a:r>
          </a:p>
          <a:p>
            <a:pPr marL="0" indent="0" algn="just">
              <a:buNone/>
            </a:pPr>
            <a:r>
              <a:rPr lang="en-US" sz="4400" dirty="0">
                <a:latin typeface="Amasis MT Pro" panose="02040504050005020304" pitchFamily="18" charset="0"/>
              </a:rPr>
              <a:t>d. to replace teachers in school</a:t>
            </a:r>
          </a:p>
        </p:txBody>
      </p:sp>
      <p:pic>
        <p:nvPicPr>
          <p:cNvPr id="4" name="Graphic 3" descr="Checkmark with solid fill">
            <a:extLst>
              <a:ext uri="{FF2B5EF4-FFF2-40B4-BE49-F238E27FC236}">
                <a16:creationId xmlns:a16="http://schemas.microsoft.com/office/drawing/2014/main" id="{6FC8FA02-FA2A-B080-8F4E-FE3E40DD8D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89440" y="3817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9394" name="Picture 2" descr="Educational Technology Standards and Frameworks - The International EdTech  Blog with Matt Harris Ed.D.">
            <a:extLst>
              <a:ext uri="{FF2B5EF4-FFF2-40B4-BE49-F238E27FC236}">
                <a16:creationId xmlns:a16="http://schemas.microsoft.com/office/drawing/2014/main" id="{F1E47434-66D7-4448-A248-44D67A52041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0996" y="643466"/>
            <a:ext cx="539000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3192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883285"/>
            <a:ext cx="10515600" cy="1325563"/>
          </a:xfrm>
        </p:spPr>
        <p:txBody>
          <a:bodyPr>
            <a:normAutofit fontScale="90000"/>
          </a:bodyPr>
          <a:lstStyle/>
          <a:p>
            <a:pPr algn="just"/>
            <a:r>
              <a:rPr lang="en-US" dirty="0">
                <a:latin typeface="Amasis MT Pro Black" panose="02040A04050005020304" pitchFamily="18" charset="0"/>
              </a:rPr>
              <a:t>107. On lifespan perspectives, which message best describes as a lifelong process?</a:t>
            </a:r>
          </a:p>
        </p:txBody>
      </p:sp>
      <p:sp>
        <p:nvSpPr>
          <p:cNvPr id="3" name="Content Placeholder 2"/>
          <p:cNvSpPr>
            <a:spLocks noGrp="1"/>
          </p:cNvSpPr>
          <p:nvPr>
            <p:ph idx="1"/>
          </p:nvPr>
        </p:nvSpPr>
        <p:spPr>
          <a:xfrm>
            <a:off x="838200" y="2905759"/>
            <a:ext cx="10515600" cy="3271203"/>
          </a:xfrm>
        </p:spPr>
        <p:txBody>
          <a:bodyPr>
            <a:normAutofit/>
          </a:bodyPr>
          <a:lstStyle/>
          <a:p>
            <a:pPr marL="0" indent="0" algn="just">
              <a:buNone/>
            </a:pPr>
            <a:r>
              <a:rPr lang="en-US" sz="3200" dirty="0">
                <a:latin typeface="Amasis MT Pro" panose="02040504050005020304" pitchFamily="18" charset="0"/>
              </a:rPr>
              <a:t>a. we change as the world changes around us</a:t>
            </a:r>
          </a:p>
          <a:p>
            <a:pPr marL="0" indent="0" algn="just">
              <a:buNone/>
            </a:pPr>
            <a:r>
              <a:rPr lang="en-US" sz="3200" dirty="0">
                <a:latin typeface="Amasis MT Pro" panose="02040504050005020304" pitchFamily="18" charset="0"/>
              </a:rPr>
              <a:t>b. we continue to learn and flourish in life</a:t>
            </a:r>
          </a:p>
          <a:p>
            <a:pPr marL="0" indent="0" algn="just">
              <a:buNone/>
            </a:pPr>
            <a:r>
              <a:rPr lang="en-US" sz="3200" dirty="0">
                <a:latin typeface="Amasis MT Pro" panose="02040504050005020304" pitchFamily="18" charset="0"/>
              </a:rPr>
              <a:t>c. we gain capacity for logical though in school</a:t>
            </a:r>
          </a:p>
          <a:p>
            <a:pPr marL="0" indent="0" algn="just">
              <a:buNone/>
            </a:pPr>
            <a:r>
              <a:rPr lang="en-US" sz="3200" dirty="0">
                <a:latin typeface="Amasis MT Pro" panose="02040504050005020304" pitchFamily="18" charset="0"/>
              </a:rPr>
              <a:t>d. we enhance in socializing as important to maturing</a:t>
            </a:r>
          </a:p>
        </p:txBody>
      </p:sp>
      <p:pic>
        <p:nvPicPr>
          <p:cNvPr id="4" name="Graphic 3" descr="Checkmark with solid fill">
            <a:extLst>
              <a:ext uri="{FF2B5EF4-FFF2-40B4-BE49-F238E27FC236}">
                <a16:creationId xmlns:a16="http://schemas.microsoft.com/office/drawing/2014/main" id="{8B5878A8-83C4-BDAE-4057-FD353856CD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88960" y="31775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0418" name="Picture 2" descr="Lifelong Learning Stock Illustrations – 714 Lifelong Learning Stock  Illustrations, Vectors &amp; Clipart - Dreamstime">
            <a:extLst>
              <a:ext uri="{FF2B5EF4-FFF2-40B4-BE49-F238E27FC236}">
                <a16:creationId xmlns:a16="http://schemas.microsoft.com/office/drawing/2014/main" id="{F23F2652-36AF-841C-DAD4-D44E84FF57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00803" y="643466"/>
            <a:ext cx="5990394"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6756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680720"/>
            <a:ext cx="10515600" cy="1896745"/>
          </a:xfrm>
        </p:spPr>
        <p:txBody>
          <a:bodyPr>
            <a:normAutofit fontScale="90000"/>
          </a:bodyPr>
          <a:lstStyle/>
          <a:p>
            <a:pPr algn="just"/>
            <a:r>
              <a:rPr lang="en-US" dirty="0">
                <a:latin typeface="Amasis MT Pro Black" panose="02040A04050005020304" pitchFamily="18" charset="0"/>
              </a:rPr>
              <a:t>108. When is the most appropriate time to set up routine activities for effective classroom management?</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periodically during the year</a:t>
            </a:r>
          </a:p>
          <a:p>
            <a:pPr marL="0" indent="0">
              <a:buNone/>
            </a:pPr>
            <a:r>
              <a:rPr lang="en-US" sz="4000" dirty="0">
                <a:latin typeface="Amasis MT Pro" panose="02040504050005020304" pitchFamily="18" charset="0"/>
              </a:rPr>
              <a:t>b. as soon as the students adjusted to classes</a:t>
            </a:r>
          </a:p>
          <a:p>
            <a:pPr marL="0" indent="0">
              <a:buNone/>
            </a:pPr>
            <a:r>
              <a:rPr lang="en-US" sz="4000" dirty="0">
                <a:latin typeface="Amasis MT Pro" panose="02040504050005020304" pitchFamily="18" charset="0"/>
              </a:rPr>
              <a:t>c. on the first day of classes</a:t>
            </a:r>
          </a:p>
          <a:p>
            <a:pPr marL="0" indent="0">
              <a:buNone/>
            </a:pPr>
            <a:r>
              <a:rPr lang="en-US" sz="4000" dirty="0">
                <a:latin typeface="Amasis MT Pro" panose="02040504050005020304" pitchFamily="18" charset="0"/>
              </a:rPr>
              <a:t>d. every day of classes</a:t>
            </a:r>
          </a:p>
        </p:txBody>
      </p:sp>
      <p:pic>
        <p:nvPicPr>
          <p:cNvPr id="4" name="Graphic 3" descr="Checkmark with solid fill">
            <a:extLst>
              <a:ext uri="{FF2B5EF4-FFF2-40B4-BE49-F238E27FC236}">
                <a16:creationId xmlns:a16="http://schemas.microsoft.com/office/drawing/2014/main" id="{BA78D46E-E424-4061-D5A5-92CB63C367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69760" y="4528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42" name="Picture 2" descr="Classroom Management Stategies - pedagogiayandragogia2016">
            <a:extLst>
              <a:ext uri="{FF2B5EF4-FFF2-40B4-BE49-F238E27FC236}">
                <a16:creationId xmlns:a16="http://schemas.microsoft.com/office/drawing/2014/main" id="{C3FC4125-B365-ECC3-4C79-36CEAF5224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63227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8965"/>
            <a:ext cx="10515600" cy="2185035"/>
          </a:xfrm>
        </p:spPr>
        <p:txBody>
          <a:bodyPr>
            <a:normAutofit/>
          </a:bodyPr>
          <a:lstStyle/>
          <a:p>
            <a:pPr algn="just"/>
            <a:r>
              <a:rPr lang="en-US" dirty="0">
                <a:latin typeface="Amasis MT Pro Black" panose="02040A04050005020304" pitchFamily="18" charset="0"/>
              </a:rPr>
              <a:t>109. What is the descriptor for a numerical grade of 80 as level of proficiency?</a:t>
            </a:r>
          </a:p>
        </p:txBody>
      </p:sp>
      <p:sp>
        <p:nvSpPr>
          <p:cNvPr id="3" name="Content Placeholder 2"/>
          <p:cNvSpPr>
            <a:spLocks noGrp="1"/>
          </p:cNvSpPr>
          <p:nvPr>
            <p:ph idx="1"/>
          </p:nvPr>
        </p:nvSpPr>
        <p:spPr>
          <a:xfrm>
            <a:off x="838200" y="3068319"/>
            <a:ext cx="10515600" cy="3108643"/>
          </a:xfrm>
        </p:spPr>
        <p:txBody>
          <a:bodyPr>
            <a:normAutofit/>
          </a:bodyPr>
          <a:lstStyle/>
          <a:p>
            <a:pPr marL="0" indent="0">
              <a:buNone/>
            </a:pPr>
            <a:r>
              <a:rPr lang="en-US" sz="4000" dirty="0">
                <a:latin typeface="Amasis MT Pro" panose="02040504050005020304" pitchFamily="18" charset="0"/>
              </a:rPr>
              <a:t>a. very satisfactory</a:t>
            </a:r>
          </a:p>
          <a:p>
            <a:pPr marL="0" indent="0">
              <a:buNone/>
            </a:pPr>
            <a:r>
              <a:rPr lang="en-US" sz="4000" dirty="0">
                <a:latin typeface="Amasis MT Pro" panose="02040504050005020304" pitchFamily="18" charset="0"/>
              </a:rPr>
              <a:t>b. outstanding</a:t>
            </a:r>
          </a:p>
          <a:p>
            <a:pPr marL="0" indent="0">
              <a:buNone/>
            </a:pPr>
            <a:r>
              <a:rPr lang="en-US" sz="4000" dirty="0">
                <a:latin typeface="Amasis MT Pro" panose="02040504050005020304" pitchFamily="18" charset="0"/>
              </a:rPr>
              <a:t>c. satisfactory</a:t>
            </a:r>
          </a:p>
          <a:p>
            <a:pPr marL="0" indent="0">
              <a:buNone/>
            </a:pPr>
            <a:r>
              <a:rPr lang="en-US" sz="4000" dirty="0">
                <a:latin typeface="Amasis MT Pro" panose="02040504050005020304" pitchFamily="18" charset="0"/>
              </a:rPr>
              <a:t>d. advanced</a:t>
            </a:r>
          </a:p>
        </p:txBody>
      </p:sp>
      <p:pic>
        <p:nvPicPr>
          <p:cNvPr id="4" name="Graphic 3" descr="Checkmark with solid fill">
            <a:extLst>
              <a:ext uri="{FF2B5EF4-FFF2-40B4-BE49-F238E27FC236}">
                <a16:creationId xmlns:a16="http://schemas.microsoft.com/office/drawing/2014/main" id="{D3CBDBCE-7CD7-1CC8-3AF0-168E5F690C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04640" y="42443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2466" name="Picture 2" descr="DepEd K to 12 Grading System Steps for Computing Grades - TeacherPH">
            <a:extLst>
              <a:ext uri="{FF2B5EF4-FFF2-40B4-BE49-F238E27FC236}">
                <a16:creationId xmlns:a16="http://schemas.microsoft.com/office/drawing/2014/main" id="{9EE673A3-5941-4917-03A2-25AAAAE4A8A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847765"/>
            <a:ext cx="10905066" cy="3162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92147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852805"/>
            <a:ext cx="10515600" cy="1773555"/>
          </a:xfrm>
        </p:spPr>
        <p:txBody>
          <a:bodyPr>
            <a:normAutofit fontScale="90000"/>
          </a:bodyPr>
          <a:lstStyle/>
          <a:p>
            <a:pPr algn="just"/>
            <a:r>
              <a:rPr lang="en-US" dirty="0">
                <a:latin typeface="Amasis MT Pro Black" panose="02040A04050005020304" pitchFamily="18" charset="0"/>
              </a:rPr>
              <a:t>110. What is the learning paradigm involved in school physical exercise drills before entering classrooms?</a:t>
            </a:r>
          </a:p>
        </p:txBody>
      </p:sp>
      <p:sp>
        <p:nvSpPr>
          <p:cNvPr id="3" name="Content Placeholder 2"/>
          <p:cNvSpPr>
            <a:spLocks noGrp="1"/>
          </p:cNvSpPr>
          <p:nvPr>
            <p:ph idx="1"/>
          </p:nvPr>
        </p:nvSpPr>
        <p:spPr>
          <a:xfrm>
            <a:off x="838200" y="3352800"/>
            <a:ext cx="10515600" cy="2824480"/>
          </a:xfrm>
        </p:spPr>
        <p:txBody>
          <a:bodyPr>
            <a:normAutofit/>
          </a:bodyPr>
          <a:lstStyle/>
          <a:p>
            <a:pPr marL="0" indent="0">
              <a:buNone/>
            </a:pPr>
            <a:r>
              <a:rPr lang="en-US" sz="4000" dirty="0">
                <a:latin typeface="Amasis MT Pro" panose="02040504050005020304" pitchFamily="18" charset="0"/>
              </a:rPr>
              <a:t>a. observation</a:t>
            </a:r>
          </a:p>
          <a:p>
            <a:pPr marL="0" indent="0">
              <a:buNone/>
            </a:pPr>
            <a:r>
              <a:rPr lang="en-US" sz="4000" dirty="0">
                <a:latin typeface="Amasis MT Pro" panose="02040504050005020304" pitchFamily="18" charset="0"/>
              </a:rPr>
              <a:t>b. reward</a:t>
            </a:r>
          </a:p>
          <a:p>
            <a:pPr marL="0" indent="0">
              <a:buNone/>
            </a:pPr>
            <a:r>
              <a:rPr lang="en-US" sz="4000" dirty="0">
                <a:latin typeface="Amasis MT Pro" panose="02040504050005020304" pitchFamily="18" charset="0"/>
              </a:rPr>
              <a:t>c. punishment</a:t>
            </a:r>
          </a:p>
          <a:p>
            <a:pPr marL="0" indent="0">
              <a:buNone/>
            </a:pPr>
            <a:r>
              <a:rPr lang="en-US" sz="4000" dirty="0">
                <a:latin typeface="Amasis MT Pro" panose="02040504050005020304" pitchFamily="18" charset="0"/>
              </a:rPr>
              <a:t>d. conditioning</a:t>
            </a:r>
          </a:p>
        </p:txBody>
      </p:sp>
      <p:pic>
        <p:nvPicPr>
          <p:cNvPr id="4" name="Graphic 3" descr="Checkmark with solid fill">
            <a:extLst>
              <a:ext uri="{FF2B5EF4-FFF2-40B4-BE49-F238E27FC236}">
                <a16:creationId xmlns:a16="http://schemas.microsoft.com/office/drawing/2014/main" id="{B597803E-A27E-D35F-FD0A-66BA57469A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6560" y="5189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3490" name="Picture 2" descr="Classical Conditioning: How It Works With Examples">
            <a:extLst>
              <a:ext uri="{FF2B5EF4-FFF2-40B4-BE49-F238E27FC236}">
                <a16:creationId xmlns:a16="http://schemas.microsoft.com/office/drawing/2014/main" id="{64F4E3A0-18F9-A54E-88FA-CC46044E535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2884" y="643466"/>
            <a:ext cx="742623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52038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771525"/>
            <a:ext cx="10515600" cy="1835785"/>
          </a:xfrm>
        </p:spPr>
        <p:txBody>
          <a:bodyPr>
            <a:normAutofit fontScale="90000"/>
          </a:bodyPr>
          <a:lstStyle/>
          <a:p>
            <a:pPr algn="just"/>
            <a:r>
              <a:rPr lang="en-US" dirty="0">
                <a:latin typeface="Amasis MT Pro Black" panose="02040A04050005020304" pitchFamily="18" charset="0"/>
              </a:rPr>
              <a:t>111. Which is the most recent and comprehensive among norms for professional standards for Philippine teachers?</a:t>
            </a:r>
          </a:p>
        </p:txBody>
      </p:sp>
      <p:sp>
        <p:nvSpPr>
          <p:cNvPr id="3" name="Content Placeholder 2"/>
          <p:cNvSpPr>
            <a:spLocks noGrp="1"/>
          </p:cNvSpPr>
          <p:nvPr>
            <p:ph idx="1"/>
          </p:nvPr>
        </p:nvSpPr>
        <p:spPr>
          <a:xfrm>
            <a:off x="838200" y="3078480"/>
            <a:ext cx="10515600" cy="3098800"/>
          </a:xfrm>
        </p:spPr>
        <p:txBody>
          <a:bodyPr>
            <a:normAutofit/>
          </a:bodyPr>
          <a:lstStyle/>
          <a:p>
            <a:pPr marL="0" indent="0">
              <a:buNone/>
            </a:pPr>
            <a:r>
              <a:rPr lang="en-US" sz="3200" dirty="0">
                <a:latin typeface="Amasis MT Pro" panose="02040504050005020304" pitchFamily="18" charset="0"/>
              </a:rPr>
              <a:t>a. Continuing professional development</a:t>
            </a:r>
          </a:p>
          <a:p>
            <a:pPr marL="0" indent="0">
              <a:buNone/>
            </a:pPr>
            <a:r>
              <a:rPr lang="en-US" sz="3200" dirty="0">
                <a:latin typeface="Amasis MT Pro" panose="02040504050005020304" pitchFamily="18" charset="0"/>
              </a:rPr>
              <a:t>b. Professional code of ethics</a:t>
            </a:r>
          </a:p>
          <a:p>
            <a:pPr marL="0" indent="0">
              <a:buNone/>
            </a:pPr>
            <a:r>
              <a:rPr lang="en-US" sz="3200" dirty="0">
                <a:latin typeface="Amasis MT Pro" panose="02040504050005020304" pitchFamily="18" charset="0"/>
              </a:rPr>
              <a:t>c. Philippine professional standards for teachers</a:t>
            </a:r>
          </a:p>
          <a:p>
            <a:pPr marL="0" indent="0">
              <a:buNone/>
            </a:pPr>
            <a:r>
              <a:rPr lang="en-US" sz="3200" dirty="0">
                <a:latin typeface="Amasis MT Pro" panose="02040504050005020304" pitchFamily="18" charset="0"/>
              </a:rPr>
              <a:t>d. National competency-based teacher standards</a:t>
            </a:r>
          </a:p>
        </p:txBody>
      </p:sp>
      <p:pic>
        <p:nvPicPr>
          <p:cNvPr id="4" name="Graphic 3" descr="Checkmark with solid fill">
            <a:extLst>
              <a:ext uri="{FF2B5EF4-FFF2-40B4-BE49-F238E27FC236}">
                <a16:creationId xmlns:a16="http://schemas.microsoft.com/office/drawing/2014/main" id="{BB38751B-A7FB-DC98-1DBE-3CF507B29F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54160" y="38582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4514" name="Picture 2" descr="PPST Domains and Strands (Infographics) » Educators' Files">
            <a:extLst>
              <a:ext uri="{FF2B5EF4-FFF2-40B4-BE49-F238E27FC236}">
                <a16:creationId xmlns:a16="http://schemas.microsoft.com/office/drawing/2014/main" id="{E64B17DB-3380-91A3-D164-47B0EE1953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9138" y="643466"/>
            <a:ext cx="3133724"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97269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802005"/>
            <a:ext cx="10515600" cy="1325563"/>
          </a:xfrm>
        </p:spPr>
        <p:txBody>
          <a:bodyPr>
            <a:normAutofit fontScale="90000"/>
          </a:bodyPr>
          <a:lstStyle/>
          <a:p>
            <a:pPr algn="just"/>
            <a:r>
              <a:rPr lang="en-US" dirty="0">
                <a:latin typeface="Amasis MT Pro Black" panose="02040A04050005020304" pitchFamily="18" charset="0"/>
              </a:rPr>
              <a:t>112. What do students miss while engaging in virtual learning during the COVID 19 pandemic?</a:t>
            </a:r>
          </a:p>
        </p:txBody>
      </p:sp>
      <p:sp>
        <p:nvSpPr>
          <p:cNvPr id="3" name="Content Placeholder 2"/>
          <p:cNvSpPr>
            <a:spLocks noGrp="1"/>
          </p:cNvSpPr>
          <p:nvPr>
            <p:ph idx="1"/>
          </p:nvPr>
        </p:nvSpPr>
        <p:spPr>
          <a:xfrm>
            <a:off x="838200" y="2682239"/>
            <a:ext cx="10515600" cy="3494723"/>
          </a:xfrm>
        </p:spPr>
        <p:txBody>
          <a:bodyPr>
            <a:normAutofit/>
          </a:bodyPr>
          <a:lstStyle/>
          <a:p>
            <a:pPr marL="0" indent="0">
              <a:buNone/>
            </a:pPr>
            <a:r>
              <a:rPr lang="en-US" sz="4000" dirty="0">
                <a:latin typeface="Amasis MT Pro" panose="02040504050005020304" pitchFamily="18" charset="0"/>
              </a:rPr>
              <a:t>a. face to face learning</a:t>
            </a:r>
          </a:p>
          <a:p>
            <a:pPr marL="0" indent="0">
              <a:buNone/>
            </a:pPr>
            <a:r>
              <a:rPr lang="en-US" sz="4000" dirty="0">
                <a:latin typeface="Amasis MT Pro" panose="02040504050005020304" pitchFamily="18" charset="0"/>
              </a:rPr>
              <a:t>b. flexible learning</a:t>
            </a:r>
          </a:p>
          <a:p>
            <a:pPr marL="0" indent="0">
              <a:buNone/>
            </a:pPr>
            <a:r>
              <a:rPr lang="en-US" sz="4000" dirty="0">
                <a:latin typeface="Amasis MT Pro" panose="02040504050005020304" pitchFamily="18" charset="0"/>
              </a:rPr>
              <a:t>c. distant learning</a:t>
            </a:r>
          </a:p>
          <a:p>
            <a:pPr marL="0" indent="0">
              <a:buNone/>
            </a:pPr>
            <a:r>
              <a:rPr lang="en-US" sz="4000" dirty="0">
                <a:latin typeface="Amasis MT Pro" panose="02040504050005020304" pitchFamily="18" charset="0"/>
              </a:rPr>
              <a:t>d. blended learning</a:t>
            </a:r>
          </a:p>
        </p:txBody>
      </p:sp>
      <p:pic>
        <p:nvPicPr>
          <p:cNvPr id="4" name="Graphic 3" descr="Checkmark with solid fill">
            <a:extLst>
              <a:ext uri="{FF2B5EF4-FFF2-40B4-BE49-F238E27FC236}">
                <a16:creationId xmlns:a16="http://schemas.microsoft.com/office/drawing/2014/main" id="{631FE89E-EFD3-43D4-C91F-E735FC351A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2480" y="2364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5538" name="Picture 2" descr="The Face-to-Face Model of Blended Learning Explained - ViewSonic Library">
            <a:extLst>
              <a:ext uri="{FF2B5EF4-FFF2-40B4-BE49-F238E27FC236}">
                <a16:creationId xmlns:a16="http://schemas.microsoft.com/office/drawing/2014/main" id="{C5E85545-D47B-6ED6-D287-C729227FEC6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06243" y="643466"/>
            <a:ext cx="837951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21484"/>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2485"/>
            <a:ext cx="10515600" cy="2270760"/>
          </a:xfrm>
        </p:spPr>
        <p:txBody>
          <a:bodyPr>
            <a:noAutofit/>
          </a:bodyPr>
          <a:lstStyle/>
          <a:p>
            <a:pPr algn="just"/>
            <a:r>
              <a:rPr lang="en-US" sz="3200" dirty="0">
                <a:latin typeface="Amasis MT Pro Black" panose="02040A04050005020304" pitchFamily="18" charset="0"/>
              </a:rPr>
              <a:t>113. A teacher is a “trustee of the cultural and educational heritage of the nation and is under obligation to transmit to learners such heritage”.</a:t>
            </a:r>
            <a:br>
              <a:rPr lang="en-US" sz="3200" dirty="0">
                <a:latin typeface="Amasis MT Pro Black" panose="02040A04050005020304" pitchFamily="18" charset="0"/>
              </a:rPr>
            </a:br>
            <a:r>
              <a:rPr lang="en-US" sz="3200" dirty="0">
                <a:latin typeface="Amasis MT Pro Black" panose="02040A04050005020304" pitchFamily="18" charset="0"/>
              </a:rPr>
              <a:t>Which practice makes the teacher fulfill such obligation?</a:t>
            </a:r>
          </a:p>
        </p:txBody>
      </p:sp>
      <p:sp>
        <p:nvSpPr>
          <p:cNvPr id="3" name="Content Placeholder 2"/>
          <p:cNvSpPr>
            <a:spLocks noGrp="1"/>
          </p:cNvSpPr>
          <p:nvPr>
            <p:ph idx="1"/>
          </p:nvPr>
        </p:nvSpPr>
        <p:spPr>
          <a:xfrm>
            <a:off x="838200" y="3535680"/>
            <a:ext cx="10515600" cy="2641600"/>
          </a:xfrm>
        </p:spPr>
        <p:txBody>
          <a:bodyPr>
            <a:normAutofit lnSpcReduction="10000"/>
          </a:bodyPr>
          <a:lstStyle/>
          <a:p>
            <a:pPr marL="0" indent="0" algn="just">
              <a:buNone/>
            </a:pPr>
            <a:r>
              <a:rPr lang="en-US" sz="4000" dirty="0">
                <a:latin typeface="Amasis MT Pro" panose="02040504050005020304" pitchFamily="18" charset="0"/>
              </a:rPr>
              <a:t>a. use interactive teaching strategies</a:t>
            </a:r>
          </a:p>
          <a:p>
            <a:pPr marL="0" indent="0" algn="just">
              <a:buNone/>
            </a:pPr>
            <a:r>
              <a:rPr lang="en-US" sz="4000" dirty="0">
                <a:latin typeface="Amasis MT Pro" panose="02040504050005020304" pitchFamily="18" charset="0"/>
              </a:rPr>
              <a:t>b. facilitate discovery of values from history</a:t>
            </a:r>
          </a:p>
          <a:p>
            <a:pPr marL="0" indent="0" algn="just">
              <a:buNone/>
            </a:pPr>
            <a:r>
              <a:rPr lang="en-US" sz="4000" dirty="0">
                <a:latin typeface="Amasis MT Pro" panose="02040504050005020304" pitchFamily="18" charset="0"/>
              </a:rPr>
              <a:t>c. adopt the latest educational technology</a:t>
            </a:r>
          </a:p>
          <a:p>
            <a:pPr marL="0" indent="0" algn="just">
              <a:buNone/>
            </a:pPr>
            <a:r>
              <a:rPr lang="en-US" sz="4000" dirty="0">
                <a:latin typeface="Amasis MT Pro" panose="02040504050005020304" pitchFamily="18" charset="0"/>
              </a:rPr>
              <a:t>d. observe continuing professional education</a:t>
            </a:r>
          </a:p>
        </p:txBody>
      </p:sp>
      <p:pic>
        <p:nvPicPr>
          <p:cNvPr id="4" name="Graphic 3" descr="Checkmark with solid fill">
            <a:extLst>
              <a:ext uri="{FF2B5EF4-FFF2-40B4-BE49-F238E27FC236}">
                <a16:creationId xmlns:a16="http://schemas.microsoft.com/office/drawing/2014/main" id="{CED10586-DFF5-EBAC-C327-1F1EF5A595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1120" y="38379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6562" name="Picture 2" descr="FOR PROFESSIONAL TEACHERS - ppt video online download">
            <a:extLst>
              <a:ext uri="{FF2B5EF4-FFF2-40B4-BE49-F238E27FC236}">
                <a16:creationId xmlns:a16="http://schemas.microsoft.com/office/drawing/2014/main" id="{9C24AAB8-2696-00DA-B5C6-55712BA719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29649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15895"/>
          </a:xfrm>
        </p:spPr>
        <p:txBody>
          <a:bodyPr>
            <a:noAutofit/>
          </a:bodyPr>
          <a:lstStyle/>
          <a:p>
            <a:pPr algn="just"/>
            <a:r>
              <a:rPr lang="en-US" sz="3600" dirty="0">
                <a:latin typeface="Amasis MT Pro Black" panose="02040A04050005020304" pitchFamily="18" charset="0"/>
              </a:rPr>
              <a:t>114. What is the focus of teacher Mariah who checked assigned essays of her students for their spelling, grammar, right citation on pictures and labelling of diagrams?</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accuracy</a:t>
            </a:r>
          </a:p>
          <a:p>
            <a:pPr marL="0" indent="0">
              <a:buNone/>
            </a:pPr>
            <a:r>
              <a:rPr lang="en-US" sz="4000" dirty="0">
                <a:latin typeface="Amasis MT Pro" panose="02040504050005020304" pitchFamily="18" charset="0"/>
              </a:rPr>
              <a:t>b. organization</a:t>
            </a:r>
          </a:p>
          <a:p>
            <a:pPr marL="0" indent="0">
              <a:buNone/>
            </a:pPr>
            <a:r>
              <a:rPr lang="en-US" sz="4000" dirty="0">
                <a:latin typeface="Amasis MT Pro" panose="02040504050005020304" pitchFamily="18" charset="0"/>
              </a:rPr>
              <a:t>c. relevance</a:t>
            </a:r>
          </a:p>
          <a:p>
            <a:pPr marL="0" indent="0">
              <a:buNone/>
            </a:pPr>
            <a:r>
              <a:rPr lang="en-US" sz="4000" dirty="0">
                <a:latin typeface="Amasis MT Pro" panose="02040504050005020304" pitchFamily="18" charset="0"/>
              </a:rPr>
              <a:t>d. propriety</a:t>
            </a:r>
          </a:p>
        </p:txBody>
      </p:sp>
      <p:pic>
        <p:nvPicPr>
          <p:cNvPr id="4" name="Graphic 3" descr="Checkmark with solid fill">
            <a:extLst>
              <a:ext uri="{FF2B5EF4-FFF2-40B4-BE49-F238E27FC236}">
                <a16:creationId xmlns:a16="http://schemas.microsoft.com/office/drawing/2014/main" id="{45EB0FFF-B8C1-3CB4-5A87-0A7F596BDF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13760" y="3197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7586" name="Picture 2" descr="Accurate meaning | Correct, Precise and Particular in all details. |  English Dictionary with Accurate Mean, Origin, Type, Example &amp; Phonetics.">
            <a:extLst>
              <a:ext uri="{FF2B5EF4-FFF2-40B4-BE49-F238E27FC236}">
                <a16:creationId xmlns:a16="http://schemas.microsoft.com/office/drawing/2014/main" id="{542AD472-2BDC-818D-C61B-2700BE99C2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3940" y="643466"/>
            <a:ext cx="990411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74148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832485"/>
            <a:ext cx="10515600" cy="2098040"/>
          </a:xfrm>
        </p:spPr>
        <p:txBody>
          <a:bodyPr>
            <a:noAutofit/>
          </a:bodyPr>
          <a:lstStyle/>
          <a:p>
            <a:pPr algn="just"/>
            <a:r>
              <a:rPr lang="en-US" sz="3600" dirty="0">
                <a:latin typeface="Amasis MT Pro Black" panose="02040A04050005020304" pitchFamily="18" charset="0"/>
              </a:rPr>
              <a:t>115. During the rainy season, Principal Ronda made a ruling to use the corridors instead of the school yard for lining up prior to entrance in classes. How is this a good practice?</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to protect the yard from student tampering</a:t>
            </a:r>
          </a:p>
          <a:p>
            <a:pPr marL="0" indent="0">
              <a:buNone/>
            </a:pPr>
            <a:r>
              <a:rPr lang="en-US" sz="4000" dirty="0">
                <a:latin typeface="Amasis MT Pro" panose="02040504050005020304" pitchFamily="18" charset="0"/>
              </a:rPr>
              <a:t>b. to protect students from inclement weather</a:t>
            </a:r>
          </a:p>
          <a:p>
            <a:pPr marL="0" indent="0">
              <a:buNone/>
            </a:pPr>
            <a:r>
              <a:rPr lang="en-US" sz="4000" dirty="0">
                <a:latin typeface="Amasis MT Pro" panose="02040504050005020304" pitchFamily="18" charset="0"/>
              </a:rPr>
              <a:t>c. to make good use of the corridors</a:t>
            </a:r>
          </a:p>
          <a:p>
            <a:pPr marL="0" indent="0">
              <a:buNone/>
            </a:pPr>
            <a:r>
              <a:rPr lang="en-US" sz="4000" dirty="0">
                <a:latin typeface="Amasis MT Pro" panose="02040504050005020304" pitchFamily="18" charset="0"/>
              </a:rPr>
              <a:t>d. to give students easier access to classes</a:t>
            </a:r>
          </a:p>
        </p:txBody>
      </p:sp>
      <p:pic>
        <p:nvPicPr>
          <p:cNvPr id="4" name="Graphic 3" descr="Checkmark with solid fill">
            <a:extLst>
              <a:ext uri="{FF2B5EF4-FFF2-40B4-BE49-F238E27FC236}">
                <a16:creationId xmlns:a16="http://schemas.microsoft.com/office/drawing/2014/main" id="{0E0E0D2F-E6DF-C1C2-61F1-D9AB12616F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388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8610" name="Picture 2" descr="Empty corridors at school - Catholic Voice">
            <a:extLst>
              <a:ext uri="{FF2B5EF4-FFF2-40B4-BE49-F238E27FC236}">
                <a16:creationId xmlns:a16="http://schemas.microsoft.com/office/drawing/2014/main" id="{973CB843-D224-D9EC-06ED-F75084E84F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2305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1127125"/>
            <a:ext cx="10515600" cy="1325563"/>
          </a:xfrm>
        </p:spPr>
        <p:txBody>
          <a:bodyPr>
            <a:normAutofit fontScale="90000"/>
          </a:bodyPr>
          <a:lstStyle/>
          <a:p>
            <a:pPr algn="just"/>
            <a:r>
              <a:rPr lang="en-US" dirty="0">
                <a:latin typeface="Amasis MT Pro Black" panose="02040A04050005020304" pitchFamily="18" charset="0"/>
              </a:rPr>
              <a:t>116. Which of the following best exemplifies fun-learning in the classroom?</a:t>
            </a:r>
          </a:p>
        </p:txBody>
      </p:sp>
      <p:sp>
        <p:nvSpPr>
          <p:cNvPr id="3" name="Content Placeholder 2"/>
          <p:cNvSpPr>
            <a:spLocks noGrp="1"/>
          </p:cNvSpPr>
          <p:nvPr>
            <p:ph idx="1"/>
          </p:nvPr>
        </p:nvSpPr>
        <p:spPr>
          <a:xfrm>
            <a:off x="838200" y="3261359"/>
            <a:ext cx="10515600" cy="2915603"/>
          </a:xfrm>
        </p:spPr>
        <p:txBody>
          <a:bodyPr>
            <a:normAutofit/>
          </a:bodyPr>
          <a:lstStyle/>
          <a:p>
            <a:pPr marL="0" indent="0">
              <a:buNone/>
            </a:pPr>
            <a:r>
              <a:rPr lang="en-US" sz="4000" dirty="0">
                <a:latin typeface="Amasis MT Pro" panose="02040504050005020304" pitchFamily="18" charset="0"/>
              </a:rPr>
              <a:t>a. group research</a:t>
            </a:r>
          </a:p>
          <a:p>
            <a:pPr marL="0" indent="0">
              <a:buNone/>
            </a:pPr>
            <a:r>
              <a:rPr lang="en-US" sz="4000" dirty="0">
                <a:latin typeface="Amasis MT Pro" panose="02040504050005020304" pitchFamily="18" charset="0"/>
              </a:rPr>
              <a:t>b. group  discussion</a:t>
            </a:r>
          </a:p>
          <a:p>
            <a:pPr marL="0" indent="0">
              <a:buNone/>
            </a:pPr>
            <a:r>
              <a:rPr lang="en-US" sz="4000" dirty="0">
                <a:latin typeface="Amasis MT Pro" panose="02040504050005020304" pitchFamily="18" charset="0"/>
              </a:rPr>
              <a:t>c. group games</a:t>
            </a:r>
          </a:p>
          <a:p>
            <a:pPr marL="0" indent="0">
              <a:buNone/>
            </a:pPr>
            <a:r>
              <a:rPr lang="en-US" sz="4000" dirty="0">
                <a:latin typeface="Amasis MT Pro" panose="02040504050005020304" pitchFamily="18" charset="0"/>
              </a:rPr>
              <a:t>d. group presentation</a:t>
            </a:r>
          </a:p>
        </p:txBody>
      </p:sp>
      <p:pic>
        <p:nvPicPr>
          <p:cNvPr id="4" name="Graphic 3" descr="Checkmark with solid fill">
            <a:extLst>
              <a:ext uri="{FF2B5EF4-FFF2-40B4-BE49-F238E27FC236}">
                <a16:creationId xmlns:a16="http://schemas.microsoft.com/office/drawing/2014/main" id="{10B234DE-859D-ECD5-BB46-21195F3FD2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78960" y="4427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9634" name="Picture 2" descr="12 Examples Of Gamification In The Classroom">
            <a:extLst>
              <a:ext uri="{FF2B5EF4-FFF2-40B4-BE49-F238E27FC236}">
                <a16:creationId xmlns:a16="http://schemas.microsoft.com/office/drawing/2014/main" id="{62BA4E2D-1576-FA46-8113-0E2AC767AD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533391"/>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55595"/>
          </a:xfrm>
        </p:spPr>
        <p:txBody>
          <a:bodyPr>
            <a:normAutofit fontScale="90000"/>
          </a:bodyPr>
          <a:lstStyle/>
          <a:p>
            <a:pPr algn="just"/>
            <a:r>
              <a:rPr lang="en-US" dirty="0">
                <a:latin typeface="Amasis MT Pro Black" panose="02040A04050005020304" pitchFamily="18" charset="0"/>
              </a:rPr>
              <a:t>117. Several stakeholders influence the school curriculum, but which next to learners are primarily important to the school curriculum implementation:</a:t>
            </a:r>
          </a:p>
        </p:txBody>
      </p:sp>
      <p:sp>
        <p:nvSpPr>
          <p:cNvPr id="3" name="Content Placeholder 2"/>
          <p:cNvSpPr>
            <a:spLocks noGrp="1"/>
          </p:cNvSpPr>
          <p:nvPr>
            <p:ph idx="1"/>
          </p:nvPr>
        </p:nvSpPr>
        <p:spPr>
          <a:xfrm>
            <a:off x="838200" y="3091815"/>
            <a:ext cx="10515600" cy="3085465"/>
          </a:xfrm>
        </p:spPr>
        <p:txBody>
          <a:bodyPr>
            <a:normAutofit/>
          </a:bodyPr>
          <a:lstStyle/>
          <a:p>
            <a:pPr marL="0" indent="0">
              <a:buNone/>
            </a:pPr>
            <a:r>
              <a:rPr lang="en-US" sz="4000" dirty="0">
                <a:latin typeface="Amasis MT Pro" panose="02040504050005020304" pitchFamily="18" charset="0"/>
              </a:rPr>
              <a:t>a. parents</a:t>
            </a:r>
          </a:p>
          <a:p>
            <a:pPr marL="0" indent="0">
              <a:buNone/>
            </a:pPr>
            <a:r>
              <a:rPr lang="en-US" sz="4000" dirty="0">
                <a:latin typeface="Amasis MT Pro" panose="02040504050005020304" pitchFamily="18" charset="0"/>
              </a:rPr>
              <a:t>b. industry</a:t>
            </a:r>
          </a:p>
          <a:p>
            <a:pPr marL="0" indent="0">
              <a:buNone/>
            </a:pPr>
            <a:r>
              <a:rPr lang="en-US" sz="4000" dirty="0">
                <a:latin typeface="Amasis MT Pro" panose="02040504050005020304" pitchFamily="18" charset="0"/>
              </a:rPr>
              <a:t>c. community</a:t>
            </a:r>
          </a:p>
          <a:p>
            <a:pPr marL="0" indent="0">
              <a:buNone/>
            </a:pPr>
            <a:r>
              <a:rPr lang="en-US" sz="4000" dirty="0">
                <a:latin typeface="Amasis MT Pro" panose="02040504050005020304" pitchFamily="18" charset="0"/>
              </a:rPr>
              <a:t>d. policy makers</a:t>
            </a:r>
          </a:p>
        </p:txBody>
      </p:sp>
      <p:pic>
        <p:nvPicPr>
          <p:cNvPr id="4" name="Graphic 3" descr="Checkmark with solid fill">
            <a:extLst>
              <a:ext uri="{FF2B5EF4-FFF2-40B4-BE49-F238E27FC236}">
                <a16:creationId xmlns:a16="http://schemas.microsoft.com/office/drawing/2014/main" id="{A825FB2C-FA6B-F5A0-BD18-18262E466E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42080" y="4177347"/>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663" name="Rectangle 70662">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70665" name="Freeform: Shape 70664">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70658" name="Picture 2" descr="Role of Stakeholders in curriculum implementation">
            <a:extLst>
              <a:ext uri="{FF2B5EF4-FFF2-40B4-BE49-F238E27FC236}">
                <a16:creationId xmlns:a16="http://schemas.microsoft.com/office/drawing/2014/main" id="{F990A15A-FD06-6CE7-CB94-86D3E9BF943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89135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1086485"/>
            <a:ext cx="10515600" cy="1911985"/>
          </a:xfrm>
        </p:spPr>
        <p:txBody>
          <a:bodyPr>
            <a:normAutofit fontScale="90000"/>
          </a:bodyPr>
          <a:lstStyle/>
          <a:p>
            <a:pPr algn="just"/>
            <a:r>
              <a:rPr lang="en-US" dirty="0">
                <a:latin typeface="Amasis MT Pro Black" panose="02040A04050005020304" pitchFamily="18" charset="0"/>
              </a:rPr>
              <a:t>118. In Kohlberg’s stages of moral development, what characterizes taxi driver Rico who returns the wallet of a passenger who left it in his cab?</a:t>
            </a:r>
          </a:p>
        </p:txBody>
      </p:sp>
      <p:sp>
        <p:nvSpPr>
          <p:cNvPr id="3" name="Content Placeholder 2"/>
          <p:cNvSpPr>
            <a:spLocks noGrp="1"/>
          </p:cNvSpPr>
          <p:nvPr>
            <p:ph idx="1"/>
          </p:nvPr>
        </p:nvSpPr>
        <p:spPr>
          <a:xfrm>
            <a:off x="838200" y="3557588"/>
            <a:ext cx="10515600" cy="2046605"/>
          </a:xfrm>
        </p:spPr>
        <p:txBody>
          <a:bodyPr/>
          <a:lstStyle/>
          <a:p>
            <a:pPr marL="0" indent="0">
              <a:buNone/>
            </a:pPr>
            <a:r>
              <a:rPr lang="en-US" dirty="0">
                <a:latin typeface="Amasis MT Pro" panose="02040504050005020304" pitchFamily="18" charset="0"/>
              </a:rPr>
              <a:t>a. preconventional for the reward money</a:t>
            </a:r>
          </a:p>
          <a:p>
            <a:pPr marL="0" indent="0">
              <a:buNone/>
            </a:pPr>
            <a:r>
              <a:rPr lang="en-US" dirty="0">
                <a:latin typeface="Amasis MT Pro" panose="02040504050005020304" pitchFamily="18" charset="0"/>
              </a:rPr>
              <a:t>b. preconvention for fear of punishment</a:t>
            </a:r>
          </a:p>
          <a:p>
            <a:pPr marL="0" indent="0">
              <a:buNone/>
            </a:pPr>
            <a:r>
              <a:rPr lang="en-US" dirty="0">
                <a:latin typeface="Amasis MT Pro" panose="02040504050005020304" pitchFamily="18" charset="0"/>
              </a:rPr>
              <a:t>c. post-conventional for the common good</a:t>
            </a:r>
          </a:p>
          <a:p>
            <a:pPr marL="0" indent="0">
              <a:buNone/>
            </a:pPr>
            <a:r>
              <a:rPr lang="en-US" dirty="0">
                <a:latin typeface="Amasis MT Pro" panose="02040504050005020304" pitchFamily="18" charset="0"/>
              </a:rPr>
              <a:t>d. conventional for social approval of what other people will say</a:t>
            </a:r>
          </a:p>
        </p:txBody>
      </p:sp>
      <p:pic>
        <p:nvPicPr>
          <p:cNvPr id="4" name="Graphic 3" descr="Checkmark with solid fill">
            <a:extLst>
              <a:ext uri="{FF2B5EF4-FFF2-40B4-BE49-F238E27FC236}">
                <a16:creationId xmlns:a16="http://schemas.microsoft.com/office/drawing/2014/main" id="{A0DFBFCB-6128-94BF-BE4F-96E372A07B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7440" y="42138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687" name="Rectangle 71686">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71689" name="Freeform: Shape 7168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71682" name="Picture 2" descr="Kohlberg's Moral Development Theory - Simplest Explanation ever - YouTube">
            <a:extLst>
              <a:ext uri="{FF2B5EF4-FFF2-40B4-BE49-F238E27FC236}">
                <a16:creationId xmlns:a16="http://schemas.microsoft.com/office/drawing/2014/main" id="{1F347AD5-780E-546D-B01F-F4B1887F7CB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43306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1943735"/>
          </a:xfrm>
        </p:spPr>
        <p:txBody>
          <a:bodyPr>
            <a:normAutofit fontScale="90000"/>
          </a:bodyPr>
          <a:lstStyle/>
          <a:p>
            <a:pPr algn="just"/>
            <a:r>
              <a:rPr lang="en-US" dirty="0">
                <a:latin typeface="Amasis MT Pro Black" panose="02040A04050005020304" pitchFamily="18" charset="0"/>
              </a:rPr>
              <a:t>119. In our post-industrial age, what provides an unlimited source of material for teaching-and-learning in schools?</a:t>
            </a:r>
          </a:p>
        </p:txBody>
      </p:sp>
      <p:sp>
        <p:nvSpPr>
          <p:cNvPr id="3" name="Content Placeholder 2"/>
          <p:cNvSpPr>
            <a:spLocks noGrp="1"/>
          </p:cNvSpPr>
          <p:nvPr>
            <p:ph idx="1"/>
          </p:nvPr>
        </p:nvSpPr>
        <p:spPr>
          <a:xfrm>
            <a:off x="838200" y="3169920"/>
            <a:ext cx="10515600" cy="3007360"/>
          </a:xfrm>
        </p:spPr>
        <p:txBody>
          <a:bodyPr>
            <a:normAutofit/>
          </a:bodyPr>
          <a:lstStyle/>
          <a:p>
            <a:pPr marL="0" indent="0">
              <a:buNone/>
            </a:pPr>
            <a:r>
              <a:rPr lang="en-US" sz="4000" dirty="0">
                <a:latin typeface="Amasis MT Pro" panose="02040504050005020304" pitchFamily="18" charset="0"/>
              </a:rPr>
              <a:t>a. school library</a:t>
            </a:r>
          </a:p>
          <a:p>
            <a:pPr marL="0" indent="0">
              <a:buNone/>
            </a:pPr>
            <a:r>
              <a:rPr lang="en-US" sz="4000" dirty="0">
                <a:latin typeface="Amasis MT Pro" panose="02040504050005020304" pitchFamily="18" charset="0"/>
              </a:rPr>
              <a:t>b. school research center</a:t>
            </a:r>
          </a:p>
          <a:p>
            <a:pPr marL="0" indent="0">
              <a:buNone/>
            </a:pPr>
            <a:r>
              <a:rPr lang="en-US" sz="4000" dirty="0">
                <a:latin typeface="Amasis MT Pro" panose="02040504050005020304" pitchFamily="18" charset="0"/>
              </a:rPr>
              <a:t>c. world wide web</a:t>
            </a:r>
          </a:p>
          <a:p>
            <a:pPr marL="0" indent="0">
              <a:buNone/>
            </a:pPr>
            <a:r>
              <a:rPr lang="en-US" sz="4000" dirty="0">
                <a:latin typeface="Amasis MT Pro" panose="02040504050005020304" pitchFamily="18" charset="0"/>
              </a:rPr>
              <a:t>d. school resource center</a:t>
            </a:r>
          </a:p>
        </p:txBody>
      </p:sp>
      <p:pic>
        <p:nvPicPr>
          <p:cNvPr id="4" name="Graphic 3" descr="Checkmark with solid fill">
            <a:extLst>
              <a:ext uri="{FF2B5EF4-FFF2-40B4-BE49-F238E27FC236}">
                <a16:creationId xmlns:a16="http://schemas.microsoft.com/office/drawing/2014/main" id="{C5918099-CA8F-6309-AA54-A52E5CD188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08880" y="4315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713" name="Rectangle 72712">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15" name="Freeform: Shape 72714">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72708" name="Picture 4" descr="Word cloud - world wide web Royalty Free Vector Image">
            <a:extLst>
              <a:ext uri="{FF2B5EF4-FFF2-40B4-BE49-F238E27FC236}">
                <a16:creationId xmlns:a16="http://schemas.microsoft.com/office/drawing/2014/main" id="{F3F560D5-100C-17C5-2366-AEF79E6F59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841844" y="1396303"/>
            <a:ext cx="4768755" cy="371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70891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1086485"/>
            <a:ext cx="10515600" cy="1774190"/>
          </a:xfrm>
        </p:spPr>
        <p:txBody>
          <a:bodyPr>
            <a:normAutofit fontScale="90000"/>
          </a:bodyPr>
          <a:lstStyle/>
          <a:p>
            <a:pPr algn="just"/>
            <a:r>
              <a:rPr lang="en-US" dirty="0">
                <a:latin typeface="Amasis MT Pro Black" panose="02040A04050005020304" pitchFamily="18" charset="0"/>
              </a:rPr>
              <a:t>120. Among thinking skills that students can develop, which is the ability to retain ideas by rote memory?</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t>a. understanding</a:t>
            </a:r>
          </a:p>
          <a:p>
            <a:pPr marL="0" indent="0">
              <a:buNone/>
            </a:pPr>
            <a:r>
              <a:rPr lang="en-US" sz="4000" dirty="0"/>
              <a:t>b. remembering</a:t>
            </a:r>
          </a:p>
          <a:p>
            <a:pPr marL="0" indent="0">
              <a:buNone/>
            </a:pPr>
            <a:r>
              <a:rPr lang="en-US" sz="4000" dirty="0"/>
              <a:t>c. creating</a:t>
            </a:r>
          </a:p>
          <a:p>
            <a:pPr marL="0" indent="0">
              <a:buNone/>
            </a:pPr>
            <a:r>
              <a:rPr lang="en-US" sz="4000" dirty="0"/>
              <a:t>d. applying</a:t>
            </a:r>
          </a:p>
        </p:txBody>
      </p:sp>
      <p:pic>
        <p:nvPicPr>
          <p:cNvPr id="4" name="Graphic 3" descr="Checkmark with solid fill">
            <a:extLst>
              <a:ext uri="{FF2B5EF4-FFF2-40B4-BE49-F238E27FC236}">
                <a16:creationId xmlns:a16="http://schemas.microsoft.com/office/drawing/2014/main" id="{7B1C297A-8A04-357F-8BEF-F88E35B635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7200" y="388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3730" name="Picture 2" descr="Prof. Khalid on Twitter: &quot;Bloom's Revised Taxonomy. There are six levels of  cognitive learning according to the revised version of Bloom's Taxonomy.  Each level is conceptually different. The six levels are remembering,">
            <a:extLst>
              <a:ext uri="{FF2B5EF4-FFF2-40B4-BE49-F238E27FC236}">
                <a16:creationId xmlns:a16="http://schemas.microsoft.com/office/drawing/2014/main" id="{10197059-8ED2-C685-FB73-4AB10B9BFB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18728" y="643466"/>
            <a:ext cx="735454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82015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144395"/>
          </a:xfrm>
        </p:spPr>
        <p:txBody>
          <a:bodyPr>
            <a:normAutofit fontScale="90000"/>
          </a:bodyPr>
          <a:lstStyle/>
          <a:p>
            <a:pPr algn="just"/>
            <a:r>
              <a:rPr lang="en-US" dirty="0">
                <a:latin typeface="Amasis MT Pro Black" panose="02040A04050005020304" pitchFamily="18" charset="0"/>
              </a:rPr>
              <a:t>121. What results in a systematic curriculum mapping that aligns horizontal, vertical, subject area and interdisciplinary elements of the study?</a:t>
            </a:r>
          </a:p>
        </p:txBody>
      </p:sp>
      <p:sp>
        <p:nvSpPr>
          <p:cNvPr id="3" name="Content Placeholder 2"/>
          <p:cNvSpPr>
            <a:spLocks noGrp="1"/>
          </p:cNvSpPr>
          <p:nvPr>
            <p:ph idx="1"/>
          </p:nvPr>
        </p:nvSpPr>
        <p:spPr>
          <a:xfrm>
            <a:off x="838200" y="2987040"/>
            <a:ext cx="10515600" cy="3190240"/>
          </a:xfrm>
        </p:spPr>
        <p:txBody>
          <a:bodyPr>
            <a:normAutofit/>
          </a:bodyPr>
          <a:lstStyle/>
          <a:p>
            <a:pPr marL="0" indent="0">
              <a:buNone/>
            </a:pPr>
            <a:r>
              <a:rPr lang="en-US" sz="4000" dirty="0">
                <a:latin typeface="Amasis MT Pro" panose="02040504050005020304" pitchFamily="18" charset="0"/>
              </a:rPr>
              <a:t>a. its plurality</a:t>
            </a:r>
          </a:p>
          <a:p>
            <a:pPr marL="0" indent="0">
              <a:buNone/>
            </a:pPr>
            <a:r>
              <a:rPr lang="en-US" sz="4000" dirty="0">
                <a:latin typeface="Amasis MT Pro" panose="02040504050005020304" pitchFamily="18" charset="0"/>
              </a:rPr>
              <a:t>b. its varied elements</a:t>
            </a:r>
          </a:p>
          <a:p>
            <a:pPr marL="0" indent="0">
              <a:buNone/>
            </a:pPr>
            <a:r>
              <a:rPr lang="en-US" sz="4000" dirty="0">
                <a:latin typeface="Amasis MT Pro" panose="02040504050005020304" pitchFamily="18" charset="0"/>
              </a:rPr>
              <a:t>c. its colorful design</a:t>
            </a:r>
          </a:p>
          <a:p>
            <a:pPr marL="0" indent="0">
              <a:buNone/>
            </a:pPr>
            <a:r>
              <a:rPr lang="en-US" sz="4000" dirty="0">
                <a:latin typeface="Amasis MT Pro" panose="02040504050005020304" pitchFamily="18" charset="0"/>
              </a:rPr>
              <a:t>d. its coherence</a:t>
            </a:r>
          </a:p>
        </p:txBody>
      </p:sp>
      <p:pic>
        <p:nvPicPr>
          <p:cNvPr id="4" name="Graphic 3" descr="Checkmark with solid fill">
            <a:extLst>
              <a:ext uri="{FF2B5EF4-FFF2-40B4-BE49-F238E27FC236}">
                <a16:creationId xmlns:a16="http://schemas.microsoft.com/office/drawing/2014/main" id="{CC373168-3028-ED32-79B2-704491A041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80560" y="47929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63" name="Freeform: Shape 74758">
            <a:extLst>
              <a:ext uri="{FF2B5EF4-FFF2-40B4-BE49-F238E27FC236}">
                <a16:creationId xmlns:a16="http://schemas.microsoft.com/office/drawing/2014/main" id="{B670DBD5-770C-4383-9F54-5B86E86BD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0277" y="0"/>
            <a:ext cx="9771446" cy="6858000"/>
          </a:xfrm>
          <a:custGeom>
            <a:avLst/>
            <a:gdLst>
              <a:gd name="connsiteX0" fmla="*/ 1422188 w 9771446"/>
              <a:gd name="connsiteY0" fmla="*/ 0 h 6858000"/>
              <a:gd name="connsiteX1" fmla="*/ 8349258 w 9771446"/>
              <a:gd name="connsiteY1" fmla="*/ 0 h 6858000"/>
              <a:gd name="connsiteX2" fmla="*/ 8502224 w 9771446"/>
              <a:gd name="connsiteY2" fmla="*/ 159673 h 6858000"/>
              <a:gd name="connsiteX3" fmla="*/ 9771446 w 9771446"/>
              <a:gd name="connsiteY3" fmla="*/ 3429001 h 6858000"/>
              <a:gd name="connsiteX4" fmla="*/ 8502224 w 9771446"/>
              <a:gd name="connsiteY4" fmla="*/ 6698330 h 6858000"/>
              <a:gd name="connsiteX5" fmla="*/ 8349260 w 9771446"/>
              <a:gd name="connsiteY5" fmla="*/ 6858000 h 6858000"/>
              <a:gd name="connsiteX6" fmla="*/ 1422186 w 9771446"/>
              <a:gd name="connsiteY6" fmla="*/ 6858000 h 6858000"/>
              <a:gd name="connsiteX7" fmla="*/ 1269223 w 9771446"/>
              <a:gd name="connsiteY7" fmla="*/ 6698330 h 6858000"/>
              <a:gd name="connsiteX8" fmla="*/ 0 w 9771446"/>
              <a:gd name="connsiteY8" fmla="*/ 3429001 h 6858000"/>
              <a:gd name="connsiteX9" fmla="*/ 1269223 w 9771446"/>
              <a:gd name="connsiteY9" fmla="*/ 159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1446" h="6858000">
                <a:moveTo>
                  <a:pt x="1422188" y="0"/>
                </a:moveTo>
                <a:lnTo>
                  <a:pt x="8349258" y="0"/>
                </a:lnTo>
                <a:lnTo>
                  <a:pt x="8502224" y="159673"/>
                </a:lnTo>
                <a:cubicBezTo>
                  <a:pt x="9290813" y="1023162"/>
                  <a:pt x="9771446" y="2170221"/>
                  <a:pt x="9771446" y="3429001"/>
                </a:cubicBezTo>
                <a:cubicBezTo>
                  <a:pt x="9771446" y="4687781"/>
                  <a:pt x="9290813" y="5834840"/>
                  <a:pt x="8502224" y="6698330"/>
                </a:cubicBezTo>
                <a:lnTo>
                  <a:pt x="8349260" y="6858000"/>
                </a:lnTo>
                <a:lnTo>
                  <a:pt x="1422186" y="6858000"/>
                </a:lnTo>
                <a:lnTo>
                  <a:pt x="1269223" y="6698330"/>
                </a:lnTo>
                <a:cubicBezTo>
                  <a:pt x="480633" y="5834840"/>
                  <a:pt x="0" y="4687781"/>
                  <a:pt x="0" y="3429001"/>
                </a:cubicBezTo>
                <a:cubicBezTo>
                  <a:pt x="0" y="2170221"/>
                  <a:pt x="480633" y="1023162"/>
                  <a:pt x="1269223" y="159673"/>
                </a:cubicBezTo>
                <a:close/>
              </a:path>
            </a:pathLst>
          </a:custGeom>
          <a:solidFill>
            <a:schemeClr val="bg1">
              <a:lumMod val="8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4754" name="Picture 2" descr="Coherence">
            <a:extLst>
              <a:ext uri="{FF2B5EF4-FFF2-40B4-BE49-F238E27FC236}">
                <a16:creationId xmlns:a16="http://schemas.microsoft.com/office/drawing/2014/main" id="{177C4300-9F79-9F8A-8D31-750FF2408A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68" r="-1" b="-1"/>
          <a:stretch/>
        </p:blipFill>
        <p:spPr bwMode="auto">
          <a:xfrm>
            <a:off x="1460597" y="10"/>
            <a:ext cx="9270806" cy="6857990"/>
          </a:xfrm>
          <a:custGeom>
            <a:avLst/>
            <a:gdLst/>
            <a:ahLst/>
            <a:cxnLst/>
            <a:rect l="l" t="t" r="r" b="b"/>
            <a:pathLst>
              <a:path w="9270806" h="6858000">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03540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1188085"/>
            <a:ext cx="10515600" cy="1325563"/>
          </a:xfrm>
        </p:spPr>
        <p:txBody>
          <a:bodyPr>
            <a:normAutofit/>
          </a:bodyPr>
          <a:lstStyle/>
          <a:p>
            <a:pPr algn="just"/>
            <a:r>
              <a:rPr lang="en-US" dirty="0">
                <a:latin typeface="Amasis MT Pro Black" panose="02040A04050005020304" pitchFamily="18" charset="0"/>
              </a:rPr>
              <a:t>122. When does Thorndike’s law of readiness best apply?</a:t>
            </a:r>
          </a:p>
        </p:txBody>
      </p:sp>
      <p:sp>
        <p:nvSpPr>
          <p:cNvPr id="3" name="Content Placeholder 2"/>
          <p:cNvSpPr>
            <a:spLocks noGrp="1"/>
          </p:cNvSpPr>
          <p:nvPr>
            <p:ph idx="1"/>
          </p:nvPr>
        </p:nvSpPr>
        <p:spPr>
          <a:xfrm>
            <a:off x="665480" y="3429000"/>
            <a:ext cx="10515600" cy="2834323"/>
          </a:xfrm>
        </p:spPr>
        <p:txBody>
          <a:bodyPr>
            <a:normAutofit/>
          </a:bodyPr>
          <a:lstStyle/>
          <a:p>
            <a:pPr marL="0" indent="0">
              <a:buNone/>
            </a:pPr>
            <a:r>
              <a:rPr lang="en-US" dirty="0"/>
              <a:t>a. when teachers require quick answers to questions</a:t>
            </a:r>
          </a:p>
          <a:p>
            <a:pPr marL="0" indent="0">
              <a:buNone/>
            </a:pPr>
            <a:r>
              <a:rPr lang="en-US" dirty="0"/>
              <a:t>b. when a teacher gives enough time for students to answer questions</a:t>
            </a:r>
          </a:p>
          <a:p>
            <a:pPr marL="0" indent="0">
              <a:buNone/>
            </a:pPr>
            <a:r>
              <a:rPr lang="en-US" dirty="0"/>
              <a:t>c. when a teacher pairs the quick and slow learners</a:t>
            </a:r>
          </a:p>
          <a:p>
            <a:pPr marL="0" indent="0">
              <a:buNone/>
            </a:pPr>
            <a:r>
              <a:rPr lang="en-US" dirty="0"/>
              <a:t>d. when a teacher prepares well for a presentation</a:t>
            </a:r>
          </a:p>
        </p:txBody>
      </p:sp>
      <p:pic>
        <p:nvPicPr>
          <p:cNvPr id="4" name="Graphic 3" descr="Checkmark with solid fill">
            <a:extLst>
              <a:ext uri="{FF2B5EF4-FFF2-40B4-BE49-F238E27FC236}">
                <a16:creationId xmlns:a16="http://schemas.microsoft.com/office/drawing/2014/main" id="{84A811F3-CE8D-3F4C-BFD6-1C23BEBC30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00080" y="3563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83" name="Rectangle 7578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5778" name="Picture 2" descr="Law of Learning - Edward Thorndike Part I | Psychology Class | Psychology  Course |Psychology classes - YouTube">
            <a:extLst>
              <a:ext uri="{FF2B5EF4-FFF2-40B4-BE49-F238E27FC236}">
                <a16:creationId xmlns:a16="http://schemas.microsoft.com/office/drawing/2014/main" id="{A77EEA37-95D2-7763-1C8A-BDB55360EF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1219200" y="817245"/>
            <a:ext cx="9286240" cy="5223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54334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78760"/>
          </a:xfrm>
        </p:spPr>
        <p:txBody>
          <a:bodyPr>
            <a:normAutofit fontScale="90000"/>
          </a:bodyPr>
          <a:lstStyle/>
          <a:p>
            <a:pPr algn="just"/>
            <a:r>
              <a:rPr lang="en-US" dirty="0">
                <a:latin typeface="Amasis MT Pro Black" panose="02040A04050005020304" pitchFamily="18" charset="0"/>
              </a:rPr>
              <a:t>123. What is demonstrated by DepEd’s emphasis on learning and assessment for percentage contribution to the grade </a:t>
            </a:r>
            <a:r>
              <a:rPr lang="en-US" dirty="0" err="1">
                <a:latin typeface="Amasis MT Pro Black" panose="02040A04050005020304" pitchFamily="18" charset="0"/>
              </a:rPr>
              <a:t>ofo</a:t>
            </a:r>
            <a:r>
              <a:rPr lang="en-US" dirty="0">
                <a:latin typeface="Amasis MT Pro Black" panose="02040A04050005020304" pitchFamily="18" charset="0"/>
              </a:rPr>
              <a:t> students in Grades 1 to 10</a:t>
            </a:r>
          </a:p>
        </p:txBody>
      </p:sp>
      <p:sp>
        <p:nvSpPr>
          <p:cNvPr id="3" name="Content Placeholder 2"/>
          <p:cNvSpPr>
            <a:spLocks noGrp="1"/>
          </p:cNvSpPr>
          <p:nvPr>
            <p:ph idx="1"/>
          </p:nvPr>
        </p:nvSpPr>
        <p:spPr>
          <a:xfrm>
            <a:off x="838200" y="3505199"/>
            <a:ext cx="10515600" cy="3198495"/>
          </a:xfrm>
        </p:spPr>
        <p:txBody>
          <a:bodyPr>
            <a:normAutofit/>
          </a:bodyPr>
          <a:lstStyle/>
          <a:p>
            <a:pPr marL="0" indent="0">
              <a:buNone/>
            </a:pPr>
            <a:r>
              <a:rPr lang="en-US" sz="3600" dirty="0">
                <a:latin typeface="Amasis MT Pro" panose="02040504050005020304" pitchFamily="18" charset="0"/>
              </a:rPr>
              <a:t>a. more value for written work</a:t>
            </a:r>
          </a:p>
          <a:p>
            <a:pPr marL="0" indent="0">
              <a:buNone/>
            </a:pPr>
            <a:r>
              <a:rPr lang="en-US" sz="3600" dirty="0">
                <a:latin typeface="Amasis MT Pro" panose="02040504050005020304" pitchFamily="18" charset="0"/>
              </a:rPr>
              <a:t>b. more stress on student discipline</a:t>
            </a:r>
          </a:p>
          <a:p>
            <a:pPr marL="0" indent="0">
              <a:buNone/>
            </a:pPr>
            <a:r>
              <a:rPr lang="en-US" sz="3600" dirty="0">
                <a:latin typeface="Amasis MT Pro" panose="02040504050005020304" pitchFamily="18" charset="0"/>
              </a:rPr>
              <a:t>c. more stress on leadership</a:t>
            </a:r>
          </a:p>
          <a:p>
            <a:pPr marL="0" indent="0">
              <a:buNone/>
            </a:pPr>
            <a:r>
              <a:rPr lang="en-US" sz="3600" dirty="0">
                <a:latin typeface="Amasis MT Pro" panose="02040504050005020304" pitchFamily="18" charset="0"/>
              </a:rPr>
              <a:t>d. more importance for performance tasks</a:t>
            </a:r>
          </a:p>
        </p:txBody>
      </p:sp>
      <p:pic>
        <p:nvPicPr>
          <p:cNvPr id="4" name="Graphic 3" descr="Checkmark with solid fill">
            <a:extLst>
              <a:ext uri="{FF2B5EF4-FFF2-40B4-BE49-F238E27FC236}">
                <a16:creationId xmlns:a16="http://schemas.microsoft.com/office/drawing/2014/main" id="{F5ADB736-01A0-0731-5E69-E338591365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04960" y="5104446"/>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7" name="Rectangle 76806">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12" name="Rectangle 76808">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11" name="Rectangle 76810">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802" name="Picture 2" descr="DepEd K to 12 Grading System Steps for Computing Grades - TeacherPH">
            <a:extLst>
              <a:ext uri="{FF2B5EF4-FFF2-40B4-BE49-F238E27FC236}">
                <a16:creationId xmlns:a16="http://schemas.microsoft.com/office/drawing/2014/main" id="{71F2C439-A51F-9B54-744C-9606B4BBCB5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20477" y="1908393"/>
            <a:ext cx="9951041" cy="3035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15603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842645"/>
            <a:ext cx="10515600" cy="1557020"/>
          </a:xfrm>
        </p:spPr>
        <p:txBody>
          <a:bodyPr>
            <a:normAutofit fontScale="90000"/>
          </a:bodyPr>
          <a:lstStyle/>
          <a:p>
            <a:pPr algn="just"/>
            <a:r>
              <a:rPr lang="en-US" dirty="0">
                <a:latin typeface="Amasis MT Pro Black" panose="02040A04050005020304" pitchFamily="18" charset="0"/>
              </a:rPr>
              <a:t>124. Among factors to effective teaching, which of the following refers to managing student-discipline in the classroom?</a:t>
            </a:r>
          </a:p>
        </p:txBody>
      </p:sp>
      <p:sp>
        <p:nvSpPr>
          <p:cNvPr id="3" name="Content Placeholder 2"/>
          <p:cNvSpPr>
            <a:spLocks noGrp="1"/>
          </p:cNvSpPr>
          <p:nvPr>
            <p:ph idx="1"/>
          </p:nvPr>
        </p:nvSpPr>
        <p:spPr>
          <a:xfrm>
            <a:off x="838200" y="3169920"/>
            <a:ext cx="10515600" cy="3007360"/>
          </a:xfrm>
        </p:spPr>
        <p:txBody>
          <a:bodyPr>
            <a:normAutofit/>
          </a:bodyPr>
          <a:lstStyle/>
          <a:p>
            <a:pPr marL="0" indent="0">
              <a:buNone/>
            </a:pPr>
            <a:r>
              <a:rPr lang="en-US" sz="4000" dirty="0">
                <a:latin typeface="Amasis MT Pro" panose="02040504050005020304" pitchFamily="18" charset="0"/>
              </a:rPr>
              <a:t>a. time on task</a:t>
            </a:r>
          </a:p>
          <a:p>
            <a:pPr marL="0" indent="0">
              <a:buNone/>
            </a:pPr>
            <a:r>
              <a:rPr lang="en-US" sz="4000" dirty="0">
                <a:latin typeface="Amasis MT Pro" panose="02040504050005020304" pitchFamily="18" charset="0"/>
              </a:rPr>
              <a:t>b. grouping</a:t>
            </a:r>
          </a:p>
          <a:p>
            <a:pPr marL="0" indent="0">
              <a:buNone/>
            </a:pPr>
            <a:r>
              <a:rPr lang="en-US" sz="4000" dirty="0">
                <a:latin typeface="Amasis MT Pro" panose="02040504050005020304" pitchFamily="18" charset="0"/>
              </a:rPr>
              <a:t>c. classroom management</a:t>
            </a:r>
          </a:p>
          <a:p>
            <a:pPr marL="0" indent="0">
              <a:buNone/>
            </a:pPr>
            <a:r>
              <a:rPr lang="en-US" sz="4000" dirty="0">
                <a:latin typeface="Amasis MT Pro" panose="02040504050005020304" pitchFamily="18" charset="0"/>
              </a:rPr>
              <a:t>d. direct instruction</a:t>
            </a:r>
          </a:p>
        </p:txBody>
      </p:sp>
      <p:pic>
        <p:nvPicPr>
          <p:cNvPr id="4" name="Graphic 3" descr="Checkmark with solid fill">
            <a:extLst>
              <a:ext uri="{FF2B5EF4-FFF2-40B4-BE49-F238E27FC236}">
                <a16:creationId xmlns:a16="http://schemas.microsoft.com/office/drawing/2014/main" id="{44491F80-663C-8CCD-DC84-A54FC2D63E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960" y="42164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7826" name="Picture 2" descr="Classroom Management Stategies - pedagogiayandragogia2016">
            <a:extLst>
              <a:ext uri="{FF2B5EF4-FFF2-40B4-BE49-F238E27FC236}">
                <a16:creationId xmlns:a16="http://schemas.microsoft.com/office/drawing/2014/main" id="{6802BE55-2E0B-3CD0-A833-04E2E59A5A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50961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680720"/>
            <a:ext cx="10515600" cy="2036445"/>
          </a:xfrm>
        </p:spPr>
        <p:txBody>
          <a:bodyPr>
            <a:normAutofit fontScale="90000"/>
          </a:bodyPr>
          <a:lstStyle/>
          <a:p>
            <a:pPr algn="just"/>
            <a:r>
              <a:rPr lang="en-US" dirty="0">
                <a:latin typeface="Amasis MT Pro Black" panose="02040A04050005020304" pitchFamily="18" charset="0"/>
              </a:rPr>
              <a:t>125. What was the method used by Socrates when he taught his students about life and beliefs in the ancient Grecian society?</a:t>
            </a:r>
          </a:p>
        </p:txBody>
      </p:sp>
      <p:sp>
        <p:nvSpPr>
          <p:cNvPr id="3" name="Content Placeholder 2"/>
          <p:cNvSpPr>
            <a:spLocks noGrp="1"/>
          </p:cNvSpPr>
          <p:nvPr>
            <p:ph idx="1"/>
          </p:nvPr>
        </p:nvSpPr>
        <p:spPr>
          <a:xfrm>
            <a:off x="838200" y="3271520"/>
            <a:ext cx="10515600" cy="2905760"/>
          </a:xfrm>
        </p:spPr>
        <p:txBody>
          <a:bodyPr>
            <a:normAutofit/>
          </a:bodyPr>
          <a:lstStyle/>
          <a:p>
            <a:pPr marL="0" indent="0">
              <a:buNone/>
            </a:pPr>
            <a:r>
              <a:rPr lang="en-US" sz="4000" dirty="0">
                <a:latin typeface="Amasis MT Pro" panose="02040504050005020304" pitchFamily="18" charset="0"/>
              </a:rPr>
              <a:t>a. art of rhetoric</a:t>
            </a:r>
          </a:p>
          <a:p>
            <a:pPr marL="0" indent="0">
              <a:buNone/>
            </a:pPr>
            <a:r>
              <a:rPr lang="en-US" sz="4000" dirty="0">
                <a:latin typeface="Amasis MT Pro" panose="02040504050005020304" pitchFamily="18" charset="0"/>
              </a:rPr>
              <a:t>b. art of questioning</a:t>
            </a:r>
          </a:p>
          <a:p>
            <a:pPr marL="0" indent="0">
              <a:buNone/>
            </a:pPr>
            <a:r>
              <a:rPr lang="en-US" sz="4000" dirty="0">
                <a:latin typeface="Amasis MT Pro" panose="02040504050005020304" pitchFamily="18" charset="0"/>
              </a:rPr>
              <a:t>c. art of storytelling</a:t>
            </a:r>
          </a:p>
          <a:p>
            <a:pPr marL="0" indent="0">
              <a:buNone/>
            </a:pPr>
            <a:r>
              <a:rPr lang="en-US" sz="4000" dirty="0">
                <a:latin typeface="Amasis MT Pro" panose="02040504050005020304" pitchFamily="18" charset="0"/>
              </a:rPr>
              <a:t>d. art of fallacies</a:t>
            </a:r>
          </a:p>
        </p:txBody>
      </p:sp>
      <p:pic>
        <p:nvPicPr>
          <p:cNvPr id="4" name="Graphic 3" descr="Checkmark with solid fill">
            <a:extLst>
              <a:ext uri="{FF2B5EF4-FFF2-40B4-BE49-F238E27FC236}">
                <a16:creationId xmlns:a16="http://schemas.microsoft.com/office/drawing/2014/main" id="{EC0C7032-1700-9FA8-27F6-80654E9B1D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83200" y="36652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8850" name="Picture 2" descr="Smarter Thinking: The Socratic Method">
            <a:extLst>
              <a:ext uri="{FF2B5EF4-FFF2-40B4-BE49-F238E27FC236}">
                <a16:creationId xmlns:a16="http://schemas.microsoft.com/office/drawing/2014/main" id="{18EF3617-FA3C-8555-B337-662416831D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29551" y="643466"/>
            <a:ext cx="9132898"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84992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1788795"/>
          </a:xfrm>
        </p:spPr>
        <p:txBody>
          <a:bodyPr>
            <a:normAutofit fontScale="90000"/>
          </a:bodyPr>
          <a:lstStyle/>
          <a:p>
            <a:pPr algn="just"/>
            <a:r>
              <a:rPr lang="en-US" dirty="0">
                <a:latin typeface="Amasis MT Pro Black" panose="02040A04050005020304" pitchFamily="18" charset="0"/>
              </a:rPr>
              <a:t>126. Which of the following questions must be considered in evaluating originality in essay or research writing?</a:t>
            </a:r>
          </a:p>
        </p:txBody>
      </p:sp>
      <p:sp>
        <p:nvSpPr>
          <p:cNvPr id="3" name="Content Placeholder 2"/>
          <p:cNvSpPr>
            <a:spLocks noGrp="1"/>
          </p:cNvSpPr>
          <p:nvPr>
            <p:ph idx="1"/>
          </p:nvPr>
        </p:nvSpPr>
        <p:spPr>
          <a:xfrm>
            <a:off x="838200" y="2895600"/>
            <a:ext cx="10515600" cy="3281680"/>
          </a:xfrm>
        </p:spPr>
        <p:txBody>
          <a:bodyPr>
            <a:normAutofit/>
          </a:bodyPr>
          <a:lstStyle/>
          <a:p>
            <a:pPr marL="0" indent="0">
              <a:buNone/>
            </a:pPr>
            <a:r>
              <a:rPr lang="en-US" sz="4000" dirty="0">
                <a:latin typeface="Amasis MT Pro" panose="02040504050005020304" pitchFamily="18" charset="0"/>
              </a:rPr>
              <a:t>a. are methods valid</a:t>
            </a:r>
          </a:p>
          <a:p>
            <a:pPr marL="0" indent="0">
              <a:buNone/>
            </a:pPr>
            <a:r>
              <a:rPr lang="en-US" sz="4000" dirty="0">
                <a:latin typeface="Amasis MT Pro" panose="02040504050005020304" pitchFamily="18" charset="0"/>
              </a:rPr>
              <a:t>b. does it follow format requirements</a:t>
            </a:r>
          </a:p>
          <a:p>
            <a:pPr marL="0" indent="0">
              <a:buNone/>
            </a:pPr>
            <a:r>
              <a:rPr lang="en-US" sz="4000" dirty="0">
                <a:latin typeface="Amasis MT Pro" panose="02040504050005020304" pitchFamily="18" charset="0"/>
              </a:rPr>
              <a:t>c. is it one’s own material</a:t>
            </a:r>
          </a:p>
          <a:p>
            <a:pPr marL="0" indent="0">
              <a:buNone/>
            </a:pPr>
            <a:r>
              <a:rPr lang="en-US" sz="4000" dirty="0">
                <a:latin typeface="Amasis MT Pro" panose="02040504050005020304" pitchFamily="18" charset="0"/>
              </a:rPr>
              <a:t>d. are assumptions factual</a:t>
            </a:r>
          </a:p>
        </p:txBody>
      </p:sp>
      <p:pic>
        <p:nvPicPr>
          <p:cNvPr id="5" name="Graphic 4" descr="Checkmark with solid fill">
            <a:extLst>
              <a:ext uri="{FF2B5EF4-FFF2-40B4-BE49-F238E27FC236}">
                <a16:creationId xmlns:a16="http://schemas.microsoft.com/office/drawing/2014/main" id="{DA3124E2-EFC5-14C0-FB33-9A8BCAC0FD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92240" y="39293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9874" name="Picture 2" descr="Understanding Plagiarism and Copyright What IS Plagiarism Plagiarism">
            <a:extLst>
              <a:ext uri="{FF2B5EF4-FFF2-40B4-BE49-F238E27FC236}">
                <a16:creationId xmlns:a16="http://schemas.microsoft.com/office/drawing/2014/main" id="{A3B77FA3-AA65-0CAD-7DFD-A75792FDE54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37308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680720"/>
            <a:ext cx="10515600" cy="1743075"/>
          </a:xfrm>
        </p:spPr>
        <p:txBody>
          <a:bodyPr>
            <a:normAutofit fontScale="90000"/>
          </a:bodyPr>
          <a:lstStyle/>
          <a:p>
            <a:pPr algn="just"/>
            <a:r>
              <a:rPr lang="en-US" dirty="0">
                <a:latin typeface="Amasis MT Pro Black" panose="02040A04050005020304" pitchFamily="18" charset="0"/>
              </a:rPr>
              <a:t>127. On principles of teaching-and-learning, what do Field and Gestalt theorists see as the way to develop learners?</a:t>
            </a:r>
          </a:p>
        </p:txBody>
      </p:sp>
      <p:sp>
        <p:nvSpPr>
          <p:cNvPr id="3" name="Content Placeholder 2"/>
          <p:cNvSpPr>
            <a:spLocks noGrp="1"/>
          </p:cNvSpPr>
          <p:nvPr>
            <p:ph idx="1"/>
          </p:nvPr>
        </p:nvSpPr>
        <p:spPr>
          <a:xfrm>
            <a:off x="838200" y="3190240"/>
            <a:ext cx="10515600" cy="2987040"/>
          </a:xfrm>
        </p:spPr>
        <p:txBody>
          <a:bodyPr>
            <a:normAutofit/>
          </a:bodyPr>
          <a:lstStyle/>
          <a:p>
            <a:pPr marL="0" indent="0">
              <a:buNone/>
            </a:pPr>
            <a:r>
              <a:rPr lang="en-US" sz="3200" dirty="0">
                <a:latin typeface="Amasis MT Pro" panose="02040504050005020304" pitchFamily="18" charset="0"/>
              </a:rPr>
              <a:t>a. learning by perceiving the environment</a:t>
            </a:r>
          </a:p>
          <a:p>
            <a:pPr marL="0" indent="0">
              <a:buNone/>
            </a:pPr>
            <a:r>
              <a:rPr lang="en-US" sz="3200" dirty="0">
                <a:latin typeface="Amasis MT Pro" panose="02040504050005020304" pitchFamily="18" charset="0"/>
              </a:rPr>
              <a:t>b. learning by change in thinking</a:t>
            </a:r>
          </a:p>
          <a:p>
            <a:pPr marL="0" indent="0">
              <a:buNone/>
            </a:pPr>
            <a:r>
              <a:rPr lang="en-US" sz="3200" dirty="0">
                <a:latin typeface="Amasis MT Pro" panose="02040504050005020304" pitchFamily="18" charset="0"/>
              </a:rPr>
              <a:t>c. learning by imitating ideas and tasks</a:t>
            </a:r>
          </a:p>
          <a:p>
            <a:pPr marL="0" indent="0">
              <a:buNone/>
            </a:pPr>
            <a:r>
              <a:rPr lang="en-US" sz="3200" dirty="0">
                <a:latin typeface="Amasis MT Pro" panose="02040504050005020304" pitchFamily="18" charset="0"/>
              </a:rPr>
              <a:t>d. learning by doing things</a:t>
            </a:r>
          </a:p>
        </p:txBody>
      </p:sp>
      <p:pic>
        <p:nvPicPr>
          <p:cNvPr id="4" name="Graphic 3" descr="Checkmark with solid fill">
            <a:extLst>
              <a:ext uri="{FF2B5EF4-FFF2-40B4-BE49-F238E27FC236}">
                <a16:creationId xmlns:a16="http://schemas.microsoft.com/office/drawing/2014/main" id="{A265B648-D3F7-27BB-9EBC-EDDA57FE27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9760" y="28117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0898" name="Picture 2" descr="What Is Gestalt Psychology?">
            <a:extLst>
              <a:ext uri="{FF2B5EF4-FFF2-40B4-BE49-F238E27FC236}">
                <a16:creationId xmlns:a16="http://schemas.microsoft.com/office/drawing/2014/main" id="{EAFBAA7F-80DC-724E-1678-1AAA9C983C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39146" y="643466"/>
            <a:ext cx="891370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69279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527685"/>
            <a:ext cx="10515600" cy="2299335"/>
          </a:xfrm>
        </p:spPr>
        <p:txBody>
          <a:bodyPr>
            <a:normAutofit fontScale="90000"/>
          </a:bodyPr>
          <a:lstStyle/>
          <a:p>
            <a:pPr algn="just"/>
            <a:r>
              <a:rPr lang="en-US" dirty="0">
                <a:latin typeface="Amasis MT Pro Black" panose="02040A04050005020304" pitchFamily="18" charset="0"/>
              </a:rPr>
              <a:t>128. What kind of presence is required so that the teacher can engage students to participate and engage in the learning process?</a:t>
            </a:r>
          </a:p>
        </p:txBody>
      </p:sp>
      <p:sp>
        <p:nvSpPr>
          <p:cNvPr id="3" name="Content Placeholder 2"/>
          <p:cNvSpPr>
            <a:spLocks noGrp="1"/>
          </p:cNvSpPr>
          <p:nvPr>
            <p:ph idx="1"/>
          </p:nvPr>
        </p:nvSpPr>
        <p:spPr>
          <a:xfrm>
            <a:off x="838200" y="3281680"/>
            <a:ext cx="10515600" cy="2895600"/>
          </a:xfrm>
        </p:spPr>
        <p:txBody>
          <a:bodyPr>
            <a:normAutofit/>
          </a:bodyPr>
          <a:lstStyle/>
          <a:p>
            <a:pPr marL="0" indent="0">
              <a:buNone/>
            </a:pPr>
            <a:r>
              <a:rPr lang="en-US" sz="3600" dirty="0">
                <a:latin typeface="Amasis MT Pro" panose="02040504050005020304" pitchFamily="18" charset="0"/>
              </a:rPr>
              <a:t>a. physical presence</a:t>
            </a:r>
          </a:p>
          <a:p>
            <a:pPr marL="0" indent="0">
              <a:buNone/>
            </a:pPr>
            <a:r>
              <a:rPr lang="en-US" sz="3600" dirty="0">
                <a:latin typeface="Amasis MT Pro" panose="02040504050005020304" pitchFamily="18" charset="0"/>
              </a:rPr>
              <a:t>b. remote presence</a:t>
            </a:r>
          </a:p>
          <a:p>
            <a:pPr marL="0" indent="0">
              <a:buNone/>
            </a:pPr>
            <a:r>
              <a:rPr lang="en-US" sz="3600" dirty="0">
                <a:latin typeface="Amasis MT Pro" panose="02040504050005020304" pitchFamily="18" charset="0"/>
              </a:rPr>
              <a:t>c. alter-ego presence</a:t>
            </a:r>
          </a:p>
          <a:p>
            <a:pPr marL="0" indent="0">
              <a:buNone/>
            </a:pPr>
            <a:r>
              <a:rPr lang="en-US" sz="3600" dirty="0">
                <a:latin typeface="Amasis MT Pro" panose="02040504050005020304" pitchFamily="18" charset="0"/>
              </a:rPr>
              <a:t>d. distance presence</a:t>
            </a:r>
          </a:p>
        </p:txBody>
      </p:sp>
      <p:pic>
        <p:nvPicPr>
          <p:cNvPr id="4" name="Graphic 3" descr="Checkmark with solid fill">
            <a:extLst>
              <a:ext uri="{FF2B5EF4-FFF2-40B4-BE49-F238E27FC236}">
                <a16:creationId xmlns:a16="http://schemas.microsoft.com/office/drawing/2014/main" id="{EE422004-AB5F-33DA-626D-9AF69212FA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9712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22" name="Picture 2" descr="Community of Inquiry Model | Denver">
            <a:extLst>
              <a:ext uri="{FF2B5EF4-FFF2-40B4-BE49-F238E27FC236}">
                <a16:creationId xmlns:a16="http://schemas.microsoft.com/office/drawing/2014/main" id="{19575728-B537-5277-D2DB-5EB404C6F95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983672" y="643466"/>
            <a:ext cx="6224656"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74442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558165"/>
            <a:ext cx="10515600" cy="1928495"/>
          </a:xfrm>
        </p:spPr>
        <p:txBody>
          <a:bodyPr>
            <a:normAutofit fontScale="90000"/>
          </a:bodyPr>
          <a:lstStyle/>
          <a:p>
            <a:pPr algn="just"/>
            <a:r>
              <a:rPr lang="en-US" dirty="0">
                <a:latin typeface="Amasis MT Pro Black" panose="02040A04050005020304" pitchFamily="18" charset="0"/>
              </a:rPr>
              <a:t>129. How can the schools effectively adopt protection of the Mother Earth along sustainable development of the United Nations?</a:t>
            </a:r>
          </a:p>
        </p:txBody>
      </p:sp>
      <p:sp>
        <p:nvSpPr>
          <p:cNvPr id="3" name="Content Placeholder 2"/>
          <p:cNvSpPr>
            <a:spLocks noGrp="1"/>
          </p:cNvSpPr>
          <p:nvPr>
            <p:ph idx="1"/>
          </p:nvPr>
        </p:nvSpPr>
        <p:spPr>
          <a:xfrm>
            <a:off x="838200" y="3159760"/>
            <a:ext cx="10515600" cy="3017520"/>
          </a:xfrm>
        </p:spPr>
        <p:txBody>
          <a:bodyPr>
            <a:normAutofit/>
          </a:bodyPr>
          <a:lstStyle/>
          <a:p>
            <a:pPr marL="0" indent="0">
              <a:buNone/>
            </a:pPr>
            <a:r>
              <a:rPr lang="en-US" sz="3600" dirty="0"/>
              <a:t>a. integrating ecological values in the curriculum</a:t>
            </a:r>
          </a:p>
          <a:p>
            <a:pPr marL="0" indent="0">
              <a:buNone/>
            </a:pPr>
            <a:r>
              <a:rPr lang="en-US" sz="3600" dirty="0"/>
              <a:t>b. changing textbooks into modules</a:t>
            </a:r>
          </a:p>
          <a:p>
            <a:pPr marL="0" indent="0">
              <a:buNone/>
            </a:pPr>
            <a:r>
              <a:rPr lang="en-US" sz="3600" dirty="0"/>
              <a:t>c. introducing gardening as a school subject</a:t>
            </a:r>
          </a:p>
          <a:p>
            <a:pPr marL="0" indent="0">
              <a:buNone/>
            </a:pPr>
            <a:r>
              <a:rPr lang="en-US" sz="3600" dirty="0"/>
              <a:t>d. contributing plants for the school grounds</a:t>
            </a:r>
          </a:p>
        </p:txBody>
      </p:sp>
      <p:pic>
        <p:nvPicPr>
          <p:cNvPr id="4" name="Graphic 3" descr="Checkmark with solid fill">
            <a:extLst>
              <a:ext uri="{FF2B5EF4-FFF2-40B4-BE49-F238E27FC236}">
                <a16:creationId xmlns:a16="http://schemas.microsoft.com/office/drawing/2014/main" id="{E8990342-2C98-730D-F3FA-4DA9DA405A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36480" y="28829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54" name="Rectangle 8295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953" name="Freeform: Shape 8295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955" name="Rectangle 8295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57" name="Rectangle 8295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59" name="Freeform: Shape 8295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961" name="Isosceles Triangle 8296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946" name="Picture 2" descr="Earth Day Coloring Activities | Earth day drawing, Earth day posters, Earth  drawings">
            <a:extLst>
              <a:ext uri="{FF2B5EF4-FFF2-40B4-BE49-F238E27FC236}">
                <a16:creationId xmlns:a16="http://schemas.microsoft.com/office/drawing/2014/main" id="{CDD952B3-F0F7-36A3-9EB0-0DB722B9FB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14370" y="643467"/>
            <a:ext cx="4763260"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2963" name="Isosceles Triangle 8296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929737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65200"/>
            <a:ext cx="10515600" cy="1325563"/>
          </a:xfrm>
        </p:spPr>
        <p:txBody>
          <a:bodyPr>
            <a:normAutofit/>
          </a:bodyPr>
          <a:lstStyle/>
          <a:p>
            <a:pPr algn="just"/>
            <a:r>
              <a:rPr lang="en-US" sz="4000" dirty="0">
                <a:latin typeface="Amasis MT Pro Black" panose="02040A04050005020304" pitchFamily="18" charset="0"/>
              </a:rPr>
              <a:t>130. Which is a ground for the revocation of professional license?</a:t>
            </a:r>
          </a:p>
        </p:txBody>
      </p:sp>
      <p:sp>
        <p:nvSpPr>
          <p:cNvPr id="3" name="Content Placeholder 2"/>
          <p:cNvSpPr>
            <a:spLocks noGrp="1"/>
          </p:cNvSpPr>
          <p:nvPr>
            <p:ph idx="1"/>
          </p:nvPr>
        </p:nvSpPr>
        <p:spPr>
          <a:xfrm>
            <a:off x="838200" y="3014345"/>
            <a:ext cx="10515600" cy="2878455"/>
          </a:xfrm>
        </p:spPr>
        <p:txBody>
          <a:bodyPr>
            <a:normAutofit/>
          </a:bodyPr>
          <a:lstStyle/>
          <a:p>
            <a:pPr marL="0" indent="0">
              <a:buNone/>
            </a:pPr>
            <a:r>
              <a:rPr lang="en-US" sz="4000" dirty="0">
                <a:latin typeface="Amasis MT Pro" panose="02040504050005020304" pitchFamily="18" charset="0"/>
              </a:rPr>
              <a:t>a. habitual use of drugs</a:t>
            </a:r>
          </a:p>
          <a:p>
            <a:pPr marL="0" indent="0">
              <a:buNone/>
            </a:pPr>
            <a:r>
              <a:rPr lang="en-US" sz="4000" dirty="0">
                <a:latin typeface="Amasis MT Pro" panose="02040504050005020304" pitchFamily="18" charset="0"/>
              </a:rPr>
              <a:t>b. courting of student</a:t>
            </a:r>
          </a:p>
          <a:p>
            <a:pPr marL="0" indent="0">
              <a:buNone/>
            </a:pPr>
            <a:r>
              <a:rPr lang="en-US" sz="4000" dirty="0">
                <a:latin typeface="Amasis MT Pro" panose="02040504050005020304" pitchFamily="18" charset="0"/>
              </a:rPr>
              <a:t>c. unexcused absence in school</a:t>
            </a:r>
          </a:p>
          <a:p>
            <a:pPr marL="0" indent="0">
              <a:buNone/>
            </a:pPr>
            <a:r>
              <a:rPr lang="en-US" sz="4000" dirty="0">
                <a:latin typeface="Amasis MT Pro" panose="02040504050005020304" pitchFamily="18" charset="0"/>
              </a:rPr>
              <a:t>d. habitual tardiness</a:t>
            </a:r>
          </a:p>
        </p:txBody>
      </p:sp>
      <p:pic>
        <p:nvPicPr>
          <p:cNvPr id="4" name="Graphic 3" descr="Checkmark with solid fill">
            <a:extLst>
              <a:ext uri="{FF2B5EF4-FFF2-40B4-BE49-F238E27FC236}">
                <a16:creationId xmlns:a16="http://schemas.microsoft.com/office/drawing/2014/main" id="{B942E485-9BC5-977F-078E-86557D8E6B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600" y="2750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ext&#10;&#10;Description automatically generated">
            <a:extLst>
              <a:ext uri="{FF2B5EF4-FFF2-40B4-BE49-F238E27FC236}">
                <a16:creationId xmlns:a16="http://schemas.microsoft.com/office/drawing/2014/main" id="{21ACC3DF-9F62-315E-111F-5E90F8555007}"/>
              </a:ext>
            </a:extLst>
          </p:cNvPr>
          <p:cNvPicPr>
            <a:picLocks noChangeAspect="1"/>
          </p:cNvPicPr>
          <p:nvPr/>
        </p:nvPicPr>
        <p:blipFill>
          <a:blip r:embed="rId2"/>
          <a:stretch>
            <a:fillRect/>
          </a:stretch>
        </p:blipFill>
        <p:spPr>
          <a:xfrm>
            <a:off x="643467" y="1506982"/>
            <a:ext cx="10905066" cy="384403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24319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1147445"/>
            <a:ext cx="10515600" cy="1325563"/>
          </a:xfrm>
        </p:spPr>
        <p:txBody>
          <a:bodyPr>
            <a:normAutofit fontScale="90000"/>
          </a:bodyPr>
          <a:lstStyle/>
          <a:p>
            <a:pPr algn="just"/>
            <a:r>
              <a:rPr lang="en-US" dirty="0">
                <a:latin typeface="Amasis MT Pro Black" panose="02040A04050005020304" pitchFamily="18" charset="0"/>
              </a:rPr>
              <a:t>131. What characteristics show that a teacher has empathy towards learners/students?</a:t>
            </a:r>
          </a:p>
        </p:txBody>
      </p:sp>
      <p:sp>
        <p:nvSpPr>
          <p:cNvPr id="3" name="Content Placeholder 2"/>
          <p:cNvSpPr>
            <a:spLocks noGrp="1"/>
          </p:cNvSpPr>
          <p:nvPr>
            <p:ph idx="1"/>
          </p:nvPr>
        </p:nvSpPr>
        <p:spPr>
          <a:xfrm>
            <a:off x="838200" y="3428999"/>
            <a:ext cx="10515600" cy="2747963"/>
          </a:xfrm>
        </p:spPr>
        <p:txBody>
          <a:bodyPr>
            <a:normAutofit/>
          </a:bodyPr>
          <a:lstStyle/>
          <a:p>
            <a:pPr marL="0" indent="0">
              <a:buNone/>
            </a:pPr>
            <a:r>
              <a:rPr lang="en-US" sz="3600">
                <a:latin typeface="Amasis MT Pro" panose="02040504050005020304" pitchFamily="18" charset="0"/>
              </a:rPr>
              <a:t>a. discipline and fortitude</a:t>
            </a:r>
          </a:p>
          <a:p>
            <a:pPr marL="0" indent="0">
              <a:buNone/>
            </a:pPr>
            <a:r>
              <a:rPr lang="en-US" sz="3600">
                <a:latin typeface="Amasis MT Pro" panose="02040504050005020304" pitchFamily="18" charset="0"/>
              </a:rPr>
              <a:t>b. loyalty and affinity</a:t>
            </a:r>
          </a:p>
          <a:p>
            <a:pPr marL="0" indent="0">
              <a:buNone/>
            </a:pPr>
            <a:r>
              <a:rPr lang="en-US" sz="3600">
                <a:latin typeface="Amasis MT Pro" panose="02040504050005020304" pitchFamily="18" charset="0"/>
              </a:rPr>
              <a:t>c. caring and love</a:t>
            </a:r>
          </a:p>
          <a:p>
            <a:pPr marL="0" indent="0">
              <a:buNone/>
            </a:pPr>
            <a:r>
              <a:rPr lang="en-US" sz="3600">
                <a:latin typeface="Amasis MT Pro" panose="02040504050005020304" pitchFamily="18" charset="0"/>
              </a:rPr>
              <a:t>d. strength and conviction</a:t>
            </a:r>
            <a:endParaRPr lang="en-US" sz="3600" dirty="0">
              <a:latin typeface="Amasis MT Pro" panose="02040504050005020304" pitchFamily="18" charset="0"/>
            </a:endParaRPr>
          </a:p>
        </p:txBody>
      </p:sp>
      <p:pic>
        <p:nvPicPr>
          <p:cNvPr id="6" name="Graphic 5" descr="Checkmark with solid fill">
            <a:extLst>
              <a:ext uri="{FF2B5EF4-FFF2-40B4-BE49-F238E27FC236}">
                <a16:creationId xmlns:a16="http://schemas.microsoft.com/office/drawing/2014/main" id="{02C6CAC0-D63B-9FB3-D1F5-169BD100BB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58640" y="43457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5" name="Rectangle 8397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977" name="Freeform: Shape 8397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979" name="Rectangle 8397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81" name="Rectangle 8398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83" name="Freeform: Shape 8398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985" name="Isosceles Triangle 8398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970" name="Picture 2" descr="What Is Empathy?">
            <a:extLst>
              <a:ext uri="{FF2B5EF4-FFF2-40B4-BE49-F238E27FC236}">
                <a16:creationId xmlns:a16="http://schemas.microsoft.com/office/drawing/2014/main" id="{65DB7D96-F23D-FF44-FED8-A264B2C9BE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7701" y="643467"/>
            <a:ext cx="8356597"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3987" name="Isosceles Triangle 8398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917541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640" y="822325"/>
            <a:ext cx="10515600" cy="1681480"/>
          </a:xfrm>
        </p:spPr>
        <p:txBody>
          <a:bodyPr>
            <a:normAutofit fontScale="90000"/>
          </a:bodyPr>
          <a:lstStyle/>
          <a:p>
            <a:pPr algn="just"/>
            <a:r>
              <a:rPr lang="en-US" dirty="0">
                <a:latin typeface="Amasis MT Pro Black" panose="02040A04050005020304" pitchFamily="18" charset="0"/>
              </a:rPr>
              <a:t>132. What process of child development arouses interest in learning through fun activities like music and dance activities?</a:t>
            </a:r>
          </a:p>
        </p:txBody>
      </p:sp>
      <p:sp>
        <p:nvSpPr>
          <p:cNvPr id="3" name="Content Placeholder 2"/>
          <p:cNvSpPr>
            <a:spLocks noGrp="1"/>
          </p:cNvSpPr>
          <p:nvPr>
            <p:ph idx="1"/>
          </p:nvPr>
        </p:nvSpPr>
        <p:spPr>
          <a:xfrm>
            <a:off x="838200" y="3429000"/>
            <a:ext cx="10515600" cy="2748280"/>
          </a:xfrm>
        </p:spPr>
        <p:txBody>
          <a:bodyPr>
            <a:normAutofit/>
          </a:bodyPr>
          <a:lstStyle/>
          <a:p>
            <a:pPr marL="0" indent="0" algn="just">
              <a:buNone/>
            </a:pPr>
            <a:r>
              <a:rPr lang="en-US" sz="4000" dirty="0">
                <a:latin typeface="Amasis MT Pro" panose="02040504050005020304" pitchFamily="18" charset="0"/>
              </a:rPr>
              <a:t>a. socioemotional</a:t>
            </a:r>
          </a:p>
          <a:p>
            <a:pPr marL="0" indent="0" algn="just">
              <a:buNone/>
            </a:pPr>
            <a:r>
              <a:rPr lang="en-US" sz="4000" dirty="0">
                <a:latin typeface="Amasis MT Pro" panose="02040504050005020304" pitchFamily="18" charset="0"/>
              </a:rPr>
              <a:t>b. cognitive</a:t>
            </a:r>
          </a:p>
          <a:p>
            <a:pPr marL="0" indent="0" algn="just">
              <a:buNone/>
            </a:pPr>
            <a:r>
              <a:rPr lang="en-US" sz="4000" dirty="0">
                <a:latin typeface="Amasis MT Pro" panose="02040504050005020304" pitchFamily="18" charset="0"/>
              </a:rPr>
              <a:t>c. biological</a:t>
            </a:r>
          </a:p>
          <a:p>
            <a:pPr marL="0" indent="0" algn="just">
              <a:buNone/>
            </a:pPr>
            <a:r>
              <a:rPr lang="en-US" sz="4000" dirty="0">
                <a:latin typeface="Amasis MT Pro" panose="02040504050005020304" pitchFamily="18" charset="0"/>
              </a:rPr>
              <a:t>d. maturation</a:t>
            </a:r>
          </a:p>
        </p:txBody>
      </p:sp>
      <p:pic>
        <p:nvPicPr>
          <p:cNvPr id="4" name="Graphic 3" descr="Checkmark with solid fill">
            <a:extLst>
              <a:ext uri="{FF2B5EF4-FFF2-40B4-BE49-F238E27FC236}">
                <a16:creationId xmlns:a16="http://schemas.microsoft.com/office/drawing/2014/main" id="{B6AC1B78-6984-AB03-E9C4-A9326388C2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76800" y="31673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9" name="Rectangle 8499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001" name="Freeform: Shape 8500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003" name="Rectangle 8500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05" name="Rectangle 8500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07" name="Freeform: Shape 8500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009" name="Isosceles Triangle 8500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994" name="Picture 2" descr="Social-Emotional Learning | PBS LearningMedia">
            <a:extLst>
              <a:ext uri="{FF2B5EF4-FFF2-40B4-BE49-F238E27FC236}">
                <a16:creationId xmlns:a16="http://schemas.microsoft.com/office/drawing/2014/main" id="{A52F14D2-E15A-9E60-CBFD-F65FFF516A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10467" y="643467"/>
            <a:ext cx="5571065"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5011" name="Isosceles Triangle 8501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1861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984885"/>
            <a:ext cx="10515600" cy="1325563"/>
          </a:xfrm>
        </p:spPr>
        <p:txBody>
          <a:bodyPr>
            <a:normAutofit fontScale="90000"/>
          </a:bodyPr>
          <a:lstStyle/>
          <a:p>
            <a:pPr algn="just"/>
            <a:r>
              <a:rPr lang="en-US" dirty="0">
                <a:latin typeface="Amasis MT Pro Black" panose="02040A04050005020304" pitchFamily="18" charset="0"/>
              </a:rPr>
              <a:t>133. Which of the following is significant/related to socioemotional development in the child?</a:t>
            </a:r>
          </a:p>
        </p:txBody>
      </p:sp>
      <p:sp>
        <p:nvSpPr>
          <p:cNvPr id="3" name="Content Placeholder 2"/>
          <p:cNvSpPr>
            <a:spLocks noGrp="1"/>
          </p:cNvSpPr>
          <p:nvPr>
            <p:ph idx="1"/>
          </p:nvPr>
        </p:nvSpPr>
        <p:spPr>
          <a:xfrm>
            <a:off x="838200" y="3007359"/>
            <a:ext cx="10515600" cy="3169603"/>
          </a:xfrm>
        </p:spPr>
        <p:txBody>
          <a:bodyPr>
            <a:normAutofit/>
          </a:bodyPr>
          <a:lstStyle/>
          <a:p>
            <a:pPr marL="0" indent="0">
              <a:buNone/>
            </a:pPr>
            <a:r>
              <a:rPr lang="en-US" sz="4000" dirty="0">
                <a:latin typeface="Amasis MT Pro" panose="02040504050005020304" pitchFamily="18" charset="0"/>
              </a:rPr>
              <a:t>a. uttering the first word mommy</a:t>
            </a:r>
          </a:p>
          <a:p>
            <a:pPr marL="0" indent="0">
              <a:buNone/>
            </a:pPr>
            <a:r>
              <a:rPr lang="en-US" sz="4000" dirty="0">
                <a:latin typeface="Amasis MT Pro" panose="02040504050005020304" pitchFamily="18" charset="0"/>
              </a:rPr>
              <a:t>b. crawling on one’s knees</a:t>
            </a:r>
          </a:p>
          <a:p>
            <a:pPr marL="0" indent="0">
              <a:buNone/>
            </a:pPr>
            <a:r>
              <a:rPr lang="en-US" sz="4000" dirty="0">
                <a:latin typeface="Amasis MT Pro" panose="02040504050005020304" pitchFamily="18" charset="0"/>
              </a:rPr>
              <a:t>c. learning the alphabet</a:t>
            </a:r>
          </a:p>
          <a:p>
            <a:pPr marL="0" indent="0">
              <a:buNone/>
            </a:pPr>
            <a:r>
              <a:rPr lang="en-US" sz="4000" dirty="0">
                <a:latin typeface="Amasis MT Pro" panose="02040504050005020304" pitchFamily="18" charset="0"/>
              </a:rPr>
              <a:t>d. being attached to parents</a:t>
            </a:r>
          </a:p>
        </p:txBody>
      </p:sp>
      <p:pic>
        <p:nvPicPr>
          <p:cNvPr id="4" name="Graphic 3" descr="Checkmark with solid fill">
            <a:extLst>
              <a:ext uri="{FF2B5EF4-FFF2-40B4-BE49-F238E27FC236}">
                <a16:creationId xmlns:a16="http://schemas.microsoft.com/office/drawing/2014/main" id="{95125A53-2B33-50B4-2394-60AA72997C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0080" y="48336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23" name="Rectangle 8602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025" name="Freeform: Shape 8602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027" name="Rectangle 8602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29" name="Rectangle 8602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31" name="Freeform: Shape 8603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033" name="Isosceles Triangle 8603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018" name="Picture 2" descr="The Importance of Social Emotional Learning in Children | Buffalo County  Community Partners">
            <a:extLst>
              <a:ext uri="{FF2B5EF4-FFF2-40B4-BE49-F238E27FC236}">
                <a16:creationId xmlns:a16="http://schemas.microsoft.com/office/drawing/2014/main" id="{A6785A3E-EAEF-0885-24E6-6F87EEE256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82330" y="643467"/>
            <a:ext cx="5627339"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6035" name="Isosceles Triangle 8603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39144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520" y="974725"/>
            <a:ext cx="10515600" cy="1325563"/>
          </a:xfrm>
        </p:spPr>
        <p:txBody>
          <a:bodyPr>
            <a:normAutofit/>
          </a:bodyPr>
          <a:lstStyle/>
          <a:p>
            <a:pPr algn="just"/>
            <a:r>
              <a:rPr lang="en-US" dirty="0">
                <a:latin typeface="Amasis MT Pro Black" panose="02040A04050005020304" pitchFamily="18" charset="0"/>
              </a:rPr>
              <a:t>134. Who has main responsibility for a classroom management plan?</a:t>
            </a:r>
          </a:p>
        </p:txBody>
      </p:sp>
      <p:sp>
        <p:nvSpPr>
          <p:cNvPr id="3" name="Content Placeholder 2"/>
          <p:cNvSpPr>
            <a:spLocks noGrp="1"/>
          </p:cNvSpPr>
          <p:nvPr>
            <p:ph idx="1"/>
          </p:nvPr>
        </p:nvSpPr>
        <p:spPr>
          <a:xfrm>
            <a:off x="838200" y="2905759"/>
            <a:ext cx="10515600" cy="3271203"/>
          </a:xfrm>
        </p:spPr>
        <p:txBody>
          <a:bodyPr>
            <a:normAutofit/>
          </a:bodyPr>
          <a:lstStyle/>
          <a:p>
            <a:pPr marL="0" indent="0">
              <a:buNone/>
            </a:pPr>
            <a:r>
              <a:rPr lang="en-US" sz="4000" dirty="0">
                <a:latin typeface="Amasis MT Pro" panose="02040504050005020304" pitchFamily="18" charset="0"/>
              </a:rPr>
              <a:t>a. the teacher</a:t>
            </a:r>
          </a:p>
          <a:p>
            <a:pPr marL="0" indent="0">
              <a:buNone/>
            </a:pPr>
            <a:r>
              <a:rPr lang="en-US" sz="4000" dirty="0">
                <a:latin typeface="Amasis MT Pro" panose="02040504050005020304" pitchFamily="18" charset="0"/>
              </a:rPr>
              <a:t>b. the supervisor</a:t>
            </a:r>
          </a:p>
          <a:p>
            <a:pPr marL="0" indent="0">
              <a:buNone/>
            </a:pPr>
            <a:r>
              <a:rPr lang="en-US" sz="4000" dirty="0">
                <a:latin typeface="Amasis MT Pro" panose="02040504050005020304" pitchFamily="18" charset="0"/>
              </a:rPr>
              <a:t>c. the principal</a:t>
            </a:r>
          </a:p>
          <a:p>
            <a:pPr marL="0" indent="0">
              <a:buNone/>
            </a:pPr>
            <a:r>
              <a:rPr lang="en-US" sz="4000" dirty="0">
                <a:latin typeface="Amasis MT Pro" panose="02040504050005020304" pitchFamily="18" charset="0"/>
              </a:rPr>
              <a:t>d. the students</a:t>
            </a:r>
          </a:p>
        </p:txBody>
      </p:sp>
      <p:pic>
        <p:nvPicPr>
          <p:cNvPr id="4" name="Graphic 3" descr="Checkmark with solid fill">
            <a:extLst>
              <a:ext uri="{FF2B5EF4-FFF2-40B4-BE49-F238E27FC236}">
                <a16:creationId xmlns:a16="http://schemas.microsoft.com/office/drawing/2014/main" id="{29F7EC88-9693-FCA5-F1B4-27A637C3CF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42080" y="26695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7" name="Rectangle 8704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049" name="Freeform: Shape 8704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051" name="Rectangle 8705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53" name="Rectangle 8705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55" name="Freeform: Shape 8705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057" name="Isosceles Triangle 8705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042" name="Picture 2" descr="Danny Steele on Twitter: &quot;Classroom management is not about having the  right rules... it's about having the r… | Teaching quotes, Classroom  management, Teacher help">
            <a:extLst>
              <a:ext uri="{FF2B5EF4-FFF2-40B4-BE49-F238E27FC236}">
                <a16:creationId xmlns:a16="http://schemas.microsoft.com/office/drawing/2014/main" id="{073F4D9A-CE11-5192-799E-7F20D3C5EA6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7059" name="Isosceles Triangle 8705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982918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34085"/>
            <a:ext cx="10515600" cy="1325563"/>
          </a:xfrm>
        </p:spPr>
        <p:txBody>
          <a:bodyPr>
            <a:normAutofit/>
          </a:bodyPr>
          <a:lstStyle/>
          <a:p>
            <a:pPr algn="just"/>
            <a:r>
              <a:rPr lang="en-US" dirty="0">
                <a:latin typeface="Amasis MT Pro Black" panose="02040A04050005020304" pitchFamily="18" charset="0"/>
              </a:rPr>
              <a:t>135. Which is TRUE of the Philippine educational system?</a:t>
            </a:r>
          </a:p>
        </p:txBody>
      </p:sp>
      <p:sp>
        <p:nvSpPr>
          <p:cNvPr id="3" name="Content Placeholder 2"/>
          <p:cNvSpPr>
            <a:spLocks noGrp="1"/>
          </p:cNvSpPr>
          <p:nvPr>
            <p:ph idx="1"/>
          </p:nvPr>
        </p:nvSpPr>
        <p:spPr>
          <a:xfrm>
            <a:off x="838200" y="2994025"/>
            <a:ext cx="10515600" cy="3427095"/>
          </a:xfrm>
        </p:spPr>
        <p:txBody>
          <a:bodyPr>
            <a:normAutofit/>
          </a:bodyPr>
          <a:lstStyle/>
          <a:p>
            <a:pPr marL="0" indent="0">
              <a:buNone/>
            </a:pPr>
            <a:r>
              <a:rPr lang="en-US" dirty="0">
                <a:latin typeface="Amasis MT Pro" panose="02040504050005020304" pitchFamily="18" charset="0"/>
              </a:rPr>
              <a:t>a. free education in public, elementary and secondary schools</a:t>
            </a:r>
          </a:p>
          <a:p>
            <a:pPr marL="0" indent="0">
              <a:buNone/>
            </a:pPr>
            <a:r>
              <a:rPr lang="en-US" dirty="0">
                <a:latin typeface="Amasis MT Pro" panose="02040504050005020304" pitchFamily="18" charset="0"/>
              </a:rPr>
              <a:t>b. full tuition subsidy for students enrolled in the private schools in all levels</a:t>
            </a:r>
          </a:p>
          <a:p>
            <a:pPr marL="0" indent="0">
              <a:buNone/>
            </a:pPr>
            <a:r>
              <a:rPr lang="en-US" dirty="0">
                <a:latin typeface="Amasis MT Pro" panose="02040504050005020304" pitchFamily="18" charset="0"/>
              </a:rPr>
              <a:t>c. free education in the government schools in all levels</a:t>
            </a:r>
          </a:p>
          <a:p>
            <a:pPr marL="0" indent="0">
              <a:buNone/>
            </a:pPr>
            <a:r>
              <a:rPr lang="en-US" dirty="0">
                <a:latin typeface="Amasis MT Pro" panose="02040504050005020304" pitchFamily="18" charset="0"/>
              </a:rPr>
              <a:t>d. full tuition subsidy for students enrolled in the private schools in the basic level</a:t>
            </a:r>
          </a:p>
        </p:txBody>
      </p:sp>
      <p:pic>
        <p:nvPicPr>
          <p:cNvPr id="4" name="Graphic 3" descr="Checkmark with solid fill">
            <a:extLst>
              <a:ext uri="{FF2B5EF4-FFF2-40B4-BE49-F238E27FC236}">
                <a16:creationId xmlns:a16="http://schemas.microsoft.com/office/drawing/2014/main" id="{5C5084E9-420A-E11D-916C-2DC87ED880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7000" y="25806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71" name="Rectangle 8807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073" name="Freeform: Shape 8807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075" name="Rectangle 8807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77" name="Rectangle 8807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79" name="Freeform: Shape 8807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081" name="Isosceles Triangle 8808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066" name="Picture 2" descr="Timeline&#10;&#10;Description automatically generated">
            <a:extLst>
              <a:ext uri="{FF2B5EF4-FFF2-40B4-BE49-F238E27FC236}">
                <a16:creationId xmlns:a16="http://schemas.microsoft.com/office/drawing/2014/main" id="{92FA7E63-1299-2551-4E00-BC1E1B4160B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87573" y="643467"/>
            <a:ext cx="9816854"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8083" name="Isosceles Triangle 8808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9484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944245"/>
            <a:ext cx="10515600" cy="1896745"/>
          </a:xfrm>
        </p:spPr>
        <p:txBody>
          <a:bodyPr>
            <a:normAutofit fontScale="90000"/>
          </a:bodyPr>
          <a:lstStyle/>
          <a:p>
            <a:pPr algn="just"/>
            <a:r>
              <a:rPr lang="en-US" dirty="0">
                <a:latin typeface="Amasis MT Pro Black" panose="02040A04050005020304" pitchFamily="18" charset="0"/>
              </a:rPr>
              <a:t>136. What kind of activity is being engaged in by teacher and students who discuss concept description, definition and application?</a:t>
            </a:r>
          </a:p>
        </p:txBody>
      </p:sp>
      <p:sp>
        <p:nvSpPr>
          <p:cNvPr id="3" name="Content Placeholder 2"/>
          <p:cNvSpPr>
            <a:spLocks noGrp="1"/>
          </p:cNvSpPr>
          <p:nvPr>
            <p:ph idx="1"/>
          </p:nvPr>
        </p:nvSpPr>
        <p:spPr>
          <a:xfrm>
            <a:off x="838200" y="3428999"/>
            <a:ext cx="10515600" cy="2924811"/>
          </a:xfrm>
        </p:spPr>
        <p:txBody>
          <a:bodyPr>
            <a:normAutofit/>
          </a:bodyPr>
          <a:lstStyle/>
          <a:p>
            <a:pPr marL="0" indent="0">
              <a:buNone/>
            </a:pPr>
            <a:r>
              <a:rPr lang="en-US" sz="4000" dirty="0">
                <a:latin typeface="Amasis MT Pro" panose="02040504050005020304" pitchFamily="18" charset="0"/>
              </a:rPr>
              <a:t>a. psycho-motor</a:t>
            </a:r>
          </a:p>
          <a:p>
            <a:pPr marL="0" indent="0">
              <a:buNone/>
            </a:pPr>
            <a:r>
              <a:rPr lang="en-US" sz="4000" dirty="0">
                <a:latin typeface="Amasis MT Pro" panose="02040504050005020304" pitchFamily="18" charset="0"/>
              </a:rPr>
              <a:t>b. cognitive</a:t>
            </a:r>
          </a:p>
          <a:p>
            <a:pPr marL="0" indent="0">
              <a:buNone/>
            </a:pPr>
            <a:r>
              <a:rPr lang="en-US" sz="4000" dirty="0">
                <a:latin typeface="Amasis MT Pro" panose="02040504050005020304" pitchFamily="18" charset="0"/>
              </a:rPr>
              <a:t>c. values inculcation</a:t>
            </a:r>
          </a:p>
          <a:p>
            <a:pPr marL="0" indent="0">
              <a:buNone/>
            </a:pPr>
            <a:r>
              <a:rPr lang="en-US" sz="4000" dirty="0">
                <a:latin typeface="Amasis MT Pro" panose="02040504050005020304" pitchFamily="18" charset="0"/>
              </a:rPr>
              <a:t>d. affective</a:t>
            </a:r>
          </a:p>
        </p:txBody>
      </p:sp>
      <p:pic>
        <p:nvPicPr>
          <p:cNvPr id="4" name="Graphic 3" descr="Checkmark with solid fill">
            <a:extLst>
              <a:ext uri="{FF2B5EF4-FFF2-40B4-BE49-F238E27FC236}">
                <a16:creationId xmlns:a16="http://schemas.microsoft.com/office/drawing/2014/main" id="{E57FB9BB-8E78-F646-2CE6-266E6D9CEF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3920" y="37668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5" name="Rectangle 8909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097" name="Freeform: Shape 8909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099" name="Rectangle 8909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01" name="Rectangle 8910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03" name="Freeform: Shape 8910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105" name="Isosceles Triangle 8910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090" name="Picture 2" descr="The Definitive Guide to Bloom's Taxonomy - Education Corner">
            <a:extLst>
              <a:ext uri="{FF2B5EF4-FFF2-40B4-BE49-F238E27FC236}">
                <a16:creationId xmlns:a16="http://schemas.microsoft.com/office/drawing/2014/main" id="{97DCE56E-3395-64D6-8B10-A74A22FCA4A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53446" y="643467"/>
            <a:ext cx="9285108"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9107" name="Isosceles Triangle 8910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658208"/>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040" y="913765"/>
            <a:ext cx="10515600" cy="1819910"/>
          </a:xfrm>
        </p:spPr>
        <p:txBody>
          <a:bodyPr>
            <a:normAutofit fontScale="90000"/>
          </a:bodyPr>
          <a:lstStyle/>
          <a:p>
            <a:pPr algn="just"/>
            <a:r>
              <a:rPr lang="en-US" dirty="0">
                <a:latin typeface="Amasis MT Pro Black" panose="02040A04050005020304" pitchFamily="18" charset="0"/>
              </a:rPr>
              <a:t>137. Since chromosome endowment differs between male and female, what chromosomes belong to females?</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X, Y and Z</a:t>
            </a:r>
          </a:p>
          <a:p>
            <a:pPr marL="0" indent="0">
              <a:buNone/>
            </a:pPr>
            <a:r>
              <a:rPr lang="en-US" sz="4000" dirty="0">
                <a:latin typeface="Amasis MT Pro" panose="02040504050005020304" pitchFamily="18" charset="0"/>
              </a:rPr>
              <a:t>b. Y </a:t>
            </a:r>
          </a:p>
          <a:p>
            <a:pPr marL="0" indent="0">
              <a:buNone/>
            </a:pPr>
            <a:r>
              <a:rPr lang="en-US" sz="4000" dirty="0">
                <a:latin typeface="Amasis MT Pro" panose="02040504050005020304" pitchFamily="18" charset="0"/>
              </a:rPr>
              <a:t>c. X</a:t>
            </a:r>
          </a:p>
          <a:p>
            <a:pPr marL="0" indent="0">
              <a:buNone/>
            </a:pPr>
            <a:r>
              <a:rPr lang="en-US" sz="4000" dirty="0">
                <a:latin typeface="Amasis MT Pro" panose="02040504050005020304" pitchFamily="18" charset="0"/>
              </a:rPr>
              <a:t>d. X and Y</a:t>
            </a:r>
          </a:p>
        </p:txBody>
      </p:sp>
      <p:pic>
        <p:nvPicPr>
          <p:cNvPr id="4" name="Graphic 3" descr="Checkmark with solid fill">
            <a:extLst>
              <a:ext uri="{FF2B5EF4-FFF2-40B4-BE49-F238E27FC236}">
                <a16:creationId xmlns:a16="http://schemas.microsoft.com/office/drawing/2014/main" id="{033E2BD9-3EFF-C2B7-F980-F030B0E78D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60880" y="4569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9" name="Rectangle 9011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121" name="Freeform: Shape 9012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123" name="Rectangle 9012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25" name="Rectangle 9012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27" name="Freeform: Shape 9012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129" name="Isosceles Triangle 9012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114" name="Picture 2" descr="Male female chromosomes Images, Stock Photos &amp; Vectors | Shutterstock">
            <a:extLst>
              <a:ext uri="{FF2B5EF4-FFF2-40B4-BE49-F238E27FC236}">
                <a16:creationId xmlns:a16="http://schemas.microsoft.com/office/drawing/2014/main" id="{6A944772-C034-B54C-DB41-ABFECCBC314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13970" y="643467"/>
            <a:ext cx="9564060"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0131" name="Isosceles Triangle 9013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84375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3600"/>
            <a:ext cx="10515600" cy="1572260"/>
          </a:xfrm>
        </p:spPr>
        <p:txBody>
          <a:bodyPr>
            <a:normAutofit fontScale="90000"/>
          </a:bodyPr>
          <a:lstStyle/>
          <a:p>
            <a:pPr algn="just"/>
            <a:r>
              <a:rPr lang="en-US" dirty="0">
                <a:latin typeface="Amasis MT Pro Black" panose="02040A04050005020304" pitchFamily="18" charset="0"/>
              </a:rPr>
              <a:t>138. In what activity can learners claim to be learning independently or managing their own learnings?</a:t>
            </a:r>
          </a:p>
        </p:txBody>
      </p:sp>
      <p:sp>
        <p:nvSpPr>
          <p:cNvPr id="3" name="Content Placeholder 2"/>
          <p:cNvSpPr>
            <a:spLocks noGrp="1"/>
          </p:cNvSpPr>
          <p:nvPr>
            <p:ph idx="1"/>
          </p:nvPr>
        </p:nvSpPr>
        <p:spPr>
          <a:xfrm>
            <a:off x="838200" y="3249930"/>
            <a:ext cx="10515600" cy="2744470"/>
          </a:xfrm>
        </p:spPr>
        <p:txBody>
          <a:bodyPr>
            <a:normAutofit/>
          </a:bodyPr>
          <a:lstStyle/>
          <a:p>
            <a:pPr marL="0" indent="0">
              <a:buNone/>
            </a:pPr>
            <a:r>
              <a:rPr lang="en-US" sz="4000" dirty="0">
                <a:latin typeface="Amasis MT Pro" panose="02040504050005020304" pitchFamily="18" charset="0"/>
              </a:rPr>
              <a:t>a. doing research studies</a:t>
            </a:r>
          </a:p>
          <a:p>
            <a:pPr marL="0" indent="0">
              <a:buNone/>
            </a:pPr>
            <a:r>
              <a:rPr lang="en-US" sz="4000" dirty="0">
                <a:latin typeface="Amasis MT Pro" panose="02040504050005020304" pitchFamily="18" charset="0"/>
              </a:rPr>
              <a:t>b. listening to a lesson presentation</a:t>
            </a:r>
          </a:p>
          <a:p>
            <a:pPr marL="0" indent="0">
              <a:buNone/>
            </a:pPr>
            <a:r>
              <a:rPr lang="en-US" sz="4000" dirty="0">
                <a:latin typeface="Amasis MT Pro" panose="02040504050005020304" pitchFamily="18" charset="0"/>
              </a:rPr>
              <a:t>c. copying diagram on the blackboard</a:t>
            </a:r>
          </a:p>
          <a:p>
            <a:pPr marL="0" indent="0">
              <a:buNone/>
            </a:pPr>
            <a:r>
              <a:rPr lang="en-US" sz="4000" dirty="0">
                <a:latin typeface="Amasis MT Pro" panose="02040504050005020304" pitchFamily="18" charset="0"/>
              </a:rPr>
              <a:t>d. doing math addition drills</a:t>
            </a:r>
          </a:p>
        </p:txBody>
      </p:sp>
      <p:pic>
        <p:nvPicPr>
          <p:cNvPr id="4" name="Graphic 3" descr="Checkmark with solid fill">
            <a:extLst>
              <a:ext uri="{FF2B5EF4-FFF2-40B4-BE49-F238E27FC236}">
                <a16:creationId xmlns:a16="http://schemas.microsoft.com/office/drawing/2014/main" id="{FED5D43E-501D-DBD1-2A63-1240A61899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920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143" name="Rectangle 91142">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45" name="Freeform: Shape 91144">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91138" name="Picture 2" descr="Independent learning">
            <a:extLst>
              <a:ext uri="{FF2B5EF4-FFF2-40B4-BE49-F238E27FC236}">
                <a16:creationId xmlns:a16="http://schemas.microsoft.com/office/drawing/2014/main" id="{B90DE82D-6929-692F-F3A9-87D7E31CC75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172233" y="1201003"/>
            <a:ext cx="4107976" cy="410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49567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791845"/>
            <a:ext cx="10515600" cy="1958975"/>
          </a:xfrm>
        </p:spPr>
        <p:txBody>
          <a:bodyPr>
            <a:normAutofit fontScale="90000"/>
          </a:bodyPr>
          <a:lstStyle/>
          <a:p>
            <a:pPr algn="just"/>
            <a:r>
              <a:rPr lang="en-US" dirty="0">
                <a:latin typeface="Amasis MT Pro Black" panose="02040A04050005020304" pitchFamily="18" charset="0"/>
              </a:rPr>
              <a:t>139. If you are part of the policy-making body of the school, you must be an officer of which organized group?</a:t>
            </a:r>
          </a:p>
        </p:txBody>
      </p:sp>
      <p:sp>
        <p:nvSpPr>
          <p:cNvPr id="3" name="Content Placeholder 2"/>
          <p:cNvSpPr>
            <a:spLocks noGrp="1"/>
          </p:cNvSpPr>
          <p:nvPr>
            <p:ph idx="1"/>
          </p:nvPr>
        </p:nvSpPr>
        <p:spPr>
          <a:xfrm>
            <a:off x="838200" y="3525520"/>
            <a:ext cx="10515600" cy="2651760"/>
          </a:xfrm>
        </p:spPr>
        <p:txBody>
          <a:bodyPr>
            <a:normAutofit lnSpcReduction="10000"/>
          </a:bodyPr>
          <a:lstStyle/>
          <a:p>
            <a:pPr marL="0" indent="0">
              <a:buNone/>
            </a:pPr>
            <a:r>
              <a:rPr lang="en-US" sz="4000" dirty="0">
                <a:latin typeface="Amasis MT Pro" panose="02040504050005020304" pitchFamily="18" charset="0"/>
              </a:rPr>
              <a:t>a. parents’ and teachers’ association</a:t>
            </a:r>
          </a:p>
          <a:p>
            <a:pPr marL="0" indent="0">
              <a:buNone/>
            </a:pPr>
            <a:r>
              <a:rPr lang="en-US" sz="4000" dirty="0">
                <a:latin typeface="Amasis MT Pro" panose="02040504050005020304" pitchFamily="18" charset="0"/>
              </a:rPr>
              <a:t>b. parent teachers and community association</a:t>
            </a:r>
          </a:p>
          <a:p>
            <a:pPr marL="0" indent="0">
              <a:buNone/>
            </a:pPr>
            <a:r>
              <a:rPr lang="en-US" sz="4000" dirty="0">
                <a:latin typeface="Amasis MT Pro" panose="02040504050005020304" pitchFamily="18" charset="0"/>
              </a:rPr>
              <a:t>c. school governing council</a:t>
            </a:r>
          </a:p>
          <a:p>
            <a:pPr marL="0" indent="0">
              <a:buNone/>
            </a:pPr>
            <a:r>
              <a:rPr lang="en-US" sz="4000" dirty="0">
                <a:latin typeface="Amasis MT Pro" panose="02040504050005020304" pitchFamily="18" charset="0"/>
              </a:rPr>
              <a:t>d. student government</a:t>
            </a:r>
          </a:p>
          <a:p>
            <a:pPr marL="0" indent="0">
              <a:buNone/>
            </a:pPr>
            <a:endParaRPr lang="en-US" sz="4000" dirty="0">
              <a:latin typeface="Amasis MT Pro" panose="02040504050005020304" pitchFamily="18" charset="0"/>
            </a:endParaRPr>
          </a:p>
        </p:txBody>
      </p:sp>
      <p:pic>
        <p:nvPicPr>
          <p:cNvPr id="4" name="Graphic 3" descr="Checkmark with solid fill">
            <a:extLst>
              <a:ext uri="{FF2B5EF4-FFF2-40B4-BE49-F238E27FC236}">
                <a16:creationId xmlns:a16="http://schemas.microsoft.com/office/drawing/2014/main" id="{0343D42A-0276-23C4-384C-F633E4E22E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63920" y="515175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126611-BF63-95F7-E6CF-9DE833BDE092}"/>
              </a:ext>
            </a:extLst>
          </p:cNvPr>
          <p:cNvSpPr>
            <a:spLocks noGrp="1"/>
          </p:cNvSpPr>
          <p:nvPr>
            <p:ph idx="1"/>
          </p:nvPr>
        </p:nvSpPr>
        <p:spPr>
          <a:xfrm>
            <a:off x="838200" y="1253331"/>
            <a:ext cx="10515600" cy="4351338"/>
          </a:xfrm>
        </p:spPr>
        <p:txBody>
          <a:bodyPr>
            <a:normAutofit lnSpcReduction="10000"/>
          </a:bodyPr>
          <a:lstStyle/>
          <a:p>
            <a:pPr marL="0" indent="0" algn="just">
              <a:buNone/>
            </a:pPr>
            <a:r>
              <a:rPr lang="en-US" sz="4000" b="1" dirty="0"/>
              <a:t>Student government</a:t>
            </a:r>
            <a:r>
              <a:rPr lang="en-US" sz="4000" dirty="0"/>
              <a:t> is a group of students charged with managing a wide range of events, activities, programs, policies and initiatives around school. Just as in other forms of government, members who provide the highest levels of leadership are elected by the student body. Others can be appointed by elected members.</a:t>
            </a:r>
            <a:endParaRPr lang="en-PH" sz="4000" dirty="0"/>
          </a:p>
        </p:txBody>
      </p:sp>
    </p:spTree>
    <p:extLst>
      <p:ext uri="{BB962C8B-B14F-4D97-AF65-F5344CB8AC3E}">
        <p14:creationId xmlns:p14="http://schemas.microsoft.com/office/powerpoint/2010/main" val="2184435440"/>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680720"/>
            <a:ext cx="10515600" cy="1804670"/>
          </a:xfrm>
        </p:spPr>
        <p:txBody>
          <a:bodyPr>
            <a:normAutofit fontScale="90000"/>
          </a:bodyPr>
          <a:lstStyle/>
          <a:p>
            <a:pPr algn="just"/>
            <a:r>
              <a:rPr lang="en-US" dirty="0">
                <a:latin typeface="Amasis MT Pro Black" panose="02040A04050005020304" pitchFamily="18" charset="0"/>
              </a:rPr>
              <a:t>140. On Tolman’s purposive behaviorism theory, how can teachers be purposive and goals-directed in teaching?</a:t>
            </a:r>
          </a:p>
        </p:txBody>
      </p:sp>
      <p:sp>
        <p:nvSpPr>
          <p:cNvPr id="3" name="Content Placeholder 2"/>
          <p:cNvSpPr>
            <a:spLocks noGrp="1"/>
          </p:cNvSpPr>
          <p:nvPr>
            <p:ph idx="1"/>
          </p:nvPr>
        </p:nvSpPr>
        <p:spPr>
          <a:xfrm>
            <a:off x="838200" y="3180080"/>
            <a:ext cx="10515600" cy="2997200"/>
          </a:xfrm>
        </p:spPr>
        <p:txBody>
          <a:bodyPr>
            <a:normAutofit/>
          </a:bodyPr>
          <a:lstStyle/>
          <a:p>
            <a:pPr marL="0" indent="0">
              <a:buNone/>
            </a:pPr>
            <a:r>
              <a:rPr lang="en-US" sz="3600" dirty="0">
                <a:latin typeface="Amasis MT Pro" panose="02040504050005020304" pitchFamily="18" charset="0"/>
              </a:rPr>
              <a:t>a. they shorten lesson presentation</a:t>
            </a:r>
          </a:p>
          <a:p>
            <a:pPr marL="0" indent="0">
              <a:buNone/>
            </a:pPr>
            <a:r>
              <a:rPr lang="en-US" sz="3600" dirty="0">
                <a:latin typeface="Amasis MT Pro" panose="02040504050005020304" pitchFamily="18" charset="0"/>
              </a:rPr>
              <a:t>b. they state lesson outcomes clearly and specifically</a:t>
            </a:r>
          </a:p>
          <a:p>
            <a:pPr marL="0" indent="0">
              <a:buNone/>
            </a:pPr>
            <a:r>
              <a:rPr lang="en-US" sz="3600" dirty="0">
                <a:latin typeface="Amasis MT Pro" panose="02040504050005020304" pitchFamily="18" charset="0"/>
              </a:rPr>
              <a:t>c. they deliver the complete lesson</a:t>
            </a:r>
          </a:p>
          <a:p>
            <a:pPr marL="0" indent="0">
              <a:buNone/>
            </a:pPr>
            <a:r>
              <a:rPr lang="en-US" sz="3600" dirty="0">
                <a:latin typeface="Amasis MT Pro" panose="02040504050005020304" pitchFamily="18" charset="0"/>
              </a:rPr>
              <a:t>d. they repeat lesson presentation twice</a:t>
            </a:r>
          </a:p>
        </p:txBody>
      </p:sp>
      <p:pic>
        <p:nvPicPr>
          <p:cNvPr id="4" name="Graphic 3" descr="Checkmark with solid fill">
            <a:extLst>
              <a:ext uri="{FF2B5EF4-FFF2-40B4-BE49-F238E27FC236}">
                <a16:creationId xmlns:a16="http://schemas.microsoft.com/office/drawing/2014/main" id="{A692B30C-217D-B7CF-2D65-EF096B2A99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42040" y="35026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171" name="Rectangle 92166">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2172" name="Freeform: Shape 9216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92162" name="Picture 2" descr="Neo behaviorism by tolman and bandura">
            <a:extLst>
              <a:ext uri="{FF2B5EF4-FFF2-40B4-BE49-F238E27FC236}">
                <a16:creationId xmlns:a16="http://schemas.microsoft.com/office/drawing/2014/main" id="{141B4BD5-9335-8A4F-3362-548B2E2085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37602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984885"/>
            <a:ext cx="10515600" cy="1325563"/>
          </a:xfrm>
        </p:spPr>
        <p:txBody>
          <a:bodyPr>
            <a:normAutofit fontScale="90000"/>
          </a:bodyPr>
          <a:lstStyle/>
          <a:p>
            <a:pPr algn="just"/>
            <a:r>
              <a:rPr lang="en-US" dirty="0">
                <a:latin typeface="Amasis MT Pro Black" panose="02040A04050005020304" pitchFamily="18" charset="0"/>
              </a:rPr>
              <a:t>141. What is the descriptor for a numerical grade of 90 as level of proficiency?</a:t>
            </a:r>
          </a:p>
        </p:txBody>
      </p:sp>
      <p:sp>
        <p:nvSpPr>
          <p:cNvPr id="3" name="Content Placeholder 2"/>
          <p:cNvSpPr>
            <a:spLocks noGrp="1"/>
          </p:cNvSpPr>
          <p:nvPr>
            <p:ph idx="1"/>
          </p:nvPr>
        </p:nvSpPr>
        <p:spPr>
          <a:xfrm>
            <a:off x="929640" y="3084196"/>
            <a:ext cx="10515600" cy="2949575"/>
          </a:xfrm>
        </p:spPr>
        <p:txBody>
          <a:bodyPr>
            <a:normAutofit/>
          </a:bodyPr>
          <a:lstStyle/>
          <a:p>
            <a:pPr marL="0" indent="0">
              <a:buNone/>
            </a:pPr>
            <a:r>
              <a:rPr lang="en-US" sz="4000" dirty="0">
                <a:latin typeface="Amasis MT Pro" panose="02040504050005020304" pitchFamily="18" charset="0"/>
              </a:rPr>
              <a:t>a. satisfactory</a:t>
            </a:r>
          </a:p>
          <a:p>
            <a:pPr marL="0" indent="0">
              <a:buNone/>
            </a:pPr>
            <a:r>
              <a:rPr lang="en-US" sz="4000" dirty="0">
                <a:latin typeface="Amasis MT Pro" panose="02040504050005020304" pitchFamily="18" charset="0"/>
              </a:rPr>
              <a:t>b. fairly satisfactory</a:t>
            </a:r>
          </a:p>
          <a:p>
            <a:pPr marL="0" indent="0">
              <a:buNone/>
            </a:pPr>
            <a:r>
              <a:rPr lang="en-US" sz="4000" dirty="0">
                <a:latin typeface="Amasis MT Pro" panose="02040504050005020304" pitchFamily="18" charset="0"/>
              </a:rPr>
              <a:t>c. outstanding</a:t>
            </a:r>
          </a:p>
          <a:p>
            <a:pPr marL="0" indent="0">
              <a:buNone/>
            </a:pPr>
            <a:r>
              <a:rPr lang="en-US" sz="4000" dirty="0">
                <a:latin typeface="Amasis MT Pro" panose="02040504050005020304" pitchFamily="18" charset="0"/>
              </a:rPr>
              <a:t>d. very poor</a:t>
            </a:r>
          </a:p>
        </p:txBody>
      </p:sp>
      <p:pic>
        <p:nvPicPr>
          <p:cNvPr id="4" name="Graphic 3" descr="Checkmark with solid fill">
            <a:extLst>
              <a:ext uri="{FF2B5EF4-FFF2-40B4-BE49-F238E27FC236}">
                <a16:creationId xmlns:a16="http://schemas.microsoft.com/office/drawing/2014/main" id="{80605994-E595-19E3-5F8B-D73B3B224E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4320" y="4203383"/>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191" name="Rectangle 93190">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3193" name="Freeform: Shape 93192">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93186" name="Picture 2" descr="DepEd K to 12 Grading System Steps for Computing Grades - TeacherPH">
            <a:extLst>
              <a:ext uri="{FF2B5EF4-FFF2-40B4-BE49-F238E27FC236}">
                <a16:creationId xmlns:a16="http://schemas.microsoft.com/office/drawing/2014/main" id="{34A93B9A-6D12-F926-792E-281E8948ADB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74710" y="2098797"/>
            <a:ext cx="9173823" cy="266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387603"/>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883285"/>
            <a:ext cx="10515600" cy="1325563"/>
          </a:xfrm>
        </p:spPr>
        <p:txBody>
          <a:bodyPr>
            <a:normAutofit fontScale="90000"/>
          </a:bodyPr>
          <a:lstStyle/>
          <a:p>
            <a:pPr algn="just"/>
            <a:r>
              <a:rPr lang="en-US" dirty="0">
                <a:latin typeface="Amasis MT Pro Black" panose="02040A04050005020304" pitchFamily="18" charset="0"/>
              </a:rPr>
              <a:t>142. On types of questions, which promote interaction among learners?</a:t>
            </a:r>
          </a:p>
        </p:txBody>
      </p:sp>
      <p:sp>
        <p:nvSpPr>
          <p:cNvPr id="3" name="Content Placeholder 2"/>
          <p:cNvSpPr>
            <a:spLocks noGrp="1"/>
          </p:cNvSpPr>
          <p:nvPr>
            <p:ph idx="1"/>
          </p:nvPr>
        </p:nvSpPr>
        <p:spPr>
          <a:xfrm>
            <a:off x="838200" y="3251199"/>
            <a:ext cx="10515600" cy="2925763"/>
          </a:xfrm>
        </p:spPr>
        <p:txBody>
          <a:bodyPr>
            <a:normAutofit/>
          </a:bodyPr>
          <a:lstStyle/>
          <a:p>
            <a:pPr marL="0" indent="0">
              <a:buNone/>
            </a:pPr>
            <a:r>
              <a:rPr lang="en-US" sz="4000" dirty="0">
                <a:latin typeface="Amasis MT Pro" panose="02040504050005020304" pitchFamily="18" charset="0"/>
              </a:rPr>
              <a:t>a. convergent questions</a:t>
            </a:r>
          </a:p>
          <a:p>
            <a:pPr marL="0" indent="0">
              <a:buNone/>
            </a:pPr>
            <a:r>
              <a:rPr lang="en-US" sz="4000" dirty="0">
                <a:latin typeface="Amasis MT Pro" panose="02040504050005020304" pitchFamily="18" charset="0"/>
              </a:rPr>
              <a:t>b. inference questions</a:t>
            </a:r>
          </a:p>
          <a:p>
            <a:pPr marL="0" indent="0">
              <a:buNone/>
            </a:pPr>
            <a:r>
              <a:rPr lang="en-US" sz="4000" dirty="0">
                <a:latin typeface="Amasis MT Pro" panose="02040504050005020304" pitchFamily="18" charset="0"/>
              </a:rPr>
              <a:t>c. cognitive questions</a:t>
            </a:r>
          </a:p>
          <a:p>
            <a:pPr marL="0" indent="0">
              <a:buNone/>
            </a:pPr>
            <a:r>
              <a:rPr lang="en-US" sz="4000" dirty="0">
                <a:latin typeface="Amasis MT Pro" panose="02040504050005020304" pitchFamily="18" charset="0"/>
              </a:rPr>
              <a:t>d. divergent questions</a:t>
            </a:r>
          </a:p>
        </p:txBody>
      </p:sp>
      <p:pic>
        <p:nvPicPr>
          <p:cNvPr id="4" name="Graphic 3" descr="Checkmark with solid fill">
            <a:extLst>
              <a:ext uri="{FF2B5EF4-FFF2-40B4-BE49-F238E27FC236}">
                <a16:creationId xmlns:a16="http://schemas.microsoft.com/office/drawing/2014/main" id="{5BF202D7-3668-E378-2F38-67328264CF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20080" y="5060315"/>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4215" name="Rectangle 94214">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4217" name="Freeform: Shape 94216">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94210" name="Picture 2" descr="3 Modes Of Thinking: Lateral, Divergent &amp; Convergent Thought -">
            <a:extLst>
              <a:ext uri="{FF2B5EF4-FFF2-40B4-BE49-F238E27FC236}">
                <a16:creationId xmlns:a16="http://schemas.microsoft.com/office/drawing/2014/main" id="{D42A03F3-A08E-BD4C-8AFF-743E2EA9A3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7577" y="643468"/>
            <a:ext cx="742808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053644"/>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0720"/>
            <a:ext cx="10515600" cy="1943735"/>
          </a:xfrm>
        </p:spPr>
        <p:txBody>
          <a:bodyPr>
            <a:noAutofit/>
          </a:bodyPr>
          <a:lstStyle/>
          <a:p>
            <a:pPr algn="just"/>
            <a:r>
              <a:rPr lang="en-US" sz="3600" dirty="0">
                <a:latin typeface="Amasis MT Pro Black" panose="02040A04050005020304" pitchFamily="18" charset="0"/>
              </a:rPr>
              <a:t>143. For test construction, why are teachers required to come up with a table of specifications in test construction? To ensure that the tests have:</a:t>
            </a:r>
          </a:p>
        </p:txBody>
      </p:sp>
      <p:sp>
        <p:nvSpPr>
          <p:cNvPr id="3" name="Content Placeholder 2"/>
          <p:cNvSpPr>
            <a:spLocks noGrp="1"/>
          </p:cNvSpPr>
          <p:nvPr>
            <p:ph idx="1"/>
          </p:nvPr>
        </p:nvSpPr>
        <p:spPr>
          <a:xfrm>
            <a:off x="838200" y="3429000"/>
            <a:ext cx="10515600" cy="2748280"/>
          </a:xfrm>
        </p:spPr>
        <p:txBody>
          <a:bodyPr>
            <a:normAutofit/>
          </a:bodyPr>
          <a:lstStyle/>
          <a:p>
            <a:pPr marL="0" indent="0">
              <a:buNone/>
            </a:pPr>
            <a:r>
              <a:rPr lang="en-US" sz="4000" dirty="0">
                <a:latin typeface="Amasis MT Pro" panose="02040504050005020304" pitchFamily="18" charset="0"/>
              </a:rPr>
              <a:t>a. concurrent validity</a:t>
            </a:r>
          </a:p>
          <a:p>
            <a:pPr marL="0" indent="0">
              <a:buNone/>
            </a:pPr>
            <a:r>
              <a:rPr lang="en-US" sz="4000" dirty="0">
                <a:latin typeface="Amasis MT Pro" panose="02040504050005020304" pitchFamily="18" charset="0"/>
              </a:rPr>
              <a:t>b. content validity</a:t>
            </a:r>
          </a:p>
          <a:p>
            <a:pPr marL="0" indent="0">
              <a:buNone/>
            </a:pPr>
            <a:r>
              <a:rPr lang="en-US" sz="4000" dirty="0">
                <a:latin typeface="Amasis MT Pro" panose="02040504050005020304" pitchFamily="18" charset="0"/>
              </a:rPr>
              <a:t>c. reliability</a:t>
            </a:r>
          </a:p>
          <a:p>
            <a:pPr marL="0" indent="0">
              <a:buNone/>
            </a:pPr>
            <a:r>
              <a:rPr lang="en-US" sz="4000" dirty="0">
                <a:latin typeface="Amasis MT Pro" panose="02040504050005020304" pitchFamily="18" charset="0"/>
              </a:rPr>
              <a:t>d. predictive validity</a:t>
            </a:r>
          </a:p>
        </p:txBody>
      </p:sp>
      <p:pic>
        <p:nvPicPr>
          <p:cNvPr id="4" name="Graphic 3" descr="Checkmark with solid fill">
            <a:extLst>
              <a:ext uri="{FF2B5EF4-FFF2-40B4-BE49-F238E27FC236}">
                <a16:creationId xmlns:a16="http://schemas.microsoft.com/office/drawing/2014/main" id="{194E373B-3460-3969-1667-E9A6A4BB14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15840" y="37465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24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243" name="Rectangle 9524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95234" name="Picture 2" descr="Nature of Reliability">
            <a:extLst>
              <a:ext uri="{FF2B5EF4-FFF2-40B4-BE49-F238E27FC236}">
                <a16:creationId xmlns:a16="http://schemas.microsoft.com/office/drawing/2014/main" id="{2EAEAE24-C82B-8FCF-48DA-2C41D9B72B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63578" y="1455398"/>
            <a:ext cx="9664846" cy="3769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85450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995045"/>
            <a:ext cx="10515600" cy="1325563"/>
          </a:xfrm>
        </p:spPr>
        <p:txBody>
          <a:bodyPr>
            <a:normAutofit fontScale="90000"/>
          </a:bodyPr>
          <a:lstStyle/>
          <a:p>
            <a:pPr algn="just"/>
            <a:r>
              <a:rPr lang="en-US" dirty="0">
                <a:latin typeface="Amasis MT Pro Black" panose="02040A04050005020304" pitchFamily="18" charset="0"/>
              </a:rPr>
              <a:t>144. Who is at the center of the teaching-learning process in education?</a:t>
            </a:r>
          </a:p>
        </p:txBody>
      </p:sp>
      <p:sp>
        <p:nvSpPr>
          <p:cNvPr id="3" name="Content Placeholder 2"/>
          <p:cNvSpPr>
            <a:spLocks noGrp="1"/>
          </p:cNvSpPr>
          <p:nvPr>
            <p:ph idx="1"/>
          </p:nvPr>
        </p:nvSpPr>
        <p:spPr>
          <a:xfrm>
            <a:off x="838200" y="3058159"/>
            <a:ext cx="10515600" cy="3118803"/>
          </a:xfrm>
        </p:spPr>
        <p:txBody>
          <a:bodyPr>
            <a:normAutofit/>
          </a:bodyPr>
          <a:lstStyle/>
          <a:p>
            <a:pPr marL="0" indent="0">
              <a:buNone/>
            </a:pPr>
            <a:r>
              <a:rPr lang="en-US" sz="4400" dirty="0">
                <a:latin typeface="Amasis MT Pro" panose="02040504050005020304" pitchFamily="18" charset="0"/>
              </a:rPr>
              <a:t>a. learning environment</a:t>
            </a:r>
          </a:p>
          <a:p>
            <a:pPr marL="0" indent="0">
              <a:buNone/>
            </a:pPr>
            <a:r>
              <a:rPr lang="en-US" sz="4400" dirty="0">
                <a:latin typeface="Amasis MT Pro" panose="02040504050005020304" pitchFamily="18" charset="0"/>
              </a:rPr>
              <a:t>b. teacher</a:t>
            </a:r>
          </a:p>
          <a:p>
            <a:pPr marL="0" indent="0">
              <a:buNone/>
            </a:pPr>
            <a:r>
              <a:rPr lang="en-US" sz="4400" dirty="0">
                <a:latin typeface="Amasis MT Pro" panose="02040504050005020304" pitchFamily="18" charset="0"/>
              </a:rPr>
              <a:t>c. learner</a:t>
            </a:r>
          </a:p>
          <a:p>
            <a:pPr marL="0" indent="0">
              <a:buNone/>
            </a:pPr>
            <a:r>
              <a:rPr lang="en-US" sz="4400" dirty="0">
                <a:latin typeface="Amasis MT Pro" panose="02040504050005020304" pitchFamily="18" charset="0"/>
              </a:rPr>
              <a:t>d. school</a:t>
            </a:r>
          </a:p>
        </p:txBody>
      </p:sp>
      <p:pic>
        <p:nvPicPr>
          <p:cNvPr id="4" name="Graphic 3" descr="Checkmark with solid fill">
            <a:extLst>
              <a:ext uri="{FF2B5EF4-FFF2-40B4-BE49-F238E27FC236}">
                <a16:creationId xmlns:a16="http://schemas.microsoft.com/office/drawing/2014/main" id="{65E36BD9-3AE3-0564-E8FC-E72021A309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1680" y="431546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63"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265"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267" name="Rectangle 96266">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96258" name="Picture 2" descr="7 Things We Learned From Bersin's “Meet the Modern Learner”">
            <a:extLst>
              <a:ext uri="{FF2B5EF4-FFF2-40B4-BE49-F238E27FC236}">
                <a16:creationId xmlns:a16="http://schemas.microsoft.com/office/drawing/2014/main" id="{67BB9370-8CB2-BA4F-6117-EC5BD9429E8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25626" y="1286934"/>
            <a:ext cx="6740750" cy="4105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17474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903605"/>
            <a:ext cx="10515600" cy="1743075"/>
          </a:xfrm>
        </p:spPr>
        <p:txBody>
          <a:bodyPr>
            <a:normAutofit fontScale="90000"/>
          </a:bodyPr>
          <a:lstStyle/>
          <a:p>
            <a:pPr algn="just"/>
            <a:r>
              <a:rPr lang="en-US" dirty="0">
                <a:latin typeface="Amasis MT Pro Black" panose="02040A04050005020304" pitchFamily="18" charset="0"/>
              </a:rPr>
              <a:t>145. In the four phases of curriculum development, which process refers to determining rate of achievement of learning outcomes?</a:t>
            </a:r>
          </a:p>
        </p:txBody>
      </p:sp>
      <p:sp>
        <p:nvSpPr>
          <p:cNvPr id="3" name="Content Placeholder 2"/>
          <p:cNvSpPr>
            <a:spLocks noGrp="1"/>
          </p:cNvSpPr>
          <p:nvPr>
            <p:ph idx="1"/>
          </p:nvPr>
        </p:nvSpPr>
        <p:spPr>
          <a:xfrm>
            <a:off x="838200" y="3515360"/>
            <a:ext cx="10515600" cy="2661920"/>
          </a:xfrm>
        </p:spPr>
        <p:txBody>
          <a:bodyPr>
            <a:normAutofit lnSpcReduction="10000"/>
          </a:bodyPr>
          <a:lstStyle/>
          <a:p>
            <a:pPr marL="0" indent="0">
              <a:buNone/>
            </a:pPr>
            <a:r>
              <a:rPr lang="en-US" sz="4000" dirty="0">
                <a:latin typeface="Amasis MT Pro" panose="02040504050005020304" pitchFamily="18" charset="0"/>
              </a:rPr>
              <a:t>a. designing</a:t>
            </a:r>
          </a:p>
          <a:p>
            <a:pPr marL="0" indent="0">
              <a:buNone/>
            </a:pPr>
            <a:r>
              <a:rPr lang="en-US" sz="4000" dirty="0">
                <a:latin typeface="Amasis MT Pro" panose="02040504050005020304" pitchFamily="18" charset="0"/>
              </a:rPr>
              <a:t>b. implementation</a:t>
            </a:r>
          </a:p>
          <a:p>
            <a:pPr marL="0" indent="0">
              <a:buNone/>
            </a:pPr>
            <a:r>
              <a:rPr lang="en-US" sz="4000" dirty="0">
                <a:latin typeface="Amasis MT Pro" panose="02040504050005020304" pitchFamily="18" charset="0"/>
              </a:rPr>
              <a:t>c. planning</a:t>
            </a:r>
          </a:p>
          <a:p>
            <a:pPr marL="0" indent="0">
              <a:buNone/>
            </a:pPr>
            <a:r>
              <a:rPr lang="en-US" sz="4000" dirty="0">
                <a:latin typeface="Amasis MT Pro" panose="02040504050005020304" pitchFamily="18" charset="0"/>
              </a:rPr>
              <a:t>d. evaluation</a:t>
            </a:r>
          </a:p>
        </p:txBody>
      </p:sp>
      <p:pic>
        <p:nvPicPr>
          <p:cNvPr id="4" name="Graphic 3" descr="Checkmark with solid fill">
            <a:extLst>
              <a:ext uri="{FF2B5EF4-FFF2-40B4-BE49-F238E27FC236}">
                <a16:creationId xmlns:a16="http://schemas.microsoft.com/office/drawing/2014/main" id="{FBCF8B1E-A27F-1E1B-1785-323EFCF9B3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28720" y="515874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7"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289"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291" name="Rectangle 97290">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97282" name="Picture 2" descr="Chapter 4: Evaluating the curriculum">
            <a:extLst>
              <a:ext uri="{FF2B5EF4-FFF2-40B4-BE49-F238E27FC236}">
                <a16:creationId xmlns:a16="http://schemas.microsoft.com/office/drawing/2014/main" id="{27F8122F-0D17-8EA4-0F0C-F8855A47FA6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58702" y="1286934"/>
            <a:ext cx="5474598" cy="4105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03871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 y="1188085"/>
            <a:ext cx="10515600" cy="1325563"/>
          </a:xfrm>
        </p:spPr>
        <p:txBody>
          <a:bodyPr>
            <a:normAutofit fontScale="90000"/>
          </a:bodyPr>
          <a:lstStyle/>
          <a:p>
            <a:pPr algn="just"/>
            <a:r>
              <a:rPr lang="en-US" dirty="0">
                <a:latin typeface="Amasis MT Pro Black" panose="02040A04050005020304" pitchFamily="18" charset="0"/>
              </a:rPr>
              <a:t>146. Which of the following best supports professionalism among teachers?</a:t>
            </a:r>
          </a:p>
        </p:txBody>
      </p:sp>
      <p:sp>
        <p:nvSpPr>
          <p:cNvPr id="3" name="Content Placeholder 2"/>
          <p:cNvSpPr>
            <a:spLocks noGrp="1"/>
          </p:cNvSpPr>
          <p:nvPr>
            <p:ph idx="1"/>
          </p:nvPr>
        </p:nvSpPr>
        <p:spPr>
          <a:xfrm>
            <a:off x="726440" y="3271519"/>
            <a:ext cx="10515600" cy="3139123"/>
          </a:xfrm>
        </p:spPr>
        <p:txBody>
          <a:bodyPr>
            <a:normAutofit/>
          </a:bodyPr>
          <a:lstStyle/>
          <a:p>
            <a:pPr marL="0" indent="0">
              <a:buNone/>
            </a:pPr>
            <a:r>
              <a:rPr lang="en-US" dirty="0">
                <a:latin typeface="Amasis MT Pro" panose="02040504050005020304" pitchFamily="18" charset="0"/>
              </a:rPr>
              <a:t>a. integrity of top education officials</a:t>
            </a:r>
          </a:p>
          <a:p>
            <a:pPr marL="0" indent="0">
              <a:buNone/>
            </a:pPr>
            <a:r>
              <a:rPr lang="en-US" dirty="0">
                <a:latin typeface="Amasis MT Pro" panose="02040504050005020304" pitchFamily="18" charset="0"/>
              </a:rPr>
              <a:t>b. provision of adequate financial support for schools</a:t>
            </a:r>
          </a:p>
          <a:p>
            <a:pPr marL="0" indent="0">
              <a:buNone/>
            </a:pPr>
            <a:r>
              <a:rPr lang="en-US" dirty="0">
                <a:latin typeface="Amasis MT Pro" panose="02040504050005020304" pitchFamily="18" charset="0"/>
              </a:rPr>
              <a:t>c. directions laid down by school principals and supervisors</a:t>
            </a:r>
          </a:p>
          <a:p>
            <a:pPr marL="0" indent="0">
              <a:buNone/>
            </a:pPr>
            <a:r>
              <a:rPr lang="en-US" dirty="0">
                <a:latin typeface="Amasis MT Pro" panose="02040504050005020304" pitchFamily="18" charset="0"/>
              </a:rPr>
              <a:t>d. policies responsive to the teacher’s professional competencies</a:t>
            </a:r>
          </a:p>
        </p:txBody>
      </p:sp>
      <p:pic>
        <p:nvPicPr>
          <p:cNvPr id="4" name="Graphic 3" descr="Checkmark with solid fill">
            <a:extLst>
              <a:ext uri="{FF2B5EF4-FFF2-40B4-BE49-F238E27FC236}">
                <a16:creationId xmlns:a16="http://schemas.microsoft.com/office/drawing/2014/main" id="{8E5B4AF5-CD0F-5F15-39B6-76ABAA74DF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51160" y="438388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11"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313"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315" name="Rectangle 98314">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98306" name="Picture 2" descr="Profession &amp;amp; professionalism">
            <a:extLst>
              <a:ext uri="{FF2B5EF4-FFF2-40B4-BE49-F238E27FC236}">
                <a16:creationId xmlns:a16="http://schemas.microsoft.com/office/drawing/2014/main" id="{363488BC-8278-31CF-993F-199C0B285EA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58702" y="1286934"/>
            <a:ext cx="5474598" cy="4105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794112"/>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944245"/>
            <a:ext cx="10515600" cy="1711325"/>
          </a:xfrm>
        </p:spPr>
        <p:txBody>
          <a:bodyPr>
            <a:normAutofit fontScale="90000"/>
          </a:bodyPr>
          <a:lstStyle/>
          <a:p>
            <a:pPr algn="just"/>
            <a:r>
              <a:rPr lang="en-US" dirty="0">
                <a:latin typeface="Amasis MT Pro Black" panose="02040A04050005020304" pitchFamily="18" charset="0"/>
              </a:rPr>
              <a:t>147. Which of the following can best help encourage shy and timid students to participate in class activities?</a:t>
            </a:r>
          </a:p>
        </p:txBody>
      </p:sp>
      <p:sp>
        <p:nvSpPr>
          <p:cNvPr id="3" name="Content Placeholder 2"/>
          <p:cNvSpPr>
            <a:spLocks noGrp="1"/>
          </p:cNvSpPr>
          <p:nvPr>
            <p:ph idx="1"/>
          </p:nvPr>
        </p:nvSpPr>
        <p:spPr>
          <a:xfrm>
            <a:off x="838200" y="3361690"/>
            <a:ext cx="10515600" cy="2812415"/>
          </a:xfrm>
        </p:spPr>
        <p:txBody>
          <a:bodyPr>
            <a:normAutofit/>
          </a:bodyPr>
          <a:lstStyle/>
          <a:p>
            <a:pPr marL="0" indent="0">
              <a:buNone/>
            </a:pPr>
            <a:r>
              <a:rPr lang="en-US" sz="4000" dirty="0">
                <a:latin typeface="Amasis MT Pro" panose="02040504050005020304" pitchFamily="18" charset="0"/>
              </a:rPr>
              <a:t>a. send them to guidance office</a:t>
            </a:r>
          </a:p>
          <a:p>
            <a:pPr marL="0" indent="0">
              <a:buNone/>
            </a:pPr>
            <a:r>
              <a:rPr lang="en-US" sz="4000" dirty="0">
                <a:latin typeface="Amasis MT Pro" panose="02040504050005020304" pitchFamily="18" charset="0"/>
              </a:rPr>
              <a:t>b. provide counselling</a:t>
            </a:r>
          </a:p>
          <a:p>
            <a:pPr marL="0" indent="0">
              <a:buNone/>
            </a:pPr>
            <a:r>
              <a:rPr lang="en-US" sz="4000" dirty="0">
                <a:latin typeface="Amasis MT Pro" panose="02040504050005020304" pitchFamily="18" charset="0"/>
              </a:rPr>
              <a:t>c. give them a leadership role in groups</a:t>
            </a:r>
          </a:p>
          <a:p>
            <a:pPr marL="0" indent="0">
              <a:buNone/>
            </a:pPr>
            <a:r>
              <a:rPr lang="en-US" sz="4000" dirty="0">
                <a:latin typeface="Amasis MT Pro" panose="02040504050005020304" pitchFamily="18" charset="0"/>
              </a:rPr>
              <a:t>d. ask them to bring their parents for query</a:t>
            </a:r>
          </a:p>
        </p:txBody>
      </p:sp>
      <p:pic>
        <p:nvPicPr>
          <p:cNvPr id="4" name="Graphic 3" descr="Checkmark with solid fill">
            <a:extLst>
              <a:ext uri="{FF2B5EF4-FFF2-40B4-BE49-F238E27FC236}">
                <a16:creationId xmlns:a16="http://schemas.microsoft.com/office/drawing/2014/main" id="{E71875D9-CD15-9CCC-91C3-9582E00D46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30080" y="44069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41" name="Freeform: Shape 99334">
            <a:extLst>
              <a:ext uri="{FF2B5EF4-FFF2-40B4-BE49-F238E27FC236}">
                <a16:creationId xmlns:a16="http://schemas.microsoft.com/office/drawing/2014/main" id="{B670DBD5-770C-4383-9F54-5B86E86BD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0277" y="0"/>
            <a:ext cx="9771446" cy="6858000"/>
          </a:xfrm>
          <a:custGeom>
            <a:avLst/>
            <a:gdLst>
              <a:gd name="connsiteX0" fmla="*/ 1422188 w 9771446"/>
              <a:gd name="connsiteY0" fmla="*/ 0 h 6858000"/>
              <a:gd name="connsiteX1" fmla="*/ 8349258 w 9771446"/>
              <a:gd name="connsiteY1" fmla="*/ 0 h 6858000"/>
              <a:gd name="connsiteX2" fmla="*/ 8502224 w 9771446"/>
              <a:gd name="connsiteY2" fmla="*/ 159673 h 6858000"/>
              <a:gd name="connsiteX3" fmla="*/ 9771446 w 9771446"/>
              <a:gd name="connsiteY3" fmla="*/ 3429001 h 6858000"/>
              <a:gd name="connsiteX4" fmla="*/ 8502224 w 9771446"/>
              <a:gd name="connsiteY4" fmla="*/ 6698330 h 6858000"/>
              <a:gd name="connsiteX5" fmla="*/ 8349260 w 9771446"/>
              <a:gd name="connsiteY5" fmla="*/ 6858000 h 6858000"/>
              <a:gd name="connsiteX6" fmla="*/ 1422186 w 9771446"/>
              <a:gd name="connsiteY6" fmla="*/ 6858000 h 6858000"/>
              <a:gd name="connsiteX7" fmla="*/ 1269223 w 9771446"/>
              <a:gd name="connsiteY7" fmla="*/ 6698330 h 6858000"/>
              <a:gd name="connsiteX8" fmla="*/ 0 w 9771446"/>
              <a:gd name="connsiteY8" fmla="*/ 3429001 h 6858000"/>
              <a:gd name="connsiteX9" fmla="*/ 1269223 w 9771446"/>
              <a:gd name="connsiteY9" fmla="*/ 159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1446" h="6858000">
                <a:moveTo>
                  <a:pt x="1422188" y="0"/>
                </a:moveTo>
                <a:lnTo>
                  <a:pt x="8349258" y="0"/>
                </a:lnTo>
                <a:lnTo>
                  <a:pt x="8502224" y="159673"/>
                </a:lnTo>
                <a:cubicBezTo>
                  <a:pt x="9290813" y="1023162"/>
                  <a:pt x="9771446" y="2170221"/>
                  <a:pt x="9771446" y="3429001"/>
                </a:cubicBezTo>
                <a:cubicBezTo>
                  <a:pt x="9771446" y="4687781"/>
                  <a:pt x="9290813" y="5834840"/>
                  <a:pt x="8502224" y="6698330"/>
                </a:cubicBezTo>
                <a:lnTo>
                  <a:pt x="8349260" y="6858000"/>
                </a:lnTo>
                <a:lnTo>
                  <a:pt x="1422186" y="6858000"/>
                </a:lnTo>
                <a:lnTo>
                  <a:pt x="1269223" y="6698330"/>
                </a:lnTo>
                <a:cubicBezTo>
                  <a:pt x="480633" y="5834840"/>
                  <a:pt x="0" y="4687781"/>
                  <a:pt x="0" y="3429001"/>
                </a:cubicBezTo>
                <a:cubicBezTo>
                  <a:pt x="0" y="2170221"/>
                  <a:pt x="480633" y="1023162"/>
                  <a:pt x="1269223" y="159673"/>
                </a:cubicBezTo>
                <a:close/>
              </a:path>
            </a:pathLst>
          </a:custGeom>
          <a:solidFill>
            <a:schemeClr val="bg1">
              <a:lumMod val="8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9330" name="Picture 2" descr="150 Leadership Quotes - Best Quotes on Leadership">
            <a:extLst>
              <a:ext uri="{FF2B5EF4-FFF2-40B4-BE49-F238E27FC236}">
                <a16:creationId xmlns:a16="http://schemas.microsoft.com/office/drawing/2014/main" id="{B2605ED5-940E-8A11-04CF-4FF4D2F585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96" b="13630"/>
          <a:stretch/>
        </p:blipFill>
        <p:spPr bwMode="auto">
          <a:xfrm>
            <a:off x="1460597" y="10"/>
            <a:ext cx="9270806" cy="6857990"/>
          </a:xfrm>
          <a:custGeom>
            <a:avLst/>
            <a:gdLst/>
            <a:ahLst/>
            <a:cxnLst/>
            <a:rect l="l" t="t" r="r" b="b"/>
            <a:pathLst>
              <a:path w="9270806" h="6858000">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67638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22325"/>
            <a:ext cx="10515600" cy="2005965"/>
          </a:xfrm>
        </p:spPr>
        <p:txBody>
          <a:bodyPr>
            <a:normAutofit fontScale="90000"/>
          </a:bodyPr>
          <a:lstStyle/>
          <a:p>
            <a:pPr algn="just"/>
            <a:r>
              <a:rPr lang="en-US" dirty="0">
                <a:latin typeface="Amasis MT Pro Black" panose="02040A04050005020304" pitchFamily="18" charset="0"/>
              </a:rPr>
              <a:t>148. What is computed to get the quarterly grade for MAPEH’s 4 areas combined Music, Arts, PE and Health education?</a:t>
            </a:r>
          </a:p>
        </p:txBody>
      </p:sp>
      <p:sp>
        <p:nvSpPr>
          <p:cNvPr id="3" name="Content Placeholder 2"/>
          <p:cNvSpPr>
            <a:spLocks noGrp="1"/>
          </p:cNvSpPr>
          <p:nvPr>
            <p:ph idx="1"/>
          </p:nvPr>
        </p:nvSpPr>
        <p:spPr>
          <a:xfrm>
            <a:off x="756920" y="3342640"/>
            <a:ext cx="10515600" cy="2550160"/>
          </a:xfrm>
        </p:spPr>
        <p:txBody>
          <a:bodyPr>
            <a:normAutofit/>
          </a:bodyPr>
          <a:lstStyle/>
          <a:p>
            <a:pPr marL="0" indent="0">
              <a:buNone/>
            </a:pPr>
            <a:r>
              <a:rPr lang="en-US" sz="3600" dirty="0">
                <a:latin typeface="Amasis MT Pro" panose="02040504050005020304" pitchFamily="18" charset="0"/>
              </a:rPr>
              <a:t>a. get the average</a:t>
            </a:r>
          </a:p>
          <a:p>
            <a:pPr marL="0" indent="0">
              <a:buNone/>
            </a:pPr>
            <a:r>
              <a:rPr lang="en-US" sz="3600" dirty="0">
                <a:latin typeface="Amasis MT Pro" panose="02040504050005020304" pitchFamily="18" charset="0"/>
              </a:rPr>
              <a:t>b. add all 4 grades</a:t>
            </a:r>
          </a:p>
          <a:p>
            <a:pPr marL="0" indent="0">
              <a:buNone/>
            </a:pPr>
            <a:r>
              <a:rPr lang="en-US" sz="3600" dirty="0">
                <a:latin typeface="Amasis MT Pro" panose="02040504050005020304" pitchFamily="18" charset="0"/>
              </a:rPr>
              <a:t>c. PE grade is dominant</a:t>
            </a:r>
          </a:p>
          <a:p>
            <a:pPr marL="0" indent="0">
              <a:buNone/>
            </a:pPr>
            <a:r>
              <a:rPr lang="en-US" sz="3600" dirty="0">
                <a:latin typeface="Amasis MT Pro" panose="02040504050005020304" pitchFamily="18" charset="0"/>
              </a:rPr>
              <a:t>d. music grade will prevail</a:t>
            </a:r>
          </a:p>
        </p:txBody>
      </p:sp>
      <p:pic>
        <p:nvPicPr>
          <p:cNvPr id="4" name="Graphic 3" descr="Checkmark with solid fill">
            <a:extLst>
              <a:ext uri="{FF2B5EF4-FFF2-40B4-BE49-F238E27FC236}">
                <a16:creationId xmlns:a16="http://schemas.microsoft.com/office/drawing/2014/main" id="{CC45F8FC-FEAB-88D8-5057-D9A4153206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99280"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0354" name="Picture 2" descr="DepEd K to 12 Grading System Steps for Computing Grades - TeacherPH">
            <a:extLst>
              <a:ext uri="{FF2B5EF4-FFF2-40B4-BE49-F238E27FC236}">
                <a16:creationId xmlns:a16="http://schemas.microsoft.com/office/drawing/2014/main" id="{F8B3759D-79C8-991D-A96B-1CC1F58313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765977"/>
            <a:ext cx="10905066" cy="3326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727167"/>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2325"/>
            <a:ext cx="10515600" cy="1325563"/>
          </a:xfrm>
        </p:spPr>
        <p:txBody>
          <a:bodyPr>
            <a:normAutofit fontScale="90000"/>
          </a:bodyPr>
          <a:lstStyle/>
          <a:p>
            <a:pPr algn="just"/>
            <a:r>
              <a:rPr lang="en-US" dirty="0">
                <a:latin typeface="Amasis MT Pro Black" panose="02040A04050005020304" pitchFamily="18" charset="0"/>
              </a:rPr>
              <a:t>149. Which of the following can best advance leadership skills among students?</a:t>
            </a:r>
          </a:p>
        </p:txBody>
      </p:sp>
      <p:sp>
        <p:nvSpPr>
          <p:cNvPr id="3" name="Content Placeholder 2"/>
          <p:cNvSpPr>
            <a:spLocks noGrp="1"/>
          </p:cNvSpPr>
          <p:nvPr>
            <p:ph idx="1"/>
          </p:nvPr>
        </p:nvSpPr>
        <p:spPr>
          <a:xfrm>
            <a:off x="838200" y="3119119"/>
            <a:ext cx="10515600" cy="3057843"/>
          </a:xfrm>
        </p:spPr>
        <p:txBody>
          <a:bodyPr>
            <a:normAutofit/>
          </a:bodyPr>
          <a:lstStyle/>
          <a:p>
            <a:pPr marL="0" indent="0">
              <a:buNone/>
            </a:pPr>
            <a:r>
              <a:rPr lang="en-US" sz="3600" dirty="0">
                <a:latin typeface="Amasis MT Pro" panose="02040504050005020304" pitchFamily="18" charset="0"/>
              </a:rPr>
              <a:t>a. advise them to follow group rules</a:t>
            </a:r>
          </a:p>
          <a:p>
            <a:pPr marL="0" indent="0">
              <a:buNone/>
            </a:pPr>
            <a:r>
              <a:rPr lang="en-US" sz="3600" dirty="0">
                <a:latin typeface="Amasis MT Pro" panose="02040504050005020304" pitchFamily="18" charset="0"/>
              </a:rPr>
              <a:t>b. give them regular advising</a:t>
            </a:r>
          </a:p>
          <a:p>
            <a:pPr marL="0" indent="0">
              <a:buNone/>
            </a:pPr>
            <a:r>
              <a:rPr lang="en-US" sz="3600" dirty="0">
                <a:latin typeface="Amasis MT Pro" panose="02040504050005020304" pitchFamily="18" charset="0"/>
              </a:rPr>
              <a:t>c. refrain from calling them for recitation</a:t>
            </a:r>
          </a:p>
          <a:p>
            <a:pPr marL="0" indent="0">
              <a:buNone/>
            </a:pPr>
            <a:r>
              <a:rPr lang="en-US" sz="3600" dirty="0">
                <a:latin typeface="Amasis MT Pro" panose="02040504050005020304" pitchFamily="18" charset="0"/>
              </a:rPr>
              <a:t>d. make them head group activities</a:t>
            </a:r>
          </a:p>
        </p:txBody>
      </p:sp>
      <p:pic>
        <p:nvPicPr>
          <p:cNvPr id="4" name="Graphic 3" descr="Checkmark with solid fill">
            <a:extLst>
              <a:ext uri="{FF2B5EF4-FFF2-40B4-BE49-F238E27FC236}">
                <a16:creationId xmlns:a16="http://schemas.microsoft.com/office/drawing/2014/main" id="{2A76C9F9-9E9D-1758-EADE-615CAC76CF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2880" y="47320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1378" name="Picture 2" descr="114 Inspiring Leadership Quotes | Reader's Digest">
            <a:extLst>
              <a:ext uri="{FF2B5EF4-FFF2-40B4-BE49-F238E27FC236}">
                <a16:creationId xmlns:a16="http://schemas.microsoft.com/office/drawing/2014/main" id="{44CEE074-2548-69CD-9857-CE2089F627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10466" y="643466"/>
            <a:ext cx="557106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154278"/>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4405"/>
            <a:ext cx="10515600" cy="1325563"/>
          </a:xfrm>
        </p:spPr>
        <p:txBody>
          <a:bodyPr>
            <a:noAutofit/>
          </a:bodyPr>
          <a:lstStyle/>
          <a:p>
            <a:pPr algn="just"/>
            <a:r>
              <a:rPr lang="en-US" sz="3600" dirty="0">
                <a:latin typeface="Amasis MT Pro Black" panose="02040A04050005020304" pitchFamily="18" charset="0"/>
              </a:rPr>
              <a:t>150. What will you see as an application of Pavlov’s idea of discrimination?</a:t>
            </a:r>
          </a:p>
        </p:txBody>
      </p:sp>
      <p:sp>
        <p:nvSpPr>
          <p:cNvPr id="3" name="Content Placeholder 2"/>
          <p:cNvSpPr>
            <a:spLocks noGrp="1"/>
          </p:cNvSpPr>
          <p:nvPr>
            <p:ph idx="1"/>
          </p:nvPr>
        </p:nvSpPr>
        <p:spPr>
          <a:xfrm>
            <a:off x="838200" y="3139439"/>
            <a:ext cx="10515600" cy="2336483"/>
          </a:xfrm>
        </p:spPr>
        <p:txBody>
          <a:bodyPr>
            <a:normAutofit/>
          </a:bodyPr>
          <a:lstStyle/>
          <a:p>
            <a:pPr marL="0" indent="0">
              <a:buNone/>
            </a:pPr>
            <a:r>
              <a:rPr lang="en-US" sz="3200" dirty="0">
                <a:latin typeface="Amasis MT Pro" panose="02040504050005020304" pitchFamily="18" charset="0"/>
              </a:rPr>
              <a:t>a. monitoring low achievers in class</a:t>
            </a:r>
          </a:p>
          <a:p>
            <a:pPr marL="0" indent="0">
              <a:buNone/>
            </a:pPr>
            <a:r>
              <a:rPr lang="en-US" sz="3200" dirty="0">
                <a:latin typeface="Amasis MT Pro" panose="02040504050005020304" pitchFamily="18" charset="0"/>
              </a:rPr>
              <a:t>b. giving way for peer tutoring</a:t>
            </a:r>
          </a:p>
          <a:p>
            <a:pPr marL="0" indent="0">
              <a:buNone/>
            </a:pPr>
            <a:r>
              <a:rPr lang="en-US" sz="3200" dirty="0">
                <a:latin typeface="Amasis MT Pro" panose="02040504050005020304" pitchFamily="18" charset="0"/>
              </a:rPr>
              <a:t>c. engaging students in collaborative learning</a:t>
            </a:r>
          </a:p>
          <a:p>
            <a:pPr marL="0" indent="0">
              <a:buNone/>
            </a:pPr>
            <a:r>
              <a:rPr lang="en-US" sz="3200" dirty="0">
                <a:latin typeface="Amasis MT Pro" panose="02040504050005020304" pitchFamily="18" charset="0"/>
              </a:rPr>
              <a:t>d. allowing students to choose electives</a:t>
            </a:r>
          </a:p>
        </p:txBody>
      </p:sp>
      <p:pic>
        <p:nvPicPr>
          <p:cNvPr id="4" name="Graphic 3" descr="Checkmark with solid fill">
            <a:extLst>
              <a:ext uri="{FF2B5EF4-FFF2-40B4-BE49-F238E27FC236}">
                <a16:creationId xmlns:a16="http://schemas.microsoft.com/office/drawing/2014/main" id="{56BA7A05-5585-79C3-7A68-E38F6A056B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45120" y="4561522"/>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02" name="Picture 2" descr="Classical Conditioning">
            <a:extLst>
              <a:ext uri="{FF2B5EF4-FFF2-40B4-BE49-F238E27FC236}">
                <a16:creationId xmlns:a16="http://schemas.microsoft.com/office/drawing/2014/main" id="{0E409BFD-0379-77DF-54F0-BFE905F05D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81955"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359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8701</Words>
  <Application>Microsoft Office PowerPoint</Application>
  <PresentationFormat>Widescreen</PresentationFormat>
  <Paragraphs>803</Paragraphs>
  <Slides>301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301</vt:i4>
      </vt:variant>
    </vt:vector>
  </HeadingPairs>
  <TitlesOfParts>
    <vt:vector size="308" baseType="lpstr">
      <vt:lpstr>Amasis MT Pro</vt:lpstr>
      <vt:lpstr>Amasis MT Pro Black</vt:lpstr>
      <vt:lpstr>Arial</vt:lpstr>
      <vt:lpstr>Arial</vt:lpstr>
      <vt:lpstr>Calibri</vt:lpstr>
      <vt:lpstr>Calibri Light</vt:lpstr>
      <vt:lpstr>Office Theme</vt:lpstr>
      <vt:lpstr>Professional Education March 2022 LET Questions</vt:lpstr>
      <vt:lpstr>1. What is the proper characterization for the PowerPoint presentation to deliver a lesson?</vt:lpstr>
      <vt:lpstr>PowerPoint Presentation</vt:lpstr>
      <vt:lpstr>2. Which type of test can show the student’s synthesizing skills?</vt:lpstr>
      <vt:lpstr>PowerPoint Presentation</vt:lpstr>
      <vt:lpstr>3. What are characteristics of good management plan?</vt:lpstr>
      <vt:lpstr>PowerPoint Presentation</vt:lpstr>
      <vt:lpstr>4. Given the oldest historical understanding of a teacher which of the following is closest to the idea of the first teachers who were parents or elders transmitting norms, crafts and beliefs to the young?</vt:lpstr>
      <vt:lpstr>PowerPoint Presentation</vt:lpstr>
      <vt:lpstr>5. On periods of development, what feature characterizes the child in early childhood?</vt:lpstr>
      <vt:lpstr>PowerPoint Presentation</vt:lpstr>
      <vt:lpstr>6. What characteristics show that a teacher has empathy towards learners?</vt:lpstr>
      <vt:lpstr>PowerPoint Presentation</vt:lpstr>
      <vt:lpstr>7. Which of the following is a routine procedure in class management? </vt:lpstr>
      <vt:lpstr>PowerPoint Presentation</vt:lpstr>
      <vt:lpstr>8. There are varied aspects to professionalism among teachers, but which aspect is their inner deals, commitment and dedication as teachers?</vt:lpstr>
      <vt:lpstr>PowerPoint Presentation</vt:lpstr>
      <vt:lpstr>9. What assessment provides a total view of a student’s performance?</vt:lpstr>
      <vt:lpstr>PowerPoint Presentation</vt:lpstr>
      <vt:lpstr>10. How is periodic reporting of student grades useful?</vt:lpstr>
      <vt:lpstr>PowerPoint Presentation</vt:lpstr>
      <vt:lpstr>11. What activity of human intelligence attaches value or quantitative description to measuring results of learning activities?</vt:lpstr>
      <vt:lpstr>PowerPoint Presentation</vt:lpstr>
      <vt:lpstr>12. Rexor’s score is within 1 SD. To which of the following groups does he belong?</vt:lpstr>
      <vt:lpstr>PowerPoint Presentation</vt:lpstr>
      <vt:lpstr>13. Which portfolio is most appropriate to show improvement in learning and transforming a student?</vt:lpstr>
      <vt:lpstr>PowerPoint Presentation</vt:lpstr>
      <vt:lpstr>14. How are Massive Open Online Courses (MOOCs) delivered to learners of all kinds (students, retirees, those changing careers, etc.)?</vt:lpstr>
      <vt:lpstr>PowerPoint Presentation</vt:lpstr>
      <vt:lpstr>15. On cognitive principles in test construction, what ability is required to correctly answer filling the blanks questions?</vt:lpstr>
      <vt:lpstr>PowerPoint Presentation</vt:lpstr>
      <vt:lpstr>16. Regardless of the transition period, how many credit units for CPD is required of professional teachers every three years for renewal of license?</vt:lpstr>
      <vt:lpstr>PowerPoint Presentation</vt:lpstr>
      <vt:lpstr>17. What can be the instructional value of a web application that provides fun and excitement to early learners like one designed along an amusement park ride?</vt:lpstr>
      <vt:lpstr>PowerPoint Presentation</vt:lpstr>
      <vt:lpstr>18. What kind of problems do action research address?</vt:lpstr>
      <vt:lpstr>PowerPoint Presentation</vt:lpstr>
      <vt:lpstr>19. On classroom activities, the following are appropriate for learners who have good spatial skills, but NOT to include:</vt:lpstr>
      <vt:lpstr>PowerPoint Presentation</vt:lpstr>
      <vt:lpstr>20. What is being asked of students in a task to determine elements and explain them in relation to other parts or the whole?</vt:lpstr>
      <vt:lpstr>PowerPoint Presentation</vt:lpstr>
      <vt:lpstr>21. On principles of teaching-and-learning, what do Cognitive theorists see as the way to develop learners?</vt:lpstr>
      <vt:lpstr>PowerPoint Presentation</vt:lpstr>
      <vt:lpstr>22. In the K to 12 Basic Education Curriculum, science is formally taught from:</vt:lpstr>
      <vt:lpstr>PowerPoint Presentation</vt:lpstr>
      <vt:lpstr>23. You want to know who a good teacher is. In the Philippines which would you consult?</vt:lpstr>
      <vt:lpstr>PowerPoint Presentation</vt:lpstr>
      <vt:lpstr>24. If I apply Vygotsky’s theory of learning, which will I do?</vt:lpstr>
      <vt:lpstr>PowerPoint Presentation</vt:lpstr>
      <vt:lpstr>25. Due to the advent of COVID 19, which initiative is required for curriculum change?</vt:lpstr>
      <vt:lpstr>PowerPoint Presentation</vt:lpstr>
      <vt:lpstr>26. In a lesson, when do teachers make ideas universally applicable to other ideas or situations?</vt:lpstr>
      <vt:lpstr>PowerPoint Presentation</vt:lpstr>
      <vt:lpstr>27. What is the philosophical basis for education in recent years of General Education subjects in career studies in College level?</vt:lpstr>
      <vt:lpstr>PowerPoint Presentation</vt:lpstr>
      <vt:lpstr>28. As a teacher, how will you best understand the need to nourish the child along the axiom “Man does not live by bread alone”?</vt:lpstr>
      <vt:lpstr>PowerPoint Presentation</vt:lpstr>
      <vt:lpstr>29. What does “grading on the curve” mean?</vt:lpstr>
      <vt:lpstr>PowerPoint Presentation</vt:lpstr>
      <vt:lpstr>30. Which is the best class performance on a 100-item test?</vt:lpstr>
      <vt:lpstr>PowerPoint Presentation</vt:lpstr>
      <vt:lpstr>31. Among varied tasks, how can the virtual learning management system help instruction?</vt:lpstr>
      <vt:lpstr>PowerPoint Presentation</vt:lpstr>
      <vt:lpstr>32. Which of the following exemplifies differentiated instruction directed at heterogenous groups in a class?</vt:lpstr>
      <vt:lpstr>PowerPoint Presentation</vt:lpstr>
      <vt:lpstr>33. Vygotsky says that learning occurs in a social context. Which learning activity is most appropriate?</vt:lpstr>
      <vt:lpstr>PowerPoint Presentation</vt:lpstr>
      <vt:lpstr>34. Which is most likely the behavior if students whose minds are solely guided by the ID?</vt:lpstr>
      <vt:lpstr>PowerPoint Presentation</vt:lpstr>
      <vt:lpstr>35. What is the equivalent of Education as “learning in any place, anytime and anywhere?”</vt:lpstr>
      <vt:lpstr>PowerPoint Presentation</vt:lpstr>
      <vt:lpstr>36. In Bloom and Anderson’s Taxonomy in the hierarchy of cognitive learning, which comes first and lowest as a cognitive activity?</vt:lpstr>
      <vt:lpstr>PowerPoint Presentation</vt:lpstr>
      <vt:lpstr>37. What can teacher Rosalie do to encourage class participation in her class?</vt:lpstr>
      <vt:lpstr>PowerPoint Presentation</vt:lpstr>
      <vt:lpstr>38. Due to multiple intelligence and learning styles of learners, which approach works best in order to enhance learning of each and all students?</vt:lpstr>
      <vt:lpstr>PowerPoint Presentation</vt:lpstr>
      <vt:lpstr>39. Among the curricula which operates in the classroom, which curriculum is actually applied in the teaching-learning process?</vt:lpstr>
      <vt:lpstr>PowerPoint Presentation</vt:lpstr>
      <vt:lpstr>40. Among cognitive deficiencies, what is known as the difficulty in focusing or keeping attention in learning?</vt:lpstr>
      <vt:lpstr>PowerPoint Presentation</vt:lpstr>
      <vt:lpstr>41. If the scores of your test follow a negatively skewed score distribution, what went wrong?</vt:lpstr>
      <vt:lpstr>PowerPoint Presentation</vt:lpstr>
      <vt:lpstr>42. Which of the following shows a total physical environment that supports learning?</vt:lpstr>
      <vt:lpstr>PowerPoint Presentation</vt:lpstr>
      <vt:lpstr>43. Among communication indicators, which can ensure effective communication between teacher and learners?</vt:lpstr>
      <vt:lpstr>PowerPoint Presentation</vt:lpstr>
      <vt:lpstr>44. What kind of presence is engaged in through the community of inquiry model?</vt:lpstr>
      <vt:lpstr>PowerPoint Presentation</vt:lpstr>
      <vt:lpstr>45. What are equivalent to standards under the Philippine Professional Standards for Teachers?</vt:lpstr>
      <vt:lpstr>PowerPoint Presentation</vt:lpstr>
      <vt:lpstr>46. Which software is useful for text writing and organization in formulating articles or essays?</vt:lpstr>
      <vt:lpstr>PowerPoint Presentation</vt:lpstr>
      <vt:lpstr>47. How is the bi-semester grade per subject for Grades 1-to-10 computed?</vt:lpstr>
      <vt:lpstr>PowerPoint Presentation</vt:lpstr>
      <vt:lpstr>48. Which portfolio can demonstrate skills e.g. using the microscope?</vt:lpstr>
      <vt:lpstr>PowerPoint Presentation</vt:lpstr>
      <vt:lpstr>49. What factor is given the most importance by Teacher Nikki who is teaching in a school for children in a poverty-stricken slum area?</vt:lpstr>
      <vt:lpstr>PowerPoint Presentation</vt:lpstr>
      <vt:lpstr>50. Which of the following is significant/related to cognitive development in the child?</vt:lpstr>
      <vt:lpstr>PowerPoint Presentation</vt:lpstr>
      <vt:lpstr>51. How is referent power best exhibited by the teacher on the first day of school?</vt:lpstr>
      <vt:lpstr>PowerPoint Presentation</vt:lpstr>
      <vt:lpstr>52. Which of the following is the correct feature that characterize the Indigenous Peoples Education Curriculum?</vt:lpstr>
      <vt:lpstr>PowerPoint Presentation</vt:lpstr>
      <vt:lpstr>53. According to Maslow, what satisfaction is reached as the final result of psychological harmony with reality?</vt:lpstr>
      <vt:lpstr>PowerPoint Presentation</vt:lpstr>
      <vt:lpstr>54. When a student gathers data or information and arrives at a conclusion, what process of research is followed?</vt:lpstr>
      <vt:lpstr>PowerPoint Presentation</vt:lpstr>
      <vt:lpstr>55. What kind of assessment of learning can provide information about achievement levels across individual learner?</vt:lpstr>
      <vt:lpstr>PowerPoint Presentation</vt:lpstr>
      <vt:lpstr>56. Which task is appropriate for an outcome that demonstrate research writing?</vt:lpstr>
      <vt:lpstr>PowerPoint Presentation</vt:lpstr>
      <vt:lpstr>57. What does evidence-based practice imply?</vt:lpstr>
      <vt:lpstr>PowerPoint Presentation</vt:lpstr>
      <vt:lpstr>58. What is the descriptor for a numerical grade of 80 as level of proficiency?</vt:lpstr>
      <vt:lpstr>PowerPoint Presentation</vt:lpstr>
      <vt:lpstr>59. When is it best for teacher Anna to set up classroom routines, e.g., passing of paper, seeking permission in class, etc.?</vt:lpstr>
      <vt:lpstr>PowerPoint Presentation</vt:lpstr>
      <vt:lpstr>60. Which is true of a constructivist teaching learning process? I.   based on students’ questions and interests II.  interactive III.  dialogue IV.  group work</vt:lpstr>
      <vt:lpstr>PowerPoint Presentation</vt:lpstr>
      <vt:lpstr>61. When will parents find reporting of grades of their children meaningful?</vt:lpstr>
      <vt:lpstr>PowerPoint Presentation</vt:lpstr>
      <vt:lpstr>62. At what level of Kohlberg’s stages of moral development is taxi driver Ed returning the wallet of a passenger who left it in his cab?</vt:lpstr>
      <vt:lpstr>PowerPoint Presentation</vt:lpstr>
      <vt:lpstr>63. What cognitive process is required in writing a personality profile of a fellow classmate?</vt:lpstr>
      <vt:lpstr>PowerPoint Presentation</vt:lpstr>
      <vt:lpstr>64. What is meant by action research following a cyclical process?</vt:lpstr>
      <vt:lpstr>PowerPoint Presentation</vt:lpstr>
      <vt:lpstr>65. During the COVID virtual learning, what is missed by learners?</vt:lpstr>
      <vt:lpstr>PowerPoint Presentation</vt:lpstr>
      <vt:lpstr>66. Which of the following expresses spirituality among professional teachers?</vt:lpstr>
      <vt:lpstr>PowerPoint Presentation</vt:lpstr>
      <vt:lpstr>67. In the 4 factors of Bandura’s social learning theory, what influence do teachers and parents have on the young?</vt:lpstr>
      <vt:lpstr>PowerPoint Presentation</vt:lpstr>
      <vt:lpstr>68. In a multiple-choice test, what are the choices that correspond to the list of concepts?</vt:lpstr>
      <vt:lpstr>PowerPoint Presentation</vt:lpstr>
      <vt:lpstr>69. What is most important in monitoring progress of the curriculum?</vt:lpstr>
      <vt:lpstr>PowerPoint Presentation</vt:lpstr>
      <vt:lpstr>70. What factor should teacher Cess be careful about when she is teaching in a school for children in a poverty-stricken slum area?</vt:lpstr>
      <vt:lpstr>PowerPoint Presentation</vt:lpstr>
      <vt:lpstr>71. Which of the following has higher importance than the rest as to best practice of a professional teacher?</vt:lpstr>
      <vt:lpstr>PowerPoint Presentation</vt:lpstr>
      <vt:lpstr>72. What kind of parents can most likely foster a sense of responsibility among children?</vt:lpstr>
      <vt:lpstr>PowerPoint Presentation</vt:lpstr>
      <vt:lpstr>73. Which research finding regarding use of the mother tongue as language of instruction is TRUE? The use of mother tongue _____ the learning of the second language.</vt:lpstr>
      <vt:lpstr>PowerPoint Presentation</vt:lpstr>
      <vt:lpstr>74. What is the main objective of action research in instruction and school management?</vt:lpstr>
      <vt:lpstr>PowerPoint Presentation</vt:lpstr>
      <vt:lpstr>75. Which of the following shows the teacher’s respect for human dignity?</vt:lpstr>
      <vt:lpstr>PowerPoint Presentation</vt:lpstr>
      <vt:lpstr>76. Which of the following will most likely help students internalizing classroom rules?</vt:lpstr>
      <vt:lpstr>PowerPoint Presentation</vt:lpstr>
      <vt:lpstr>77. On classroom activities, the following are appropriate for learners who have good logical-mathematical skills, but NOT to include</vt:lpstr>
      <vt:lpstr>PowerPoint Presentation</vt:lpstr>
      <vt:lpstr>78. In addition to showing grades of students to their parents, which can be shown to demonstrate performance?</vt:lpstr>
      <vt:lpstr>PowerPoint Presentation</vt:lpstr>
      <vt:lpstr>79. On the reasoning process, which is used for pure philosophy that is a deductive, rather than an inductive science?</vt:lpstr>
      <vt:lpstr>PowerPoint Presentation</vt:lpstr>
      <vt:lpstr>80. What kind of assessment is the complied materials like reflections, photos, school leaflets, etc. from internship of senior students?</vt:lpstr>
      <vt:lpstr>PowerPoint Presentation</vt:lpstr>
      <vt:lpstr>81. RA 10157 states: “Mother Tongue shall be the primary medium of instruction in kindergarten.”  Which are exceptions? I.   when the teacher does not speak the mother tongue of the learners II.  when the K-pupils speak different mother tongues III.  when resources in the MT are not available IV.  when teachers are not yet trained</vt:lpstr>
      <vt:lpstr>PowerPoint Presentation</vt:lpstr>
      <vt:lpstr>82. Does assessment FOR learning occur when the teacher gives instruction to ensure that the intended learning outcomes are attained?</vt:lpstr>
      <vt:lpstr>PowerPoint Presentation</vt:lpstr>
      <vt:lpstr>83. For what response is continuing professional education or CPE installed for every professional teacher?</vt:lpstr>
      <vt:lpstr>PowerPoint Presentation</vt:lpstr>
      <vt:lpstr>84. On learning deficiencies, what is known as a learning disability in number operation?</vt:lpstr>
      <vt:lpstr>PowerPoint Presentation</vt:lpstr>
      <vt:lpstr>85. On periods of development, what feature characterizes the child in infancy stage?</vt:lpstr>
      <vt:lpstr>PowerPoint Presentation</vt:lpstr>
      <vt:lpstr>86. To ensure lesson mastery, which one/s should teacher use? I. Formative tests II. Summative tests III. Diagnostic tests</vt:lpstr>
      <vt:lpstr>PowerPoint Presentation</vt:lpstr>
      <vt:lpstr>87. What variation of storytelling involves children telling a story with the use of materials, sets and props?</vt:lpstr>
      <vt:lpstr>PowerPoint Presentation</vt:lpstr>
      <vt:lpstr>88. Situation: In a multiple-choice test item with A, B, C, and D as option and with C as the correct answer, out of 50 students nobody chose A, 15 chose B, 10 chose C and 25 chose D. Which is the most effective distracter?</vt:lpstr>
      <vt:lpstr>PowerPoint Presentation</vt:lpstr>
      <vt:lpstr>89. What reason will you give to justify the fact that the philosophy is a deductive, rather than an inductive science?</vt:lpstr>
      <vt:lpstr>PowerPoint Presentation</vt:lpstr>
      <vt:lpstr>90. What are characteristics of a good classroom layout, structure?</vt:lpstr>
      <vt:lpstr>PowerPoint Presentation</vt:lpstr>
      <vt:lpstr>91. What is the philosophy behind Philippine schools that seek to promote democratic opportunities for all and humanistic education through lifelong learning?</vt:lpstr>
      <vt:lpstr>PowerPoint Presentation</vt:lpstr>
      <vt:lpstr>92. Complete the analogy. School heads: National competency-based standards for school Head::teachers: ____________________</vt:lpstr>
      <vt:lpstr>PowerPoint Presentation</vt:lpstr>
      <vt:lpstr>93. Which contributes to balance in sexuality in male and female?</vt:lpstr>
      <vt:lpstr>PowerPoint Presentation</vt:lpstr>
      <vt:lpstr>94. What role is the library or learning resource center fulfilling by helping students and teachers find resource materials in other schools which are part of their consortium of schools?</vt:lpstr>
      <vt:lpstr>PowerPoint Presentation</vt:lpstr>
      <vt:lpstr>95. Which of the following comments by the teacher can likely motivate learners to try harder rather than give up on learning? </vt:lpstr>
      <vt:lpstr>PowerPoint Presentation</vt:lpstr>
      <vt:lpstr>96. Which item in newspapers demonstrates critical thinking worthwhile for instruction on current issues and events?</vt:lpstr>
      <vt:lpstr>PowerPoint Presentation</vt:lpstr>
      <vt:lpstr>97. Based on the enhanced basic education Act of 2013, which does basic education in the Philippines encompass? I. kindergarten II. elementary III. secondary IV. alternative learning system </vt:lpstr>
      <vt:lpstr>PowerPoint Presentation</vt:lpstr>
      <vt:lpstr>98. What is the appropriate aim of action research in school?</vt:lpstr>
      <vt:lpstr>PowerPoint Presentation</vt:lpstr>
      <vt:lpstr>99. The following describes a learner with initiative that is appropriate for 21st century learning EXCEPT:</vt:lpstr>
      <vt:lpstr>PowerPoint Presentation</vt:lpstr>
      <vt:lpstr>100. What roles does a teacher do when he/she draws out the capacity of learners to assimilate organize and produce ideas, while controlling the pace (slow or fact) of learning?</vt:lpstr>
      <vt:lpstr>PowerPoint Presentation</vt:lpstr>
      <vt:lpstr>101. How will you characterize a filling the blanks question has too many blanks?</vt:lpstr>
      <vt:lpstr>PowerPoint Presentation</vt:lpstr>
      <vt:lpstr>102. How does a purely behaviorist teacher explain the observation of a child enjoying school?</vt:lpstr>
      <vt:lpstr>PowerPoint Presentation</vt:lpstr>
      <vt:lpstr>103. In designing a curriculum which is the component that regulates weekly, semestral land annual schedules for curriculum implementation?</vt:lpstr>
      <vt:lpstr>PowerPoint Presentation</vt:lpstr>
      <vt:lpstr>104. As teachers, what kind of web application or app do we need in order to be more efficient and productive in our use of platforms on the internet?</vt:lpstr>
      <vt:lpstr>PowerPoint Presentation</vt:lpstr>
      <vt:lpstr>105. In Freud’s theory of psychoanalysis, which best represents the super-ego among students?</vt:lpstr>
      <vt:lpstr>PowerPoint Presentation</vt:lpstr>
      <vt:lpstr>106. In modern times, what is one important contribution of machines to the educational work of teachers and schools?</vt:lpstr>
      <vt:lpstr>PowerPoint Presentation</vt:lpstr>
      <vt:lpstr>107. On lifespan perspectives, which message best describes as a lifelong process?</vt:lpstr>
      <vt:lpstr>PowerPoint Presentation</vt:lpstr>
      <vt:lpstr>108. When is the most appropriate time to set up routine activities for effective classroom management?</vt:lpstr>
      <vt:lpstr>PowerPoint Presentation</vt:lpstr>
      <vt:lpstr>109. What is the descriptor for a numerical grade of 80 as level of proficiency?</vt:lpstr>
      <vt:lpstr>PowerPoint Presentation</vt:lpstr>
      <vt:lpstr>110. What is the learning paradigm involved in school physical exercise drills before entering classrooms?</vt:lpstr>
      <vt:lpstr>PowerPoint Presentation</vt:lpstr>
      <vt:lpstr>111. Which is the most recent and comprehensive among norms for professional standards for Philippine teachers?</vt:lpstr>
      <vt:lpstr>PowerPoint Presentation</vt:lpstr>
      <vt:lpstr>112. What do students miss while engaging in virtual learning during the COVID 19 pandemic?</vt:lpstr>
      <vt:lpstr>PowerPoint Presentation</vt:lpstr>
      <vt:lpstr>113. A teacher is a “trustee of the cultural and educational heritage of the nation and is under obligation to transmit to learners such heritage”. Which practice makes the teacher fulfill such obligation?</vt:lpstr>
      <vt:lpstr>PowerPoint Presentation</vt:lpstr>
      <vt:lpstr>114. What is the focus of teacher Mariah who checked assigned essays of her students for their spelling, grammar, right citation on pictures and labelling of diagrams?</vt:lpstr>
      <vt:lpstr>PowerPoint Presentation</vt:lpstr>
      <vt:lpstr>115. During the rainy season, Principal Ronda made a ruling to use the corridors instead of the school yard for lining up prior to entrance in classes. How is this a good practice?</vt:lpstr>
      <vt:lpstr>PowerPoint Presentation</vt:lpstr>
      <vt:lpstr>116. Which of the following best exemplifies fun-learning in the classroom?</vt:lpstr>
      <vt:lpstr>PowerPoint Presentation</vt:lpstr>
      <vt:lpstr>117. Several stakeholders influence the school curriculum, but which next to learners are primarily important to the school curriculum implementation:</vt:lpstr>
      <vt:lpstr>PowerPoint Presentation</vt:lpstr>
      <vt:lpstr>118. In Kohlberg’s stages of moral development, what characterizes taxi driver Rico who returns the wallet of a passenger who left it in his cab?</vt:lpstr>
      <vt:lpstr>PowerPoint Presentation</vt:lpstr>
      <vt:lpstr>119. In our post-industrial age, what provides an unlimited source of material for teaching-and-learning in schools?</vt:lpstr>
      <vt:lpstr>PowerPoint Presentation</vt:lpstr>
      <vt:lpstr>120. Among thinking skills that students can develop, which is the ability to retain ideas by rote memory?</vt:lpstr>
      <vt:lpstr>PowerPoint Presentation</vt:lpstr>
      <vt:lpstr>121. What results in a systematic curriculum mapping that aligns horizontal, vertical, subject area and interdisciplinary elements of the study?</vt:lpstr>
      <vt:lpstr>PowerPoint Presentation</vt:lpstr>
      <vt:lpstr>122. When does Thorndike’s law of readiness best apply?</vt:lpstr>
      <vt:lpstr>PowerPoint Presentation</vt:lpstr>
      <vt:lpstr>123. What is demonstrated by DepEd’s emphasis on learning and assessment for percentage contribution to the grade ofo students in Grades 1 to 10</vt:lpstr>
      <vt:lpstr>PowerPoint Presentation</vt:lpstr>
      <vt:lpstr>124. Among factors to effective teaching, which of the following refers to managing student-discipline in the classroom?</vt:lpstr>
      <vt:lpstr>PowerPoint Presentation</vt:lpstr>
      <vt:lpstr>125. What was the method used by Socrates when he taught his students about life and beliefs in the ancient Grecian society?</vt:lpstr>
      <vt:lpstr>PowerPoint Presentation</vt:lpstr>
      <vt:lpstr>126. Which of the following questions must be considered in evaluating originality in essay or research writing?</vt:lpstr>
      <vt:lpstr>PowerPoint Presentation</vt:lpstr>
      <vt:lpstr>127. On principles of teaching-and-learning, what do Field and Gestalt theorists see as the way to develop learners?</vt:lpstr>
      <vt:lpstr>PowerPoint Presentation</vt:lpstr>
      <vt:lpstr>128. What kind of presence is required so that the teacher can engage students to participate and engage in the learning process?</vt:lpstr>
      <vt:lpstr>PowerPoint Presentation</vt:lpstr>
      <vt:lpstr>129. How can the schools effectively adopt protection of the Mother Earth along sustainable development of the United Nations?</vt:lpstr>
      <vt:lpstr>PowerPoint Presentation</vt:lpstr>
      <vt:lpstr>130. Which is a ground for the revocation of professional license?</vt:lpstr>
      <vt:lpstr>PowerPoint Presentation</vt:lpstr>
      <vt:lpstr>131. What characteristics show that a teacher has empathy towards learners/students?</vt:lpstr>
      <vt:lpstr>PowerPoint Presentation</vt:lpstr>
      <vt:lpstr>132. What process of child development arouses interest in learning through fun activities like music and dance activities?</vt:lpstr>
      <vt:lpstr>PowerPoint Presentation</vt:lpstr>
      <vt:lpstr>133. Which of the following is significant/related to socioemotional development in the child?</vt:lpstr>
      <vt:lpstr>PowerPoint Presentation</vt:lpstr>
      <vt:lpstr>134. Who has main responsibility for a classroom management plan?</vt:lpstr>
      <vt:lpstr>PowerPoint Presentation</vt:lpstr>
      <vt:lpstr>135. Which is TRUE of the Philippine educational system?</vt:lpstr>
      <vt:lpstr>PowerPoint Presentation</vt:lpstr>
      <vt:lpstr>136. What kind of activity is being engaged in by teacher and students who discuss concept description, definition and application?</vt:lpstr>
      <vt:lpstr>PowerPoint Presentation</vt:lpstr>
      <vt:lpstr>137. Since chromosome endowment differs between male and female, what chromosomes belong to females?</vt:lpstr>
      <vt:lpstr>PowerPoint Presentation</vt:lpstr>
      <vt:lpstr>138. In what activity can learners claim to be learning independently or managing their own learnings?</vt:lpstr>
      <vt:lpstr>PowerPoint Presentation</vt:lpstr>
      <vt:lpstr>139. If you are part of the policy-making body of the school, you must be an officer of which organized group?</vt:lpstr>
      <vt:lpstr>PowerPoint Presentation</vt:lpstr>
      <vt:lpstr>140. On Tolman’s purposive behaviorism theory, how can teachers be purposive and goals-directed in teaching?</vt:lpstr>
      <vt:lpstr>PowerPoint Presentation</vt:lpstr>
      <vt:lpstr>141. What is the descriptor for a numerical grade of 90 as level of proficiency?</vt:lpstr>
      <vt:lpstr>PowerPoint Presentation</vt:lpstr>
      <vt:lpstr>142. On types of questions, which promote interaction among learners?</vt:lpstr>
      <vt:lpstr>PowerPoint Presentation</vt:lpstr>
      <vt:lpstr>143. For test construction, why are teachers required to come up with a table of specifications in test construction? To ensure that the tests have:</vt:lpstr>
      <vt:lpstr>PowerPoint Presentation</vt:lpstr>
      <vt:lpstr>144. Who is at the center of the teaching-learning process in education?</vt:lpstr>
      <vt:lpstr>PowerPoint Presentation</vt:lpstr>
      <vt:lpstr>145. In the four phases of curriculum development, which process refers to determining rate of achievement of learning outcomes?</vt:lpstr>
      <vt:lpstr>PowerPoint Presentation</vt:lpstr>
      <vt:lpstr>146. Which of the following best supports professionalism among teachers?</vt:lpstr>
      <vt:lpstr>PowerPoint Presentation</vt:lpstr>
      <vt:lpstr>147. Which of the following can best help encourage shy and timid students to participate in class activities?</vt:lpstr>
      <vt:lpstr>PowerPoint Presentation</vt:lpstr>
      <vt:lpstr>148. What is computed to get the quarterly grade for MAPEH’s 4 areas combined Music, Arts, PE and Health education?</vt:lpstr>
      <vt:lpstr>PowerPoint Presentation</vt:lpstr>
      <vt:lpstr>149. Which of the following can best advance leadership skills among students?</vt:lpstr>
      <vt:lpstr>PowerPoint Presentation</vt:lpstr>
      <vt:lpstr>150. What will you see as an application of Pavlov’s idea of discrimination?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Education</dc:title>
  <dc:creator/>
  <cp:lastModifiedBy>Thomas Jefferson Fernando</cp:lastModifiedBy>
  <cp:revision>162</cp:revision>
  <dcterms:created xsi:type="dcterms:W3CDTF">2022-05-18T19:37:00Z</dcterms:created>
  <dcterms:modified xsi:type="dcterms:W3CDTF">2022-06-14T10:17:24Z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F4B2C07B2A1640DA82CC9AF7BF374538</vt:lpwstr>
  </property>
  <property fmtid="{D5CDD505-2E9C-101B-9397-08002B2CF9AE}" pid="3" name="KSOProductBuildVer">
    <vt:lpwstr>1033-11.2.0.11029</vt:lpwstr>
  </property>
</Properties>
</file>