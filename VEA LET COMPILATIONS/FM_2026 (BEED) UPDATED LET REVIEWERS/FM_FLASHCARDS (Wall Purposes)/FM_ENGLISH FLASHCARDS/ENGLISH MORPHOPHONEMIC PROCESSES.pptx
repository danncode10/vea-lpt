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FF8FC-925D-423A-9779-F2B8FC503F8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E35D8-2B7D-4D1E-BE84-8FEA6FB5E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6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D015-29C8-99F7-63F9-03D58E8FF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50836-2748-BB1E-C0A4-EBDB6DAAB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64889-CA35-B7E9-8520-BEC2D915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E50A-9E8B-6C6B-376E-ED398B8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B649C-CB5A-E7B6-F4AF-0803306C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6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C46E-DF99-7913-398A-C28B41B9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32882-B889-633F-C968-7B78AF452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E0B7D-61B1-C17C-C6A6-461A5577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AF323-4071-4CCE-2F10-C82E5D12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8FD0-BE82-238B-6B45-25C2F967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6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48DE-1507-D3F0-13BD-6A783290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645DB-8019-6CCA-3CE2-45803AECF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39D91-6098-0EE9-B6D9-D9BEEEBD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7A4B0-DAAC-C5F0-A20D-A78FF59C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B2E4E-1520-C5E0-CFA1-C9EEEF82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3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3530-6E27-B91D-BF8E-B244DDC7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DD25-FED9-A0CE-06DE-A778F630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FA74C-ECBF-3EF2-D524-18BE90731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DF902-2F71-3614-F4E2-FE087271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82BF0-6CFB-8921-8045-6FABF1E7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1EC5F-BD7F-7889-486C-3E7AC910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5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050F-A36A-3813-F5EE-A04F4C38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AF93-B303-510C-F192-4D852250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4B6A3-5FC5-5F57-DF0E-4FBCF87B0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F1771-32D9-5E97-EAA2-897C2BC5E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594CC-B829-D431-7720-B3453793F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E75D0-6A21-FE23-3199-78D2134F1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B9665-A57E-B81A-FC6E-131BB904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482C3-A547-1E34-10A9-FAB7A037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3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18A4-D0B0-8974-F1FF-84BB884B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E182E-23FA-F4B2-2CC6-F5192ABF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65A66-ACA8-9D14-FE3E-AE41E82C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14622-9343-AE30-E446-016E4CD6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8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FCF82-63A9-3A6A-6759-8F5430A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FE1FE-7530-CB2F-460C-204AEF6C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CDA51-EFF4-84C3-3450-BB8309D3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6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5F56-1766-8085-0420-B5EF7B88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6DE1-A482-39AE-FB24-FFBB3EA73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3FBF8-02E5-3E57-FE15-29D96F2D9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F2EAE-2343-6267-40E2-C62AFCE6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517B2-E98B-24D6-DEF5-6D093537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46E22-192A-BAA1-A538-F561D8A2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1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BDEA-A47E-1C44-33AE-958D449B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08182-36FD-5D30-1A75-5C4E46109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387B9-2738-25EF-597B-D4CDDD013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7D401-FFE2-A82E-4983-EAE98990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95D5F-4BC1-526C-C1E6-DDD8B79B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FD570-15C8-7003-D8AE-2D3C0303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BA5-3166-0F86-DFC1-3E76F56A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B93FC-DA99-68D7-1FA9-4E02A5214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13D78-2E3F-B11B-7EC2-9308978D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9FCBE-BEC2-3C98-FDFA-667F2943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7FA8-7E5C-1544-B136-B4DD42BB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6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99946-3E99-0C24-14AA-B6BAB39FA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B95C2-D85B-24C0-66EB-FB567228F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69429-261A-3B10-DEF2-C814938F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F6B1E-1A65-B793-A37D-D5244B0C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7D7B-FD34-790E-0BE4-8E46CF36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6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CDD1F-AF17-A522-598E-65277DF6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19E25-1823-2454-3F46-9FCF4EC61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211D-751E-E0A0-EF01-636E7E106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1914C-8030-403D-BBC8-49A09CAD8B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958C-A25A-2359-1FFC-9E1252986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6B05-552C-B955-7C5B-447D867C5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201AA-1713-4CC9-8026-C3F8DF85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6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7FD1DC-B1B4-E449-8112-E394AD6E2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1" y="1157288"/>
            <a:ext cx="11420475" cy="5157788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ASSIMILATION</a:t>
            </a:r>
            <a:r>
              <a:rPr lang="en-US" sz="4000" dirty="0">
                <a:latin typeface="Bookman Old Style" panose="02050604050505020204" pitchFamily="18" charset="0"/>
              </a:rPr>
              <a:t>- is a process that results from a sound becoming more like another nearby sound in terms of one or more of its phonetic characteristics; a process in which segments take on the characteristics of neighboring sounds; e.g. probable-improbable; potent -impotent; separable – inseparable; sensitive insensitive</a:t>
            </a:r>
            <a:endParaRPr lang="en-US" sz="4000" b="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BA807AA-F0B0-B455-7F41-55304850CF00}"/>
              </a:ext>
            </a:extLst>
          </p:cNvPr>
          <p:cNvSpPr txBox="1">
            <a:spLocks/>
          </p:cNvSpPr>
          <p:nvPr/>
        </p:nvSpPr>
        <p:spPr>
          <a:xfrm>
            <a:off x="385760" y="342900"/>
            <a:ext cx="11420475" cy="98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MORPHOPHONEMIC PROCESSES</a:t>
            </a:r>
            <a:endParaRPr lang="en-US" sz="4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32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BB6F-9BE7-BD48-2BF2-FB6968FB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5548E6-1A0D-8EAB-4746-54801BE1E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163" y="1014408"/>
            <a:ext cx="11901487" cy="5700712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DISSIMILATION</a:t>
            </a:r>
            <a:r>
              <a:rPr lang="en-US" sz="4000" dirty="0">
                <a:latin typeface="Bookman Old Style" panose="02050604050505020204" pitchFamily="18" charset="0"/>
              </a:rPr>
              <a:t>- is a process that results in two sounds becoming less alike in articulatory or acoustic terms; a process in which units which occur in some contexts are ‘lost’ in others; e.g. ‘</a:t>
            </a:r>
            <a:r>
              <a:rPr lang="en-US" sz="4000" dirty="0" err="1">
                <a:latin typeface="Bookman Old Style" panose="02050604050505020204" pitchFamily="18" charset="0"/>
              </a:rPr>
              <a:t>libary</a:t>
            </a:r>
            <a:r>
              <a:rPr lang="en-US" sz="4000" dirty="0">
                <a:latin typeface="Bookman Old Style" panose="02050604050505020204" pitchFamily="18" charset="0"/>
              </a:rPr>
              <a:t>’ instead of</a:t>
            </a:r>
          </a:p>
          <a:p>
            <a:pPr algn="l"/>
            <a:r>
              <a:rPr lang="en-US" sz="4000" dirty="0">
                <a:latin typeface="Bookman Old Style" panose="02050604050505020204" pitchFamily="18" charset="0"/>
              </a:rPr>
              <a:t>‘library,’ ‘ </a:t>
            </a:r>
            <a:r>
              <a:rPr lang="en-US" sz="4000" dirty="0" err="1">
                <a:latin typeface="Bookman Old Style" panose="02050604050505020204" pitchFamily="18" charset="0"/>
              </a:rPr>
              <a:t>govenor</a:t>
            </a:r>
            <a:r>
              <a:rPr lang="en-US" sz="4000" dirty="0">
                <a:latin typeface="Bookman Old Style" panose="02050604050505020204" pitchFamily="18" charset="0"/>
              </a:rPr>
              <a:t>’ for ‘governor’</a:t>
            </a:r>
          </a:p>
          <a:p>
            <a:pPr algn="l"/>
            <a:r>
              <a:rPr lang="en-US" sz="4000" b="1" dirty="0">
                <a:effectLst/>
                <a:highlight>
                  <a:srgbClr val="00FF00"/>
                </a:highlight>
                <a:latin typeface="Bookman Old Style" panose="02050604050505020204" pitchFamily="18" charset="0"/>
              </a:rPr>
              <a:t>DELETION</a:t>
            </a:r>
            <a:r>
              <a:rPr lang="en-US" sz="4000" b="0" dirty="0">
                <a:effectLst/>
                <a:latin typeface="Bookman Old Style" panose="02050604050505020204" pitchFamily="18" charset="0"/>
              </a:rPr>
              <a:t> is a process that removes a segment from certain phonetic contexts. It occurs in everyday rapid speech; e.g. [</a:t>
            </a:r>
            <a:r>
              <a:rPr lang="en-US" sz="4000" b="0" dirty="0" err="1">
                <a:effectLst/>
                <a:latin typeface="Bookman Old Style" panose="02050604050505020204" pitchFamily="18" charset="0"/>
              </a:rPr>
              <a:t>blaɪn</a:t>
            </a:r>
            <a:r>
              <a:rPr lang="en-US" sz="4000" b="0" dirty="0">
                <a:effectLst/>
                <a:latin typeface="Bookman Old Style" panose="02050604050505020204" pitchFamily="18" charset="0"/>
              </a:rPr>
              <a:t> </a:t>
            </a:r>
            <a:r>
              <a:rPr lang="en-US" sz="4000" b="0" dirty="0" err="1">
                <a:effectLst/>
                <a:latin typeface="Bookman Old Style" panose="02050604050505020204" pitchFamily="18" charset="0"/>
              </a:rPr>
              <a:t>mæn</a:t>
            </a:r>
            <a:r>
              <a:rPr lang="en-US" sz="4000" b="0" dirty="0">
                <a:effectLst/>
                <a:latin typeface="Bookman Old Style" panose="02050604050505020204" pitchFamily="18" charset="0"/>
              </a:rPr>
              <a:t>] ‘blind man ’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4DC663F-4A1B-CD2C-C366-B63E8E0A673C}"/>
              </a:ext>
            </a:extLst>
          </p:cNvPr>
          <p:cNvSpPr txBox="1">
            <a:spLocks/>
          </p:cNvSpPr>
          <p:nvPr/>
        </p:nvSpPr>
        <p:spPr>
          <a:xfrm>
            <a:off x="385760" y="300036"/>
            <a:ext cx="11420475" cy="98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MORPHOPHONEMIC PROCESSES</a:t>
            </a:r>
            <a:endParaRPr lang="en-US" sz="4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3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9D62-25A0-3DF1-EB34-44A1021D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9B963-8FF0-5EDA-6A25-6F3717CED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2" y="1285874"/>
            <a:ext cx="11420475" cy="4943480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EPENTHESIS </a:t>
            </a:r>
            <a:r>
              <a:rPr lang="en-US" sz="4000" b="1" dirty="0">
                <a:latin typeface="Bookman Old Style" panose="02050604050505020204" pitchFamily="18" charset="0"/>
              </a:rPr>
              <a:t>- </a:t>
            </a:r>
            <a:r>
              <a:rPr lang="en-US" sz="4000" dirty="0">
                <a:latin typeface="Bookman Old Style" panose="02050604050505020204" pitchFamily="18" charset="0"/>
              </a:rPr>
              <a:t>is a process that inserts a syllable or a </a:t>
            </a:r>
            <a:r>
              <a:rPr lang="en-US" sz="4000" dirty="0" err="1">
                <a:latin typeface="Bookman Old Style" panose="02050604050505020204" pitchFamily="18" charset="0"/>
              </a:rPr>
              <a:t>nonsyllabic</a:t>
            </a:r>
            <a:r>
              <a:rPr lang="en-US" sz="4000" dirty="0">
                <a:latin typeface="Bookman Old Style" panose="02050604050505020204" pitchFamily="18" charset="0"/>
              </a:rPr>
              <a:t> segment within an existing string of segment; e.g. [</a:t>
            </a:r>
            <a:r>
              <a:rPr lang="en-US" sz="4000" dirty="0" err="1">
                <a:latin typeface="Bookman Old Style" panose="02050604050505020204" pitchFamily="18" charset="0"/>
              </a:rPr>
              <a:t>plæntɪd</a:t>
            </a:r>
            <a:r>
              <a:rPr lang="en-US" sz="4000" dirty="0">
                <a:latin typeface="Bookman Old Style" panose="02050604050505020204" pitchFamily="18" charset="0"/>
              </a:rPr>
              <a:t>] ‘planted’</a:t>
            </a:r>
          </a:p>
          <a:p>
            <a:pPr algn="l"/>
            <a:r>
              <a:rPr lang="en-US" sz="4000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METATHESIS </a:t>
            </a:r>
            <a:r>
              <a:rPr lang="en-US" sz="4000" dirty="0">
                <a:latin typeface="Bookman Old Style" panose="02050604050505020204" pitchFamily="18" charset="0"/>
              </a:rPr>
              <a:t>- is a process that reorders or reverses a sequence of segments; it occurs when two segments in a series switch places, e.g. ask -&gt; </a:t>
            </a:r>
            <a:r>
              <a:rPr lang="en-US" sz="4000" dirty="0" err="1">
                <a:latin typeface="Bookman Old Style" panose="02050604050505020204" pitchFamily="18" charset="0"/>
              </a:rPr>
              <a:t>aks</a:t>
            </a:r>
            <a:r>
              <a:rPr lang="en-US" sz="4000" dirty="0">
                <a:latin typeface="Bookman Old Style" panose="02050604050505020204" pitchFamily="18" charset="0"/>
              </a:rPr>
              <a:t>; ruler -&gt; lurer; violet -&gt; </a:t>
            </a:r>
            <a:r>
              <a:rPr lang="en-US" sz="4000" dirty="0" err="1">
                <a:latin typeface="Bookman Old Style" panose="02050604050505020204" pitchFamily="18" charset="0"/>
              </a:rPr>
              <a:t>viloyet</a:t>
            </a:r>
            <a:endParaRPr lang="en-US" sz="400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2272358-E0D9-C670-A3E1-EF2C2DD9C90C}"/>
              </a:ext>
            </a:extLst>
          </p:cNvPr>
          <p:cNvSpPr txBox="1">
            <a:spLocks/>
          </p:cNvSpPr>
          <p:nvPr/>
        </p:nvSpPr>
        <p:spPr>
          <a:xfrm>
            <a:off x="385762" y="385764"/>
            <a:ext cx="11420475" cy="98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MORPHOPHONEMIC PROCESSES</a:t>
            </a:r>
            <a:endParaRPr lang="en-US" sz="4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92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217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Bookman Old Style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Nunez</dc:creator>
  <cp:lastModifiedBy>Hannie Nunez</cp:lastModifiedBy>
  <cp:revision>15</cp:revision>
  <dcterms:created xsi:type="dcterms:W3CDTF">2026-04-08T11:11:13Z</dcterms:created>
  <dcterms:modified xsi:type="dcterms:W3CDTF">2026-04-27T06:30:00Z</dcterms:modified>
</cp:coreProperties>
</file>