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9" r:id="rId5"/>
    <p:sldId id="273" r:id="rId6"/>
    <p:sldId id="287" r:id="rId7"/>
    <p:sldId id="259" r:id="rId8"/>
    <p:sldId id="260" r:id="rId9"/>
    <p:sldId id="272" r:id="rId10"/>
    <p:sldId id="263" r:id="rId11"/>
    <p:sldId id="264" r:id="rId12"/>
    <p:sldId id="265" r:id="rId13"/>
    <p:sldId id="261" r:id="rId14"/>
    <p:sldId id="266" r:id="rId15"/>
    <p:sldId id="262" r:id="rId16"/>
    <p:sldId id="267" r:id="rId17"/>
    <p:sldId id="268" r:id="rId18"/>
    <p:sldId id="270" r:id="rId19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37"/>
    <p:restoredTop sz="90929"/>
  </p:normalViewPr>
  <p:slideViewPr>
    <p:cSldViewPr showGuides="1">
      <p:cViewPr varScale="1">
        <p:scale>
          <a:sx n="63" d="100"/>
          <a:sy n="63" d="100"/>
        </p:scale>
        <p:origin x="180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45007" cy="450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Header Placeholder 276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en-US" sz="1200" dirty="0"/>
          </a:p>
        </p:txBody>
      </p:sp>
      <p:sp>
        <p:nvSpPr>
          <p:cNvPr id="27651" name="Date Placeholder 2765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en-US" sz="1200" dirty="0"/>
          </a:p>
        </p:txBody>
      </p:sp>
      <p:sp>
        <p:nvSpPr>
          <p:cNvPr id="27652" name="Slide Image Placeholder 2765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Text Placeholder 27652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27654" name="Footer Placeholder 276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en-US" sz="1200" dirty="0"/>
          </a:p>
        </p:txBody>
      </p:sp>
      <p:sp>
        <p:nvSpPr>
          <p:cNvPr id="27655" name="Slide Number Placeholder 2765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en-US" sz="1200" dirty="0"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449639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charset="-128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28673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Text Placeholder 28674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12865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29697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Text Placeholder 2969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57900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3072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Text Placeholder 3072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3905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31745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Text Placeholder 3174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2025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5632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Text Placeholder 5632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r>
              <a:rPr lang="en-PH" dirty="0" smtClean="0"/>
              <a:t>Let them write as many adverbs as they can in 30 seconds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7041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32769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Text Placeholder 32770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r>
              <a:rPr lang="en-PH" dirty="0" smtClean="0"/>
              <a:t>Let them write as many verbs as they can in 30 seconds</a:t>
            </a:r>
            <a:endParaRPr lang="en-PH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17902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33793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Text Placeholder 33794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PH" dirty="0" smtClean="0"/>
              <a:t>Let them write as many nouns</a:t>
            </a:r>
            <a:r>
              <a:rPr lang="en-PH" baseline="0" dirty="0" smtClean="0"/>
              <a:t> </a:t>
            </a:r>
            <a:r>
              <a:rPr lang="en-PH" dirty="0" smtClean="0"/>
              <a:t>as they can in 30 seconds</a:t>
            </a:r>
          </a:p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89993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52225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Text Placeholder 5222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PH" dirty="0" smtClean="0"/>
              <a:t>Let them write as many pronouns as they can in 30 seconds</a:t>
            </a:r>
          </a:p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63636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34817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Text Placeholder 3481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15014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3584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Text Placeholder 3584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31574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36865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Text Placeholder 3686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02043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37889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Text Placeholder 37890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PH" dirty="0" smtClean="0"/>
              <a:t>Let them write as many adjectives as they can in 30 seconds</a:t>
            </a:r>
          </a:p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454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38913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Text Placeholder 38914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153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39937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Text Placeholder 3993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PH" dirty="0" smtClean="0"/>
              <a:t>Let them write as many prepositions as they can in 30 seconds</a:t>
            </a:r>
          </a:p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34607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4096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Text Placeholder 4096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300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41985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Text Placeholder 4198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0289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4608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Text Placeholder 4608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59990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4097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>
                <a:alpha val="99962"/>
              </a:schemeClr>
            </a:outerShdw>
          </a:effectLst>
        </p:spPr>
        <p:txBody>
          <a:bodyPr anchor="ctr"/>
          <a:lstStyle>
            <a:lvl1pPr lvl="0">
              <a:defRPr sz="4400" kern="1200"/>
            </a:lvl1pPr>
          </a:lstStyle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4099" name="Subtitle 4098"/>
          <p:cNvSpPr>
            <a:spLocks noGrp="1"/>
          </p:cNvSpPr>
          <p:nvPr>
            <p:ph type="subTitle" idx="1"/>
          </p:nvPr>
        </p:nvSpPr>
        <p:spPr>
          <a:xfrm>
            <a:off x="2436813" y="3886200"/>
            <a:ext cx="4267200" cy="205740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>
                <a:alpha val="99962"/>
              </a:schemeClr>
            </a:outerShdw>
          </a:effectLst>
        </p:spPr>
        <p:txBody>
          <a:bodyPr anchor="t"/>
          <a:lstStyle>
            <a:lvl1pPr marL="0" lvl="0" indent="0" algn="ctr">
              <a:buNone/>
              <a:defRPr sz="2800" kern="1200"/>
            </a:lvl1pPr>
            <a:lvl2pPr marL="457200" lvl="1" indent="-457200" algn="ctr">
              <a:buNone/>
              <a:defRPr sz="2800" kern="1200"/>
            </a:lvl2pPr>
            <a:lvl3pPr marL="914400" lvl="2" indent="-914400" algn="ctr">
              <a:buNone/>
              <a:defRPr sz="2800" kern="1200"/>
            </a:lvl3pPr>
            <a:lvl4pPr marL="1371600" lvl="3" indent="-1371600" algn="ctr">
              <a:buNone/>
              <a:defRPr sz="2800" kern="1200"/>
            </a:lvl4pPr>
            <a:lvl5pPr marL="1828800" lvl="4" indent="-1828800" algn="ctr">
              <a:buNone/>
              <a:defRPr sz="2800" kern="1200"/>
            </a:lvl5pPr>
          </a:lstStyle>
          <a:p>
            <a:pPr lvl="0"/>
            <a:r>
              <a:rPr dirty="0"/>
              <a:t>Click to edit Master subtitle style</a:t>
            </a:r>
          </a:p>
        </p:txBody>
      </p:sp>
      <p:sp>
        <p:nvSpPr>
          <p:cNvPr id="4100" name="Date Placeholder 4099"/>
          <p:cNvSpPr>
            <a:spLocks noGrp="1"/>
          </p:cNvSpPr>
          <p:nvPr>
            <p:ph type="dt" sz="half" idx="2"/>
          </p:nvPr>
        </p:nvSpPr>
        <p:spPr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endParaRPr lang="en-US" dirty="0">
              <a:latin typeface="Comic Sans MS" panose="030F0702030302020204" charset="0"/>
            </a:endParaRPr>
          </a:p>
        </p:txBody>
      </p:sp>
      <p:sp>
        <p:nvSpPr>
          <p:cNvPr id="4101" name="Footer Placeholder 4100"/>
          <p:cNvSpPr>
            <a:spLocks noGrp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endParaRPr lang="en-US" dirty="0">
              <a:latin typeface="Comic Sans MS" panose="030F0702030302020204" charset="0"/>
            </a:endParaRPr>
          </a:p>
        </p:txBody>
      </p:sp>
      <p:sp>
        <p:nvSpPr>
          <p:cNvPr id="4102" name="Slide Number Placeholder 4101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9A0DB2DC-4C9A-4742-B13C-FB6460FD3503}" type="slidenum">
              <a:rPr lang="en-US" dirty="0">
                <a:latin typeface="Comic Sans MS" panose="030F0702030302020204" charset="0"/>
              </a:rPr>
              <a:t>‹#›</a:t>
            </a:fld>
            <a:endParaRPr lang="en-US" dirty="0">
              <a:latin typeface="Comic Sans MS" panose="030F070203030202020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590800"/>
            <a:ext cx="380847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24" y="2590800"/>
            <a:ext cx="380847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371600"/>
            <a:ext cx="1943100" cy="4724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371600"/>
            <a:ext cx="5716657" cy="4724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073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772400" cy="114300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>
                <a:alpha val="99962"/>
              </a:schemeClr>
            </a:outerShdw>
          </a:effectLst>
        </p:spPr>
        <p:txBody>
          <a:bodyPr anchor="ctr"/>
          <a:lstStyle/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3075" name="Text Placeholder 3074"/>
          <p:cNvSpPr>
            <a:spLocks noGrp="1"/>
          </p:cNvSpPr>
          <p:nvPr>
            <p:ph type="body" idx="1"/>
          </p:nvPr>
        </p:nvSpPr>
        <p:spPr>
          <a:xfrm>
            <a:off x="685800" y="2590800"/>
            <a:ext cx="7772400" cy="350520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>
                <a:alpha val="99962"/>
              </a:schemeClr>
            </a:outerShdw>
          </a:effectLst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3076" name="Date Placeholder 3075"/>
          <p:cNvSpPr>
            <a:spLocks noGrp="1"/>
          </p:cNvSpPr>
          <p:nvPr>
            <p:ph type="dt" sz="half" idx="2"/>
          </p:nvPr>
        </p:nvSpPr>
        <p:spPr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Comic Sans MS" panose="030F070203030202020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077" name="Footer Placeholder 3076"/>
          <p:cNvSpPr>
            <a:spLocks noGrp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solidFill>
                  <a:srgbClr val="000000"/>
                </a:solidFill>
                <a:latin typeface="Comic Sans MS" panose="030F070203030202020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078" name="Slide Number Placeholder 307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solidFill>
                  <a:srgbClr val="000000"/>
                </a:solidFill>
                <a:latin typeface="Comic Sans MS" panose="030F0702030302020204" charset="0"/>
              </a:defRPr>
            </a:lvl1pPr>
          </a:lstStyle>
          <a:p>
            <a:pPr lvl="0"/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0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FFFF66"/>
        </a:buClr>
        <a:buSzPct val="75000"/>
        <a:buFont typeface="Monotype Sorts" charset="2"/>
        <a:buChar char="/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FF6666"/>
        </a:buClr>
        <a:buSzPct val="75000"/>
        <a:buFont typeface="Monotype Sorts" charset="2"/>
        <a:buChar char="/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66CCFF"/>
        </a:buClr>
        <a:buSzPct val="75000"/>
        <a:buFont typeface="Monotype Sorts" charset="2"/>
        <a:buChar char="/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80FF00"/>
        </a:buClr>
        <a:buSzPct val="75000"/>
        <a:buFont typeface="Monotype Sorts" charset="2"/>
        <a:buChar char="/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FFCC66"/>
        </a:buClr>
        <a:buSzPct val="75000"/>
        <a:buFont typeface="Monotype Sorts" charset="2"/>
        <a:buChar char="/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FFCC66"/>
        </a:buClr>
        <a:buSzPct val="75000"/>
        <a:buFont typeface="Monotype Sorts" charset="2"/>
        <a:buChar char="/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FFCC66"/>
        </a:buClr>
        <a:buSzPct val="75000"/>
        <a:buFont typeface="Monotype Sorts" charset="2"/>
        <a:buChar char="/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FFCC66"/>
        </a:buClr>
        <a:buSzPct val="75000"/>
        <a:buFont typeface="Monotype Sorts" charset="2"/>
        <a:buChar char="/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FFCC66"/>
        </a:buClr>
        <a:buSzPct val="75000"/>
        <a:buFont typeface="Monotype Sorts" charset="2"/>
        <a:buChar char="/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audio" Target="../media/audio2.wav"/><Relationship Id="rId7" Type="http://schemas.openxmlformats.org/officeDocument/2006/relationships/slide" Target="slide13.xml"/><Relationship Id="rId12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9.xml"/><Relationship Id="rId11" Type="http://schemas.openxmlformats.org/officeDocument/2006/relationships/slide" Target="slide16.xml"/><Relationship Id="rId5" Type="http://schemas.openxmlformats.org/officeDocument/2006/relationships/slide" Target="slide8.xml"/><Relationship Id="rId10" Type="http://schemas.openxmlformats.org/officeDocument/2006/relationships/slide" Target="slide14.xml"/><Relationship Id="rId4" Type="http://schemas.openxmlformats.org/officeDocument/2006/relationships/slide" Target="slide7.xml"/><Relationship Id="rId9" Type="http://schemas.openxmlformats.org/officeDocument/2006/relationships/slide" Target="slide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3.xm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9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0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itle 2051"/>
          <p:cNvSpPr>
            <a:spLocks noGrp="1"/>
          </p:cNvSpPr>
          <p:nvPr>
            <p:ph type="ctrTitle"/>
          </p:nvPr>
        </p:nvSpPr>
        <p:spPr>
          <a:ln/>
        </p:spPr>
        <p:txBody>
          <a:bodyPr anchor="ctr"/>
          <a:lstStyle/>
          <a:p>
            <a:pPr defTabSz="914400">
              <a:buNone/>
            </a:pPr>
            <a:r>
              <a:rPr kern="1200" baseline="0">
                <a:latin typeface="Comic Sans MS" panose="030F0702030302020204" charset="0"/>
                <a:ea typeface="MS PGothic" panose="020B0600070205080204" charset="-128"/>
              </a:rPr>
              <a:t>Parts of Speech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apping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5121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rPr sz="3600"/>
              <a:t>What Does Part of Speech Mean?</a:t>
            </a:r>
          </a:p>
        </p:txBody>
      </p:sp>
      <p:sp>
        <p:nvSpPr>
          <p:cNvPr id="5123" name="Text Placeholder 5122"/>
          <p:cNvSpPr>
            <a:spLocks noGrp="1"/>
          </p:cNvSpPr>
          <p:nvPr>
            <p:ph type="body" sz="half" idx="1"/>
          </p:nvPr>
        </p:nvSpPr>
        <p:spPr>
          <a:xfrm>
            <a:off x="685800" y="2590800"/>
            <a:ext cx="3810000" cy="3505200"/>
          </a:xfrm>
          <a:ln/>
        </p:spPr>
        <p:txBody>
          <a:bodyPr/>
          <a:lstStyle/>
          <a:p>
            <a:r>
              <a:rPr sz="2800" kern="1200"/>
              <a:t>Each part of speech explains not what the word is but how the word is used.</a:t>
            </a:r>
          </a:p>
        </p:txBody>
      </p:sp>
      <p:pic>
        <p:nvPicPr>
          <p:cNvPr id="5125" name="Text Placeholder 5124"/>
          <p:cNvPicPr>
            <a:picLocks noGrp="1" noChangeAspect="1"/>
          </p:cNvPicPr>
          <p:nvPr>
            <p:ph type="body" sz="half" idx="2"/>
          </p:nvPr>
        </p:nvPicPr>
        <p:blipFill>
          <a:blip r:embed="rId3"/>
          <a:stretch>
            <a:fillRect/>
          </a:stretch>
        </p:blipFill>
        <p:spPr>
          <a:xfrm>
            <a:off x="5105400" y="2057400"/>
            <a:ext cx="2992438" cy="3505200"/>
          </a:xfrm>
          <a:ln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The Eight Parts of Speech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sz="half" idx="1"/>
          </p:nvPr>
        </p:nvSpPr>
        <p:spPr>
          <a:xfrm>
            <a:off x="685800" y="2590800"/>
            <a:ext cx="3810000" cy="3505200"/>
          </a:xfrm>
          <a:ln/>
        </p:spPr>
        <p:txBody>
          <a:bodyPr/>
          <a:lstStyle/>
          <a:p>
            <a:pPr algn="ctr"/>
            <a:r>
              <a:rPr sz="2000" kern="1200">
                <a:hlinkClick r:id="rId4" action="ppaction://hlinksldjump"/>
              </a:rPr>
              <a:t>Verb</a:t>
            </a:r>
            <a:endParaRPr sz="2000" kern="1200"/>
          </a:p>
          <a:p>
            <a:pPr algn="ctr"/>
            <a:r>
              <a:rPr sz="2000" kern="1200">
                <a:hlinkClick r:id="rId5" action="ppaction://hlinksldjump"/>
              </a:rPr>
              <a:t>Noun</a:t>
            </a:r>
            <a:endParaRPr sz="2000" kern="1200"/>
          </a:p>
          <a:p>
            <a:pPr algn="ctr"/>
            <a:r>
              <a:rPr sz="2000" kern="1200">
                <a:hlinkClick r:id="rId6" action="ppaction://hlinksldjump"/>
              </a:rPr>
              <a:t>Pronoun</a:t>
            </a:r>
            <a:endParaRPr sz="2000" kern="1200"/>
          </a:p>
          <a:p>
            <a:pPr algn="ctr"/>
            <a:r>
              <a:rPr sz="2000" kern="1200">
                <a:hlinkClick r:id="rId7" action="ppaction://hlinksldjump"/>
              </a:rPr>
              <a:t>Adjectives</a:t>
            </a:r>
            <a:endParaRPr sz="2000" kern="1200"/>
          </a:p>
          <a:p>
            <a:pPr algn="ctr"/>
            <a:r>
              <a:rPr sz="2000" kern="1200">
                <a:hlinkClick r:id="rId8" action="ppaction://hlinksldjump"/>
              </a:rPr>
              <a:t>Adverbs</a:t>
            </a:r>
            <a:endParaRPr sz="2000" kern="1200"/>
          </a:p>
          <a:p>
            <a:pPr algn="ctr"/>
            <a:r>
              <a:rPr sz="2000" kern="1200">
                <a:hlinkClick r:id="rId9" action="ppaction://hlinksldjump"/>
              </a:rPr>
              <a:t>Prepositions</a:t>
            </a:r>
            <a:endParaRPr sz="2000" kern="1200"/>
          </a:p>
          <a:p>
            <a:pPr algn="ctr"/>
            <a:r>
              <a:rPr sz="2100" kern="1200">
                <a:hlinkClick r:id="rId10" action="ppaction://hlinksldjump"/>
              </a:rPr>
              <a:t>Conjunctions</a:t>
            </a:r>
            <a:endParaRPr sz="2100" kern="1200"/>
          </a:p>
          <a:p>
            <a:pPr algn="ctr"/>
            <a:r>
              <a:rPr sz="2100" kern="1200">
                <a:hlinkClick r:id="rId11" action="ppaction://hlinksldjump"/>
              </a:rPr>
              <a:t>interjection</a:t>
            </a:r>
            <a:endParaRPr sz="2400" kern="1200"/>
          </a:p>
          <a:p>
            <a:endParaRPr sz="2400" kern="1200"/>
          </a:p>
        </p:txBody>
      </p:sp>
      <p:pic>
        <p:nvPicPr>
          <p:cNvPr id="1031" name="Online Image Placeholder 1030" descr="228927956"/>
          <p:cNvPicPr>
            <a:picLocks noGrp="1" noChangeAspect="1"/>
          </p:cNvPicPr>
          <p:nvPr>
            <p:ph type="clipArt" sz="half" idx="2"/>
          </p:nvPr>
        </p:nvPicPr>
        <p:blipFill>
          <a:blip r:embed="rId12"/>
          <a:stretch>
            <a:fillRect/>
          </a:stretch>
        </p:blipFill>
        <p:spPr>
          <a:xfrm>
            <a:off x="5791200" y="3048000"/>
            <a:ext cx="1447800" cy="1157288"/>
          </a:xfrm>
          <a:ln/>
        </p:spPr>
      </p:pic>
      <p:sp>
        <p:nvSpPr>
          <p:cNvPr id="1032" name="Rectangle 1031"/>
          <p:cNvSpPr/>
          <p:nvPr/>
        </p:nvSpPr>
        <p:spPr>
          <a:xfrm>
            <a:off x="7696200" y="4648200"/>
            <a:ext cx="10668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/>
            <a:r>
              <a:rPr sz="2200">
                <a:latin typeface="Arial" panose="020B0604020202020204" pitchFamily="34" charset="0"/>
                <a:ea typeface="MS PGothic" panose="020B0600070205080204" charset="-128"/>
              </a:rPr>
              <a:t>Home Page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ubbles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24577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More Details</a:t>
            </a:r>
          </a:p>
        </p:txBody>
      </p:sp>
      <p:sp>
        <p:nvSpPr>
          <p:cNvPr id="24579" name="Text Placeholder 2457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t>Each part of speech explains not what the word is, but how the word is used. In fact, the same word can be a noun in one sentence and a verb or adjective in the next.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pler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53249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Adverbs</a:t>
            </a:r>
          </a:p>
        </p:txBody>
      </p:sp>
      <p:sp>
        <p:nvSpPr>
          <p:cNvPr id="53251" name="Text Placeholder 53250"/>
          <p:cNvSpPr>
            <a:spLocks noGrp="1"/>
          </p:cNvSpPr>
          <p:nvPr>
            <p:ph type="body" sz="half" idx="2"/>
          </p:nvPr>
        </p:nvSpPr>
        <p:spPr>
          <a:xfrm>
            <a:off x="4648200" y="2590800"/>
            <a:ext cx="3810000" cy="3505200"/>
          </a:xfrm>
          <a:ln/>
        </p:spPr>
        <p:txBody>
          <a:bodyPr/>
          <a:lstStyle/>
          <a:p>
            <a:r>
              <a:rPr sz="2400" u="sng" kern="1200"/>
              <a:t>Adverb</a:t>
            </a:r>
            <a:r>
              <a:rPr sz="2400" kern="1200" dirty="0"/>
              <a:t> </a:t>
            </a:r>
          </a:p>
          <a:p>
            <a:r>
              <a:rPr sz="2400" kern="1200"/>
              <a:t>An adverb can modify a verb, an adjective, another verb, a phrase, or a clause.</a:t>
            </a:r>
          </a:p>
          <a:p>
            <a:r>
              <a:rPr sz="2400" kern="1200"/>
              <a:t>The seamstress </a:t>
            </a:r>
            <a:r>
              <a:rPr sz="2400" kern="1200">
                <a:solidFill>
                  <a:schemeClr val="accent2"/>
                </a:solidFill>
              </a:rPr>
              <a:t>quickly</a:t>
            </a:r>
            <a:r>
              <a:rPr sz="2400" kern="1200"/>
              <a:t> made the mourning clothes.</a:t>
            </a:r>
          </a:p>
        </p:txBody>
      </p:sp>
      <p:sp>
        <p:nvSpPr>
          <p:cNvPr id="53255" name="Rectangle 53254"/>
          <p:cNvSpPr/>
          <p:nvPr/>
        </p:nvSpPr>
        <p:spPr>
          <a:xfrm>
            <a:off x="8077200" y="5459413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endParaRPr dirty="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53256" name="Rectangle 53255"/>
          <p:cNvSpPr/>
          <p:nvPr/>
        </p:nvSpPr>
        <p:spPr>
          <a:xfrm>
            <a:off x="8001000" y="5334000"/>
            <a:ext cx="914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sz="2000">
                <a:latin typeface="Arial" panose="020B0604020202020204" pitchFamily="34" charset="0"/>
                <a:ea typeface="MS PGothic" panose="020B0600070205080204" charset="-128"/>
                <a:hlinkClick r:id="rId4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Adverbs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66377" y="3293979"/>
            <a:ext cx="7772400" cy="114300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>
                <a:alpha val="99962"/>
              </a:schemeClr>
            </a:outerShdw>
          </a:effectLst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40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Carefully</a:t>
            </a:r>
          </a:p>
          <a:p>
            <a:r>
              <a:rPr lang="en-US" dirty="0" smtClean="0"/>
              <a:t>Faithfully</a:t>
            </a:r>
          </a:p>
          <a:p>
            <a:r>
              <a:rPr lang="en-US" dirty="0" smtClean="0"/>
              <a:t>Sincerely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8193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Let’s Take a Closer Look!</a:t>
            </a:r>
          </a:p>
        </p:txBody>
      </p:sp>
      <p:sp>
        <p:nvSpPr>
          <p:cNvPr id="8195" name="Text Placeholder 8194"/>
          <p:cNvSpPr>
            <a:spLocks noGrp="1"/>
          </p:cNvSpPr>
          <p:nvPr>
            <p:ph type="body" sz="half" idx="1"/>
          </p:nvPr>
        </p:nvSpPr>
        <p:spPr>
          <a:xfrm>
            <a:off x="685800" y="2590800"/>
            <a:ext cx="3810000" cy="3505200"/>
          </a:xfrm>
          <a:ln/>
        </p:spPr>
        <p:txBody>
          <a:bodyPr/>
          <a:lstStyle/>
          <a:p>
            <a:r>
              <a:rPr sz="2800" u="sng" kern="1200" dirty="0"/>
              <a:t>Verb</a:t>
            </a:r>
          </a:p>
          <a:p>
            <a:r>
              <a:rPr sz="2800" kern="1200"/>
              <a:t>A verb “is what you do!”</a:t>
            </a:r>
          </a:p>
          <a:p>
            <a:r>
              <a:rPr sz="2800" kern="1200"/>
              <a:t>I will </a:t>
            </a:r>
            <a:r>
              <a:rPr sz="2800" kern="1200">
                <a:solidFill>
                  <a:schemeClr val="accent2"/>
                </a:solidFill>
              </a:rPr>
              <a:t>run</a:t>
            </a:r>
            <a:r>
              <a:rPr sz="2800" kern="1200"/>
              <a:t>, </a:t>
            </a:r>
            <a:r>
              <a:rPr sz="2800" kern="1200">
                <a:solidFill>
                  <a:schemeClr val="accent2"/>
                </a:solidFill>
              </a:rPr>
              <a:t>hop</a:t>
            </a:r>
            <a:r>
              <a:rPr sz="2800" kern="1200" dirty="0"/>
              <a:t>, </a:t>
            </a:r>
            <a:r>
              <a:rPr sz="2800" kern="1200"/>
              <a:t>and </a:t>
            </a:r>
            <a:r>
              <a:rPr sz="2800" kern="1200">
                <a:solidFill>
                  <a:schemeClr val="accent2"/>
                </a:solidFill>
              </a:rPr>
              <a:t>skip</a:t>
            </a:r>
            <a:r>
              <a:rPr sz="2800" kern="1200"/>
              <a:t> down the track.</a:t>
            </a:r>
          </a:p>
        </p:txBody>
      </p:sp>
      <p:pic>
        <p:nvPicPr>
          <p:cNvPr id="8201" name="Online Image Placeholder 8200"/>
          <p:cNvPicPr>
            <a:picLocks noGrp="1" noChangeAspect="1"/>
          </p:cNvPicPr>
          <p:nvPr>
            <p:ph type="clipArt" sz="half" idx="2"/>
          </p:nvPr>
        </p:nvPicPr>
        <p:blipFill>
          <a:blip r:embed="rId3"/>
          <a:stretch>
            <a:fillRect/>
          </a:stretch>
        </p:blipFill>
        <p:spPr>
          <a:xfrm>
            <a:off x="5181600" y="2514600"/>
            <a:ext cx="2174875" cy="3048000"/>
          </a:xfrm>
          <a:ln/>
        </p:spPr>
      </p:pic>
      <p:sp>
        <p:nvSpPr>
          <p:cNvPr id="8202" name="Rectangle 8201"/>
          <p:cNvSpPr/>
          <p:nvPr/>
        </p:nvSpPr>
        <p:spPr>
          <a:xfrm>
            <a:off x="7772400" y="51816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>
                <a:latin typeface="Arial" panose="020B0604020202020204" pitchFamily="34" charset="0"/>
                <a:ea typeface="MS PGothic" panose="020B0600070205080204" charset="-128"/>
                <a:hlinkClick r:id="rId4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0241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Here come the nouns!</a:t>
            </a:r>
          </a:p>
        </p:txBody>
      </p:sp>
      <p:sp>
        <p:nvSpPr>
          <p:cNvPr id="10243" name="Text Placeholder 10242"/>
          <p:cNvSpPr>
            <a:spLocks noGrp="1"/>
          </p:cNvSpPr>
          <p:nvPr>
            <p:ph type="body" sz="half" idx="1"/>
          </p:nvPr>
        </p:nvSpPr>
        <p:spPr>
          <a:xfrm>
            <a:off x="685800" y="2590800"/>
            <a:ext cx="3810000" cy="3505200"/>
          </a:xfrm>
          <a:ln/>
        </p:spPr>
        <p:txBody>
          <a:bodyPr/>
          <a:lstStyle/>
          <a:p>
            <a:r>
              <a:rPr sz="2800" u="sng" kern="1200" dirty="0"/>
              <a:t>Noun</a:t>
            </a:r>
          </a:p>
          <a:p>
            <a:r>
              <a:rPr sz="2800" kern="1200"/>
              <a:t>A noun is a person place or thing.</a:t>
            </a:r>
          </a:p>
          <a:p>
            <a:r>
              <a:rPr sz="2800" kern="1200" err="1">
                <a:solidFill>
                  <a:schemeClr val="accent2"/>
                </a:solidFill>
              </a:rPr>
              <a:t>Ms. Arruda</a:t>
            </a:r>
            <a:r>
              <a:rPr sz="2800" kern="1200" err="1"/>
              <a:t> </a:t>
            </a:r>
            <a:r>
              <a:rPr sz="2800" kern="1200"/>
              <a:t>is going to </a:t>
            </a:r>
            <a:r>
              <a:rPr sz="2800" kern="1200">
                <a:solidFill>
                  <a:schemeClr val="accent2"/>
                </a:solidFill>
              </a:rPr>
              <a:t>Vegas</a:t>
            </a:r>
            <a:r>
              <a:rPr sz="2800" kern="1200"/>
              <a:t> this weekend.</a:t>
            </a:r>
          </a:p>
        </p:txBody>
      </p:sp>
      <p:pic>
        <p:nvPicPr>
          <p:cNvPr id="10246" name="Online Image Placeholder 10245"/>
          <p:cNvPicPr>
            <a:picLocks noGrp="1" noChangeAspect="1"/>
          </p:cNvPicPr>
          <p:nvPr>
            <p:ph type="clipArt" sz="half" idx="2"/>
          </p:nvPr>
        </p:nvPicPr>
        <p:blipFill>
          <a:blip r:embed="rId4"/>
          <a:stretch>
            <a:fillRect/>
          </a:stretch>
        </p:blipFill>
        <p:spPr>
          <a:xfrm>
            <a:off x="5105400" y="2438400"/>
            <a:ext cx="2924175" cy="3505200"/>
          </a:xfrm>
          <a:ln/>
        </p:spPr>
      </p:pic>
      <p:sp>
        <p:nvSpPr>
          <p:cNvPr id="10247" name="Rectangle 10246"/>
          <p:cNvSpPr/>
          <p:nvPr/>
        </p:nvSpPr>
        <p:spPr>
          <a:xfrm>
            <a:off x="7772400" y="48768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/>
            <a:r>
              <a:rPr>
                <a:latin typeface="Arial" panose="020B0604020202020204" pitchFamily="34" charset="0"/>
                <a:ea typeface="MS PGothic" panose="020B0600070205080204" charset="-128"/>
                <a:hlinkClick r:id="rId5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lane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49153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Pronouns</a:t>
            </a:r>
          </a:p>
        </p:txBody>
      </p:sp>
      <p:sp>
        <p:nvSpPr>
          <p:cNvPr id="49155" name="Text Placeholder 49154"/>
          <p:cNvSpPr>
            <a:spLocks noGrp="1"/>
          </p:cNvSpPr>
          <p:nvPr>
            <p:ph type="body" sz="half" idx="2"/>
          </p:nvPr>
        </p:nvSpPr>
        <p:spPr>
          <a:xfrm>
            <a:off x="4648200" y="2590800"/>
            <a:ext cx="3810000" cy="3505200"/>
          </a:xfrm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sz="2800" u="sng" kern="1200" dirty="0"/>
              <a:t>Pronoun</a:t>
            </a:r>
          </a:p>
          <a:p>
            <a:pPr>
              <a:lnSpc>
                <a:spcPct val="90000"/>
              </a:lnSpc>
            </a:pPr>
            <a:r>
              <a:rPr sz="2800" kern="1200" dirty="0"/>
              <a:t>A pronoun can replace the noun or another pronoun. </a:t>
            </a:r>
          </a:p>
          <a:p>
            <a:pPr>
              <a:lnSpc>
                <a:spcPct val="90000"/>
              </a:lnSpc>
            </a:pPr>
            <a:r>
              <a:rPr sz="2800" kern="1200">
                <a:solidFill>
                  <a:schemeClr val="accent2"/>
                </a:solidFill>
              </a:rPr>
              <a:t>Which</a:t>
            </a:r>
            <a:r>
              <a:rPr sz="2800" kern="1200"/>
              <a:t> show do </a:t>
            </a:r>
            <a:r>
              <a:rPr sz="2800" kern="1200">
                <a:solidFill>
                  <a:schemeClr val="accent2"/>
                </a:solidFill>
              </a:rPr>
              <a:t>you</a:t>
            </a:r>
            <a:r>
              <a:rPr sz="2800" kern="1200"/>
              <a:t> want to see?</a:t>
            </a:r>
          </a:p>
        </p:txBody>
      </p:sp>
      <p:pic>
        <p:nvPicPr>
          <p:cNvPr id="49158" name="Online Image Placeholder 49157"/>
          <p:cNvPicPr>
            <a:picLocks noGrp="1" noChangeAspect="1"/>
          </p:cNvPicPr>
          <p:nvPr>
            <p:ph type="clipArt" sz="half" idx="1"/>
          </p:nvPr>
        </p:nvPicPr>
        <p:blipFill>
          <a:blip r:embed="rId4"/>
          <a:stretch>
            <a:fillRect/>
          </a:stretch>
        </p:blipFill>
        <p:spPr>
          <a:xfrm>
            <a:off x="990600" y="2590800"/>
            <a:ext cx="3282950" cy="3136900"/>
          </a:xfrm>
          <a:ln/>
        </p:spPr>
      </p:pic>
      <p:sp>
        <p:nvSpPr>
          <p:cNvPr id="49159" name="Rectangle 49158"/>
          <p:cNvSpPr/>
          <p:nvPr/>
        </p:nvSpPr>
        <p:spPr>
          <a:xfrm>
            <a:off x="7772400" y="5410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>
                <a:latin typeface="Arial" panose="020B0604020202020204" pitchFamily="34" charset="0"/>
                <a:ea typeface="MS PGothic" panose="020B0600070205080204" charset="-128"/>
                <a:hlinkClick r:id="rId5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9160" name="Text Box 49159"/>
          <p:cNvSpPr txBox="1"/>
          <p:nvPr/>
        </p:nvSpPr>
        <p:spPr>
          <a:xfrm>
            <a:off x="152400" y="5715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ymbal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4337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Additional Pronouns</a:t>
            </a:r>
          </a:p>
        </p:txBody>
      </p:sp>
      <p:sp>
        <p:nvSpPr>
          <p:cNvPr id="14339" name="Text Placeholder 14338"/>
          <p:cNvSpPr>
            <a:spLocks noGrp="1"/>
          </p:cNvSpPr>
          <p:nvPr>
            <p:ph type="body" sz="half" idx="1"/>
          </p:nvPr>
        </p:nvSpPr>
        <p:spPr>
          <a:xfrm>
            <a:off x="685800" y="2590800"/>
            <a:ext cx="3810000" cy="3505200"/>
          </a:xfrm>
          <a:ln/>
        </p:spPr>
        <p:txBody>
          <a:bodyPr/>
          <a:lstStyle/>
          <a:p>
            <a:r>
              <a:rPr sz="2300" u="sng" kern="1200" dirty="0"/>
              <a:t>Personal </a:t>
            </a:r>
            <a:r>
              <a:rPr sz="2300" u="sng" kern="1200"/>
              <a:t>Pronouns</a:t>
            </a:r>
            <a:endParaRPr sz="2300" kern="1200"/>
          </a:p>
          <a:p>
            <a:r>
              <a:rPr sz="2300" kern="1200" dirty="0"/>
              <a:t>A personal pronoun refers to  </a:t>
            </a:r>
            <a:r>
              <a:rPr sz="2300" kern="1200"/>
              <a:t>specific person or thing and changes its form to indicate person, number, gender, and case.</a:t>
            </a:r>
            <a:endParaRPr sz="2400" kern="1200"/>
          </a:p>
        </p:txBody>
      </p:sp>
      <p:sp>
        <p:nvSpPr>
          <p:cNvPr id="14340" name="Text Placeholder 14339"/>
          <p:cNvSpPr>
            <a:spLocks noGrp="1"/>
          </p:cNvSpPr>
          <p:nvPr>
            <p:ph type="body" sz="half" idx="2"/>
          </p:nvPr>
        </p:nvSpPr>
        <p:spPr>
          <a:xfrm>
            <a:off x="4648200" y="2590800"/>
            <a:ext cx="3810000" cy="3505200"/>
          </a:xfrm>
          <a:ln/>
        </p:spPr>
        <p:txBody>
          <a:bodyPr/>
          <a:lstStyle/>
          <a:p>
            <a:pPr algn="ctr"/>
            <a:r>
              <a:rPr sz="2200" u="sng" kern="1200"/>
              <a:t>Possessive Personal Pronouns</a:t>
            </a:r>
          </a:p>
          <a:p>
            <a:r>
              <a:rPr sz="1800" kern="1200" dirty="0"/>
              <a:t>A possessive pronoun </a:t>
            </a:r>
            <a:r>
              <a:rPr sz="1800" kern="1200"/>
              <a:t>indicates that the pronoun is acting as a marker of possession and defines who owns a particular object or person.</a:t>
            </a:r>
          </a:p>
          <a:p>
            <a:r>
              <a:rPr sz="1800" kern="1200"/>
              <a:t>(mine, yours, hers, his, its, ours theirs)</a:t>
            </a:r>
          </a:p>
        </p:txBody>
      </p:sp>
      <p:sp>
        <p:nvSpPr>
          <p:cNvPr id="14341" name="Rectangle 14340"/>
          <p:cNvSpPr/>
          <p:nvPr/>
        </p:nvSpPr>
        <p:spPr>
          <a:xfrm>
            <a:off x="7848600" y="54102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/>
            <a:r>
              <a:rPr>
                <a:latin typeface="Arial" panose="020B0604020202020204" pitchFamily="34" charset="0"/>
                <a:ea typeface="MS PGothic" panose="020B0600070205080204" charset="-128"/>
                <a:hlinkClick r:id="rId3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5361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Additional Pronouns Continued</a:t>
            </a:r>
          </a:p>
        </p:txBody>
      </p:sp>
      <p:sp>
        <p:nvSpPr>
          <p:cNvPr id="15363" name="Text Placeholder 15362"/>
          <p:cNvSpPr>
            <a:spLocks noGrp="1"/>
          </p:cNvSpPr>
          <p:nvPr>
            <p:ph type="body" sz="half" idx="1"/>
          </p:nvPr>
        </p:nvSpPr>
        <p:spPr>
          <a:xfrm>
            <a:off x="685800" y="2590800"/>
            <a:ext cx="3810000" cy="3505200"/>
          </a:xfrm>
          <a:ln/>
        </p:spPr>
        <p:txBody>
          <a:bodyPr/>
          <a:lstStyle/>
          <a:p>
            <a:r>
              <a:rPr sz="2800" u="sng" kern="1200"/>
              <a:t>Interrogative Pronouns</a:t>
            </a:r>
          </a:p>
        </p:txBody>
      </p:sp>
      <p:sp>
        <p:nvSpPr>
          <p:cNvPr id="15364" name="Text Placeholder 15363"/>
          <p:cNvSpPr>
            <a:spLocks noGrp="1"/>
          </p:cNvSpPr>
          <p:nvPr>
            <p:ph type="body" sz="half" idx="2"/>
          </p:nvPr>
        </p:nvSpPr>
        <p:spPr>
          <a:xfrm>
            <a:off x="4648200" y="2590800"/>
            <a:ext cx="3810000" cy="3505200"/>
          </a:xfrm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sz="2800" kern="1200"/>
              <a:t>An interrogative pronoun is used to ask questions.</a:t>
            </a:r>
          </a:p>
          <a:p>
            <a:pPr>
              <a:lnSpc>
                <a:spcPct val="90000"/>
              </a:lnSpc>
            </a:pPr>
            <a:r>
              <a:rPr sz="2800" kern="1200"/>
              <a:t>(who, whom, which, what and the compounds formed with suffix “ever”).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2895600" y="5257800"/>
            <a:ext cx="1063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>
                <a:latin typeface="Arial" panose="020B0604020202020204" pitchFamily="34" charset="0"/>
                <a:ea typeface="MS PGothic" panose="020B0600070205080204" charset="-128"/>
                <a:hlinkClick r:id="rId4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15362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creeching Brake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6385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Still More Pronouns! </a:t>
            </a:r>
          </a:p>
        </p:txBody>
      </p:sp>
      <p:sp>
        <p:nvSpPr>
          <p:cNvPr id="16387" name="Text Placeholder 16386"/>
          <p:cNvSpPr>
            <a:spLocks noGrp="1"/>
          </p:cNvSpPr>
          <p:nvPr>
            <p:ph type="body" sz="half" idx="1"/>
          </p:nvPr>
        </p:nvSpPr>
        <p:spPr>
          <a:xfrm>
            <a:off x="685800" y="2590800"/>
            <a:ext cx="3810000" cy="3505200"/>
          </a:xfrm>
          <a:ln/>
        </p:spPr>
        <p:txBody>
          <a:bodyPr/>
          <a:lstStyle/>
          <a:p>
            <a:r>
              <a:rPr sz="2000" u="sng" kern="1200" dirty="0"/>
              <a:t>Demonstrative Pronouns</a:t>
            </a:r>
          </a:p>
          <a:p>
            <a:r>
              <a:rPr sz="2000" kern="1200"/>
              <a:t>A demonstrative pronoun points to and identifies a noun or a pronoun.</a:t>
            </a:r>
          </a:p>
          <a:p>
            <a:r>
              <a:rPr sz="2000" kern="1200"/>
              <a:t>(this, that, these, and those are demonstrative pronouns)</a:t>
            </a:r>
            <a:endParaRPr sz="2000" u="sng" kern="1200"/>
          </a:p>
        </p:txBody>
      </p:sp>
      <p:pic>
        <p:nvPicPr>
          <p:cNvPr id="16391" name="Online Image Placeholder 16390" descr="762907210"/>
          <p:cNvPicPr>
            <a:picLocks noGrp="1" noChangeAspect="1"/>
          </p:cNvPicPr>
          <p:nvPr>
            <p:ph type="clipArt" sz="half" idx="2"/>
          </p:nvPr>
        </p:nvPicPr>
        <p:blipFill>
          <a:blip r:embed="rId3"/>
          <a:stretch>
            <a:fillRect/>
          </a:stretch>
        </p:blipFill>
        <p:spPr>
          <a:xfrm>
            <a:off x="5562600" y="2667000"/>
            <a:ext cx="1752600" cy="1828800"/>
          </a:xfrm>
          <a:ln/>
        </p:spPr>
      </p:pic>
      <p:sp>
        <p:nvSpPr>
          <p:cNvPr id="16392" name="Rectangle 16391"/>
          <p:cNvSpPr/>
          <p:nvPr/>
        </p:nvSpPr>
        <p:spPr>
          <a:xfrm>
            <a:off x="7772400" y="52578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>
                <a:latin typeface="Arial" panose="020B0604020202020204" pitchFamily="34" charset="0"/>
                <a:ea typeface="MS PGothic" panose="020B0600070205080204" charset="-128"/>
                <a:hlinkClick r:id="rId4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1265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What about the Adjectives?</a:t>
            </a:r>
          </a:p>
        </p:txBody>
      </p:sp>
      <p:sp>
        <p:nvSpPr>
          <p:cNvPr id="11267" name="Text Placeholder 11266"/>
          <p:cNvSpPr>
            <a:spLocks noGrp="1"/>
          </p:cNvSpPr>
          <p:nvPr>
            <p:ph type="body" sz="half" idx="2"/>
          </p:nvPr>
        </p:nvSpPr>
        <p:spPr>
          <a:xfrm>
            <a:off x="4648200" y="2590800"/>
            <a:ext cx="3810000" cy="3505200"/>
          </a:xfrm>
          <a:ln/>
        </p:spPr>
        <p:txBody>
          <a:bodyPr/>
          <a:lstStyle/>
          <a:p>
            <a:r>
              <a:rPr sz="2400" u="sng" kern="1200"/>
              <a:t>Adjectives</a:t>
            </a:r>
          </a:p>
          <a:p>
            <a:r>
              <a:rPr sz="2200" kern="1200"/>
              <a:t>An adjective modifies a noun or pronoun by describing, identifying, or qualifying words.</a:t>
            </a:r>
          </a:p>
          <a:p>
            <a:r>
              <a:rPr sz="2200" kern="1200"/>
              <a:t>The </a:t>
            </a:r>
            <a:r>
              <a:rPr sz="2200" kern="1200">
                <a:solidFill>
                  <a:schemeClr val="accent2"/>
                </a:solidFill>
              </a:rPr>
              <a:t>truck-shaped</a:t>
            </a:r>
            <a:r>
              <a:rPr sz="2200" kern="1200"/>
              <a:t> balloon floated over the treetops.</a:t>
            </a:r>
            <a:endParaRPr sz="2000" u="sng" kern="1200"/>
          </a:p>
        </p:txBody>
      </p:sp>
      <p:pic>
        <p:nvPicPr>
          <p:cNvPr id="11271" name="Online Image Placeholder 11270" descr="Children"/>
          <p:cNvPicPr>
            <a:picLocks noGrp="1" noChangeAspect="1"/>
          </p:cNvPicPr>
          <p:nvPr>
            <p:ph type="clipArt" sz="half" idx="1"/>
          </p:nvPr>
        </p:nvPicPr>
        <p:blipFill>
          <a:blip r:embed="rId4"/>
          <a:stretch>
            <a:fillRect/>
          </a:stretch>
        </p:blipFill>
        <p:spPr>
          <a:xfrm>
            <a:off x="685800" y="2895600"/>
            <a:ext cx="3810000" cy="2522538"/>
          </a:xfrm>
          <a:ln/>
        </p:spPr>
      </p:pic>
      <p:sp>
        <p:nvSpPr>
          <p:cNvPr id="11272" name="Rectangle 11271"/>
          <p:cNvSpPr/>
          <p:nvPr/>
        </p:nvSpPr>
        <p:spPr>
          <a:xfrm>
            <a:off x="7848600" y="5562600"/>
            <a:ext cx="10429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>
                <a:latin typeface="Arial" panose="020B0604020202020204" pitchFamily="34" charset="0"/>
                <a:ea typeface="MS PGothic" panose="020B0600070205080204" charset="-128"/>
                <a:hlinkClick r:id="rId5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rowd Laug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8433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Conjunctions</a:t>
            </a:r>
          </a:p>
        </p:txBody>
      </p:sp>
      <p:sp>
        <p:nvSpPr>
          <p:cNvPr id="18436" name="Text Placeholder 18435"/>
          <p:cNvSpPr>
            <a:spLocks noGrp="1"/>
          </p:cNvSpPr>
          <p:nvPr>
            <p:ph type="body" sz="half" idx="2"/>
          </p:nvPr>
        </p:nvSpPr>
        <p:spPr>
          <a:xfrm>
            <a:off x="4648200" y="2590800"/>
            <a:ext cx="3810000" cy="3505200"/>
          </a:xfrm>
          <a:ln/>
        </p:spPr>
        <p:txBody>
          <a:bodyPr/>
          <a:lstStyle/>
          <a:p>
            <a:r>
              <a:rPr sz="2800" kern="1200" dirty="0">
                <a:latin typeface="Helvetica" charset="0"/>
              </a:rPr>
              <a:t>I </a:t>
            </a:r>
            <a:r>
              <a:rPr sz="2800" kern="1200">
                <a:latin typeface="Helvetica" charset="0"/>
              </a:rPr>
              <a:t>ate the pizza </a:t>
            </a:r>
            <a:r>
              <a:rPr sz="2800" kern="1200">
                <a:solidFill>
                  <a:schemeClr val="accent2"/>
                </a:solidFill>
                <a:latin typeface="Helvetica" charset="0"/>
              </a:rPr>
              <a:t>and</a:t>
            </a:r>
            <a:r>
              <a:rPr sz="2800" kern="1200">
                <a:latin typeface="Helvetica" charset="0"/>
              </a:rPr>
              <a:t> the pasta!</a:t>
            </a:r>
            <a:endParaRPr sz="2800" kern="1200">
              <a:latin typeface="Herculanum" charset="0"/>
            </a:endParaRPr>
          </a:p>
        </p:txBody>
      </p:sp>
      <p:sp>
        <p:nvSpPr>
          <p:cNvPr id="18437" name="Text Placeholder 18436"/>
          <p:cNvSpPr>
            <a:spLocks noGrp="1"/>
          </p:cNvSpPr>
          <p:nvPr>
            <p:ph type="body" sz="half" idx="1"/>
          </p:nvPr>
        </p:nvSpPr>
        <p:spPr>
          <a:xfrm>
            <a:off x="685800" y="2590800"/>
            <a:ext cx="3810000" cy="3505200"/>
          </a:xfrm>
          <a:ln/>
        </p:spPr>
        <p:txBody>
          <a:bodyPr/>
          <a:lstStyle/>
          <a:p>
            <a:r>
              <a:rPr sz="2800" kern="1200"/>
              <a:t>You can use Conjunctions to link words, phrases, and clauses.</a:t>
            </a:r>
          </a:p>
        </p:txBody>
      </p:sp>
      <p:sp>
        <p:nvSpPr>
          <p:cNvPr id="18438" name="Rectangle 18437"/>
          <p:cNvSpPr/>
          <p:nvPr/>
        </p:nvSpPr>
        <p:spPr>
          <a:xfrm>
            <a:off x="7772400" y="54102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>
                <a:latin typeface="Arial" panose="020B0604020202020204" pitchFamily="34" charset="0"/>
                <a:ea typeface="MS PGothic" panose="020B0600070205080204" charset="-128"/>
                <a:hlinkClick r:id="rId3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3313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Prepositions</a:t>
            </a:r>
          </a:p>
        </p:txBody>
      </p:sp>
      <p:sp>
        <p:nvSpPr>
          <p:cNvPr id="13316" name="Text Placeholder 13315"/>
          <p:cNvSpPr>
            <a:spLocks noGrp="1"/>
          </p:cNvSpPr>
          <p:nvPr>
            <p:ph type="body" sz="half" idx="2"/>
          </p:nvPr>
        </p:nvSpPr>
        <p:spPr>
          <a:xfrm>
            <a:off x="4648200" y="2590800"/>
            <a:ext cx="3810000" cy="3505200"/>
          </a:xfrm>
          <a:ln/>
        </p:spPr>
        <p:txBody>
          <a:bodyPr/>
          <a:lstStyle/>
          <a:p>
            <a:r>
              <a:rPr sz="2400" u="sng" kern="1200" dirty="0"/>
              <a:t>Prepositions</a:t>
            </a:r>
          </a:p>
          <a:p>
            <a:r>
              <a:rPr sz="2400" kern="1200"/>
              <a:t>A preposition links nouns, pronouns, and phrases to other words in a sentence.</a:t>
            </a:r>
          </a:p>
          <a:p>
            <a:r>
              <a:rPr sz="2400" kern="1200"/>
              <a:t>(on, against, over, during, beneath, beside)</a:t>
            </a:r>
          </a:p>
        </p:txBody>
      </p:sp>
      <p:pic>
        <p:nvPicPr>
          <p:cNvPr id="13318" name="Online Image Placeholder 13317" descr="1477876604"/>
          <p:cNvPicPr>
            <a:picLocks noGrp="1" noChangeAspect="1"/>
          </p:cNvPicPr>
          <p:nvPr>
            <p:ph type="clipArt" sz="half" idx="1"/>
          </p:nvPr>
        </p:nvPicPr>
        <p:blipFill>
          <a:blip r:embed="rId3"/>
          <a:stretch>
            <a:fillRect/>
          </a:stretch>
        </p:blipFill>
        <p:spPr>
          <a:xfrm>
            <a:off x="1600200" y="2895600"/>
            <a:ext cx="1905000" cy="1765300"/>
          </a:xfrm>
          <a:ln/>
        </p:spPr>
      </p:pic>
      <p:sp>
        <p:nvSpPr>
          <p:cNvPr id="13319" name="Rectangle 13318"/>
          <p:cNvSpPr/>
          <p:nvPr/>
        </p:nvSpPr>
        <p:spPr>
          <a:xfrm>
            <a:off x="8077200" y="53340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>
                <a:latin typeface="Arial" panose="020B0604020202020204" pitchFamily="34" charset="0"/>
                <a:ea typeface="MS PGothic" panose="020B0600070205080204" charset="-128"/>
                <a:hlinkClick r:id="rId4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2529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1143000"/>
          </a:xfrm>
          <a:ln/>
        </p:spPr>
        <p:txBody>
          <a:bodyPr anchor="ctr"/>
          <a:lstStyle/>
          <a:p>
            <a:r>
              <a:t>What is an Interjection?</a:t>
            </a:r>
          </a:p>
        </p:txBody>
      </p:sp>
      <p:sp>
        <p:nvSpPr>
          <p:cNvPr id="22532" name="Text Placeholder 22531"/>
          <p:cNvSpPr>
            <a:spLocks noGrp="1"/>
          </p:cNvSpPr>
          <p:nvPr>
            <p:ph type="body" sz="half" idx="2"/>
          </p:nvPr>
        </p:nvSpPr>
        <p:spPr>
          <a:xfrm>
            <a:off x="4648200" y="2590800"/>
            <a:ext cx="3810000" cy="3505200"/>
          </a:xfrm>
          <a:ln/>
        </p:spPr>
        <p:txBody>
          <a:bodyPr/>
          <a:lstStyle/>
          <a:p>
            <a:r>
              <a:rPr sz="2800" u="sng" kern="1200" dirty="0"/>
              <a:t>Interjections</a:t>
            </a:r>
          </a:p>
          <a:p>
            <a:r>
              <a:rPr sz="2800" kern="1200"/>
              <a:t>An interjection is a word added to a sentence to convey emotion.</a:t>
            </a:r>
          </a:p>
          <a:p>
            <a:r>
              <a:rPr sz="2800" kern="1200"/>
              <a:t>(Ouch!, Hey!)</a:t>
            </a:r>
          </a:p>
        </p:txBody>
      </p:sp>
      <p:sp>
        <p:nvSpPr>
          <p:cNvPr id="22534" name="Rectangle 22533"/>
          <p:cNvSpPr/>
          <p:nvPr/>
        </p:nvSpPr>
        <p:spPr>
          <a:xfrm>
            <a:off x="7848600" y="52578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>
                <a:latin typeface="Arial" panose="020B0604020202020204" pitchFamily="34" charset="0"/>
                <a:ea typeface="MS PGothic" panose="020B0600070205080204" charset="-128"/>
                <a:hlinkClick r:id="rId4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Yahoo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23553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Parts of Speech Poem</a:t>
            </a:r>
            <a:br/>
            <a:r>
              <a:rPr sz="2400"/>
              <a:t>by Kim Vetter</a:t>
            </a:r>
          </a:p>
        </p:txBody>
      </p:sp>
      <p:sp>
        <p:nvSpPr>
          <p:cNvPr id="23556" name="Text Placeholder 23555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sz="2000"/>
              <a:t>A noun’s the name of anything,</a:t>
            </a:r>
          </a:p>
          <a:p>
            <a:pPr algn="ctr">
              <a:lnSpc>
                <a:spcPct val="90000"/>
              </a:lnSpc>
            </a:pPr>
            <a:r>
              <a:rPr sz="2000" dirty="0"/>
              <a:t>As house or garden, hoop, or </a:t>
            </a:r>
            <a:r>
              <a:rPr sz="2000"/>
              <a:t>swing.</a:t>
            </a:r>
          </a:p>
          <a:p>
            <a:pPr algn="ctr">
              <a:lnSpc>
                <a:spcPct val="90000"/>
              </a:lnSpc>
            </a:pPr>
            <a:r>
              <a:rPr sz="2000"/>
              <a:t>Instead of nouns the pronouns stand-</a:t>
            </a:r>
          </a:p>
          <a:p>
            <a:pPr algn="ctr">
              <a:lnSpc>
                <a:spcPct val="90000"/>
              </a:lnSpc>
            </a:pPr>
            <a:r>
              <a:rPr sz="2000"/>
              <a:t>Her head, your face, his arm, my hand.</a:t>
            </a:r>
          </a:p>
          <a:p>
            <a:pPr algn="ctr">
              <a:lnSpc>
                <a:spcPct val="90000"/>
              </a:lnSpc>
            </a:pPr>
            <a:r>
              <a:rPr sz="2000"/>
              <a:t>Adjectives tell the kind of noun,</a:t>
            </a:r>
          </a:p>
          <a:p>
            <a:pPr algn="ctr">
              <a:lnSpc>
                <a:spcPct val="90000"/>
              </a:lnSpc>
            </a:pPr>
            <a:r>
              <a:rPr sz="2000"/>
              <a:t>As great, small, pretty, white, or brown.</a:t>
            </a:r>
          </a:p>
          <a:p>
            <a:pPr algn="ctr">
              <a:lnSpc>
                <a:spcPct val="90000"/>
              </a:lnSpc>
            </a:pPr>
            <a:r>
              <a:rPr sz="2000"/>
              <a:t>Verbs tell of something to be done-</a:t>
            </a:r>
          </a:p>
          <a:p>
            <a:pPr algn="ctr">
              <a:lnSpc>
                <a:spcPct val="90000"/>
              </a:lnSpc>
            </a:pPr>
            <a:r>
              <a:rPr sz="2000"/>
              <a:t>To read, count, sing, talk, laugh, or run.</a:t>
            </a:r>
          </a:p>
          <a:p>
            <a:pPr algn="ctr">
              <a:lnSpc>
                <a:spcPct val="90000"/>
              </a:lnSpc>
            </a:pPr>
            <a:r>
              <a:rPr sz="2000"/>
              <a:t>How things are done the adverbs tell,</a:t>
            </a:r>
          </a:p>
          <a:p>
            <a:pPr algn="ctr">
              <a:lnSpc>
                <a:spcPct val="90000"/>
              </a:lnSpc>
            </a:pPr>
            <a:r>
              <a:rPr sz="2000"/>
              <a:t>As slowly, quickly, ill, or well.</a:t>
            </a:r>
          </a:p>
        </p:txBody>
      </p:sp>
      <p:sp>
        <p:nvSpPr>
          <p:cNvPr id="23557" name="Rectangle 23556"/>
          <p:cNvSpPr/>
          <p:nvPr/>
        </p:nvSpPr>
        <p:spPr>
          <a:xfrm>
            <a:off x="7894638" y="5410200"/>
            <a:ext cx="12493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>
                <a:latin typeface="Arial" panose="020B0604020202020204" pitchFamily="34" charset="0"/>
                <a:ea typeface="MS PGothic" panose="020B0600070205080204" charset="-128"/>
                <a:hlinkClick r:id="rId4" action="ppaction://hlinksldjump"/>
              </a:rPr>
              <a:t>Home</a:t>
            </a:r>
            <a:endParaRPr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 Roll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43009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t>Poem Continued</a:t>
            </a:r>
          </a:p>
        </p:txBody>
      </p:sp>
      <p:sp>
        <p:nvSpPr>
          <p:cNvPr id="43011" name="Text Placeholder 43010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sz="2000"/>
              <a:t>Conjunctions join the words together, As men and women, wind or weather.</a:t>
            </a:r>
          </a:p>
          <a:p>
            <a:pPr algn="ctr">
              <a:lnSpc>
                <a:spcPct val="90000"/>
              </a:lnSpc>
            </a:pPr>
            <a:r>
              <a:rPr sz="2000" dirty="0"/>
              <a:t>The preposition stands before</a:t>
            </a:r>
          </a:p>
          <a:p>
            <a:pPr algn="ctr">
              <a:lnSpc>
                <a:spcPct val="90000"/>
              </a:lnSpc>
            </a:pPr>
            <a:r>
              <a:rPr sz="2000" dirty="0"/>
              <a:t> </a:t>
            </a:r>
            <a:r>
              <a:rPr sz="2000"/>
              <a:t>A noun, as in or through a door.</a:t>
            </a:r>
          </a:p>
          <a:p>
            <a:pPr algn="ctr">
              <a:lnSpc>
                <a:spcPct val="90000"/>
              </a:lnSpc>
            </a:pPr>
            <a:r>
              <a:rPr sz="2000" dirty="0"/>
              <a:t>The interjection shows surprise, </a:t>
            </a:r>
          </a:p>
          <a:p>
            <a:pPr algn="ctr">
              <a:lnSpc>
                <a:spcPct val="90000"/>
              </a:lnSpc>
            </a:pPr>
            <a:r>
              <a:rPr sz="2000"/>
              <a:t>As Oh! How Pretty; Ah! How wise.</a:t>
            </a:r>
          </a:p>
          <a:p>
            <a:pPr algn="ctr">
              <a:lnSpc>
                <a:spcPct val="90000"/>
              </a:lnSpc>
            </a:pPr>
            <a:r>
              <a:rPr sz="2000"/>
              <a:t>That’s why we learn the parts of speech</a:t>
            </a:r>
          </a:p>
          <a:p>
            <a:pPr algn="ctr">
              <a:lnSpc>
                <a:spcPct val="90000"/>
              </a:lnSpc>
            </a:pPr>
            <a:r>
              <a:rPr sz="2000" dirty="0"/>
              <a:t>Which reading, writing, speaking teach.</a:t>
            </a:r>
          </a:p>
          <a:p>
            <a:pPr algn="ctr">
              <a:lnSpc>
                <a:spcPct val="90000"/>
              </a:lnSpc>
            </a:pPr>
            <a:r>
              <a:rPr sz="2000" dirty="0"/>
              <a:t>‘Cause grammar needs to be correct </a:t>
            </a:r>
          </a:p>
          <a:p>
            <a:pPr algn="ctr">
              <a:lnSpc>
                <a:spcPct val="90000"/>
              </a:lnSpc>
            </a:pPr>
            <a:r>
              <a:rPr sz="2000"/>
              <a:t>To help you earn the world’s respect.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lkboard">
  <a:themeElements>
    <a:clrScheme name="">
      <a:dk1>
        <a:srgbClr val="FFFFFF"/>
      </a:dk1>
      <a:lt1>
        <a:srgbClr val="5C8564"/>
      </a:lt1>
      <a:dk2>
        <a:srgbClr val="FFFFFF"/>
      </a:dk2>
      <a:lt2>
        <a:srgbClr val="808080"/>
      </a:lt2>
      <a:accent1>
        <a:srgbClr val="86A1BF"/>
      </a:accent1>
      <a:accent2>
        <a:srgbClr val="FF6666"/>
      </a:accent2>
      <a:accent3>
        <a:srgbClr val="B6C3B8"/>
      </a:accent3>
      <a:accent4>
        <a:srgbClr val="DCDCDC"/>
      </a:accent4>
      <a:accent5>
        <a:srgbClr val="C3CDDB"/>
      </a:accent5>
      <a:accent6>
        <a:srgbClr val="E55B5B"/>
      </a:accent6>
      <a:hlink>
        <a:srgbClr val="80FF00"/>
      </a:hlink>
      <a:folHlink>
        <a:srgbClr val="FFFF66"/>
      </a:folHlink>
    </a:clrScheme>
    <a:fontScheme name="">
      <a:majorFont>
        <a:latin typeface="Comic Sans MS"/>
        <a:ea typeface="MS PGothic"/>
        <a:cs typeface=""/>
      </a:majorFont>
      <a:minorFont>
        <a:latin typeface="Comic Sans MS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5C8564"/>
        </a:lt1>
        <a:dk2>
          <a:srgbClr val="FFFFFF"/>
        </a:dk2>
        <a:lt2>
          <a:srgbClr val="808080"/>
        </a:lt2>
        <a:accent1>
          <a:srgbClr val="86A1BF"/>
        </a:accent1>
        <a:accent2>
          <a:srgbClr val="FF6666"/>
        </a:accent2>
        <a:accent3>
          <a:srgbClr val="B6C3B8"/>
        </a:accent3>
        <a:accent4>
          <a:srgbClr val="DCDCDC"/>
        </a:accent4>
        <a:accent5>
          <a:srgbClr val="C3CDDB"/>
        </a:accent5>
        <a:accent6>
          <a:srgbClr val="E55B5B"/>
        </a:accent6>
        <a:hlink>
          <a:srgbClr val="80FF00"/>
        </a:hlink>
        <a:folHlink>
          <a:srgbClr val="FF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2004:Templates:Presentations:Designs:Chalkboard</Template>
  <TotalTime>15</TotalTime>
  <Words>708</Words>
  <Application>Microsoft Office PowerPoint</Application>
  <PresentationFormat>On-screen Show (4:3)</PresentationFormat>
  <Paragraphs>120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MS PGothic</vt:lpstr>
      <vt:lpstr>Arial</vt:lpstr>
      <vt:lpstr>Comic Sans MS</vt:lpstr>
      <vt:lpstr>Helvetica</vt:lpstr>
      <vt:lpstr>Herculanum</vt:lpstr>
      <vt:lpstr>Monotype Sorts</vt:lpstr>
      <vt:lpstr>Chalkboard</vt:lpstr>
      <vt:lpstr>Parts of Speech</vt:lpstr>
      <vt:lpstr>What Does Part of Speech Mean?</vt:lpstr>
      <vt:lpstr>The Eight Parts of Speech</vt:lpstr>
      <vt:lpstr>More Details</vt:lpstr>
      <vt:lpstr>Adverbs</vt:lpstr>
      <vt:lpstr>Example of Adverbs</vt:lpstr>
      <vt:lpstr>Let’s Take a Closer Look!</vt:lpstr>
      <vt:lpstr>Here come the nouns!</vt:lpstr>
      <vt:lpstr>Pronouns</vt:lpstr>
      <vt:lpstr>Additional Pronouns</vt:lpstr>
      <vt:lpstr>Additional Pronouns Continued</vt:lpstr>
      <vt:lpstr>Still More Pronouns! </vt:lpstr>
      <vt:lpstr>What about the Adjectives?</vt:lpstr>
      <vt:lpstr>Conjunctions</vt:lpstr>
      <vt:lpstr>Prepositions</vt:lpstr>
      <vt:lpstr>What is an Interjection?</vt:lpstr>
      <vt:lpstr>Parts of Speech Poem by Kim Vetter</vt:lpstr>
      <vt:lpstr>Poem Continued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 of Speech</dc:title>
  <dc:creator>college education</dc:creator>
  <cp:lastModifiedBy>Fish Tea</cp:lastModifiedBy>
  <cp:revision>30</cp:revision>
  <dcterms:created xsi:type="dcterms:W3CDTF">2005-03-17T01:56:28Z</dcterms:created>
  <dcterms:modified xsi:type="dcterms:W3CDTF">2017-04-21T13:59:19Z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